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  <p:sldMasterId id="2147484008" r:id="rId2"/>
  </p:sldMasterIdLst>
  <p:notesMasterIdLst>
    <p:notesMasterId r:id="rId23"/>
  </p:notesMasterIdLst>
  <p:handoutMasterIdLst>
    <p:handoutMasterId r:id="rId24"/>
  </p:handoutMasterIdLst>
  <p:sldIdLst>
    <p:sldId id="267" r:id="rId3"/>
    <p:sldId id="702" r:id="rId4"/>
    <p:sldId id="703" r:id="rId5"/>
    <p:sldId id="704" r:id="rId6"/>
    <p:sldId id="705" r:id="rId7"/>
    <p:sldId id="706" r:id="rId8"/>
    <p:sldId id="707" r:id="rId9"/>
    <p:sldId id="708" r:id="rId10"/>
    <p:sldId id="709" r:id="rId11"/>
    <p:sldId id="719" r:id="rId12"/>
    <p:sldId id="720" r:id="rId13"/>
    <p:sldId id="721" r:id="rId14"/>
    <p:sldId id="710" r:id="rId15"/>
    <p:sldId id="711" r:id="rId16"/>
    <p:sldId id="712" r:id="rId17"/>
    <p:sldId id="713" r:id="rId18"/>
    <p:sldId id="714" r:id="rId19"/>
    <p:sldId id="715" r:id="rId20"/>
    <p:sldId id="716" r:id="rId21"/>
    <p:sldId id="71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734DB0-CD51-4852-923A-92F29AB39AF9}">
          <p14:sldIdLst>
            <p14:sldId id="267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9"/>
            <p14:sldId id="720"/>
            <p14:sldId id="721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5085F-DBD1-4BD2-914A-C65F3CF468B6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7C7D9-FC40-4095-B761-E2762315B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1222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F0F29-BCB1-4820-A152-82A626045217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C54EF-D845-4DF1-A596-0CBE4BBC8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99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4CA39B-6811-4A09-B2EF-CF371A139D9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3AE87AAC-2402-4FF9-8022-A91F41ABB7BC}" type="datetime1">
              <a:rPr lang="en-US" smtClean="0"/>
              <a:t>1/15/2025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191" y="138545"/>
            <a:ext cx="7567009" cy="1233055"/>
          </a:xfrm>
        </p:spPr>
        <p:txBody>
          <a:bodyPr/>
          <a:lstStyle>
            <a:lvl1pPr>
              <a:defRPr b="0">
                <a:cs typeface="Titr" panose="00000700000000000000" pitchFamily="2" charset="-78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48768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7" name="Picture 5" descr="C:\Users\amir\Desktop\imddages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91191" cy="685800"/>
          </a:xfrm>
          <a:prstGeom prst="rect">
            <a:avLst/>
          </a:prstGeom>
          <a:noFill/>
        </p:spPr>
      </p:pic>
      <p:pic>
        <p:nvPicPr>
          <p:cNvPr id="8" name="Picture 6" descr="C:\Users\amir\Desktop\images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58200" y="19050"/>
            <a:ext cx="685800" cy="6858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4FC1E-6030-431F-A8B0-A83AC828D075}" type="datetime1">
              <a:rPr lang="en-US" smtClean="0"/>
              <a:t>1/15/2025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153400" y="6400800"/>
            <a:ext cx="762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FA6EA6C2-C54D-4A9E-84AE-713C9D545E3A}" type="slidenum">
              <a:rPr lang="en-US" smtClean="0"/>
              <a:pPr algn="ctr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9A7C-1AC8-4678-94FC-A715CBBD04F4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E895-7C7B-4837-AA39-11926D7701B1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8864B98-73C4-4BDE-BF98-1D88999EC5F0}" type="datetime1">
              <a:rPr lang="en-US" smtClean="0"/>
              <a:t>1/15/2025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E48B39D-AF53-450F-B458-1A24BDE15E28}" type="datetime1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DCBA4-32A1-4F21-879D-B66B9307F408}" type="datetime1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9227-2D57-4108-A8FF-B12DBC34D85A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77B9-55B7-49BA-9F00-6DD3DAD91F95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47F4-F90C-442D-B3B8-91AEE896C907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DD02-6AEE-4DEC-885F-CC67E4DAB770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1264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46044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78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20715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71977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87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694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90685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92067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597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130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Verilog 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1BF37CF-C1C8-485B-B3E9-995A83C656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8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0751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65D6370F-F9B7-4ADE-B732-885D6CAA0100}" type="datetime1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191001" y="6400800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FA6EA6C2-C54D-4A9E-84AE-713C9D545E3A}" type="slidenum">
              <a:rPr lang="en-US" smtClean="0"/>
              <a:t>‹#›</a:t>
            </a:fld>
            <a:fld id="{65761B8E-8340-4D3E-9DAF-AE6FE75B7A2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4.wmf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oleObject" Target="../embeddings/oleObject6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14.w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oleObject" Target="../embeddings/oleObject6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tags" Target="../tags/tag18.xml"/><Relationship Id="rId7" Type="http://schemas.openxmlformats.org/officeDocument/2006/relationships/oleObject" Target="../embeddings/oleObject7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tags" Target="../tags/tag23.xml"/><Relationship Id="rId7" Type="http://schemas.openxmlformats.org/officeDocument/2006/relationships/oleObject" Target="../embeddings/oleObject7.bin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Synthesis- Timing Issues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CE233(CAD),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Lecture 11: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914400" y="3810000"/>
            <a:ext cx="7162800" cy="1600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Mehdi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Modarressi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Department of Electrical and Computer Engineering,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University of  Tehran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digital circuits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50000"/>
              </a:lnSpc>
              <a:spcBef>
                <a:spcPct val="50000"/>
              </a:spcBef>
              <a:buNone/>
            </a:pPr>
            <a:endParaRPr lang="en-US" altLang="en-US" sz="2000" dirty="0"/>
          </a:p>
          <a:p>
            <a:pPr>
              <a:lnSpc>
                <a:spcPct val="50000"/>
              </a:lnSpc>
              <a:spcBef>
                <a:spcPct val="50000"/>
              </a:spcBef>
              <a:buNone/>
            </a:pPr>
            <a:r>
              <a:rPr lang="en-US" altLang="en-US" dirty="0"/>
              <a:t>Timing: Setup Time and Hold Time Constraints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2</a:t>
            </a:fld>
            <a:endParaRPr lang="en-US" dirty="0"/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3505200" y="3276600"/>
            <a:ext cx="1465263" cy="1524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3581400" y="3581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D</a:t>
            </a: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4495800" y="3429000"/>
            <a:ext cx="5064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Q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Q’</a:t>
            </a:r>
          </a:p>
        </p:txBody>
      </p:sp>
      <p:sp>
        <p:nvSpPr>
          <p:cNvPr id="8" name="Line 24"/>
          <p:cNvSpPr>
            <a:spLocks noChangeShapeType="1"/>
          </p:cNvSpPr>
          <p:nvPr/>
        </p:nvSpPr>
        <p:spPr bwMode="auto">
          <a:xfrm flipV="1">
            <a:off x="3962400" y="4495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25"/>
          <p:cNvSpPr>
            <a:spLocks noChangeShapeType="1"/>
          </p:cNvSpPr>
          <p:nvPr/>
        </p:nvSpPr>
        <p:spPr bwMode="auto">
          <a:xfrm>
            <a:off x="4267200" y="4495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26"/>
          <p:cNvSpPr>
            <a:spLocks noChangeShapeType="1"/>
          </p:cNvSpPr>
          <p:nvPr/>
        </p:nvSpPr>
        <p:spPr bwMode="auto">
          <a:xfrm>
            <a:off x="4191000" y="4800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72"/>
          <p:cNvSpPr>
            <a:spLocks noChangeShapeType="1"/>
          </p:cNvSpPr>
          <p:nvPr/>
        </p:nvSpPr>
        <p:spPr bwMode="auto">
          <a:xfrm>
            <a:off x="4953000" y="43846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73"/>
          <p:cNvSpPr>
            <a:spLocks noChangeShapeType="1"/>
          </p:cNvSpPr>
          <p:nvPr/>
        </p:nvSpPr>
        <p:spPr bwMode="auto">
          <a:xfrm>
            <a:off x="4953000" y="36988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74"/>
          <p:cNvSpPr>
            <a:spLocks noChangeShapeType="1"/>
          </p:cNvSpPr>
          <p:nvPr/>
        </p:nvSpPr>
        <p:spPr bwMode="auto">
          <a:xfrm>
            <a:off x="2895600" y="38512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75"/>
          <p:cNvSpPr txBox="1">
            <a:spLocks noChangeArrowheads="1"/>
          </p:cNvSpPr>
          <p:nvPr/>
        </p:nvSpPr>
        <p:spPr bwMode="auto">
          <a:xfrm>
            <a:off x="3810000" y="51816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CLK</a:t>
            </a:r>
          </a:p>
        </p:txBody>
      </p:sp>
    </p:spTree>
    <p:extLst>
      <p:ext uri="{BB962C8B-B14F-4D97-AF65-F5344CB8AC3E}">
        <p14:creationId xmlns:p14="http://schemas.microsoft.com/office/powerpoint/2010/main" val="1825987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digital circuits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typical sequential network has both a combinational circuit and flip-flips.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3</a:t>
            </a:fld>
            <a:endParaRPr lang="en-US" dirty="0"/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1676400" y="3463925"/>
            <a:ext cx="990600" cy="1676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4" name="Line 5"/>
          <p:cNvSpPr>
            <a:spLocks noChangeShapeType="1"/>
          </p:cNvSpPr>
          <p:nvPr/>
        </p:nvSpPr>
        <p:spPr bwMode="auto">
          <a:xfrm flipV="1">
            <a:off x="1905000" y="4911725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6"/>
          <p:cNvSpPr>
            <a:spLocks noChangeShapeType="1"/>
          </p:cNvSpPr>
          <p:nvPr/>
        </p:nvSpPr>
        <p:spPr bwMode="auto">
          <a:xfrm>
            <a:off x="2133600" y="4911725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2133600" y="514032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1812925" y="54864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CLK</a:t>
            </a: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6781800" y="3463925"/>
            <a:ext cx="990600" cy="1676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" name="Line 11"/>
          <p:cNvSpPr>
            <a:spLocks noChangeShapeType="1"/>
          </p:cNvSpPr>
          <p:nvPr/>
        </p:nvSpPr>
        <p:spPr bwMode="auto">
          <a:xfrm flipV="1">
            <a:off x="7010400" y="4911725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2"/>
          <p:cNvSpPr>
            <a:spLocks noChangeShapeType="1"/>
          </p:cNvSpPr>
          <p:nvPr/>
        </p:nvSpPr>
        <p:spPr bwMode="auto">
          <a:xfrm>
            <a:off x="7239000" y="4911725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3"/>
          <p:cNvSpPr>
            <a:spLocks noChangeShapeType="1"/>
          </p:cNvSpPr>
          <p:nvPr/>
        </p:nvSpPr>
        <p:spPr bwMode="auto">
          <a:xfrm>
            <a:off x="7239000" y="514032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6918325" y="54864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CLK</a:t>
            </a:r>
          </a:p>
        </p:txBody>
      </p:sp>
      <p:sp>
        <p:nvSpPr>
          <p:cNvPr id="34" name="Line 15"/>
          <p:cNvSpPr>
            <a:spLocks noChangeShapeType="1"/>
          </p:cNvSpPr>
          <p:nvPr/>
        </p:nvSpPr>
        <p:spPr bwMode="auto">
          <a:xfrm>
            <a:off x="7772400" y="437832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>
            <a:off x="5867400" y="4378325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7"/>
          <p:cNvSpPr>
            <a:spLocks noChangeShapeType="1"/>
          </p:cNvSpPr>
          <p:nvPr/>
        </p:nvSpPr>
        <p:spPr bwMode="auto">
          <a:xfrm>
            <a:off x="2667000" y="4378325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8"/>
          <p:cNvSpPr>
            <a:spLocks noChangeShapeType="1"/>
          </p:cNvSpPr>
          <p:nvPr/>
        </p:nvSpPr>
        <p:spPr bwMode="auto">
          <a:xfrm>
            <a:off x="609600" y="4378325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auto">
          <a:xfrm>
            <a:off x="746125" y="36576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39" name="Text Box 20"/>
          <p:cNvSpPr txBox="1">
            <a:spLocks noChangeArrowheads="1"/>
          </p:cNvSpPr>
          <p:nvPr/>
        </p:nvSpPr>
        <p:spPr bwMode="auto">
          <a:xfrm>
            <a:off x="2955925" y="36163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B</a:t>
            </a:r>
          </a:p>
        </p:txBody>
      </p:sp>
      <p:sp>
        <p:nvSpPr>
          <p:cNvPr id="40" name="Text Box 21"/>
          <p:cNvSpPr txBox="1">
            <a:spLocks noChangeArrowheads="1"/>
          </p:cNvSpPr>
          <p:nvPr/>
        </p:nvSpPr>
        <p:spPr bwMode="auto">
          <a:xfrm>
            <a:off x="6003925" y="36163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</a:t>
            </a:r>
          </a:p>
        </p:txBody>
      </p:sp>
      <p:sp>
        <p:nvSpPr>
          <p:cNvPr id="41" name="Text Box 24"/>
          <p:cNvSpPr txBox="1">
            <a:spLocks noChangeArrowheads="1"/>
          </p:cNvSpPr>
          <p:nvPr/>
        </p:nvSpPr>
        <p:spPr bwMode="auto">
          <a:xfrm>
            <a:off x="8077200" y="354012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</a:t>
            </a:r>
          </a:p>
        </p:txBody>
      </p:sp>
      <p:sp>
        <p:nvSpPr>
          <p:cNvPr id="42" name="Cloud 41"/>
          <p:cNvSpPr/>
          <p:nvPr/>
        </p:nvSpPr>
        <p:spPr>
          <a:xfrm>
            <a:off x="3505200" y="2944380"/>
            <a:ext cx="2598737" cy="277062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 altLang="en-US" dirty="0">
                <a:solidFill>
                  <a:srgbClr val="002060"/>
                </a:solidFill>
              </a:rPr>
              <a:t>Combinational</a:t>
            </a:r>
          </a:p>
        </p:txBody>
      </p:sp>
    </p:spTree>
    <p:extLst>
      <p:ext uri="{BB962C8B-B14F-4D97-AF65-F5344CB8AC3E}">
        <p14:creationId xmlns:p14="http://schemas.microsoft.com/office/powerpoint/2010/main" val="409977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Timing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4</a:t>
            </a:fld>
            <a:endParaRPr lang="en-US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32" y="1221529"/>
            <a:ext cx="8770605" cy="525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04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of digital circuits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5</a:t>
            </a:fld>
            <a:endParaRPr lang="en-US" dirty="0"/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1676400" y="2092325"/>
            <a:ext cx="990600" cy="1676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4" name="Line 5"/>
          <p:cNvSpPr>
            <a:spLocks noChangeShapeType="1"/>
          </p:cNvSpPr>
          <p:nvPr/>
        </p:nvSpPr>
        <p:spPr bwMode="auto">
          <a:xfrm flipV="1">
            <a:off x="1905000" y="3540125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6"/>
          <p:cNvSpPr>
            <a:spLocks noChangeShapeType="1"/>
          </p:cNvSpPr>
          <p:nvPr/>
        </p:nvSpPr>
        <p:spPr bwMode="auto">
          <a:xfrm>
            <a:off x="2133600" y="3540125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2133600" y="376872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1812925" y="41148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CLK</a:t>
            </a:r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6781800" y="2092325"/>
            <a:ext cx="990600" cy="1676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" name="Line 11"/>
          <p:cNvSpPr>
            <a:spLocks noChangeShapeType="1"/>
          </p:cNvSpPr>
          <p:nvPr/>
        </p:nvSpPr>
        <p:spPr bwMode="auto">
          <a:xfrm flipV="1">
            <a:off x="7010400" y="3540125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2"/>
          <p:cNvSpPr>
            <a:spLocks noChangeShapeType="1"/>
          </p:cNvSpPr>
          <p:nvPr/>
        </p:nvSpPr>
        <p:spPr bwMode="auto">
          <a:xfrm>
            <a:off x="7239000" y="3540125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3"/>
          <p:cNvSpPr>
            <a:spLocks noChangeShapeType="1"/>
          </p:cNvSpPr>
          <p:nvPr/>
        </p:nvSpPr>
        <p:spPr bwMode="auto">
          <a:xfrm>
            <a:off x="7239000" y="376872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6918325" y="41148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CLK</a:t>
            </a:r>
          </a:p>
        </p:txBody>
      </p:sp>
      <p:sp>
        <p:nvSpPr>
          <p:cNvPr id="34" name="Line 15"/>
          <p:cNvSpPr>
            <a:spLocks noChangeShapeType="1"/>
          </p:cNvSpPr>
          <p:nvPr/>
        </p:nvSpPr>
        <p:spPr bwMode="auto">
          <a:xfrm>
            <a:off x="7772400" y="3006725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>
            <a:off x="5867400" y="3006725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17"/>
          <p:cNvSpPr>
            <a:spLocks noChangeShapeType="1"/>
          </p:cNvSpPr>
          <p:nvPr/>
        </p:nvSpPr>
        <p:spPr bwMode="auto">
          <a:xfrm>
            <a:off x="2667000" y="3006725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18"/>
          <p:cNvSpPr>
            <a:spLocks noChangeShapeType="1"/>
          </p:cNvSpPr>
          <p:nvPr/>
        </p:nvSpPr>
        <p:spPr bwMode="auto">
          <a:xfrm>
            <a:off x="609600" y="3006725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auto">
          <a:xfrm>
            <a:off x="746125" y="228600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39" name="Text Box 20"/>
          <p:cNvSpPr txBox="1">
            <a:spLocks noChangeArrowheads="1"/>
          </p:cNvSpPr>
          <p:nvPr/>
        </p:nvSpPr>
        <p:spPr bwMode="auto">
          <a:xfrm>
            <a:off x="2955925" y="22447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B</a:t>
            </a:r>
          </a:p>
        </p:txBody>
      </p:sp>
      <p:sp>
        <p:nvSpPr>
          <p:cNvPr id="40" name="Text Box 21"/>
          <p:cNvSpPr txBox="1">
            <a:spLocks noChangeArrowheads="1"/>
          </p:cNvSpPr>
          <p:nvPr/>
        </p:nvSpPr>
        <p:spPr bwMode="auto">
          <a:xfrm>
            <a:off x="6003925" y="22447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</a:t>
            </a:r>
          </a:p>
        </p:txBody>
      </p:sp>
      <p:sp>
        <p:nvSpPr>
          <p:cNvPr id="41" name="Text Box 24"/>
          <p:cNvSpPr txBox="1">
            <a:spLocks noChangeArrowheads="1"/>
          </p:cNvSpPr>
          <p:nvPr/>
        </p:nvSpPr>
        <p:spPr bwMode="auto">
          <a:xfrm>
            <a:off x="8077200" y="216852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</a:t>
            </a:r>
          </a:p>
        </p:txBody>
      </p:sp>
      <p:sp>
        <p:nvSpPr>
          <p:cNvPr id="42" name="Cloud 41"/>
          <p:cNvSpPr/>
          <p:nvPr/>
        </p:nvSpPr>
        <p:spPr>
          <a:xfrm>
            <a:off x="3505200" y="1572780"/>
            <a:ext cx="2598737" cy="277062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 altLang="en-US" dirty="0">
                <a:solidFill>
                  <a:srgbClr val="002060"/>
                </a:solidFill>
              </a:rPr>
              <a:t>Combinational</a:t>
            </a:r>
          </a:p>
        </p:txBody>
      </p:sp>
      <p:sp>
        <p:nvSpPr>
          <p:cNvPr id="47" name="Text Box 22"/>
          <p:cNvSpPr txBox="1">
            <a:spLocks noChangeArrowheads="1"/>
          </p:cNvSpPr>
          <p:nvPr/>
        </p:nvSpPr>
        <p:spPr bwMode="auto">
          <a:xfrm>
            <a:off x="2759075" y="4852987"/>
            <a:ext cx="26876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/>
              <a:t>t</a:t>
            </a:r>
            <a:r>
              <a:rPr lang="en-US" altLang="en-US" sz="2400" baseline="-8000" dirty="0" err="1"/>
              <a:t>cq</a:t>
            </a:r>
            <a:r>
              <a:rPr lang="en-US" altLang="en-US" sz="2400" dirty="0"/>
              <a:t> + </a:t>
            </a:r>
            <a:r>
              <a:rPr lang="en-US" altLang="en-US" sz="2400" dirty="0" err="1"/>
              <a:t>t</a:t>
            </a:r>
            <a:r>
              <a:rPr lang="en-US" altLang="en-US" sz="2400" baseline="-8000" dirty="0" err="1"/>
              <a:t>comb</a:t>
            </a:r>
            <a:r>
              <a:rPr lang="en-US" altLang="en-US" sz="2400" dirty="0"/>
              <a:t> + </a:t>
            </a:r>
            <a:r>
              <a:rPr lang="en-US" altLang="en-US" sz="2400" dirty="0" err="1"/>
              <a:t>t</a:t>
            </a:r>
            <a:r>
              <a:rPr lang="en-US" altLang="en-US" sz="2400" baseline="-8000" dirty="0" err="1"/>
              <a:t>setup</a:t>
            </a:r>
            <a:r>
              <a:rPr lang="en-US" altLang="en-US" sz="2400" dirty="0"/>
              <a:t> &lt; 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/>
              <a:t>t</a:t>
            </a:r>
            <a:r>
              <a:rPr lang="en-US" altLang="en-US" sz="2400" baseline="-8000" dirty="0" err="1"/>
              <a:t>hold</a:t>
            </a:r>
            <a:r>
              <a:rPr lang="en-US" altLang="en-US" sz="2400" baseline="-8000" dirty="0"/>
              <a:t> </a:t>
            </a:r>
            <a:r>
              <a:rPr lang="en-US" altLang="en-US" sz="2400" dirty="0"/>
              <a:t> &lt;  </a:t>
            </a:r>
            <a:r>
              <a:rPr lang="en-US" altLang="en-US" sz="2400" dirty="0" err="1"/>
              <a:t>t</a:t>
            </a:r>
            <a:r>
              <a:rPr lang="en-US" altLang="en-US" sz="2400" baseline="-8000" dirty="0" err="1"/>
              <a:t>cq</a:t>
            </a:r>
            <a:r>
              <a:rPr lang="en-US" altLang="en-US" sz="2400" dirty="0"/>
              <a:t> + </a:t>
            </a:r>
            <a:r>
              <a:rPr lang="en-US" altLang="en-US" sz="2400" dirty="0" err="1"/>
              <a:t>t</a:t>
            </a:r>
            <a:r>
              <a:rPr lang="en-US" altLang="en-US" sz="2400" baseline="-8000" dirty="0" err="1"/>
              <a:t>comb</a:t>
            </a:r>
            <a:r>
              <a:rPr lang="en-US" altLang="en-US" sz="2400" dirty="0"/>
              <a:t> </a:t>
            </a:r>
          </a:p>
        </p:txBody>
      </p:sp>
      <p:sp>
        <p:nvSpPr>
          <p:cNvPr id="48" name="Line 25"/>
          <p:cNvSpPr>
            <a:spLocks noChangeShapeType="1"/>
          </p:cNvSpPr>
          <p:nvPr/>
        </p:nvSpPr>
        <p:spPr bwMode="auto">
          <a:xfrm flipH="1" flipV="1">
            <a:off x="5502275" y="5310187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26"/>
          <p:cNvSpPr>
            <a:spLocks noChangeShapeType="1"/>
          </p:cNvSpPr>
          <p:nvPr/>
        </p:nvSpPr>
        <p:spPr bwMode="auto">
          <a:xfrm flipH="1" flipV="1">
            <a:off x="4968875" y="5995987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Text Box 27"/>
          <p:cNvSpPr txBox="1">
            <a:spLocks noChangeArrowheads="1"/>
          </p:cNvSpPr>
          <p:nvPr/>
        </p:nvSpPr>
        <p:spPr bwMode="auto">
          <a:xfrm>
            <a:off x="6096000" y="5424487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Clock period</a:t>
            </a:r>
          </a:p>
        </p:txBody>
      </p:sp>
      <p:sp>
        <p:nvSpPr>
          <p:cNvPr id="51" name="Text Box 28"/>
          <p:cNvSpPr txBox="1">
            <a:spLocks noChangeArrowheads="1"/>
          </p:cNvSpPr>
          <p:nvPr/>
        </p:nvSpPr>
        <p:spPr bwMode="auto">
          <a:xfrm>
            <a:off x="5638800" y="6110287"/>
            <a:ext cx="1384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305317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Input Timing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2128203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Setup time: </a:t>
            </a:r>
            <a:r>
              <a:rPr lang="en-US" altLang="en-US" i="1" dirty="0" err="1"/>
              <a:t>t</a:t>
            </a:r>
            <a:r>
              <a:rPr lang="en-US" altLang="en-US" baseline="-25000" dirty="0" err="1"/>
              <a:t>setup</a:t>
            </a:r>
            <a:r>
              <a:rPr lang="en-US" altLang="en-US" dirty="0"/>
              <a:t> = time </a:t>
            </a:r>
            <a:r>
              <a:rPr lang="en-US" altLang="en-US" i="1" dirty="0"/>
              <a:t>before</a:t>
            </a:r>
            <a:r>
              <a:rPr lang="en-US" altLang="en-US" dirty="0"/>
              <a:t> the clock edge that data must be stable (i.e. not changing)</a:t>
            </a:r>
          </a:p>
          <a:p>
            <a:r>
              <a:rPr lang="en-US" altLang="en-US" dirty="0"/>
              <a:t>Hold time: </a:t>
            </a:r>
            <a:r>
              <a:rPr lang="en-US" altLang="en-US" i="1" dirty="0" err="1"/>
              <a:t>t</a:t>
            </a:r>
            <a:r>
              <a:rPr lang="en-US" altLang="en-US" baseline="-25000" dirty="0" err="1"/>
              <a:t>hold</a:t>
            </a:r>
            <a:r>
              <a:rPr lang="en-US" altLang="en-US" dirty="0"/>
              <a:t> = time </a:t>
            </a:r>
            <a:r>
              <a:rPr lang="en-US" altLang="en-US" i="1" dirty="0"/>
              <a:t>after</a:t>
            </a:r>
            <a:r>
              <a:rPr lang="en-US" altLang="en-US" dirty="0"/>
              <a:t> the clock edge that data must be stable</a:t>
            </a:r>
          </a:p>
          <a:p>
            <a:r>
              <a:rPr lang="en-US" altLang="en-US" dirty="0"/>
              <a:t>Aperture time: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a</a:t>
            </a:r>
            <a:r>
              <a:rPr lang="en-US" altLang="en-US" dirty="0"/>
              <a:t> = time around clock edge that data must be stable (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a</a:t>
            </a:r>
            <a:r>
              <a:rPr lang="en-US" altLang="en-US" dirty="0"/>
              <a:t> = </a:t>
            </a:r>
            <a:r>
              <a:rPr lang="en-US" altLang="en-US" i="1" dirty="0" err="1"/>
              <a:t>t</a:t>
            </a:r>
            <a:r>
              <a:rPr lang="en-US" altLang="en-US" baseline="-25000" dirty="0" err="1"/>
              <a:t>setup</a:t>
            </a:r>
            <a:r>
              <a:rPr lang="en-US" altLang="en-US" dirty="0"/>
              <a:t> +  </a:t>
            </a:r>
            <a:r>
              <a:rPr lang="en-US" altLang="en-US" i="1" dirty="0" err="1"/>
              <a:t>t</a:t>
            </a:r>
            <a:r>
              <a:rPr lang="en-US" altLang="en-US" baseline="-25000" dirty="0" err="1"/>
              <a:t>hold</a:t>
            </a:r>
            <a:r>
              <a:rPr lang="en-US" alt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6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828800" y="3804603"/>
          <a:ext cx="4800600" cy="295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969242" imgH="1209023" progId="Visio.Drawing.6">
                  <p:embed/>
                </p:oleObj>
              </mc:Choice>
              <mc:Fallback>
                <p:oleObj name="VISIO" r:id="rId3" imgW="1969242" imgH="1209023" progId="Visio.Drawing.6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04603"/>
                        <a:ext cx="4800600" cy="295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7003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Output Timing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1828800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Propagation delay: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pcq</a:t>
            </a:r>
            <a:r>
              <a:rPr lang="en-US" altLang="en-US" dirty="0"/>
              <a:t> = time after clock edge that the output </a:t>
            </a:r>
            <a:r>
              <a:rPr lang="en-US" altLang="en-US" i="1" dirty="0"/>
              <a:t>Q</a:t>
            </a:r>
            <a:r>
              <a:rPr lang="en-US" altLang="en-US" dirty="0"/>
              <a:t> is guaranteed to be stable (i.e., to stop changing)</a:t>
            </a:r>
          </a:p>
          <a:p>
            <a:r>
              <a:rPr lang="en-US" altLang="en-US" dirty="0"/>
              <a:t>Contamination delay: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ccq</a:t>
            </a:r>
            <a:r>
              <a:rPr lang="en-US" altLang="en-US" dirty="0"/>
              <a:t> = time after clock edge that </a:t>
            </a:r>
            <a:r>
              <a:rPr lang="en-US" altLang="en-US" i="1" dirty="0"/>
              <a:t>Q</a:t>
            </a:r>
            <a:r>
              <a:rPr lang="en-US" altLang="en-US" dirty="0"/>
              <a:t> might be unstable (i.e., start changing)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7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33600" y="3512127"/>
          <a:ext cx="4648200" cy="314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910959" imgH="1294766" progId="Visio.Drawing.6">
                  <p:embed/>
                </p:oleObj>
              </mc:Choice>
              <mc:Fallback>
                <p:oleObj name="VISIO" r:id="rId3" imgW="1910959" imgH="1294766" progId="Visio.Drawing.6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512127"/>
                        <a:ext cx="4648200" cy="314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820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Dynamic Discipline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delay between registers has a </a:t>
            </a:r>
            <a:r>
              <a:rPr lang="en-US" altLang="en-US" b="1" dirty="0"/>
              <a:t>minimum</a:t>
            </a:r>
            <a:r>
              <a:rPr lang="en-US" altLang="en-US" dirty="0"/>
              <a:t> and </a:t>
            </a:r>
            <a:r>
              <a:rPr lang="en-US" altLang="en-US" b="1" dirty="0"/>
              <a:t>maximum</a:t>
            </a:r>
            <a:r>
              <a:rPr lang="en-US" altLang="en-US" dirty="0"/>
              <a:t> delay, dependent on the delays of the circuit elements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8</a:t>
            </a:fld>
            <a:endParaRPr lang="en-US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429000" y="2667000"/>
          <a:ext cx="4481513" cy="393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952450" imgH="1714309" progId="Visio.Drawing.6">
                  <p:embed/>
                </p:oleObj>
              </mc:Choice>
              <mc:Fallback>
                <p:oleObj name="VISIO" r:id="rId3" imgW="1952450" imgH="1714309" progId="Visio.Drawing.6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667000"/>
                        <a:ext cx="4481513" cy="393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2366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Setup Time Constraint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setup time constraint depends on the </a:t>
            </a:r>
            <a:r>
              <a:rPr lang="en-US" altLang="en-US" b="1" dirty="0"/>
              <a:t>maximum</a:t>
            </a:r>
            <a:r>
              <a:rPr lang="en-US" altLang="en-US" dirty="0"/>
              <a:t> delay from register R1 through the combinational logic.</a:t>
            </a:r>
          </a:p>
          <a:p>
            <a:r>
              <a:rPr lang="en-US" altLang="en-US" dirty="0"/>
              <a:t>The input to register R2 must be stable at least </a:t>
            </a:r>
            <a:r>
              <a:rPr lang="en-US" altLang="en-US" i="1" dirty="0" err="1"/>
              <a:t>t</a:t>
            </a:r>
            <a:r>
              <a:rPr lang="en-US" altLang="en-US" baseline="-25000" dirty="0" err="1"/>
              <a:t>setup</a:t>
            </a:r>
            <a:r>
              <a:rPr lang="en-US" altLang="en-US" dirty="0"/>
              <a:t> before the clock edge.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9</a:t>
            </a:fld>
            <a:endParaRPr lang="en-US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685800" y="3505200"/>
          <a:ext cx="4114800" cy="288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952450" imgH="1650194" progId="Visio.Drawing.11">
                  <p:embed/>
                </p:oleObj>
              </mc:Choice>
              <mc:Fallback>
                <p:oleObj name="Visio" r:id="rId4" imgW="1952450" imgH="1650194" progId="Visio.Drawing.11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505200"/>
                        <a:ext cx="4114800" cy="288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05400" y="3810000"/>
            <a:ext cx="3733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1" i="1" dirty="0">
                <a:solidFill>
                  <a:srgbClr val="00B050"/>
                </a:solidFill>
              </a:rPr>
              <a:t>T</a:t>
            </a:r>
            <a:r>
              <a:rPr lang="en-US" altLang="en-US" b="1" i="1" baseline="-25000" dirty="0">
                <a:solidFill>
                  <a:srgbClr val="00B050"/>
                </a:solidFill>
              </a:rPr>
              <a:t>c</a:t>
            </a:r>
            <a:r>
              <a:rPr lang="en-US" altLang="en-US" b="1" dirty="0">
                <a:solidFill>
                  <a:srgbClr val="00B050"/>
                </a:solidFill>
              </a:rPr>
              <a:t> ≥ </a:t>
            </a:r>
            <a:r>
              <a:rPr lang="en-US" altLang="en-US" b="1" i="1" dirty="0" err="1">
                <a:solidFill>
                  <a:srgbClr val="00B050"/>
                </a:solidFill>
              </a:rPr>
              <a:t>t</a:t>
            </a:r>
            <a:r>
              <a:rPr lang="en-US" altLang="en-US" b="1" i="1" baseline="-25000" dirty="0" err="1">
                <a:solidFill>
                  <a:srgbClr val="00B050"/>
                </a:solidFill>
              </a:rPr>
              <a:t>pcq</a:t>
            </a:r>
            <a:r>
              <a:rPr lang="en-US" altLang="en-US" b="1" dirty="0">
                <a:solidFill>
                  <a:srgbClr val="00B050"/>
                </a:solidFill>
              </a:rPr>
              <a:t> + </a:t>
            </a:r>
            <a:r>
              <a:rPr lang="en-US" altLang="en-US" b="1" i="1" dirty="0" err="1">
                <a:solidFill>
                  <a:srgbClr val="00B050"/>
                </a:solidFill>
              </a:rPr>
              <a:t>t</a:t>
            </a:r>
            <a:r>
              <a:rPr lang="en-US" altLang="en-US" b="1" i="1" baseline="-25000" dirty="0" err="1">
                <a:solidFill>
                  <a:srgbClr val="00B050"/>
                </a:solidFill>
              </a:rPr>
              <a:t>pd</a:t>
            </a:r>
            <a:r>
              <a:rPr lang="en-US" altLang="en-US" b="1" dirty="0">
                <a:solidFill>
                  <a:srgbClr val="00B050"/>
                </a:solidFill>
              </a:rPr>
              <a:t> + </a:t>
            </a:r>
            <a:r>
              <a:rPr lang="en-US" altLang="en-US" b="1" i="1" dirty="0" err="1">
                <a:solidFill>
                  <a:srgbClr val="00B050"/>
                </a:solidFill>
              </a:rPr>
              <a:t>t</a:t>
            </a:r>
            <a:r>
              <a:rPr lang="en-US" altLang="en-US" b="1" baseline="-25000" dirty="0" err="1">
                <a:solidFill>
                  <a:srgbClr val="00B050"/>
                </a:solidFill>
              </a:rPr>
              <a:t>setup</a:t>
            </a:r>
            <a:endParaRPr lang="en-US" altLang="en-US" b="1" baseline="-25000" dirty="0">
              <a:solidFill>
                <a:srgbClr val="00B05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b="1" i="1" dirty="0" err="1">
                <a:solidFill>
                  <a:srgbClr val="00B050"/>
                </a:solidFill>
              </a:rPr>
              <a:t>t</a:t>
            </a:r>
            <a:r>
              <a:rPr lang="en-US" altLang="en-US" b="1" i="1" baseline="-25000" dirty="0" err="1">
                <a:solidFill>
                  <a:srgbClr val="00B050"/>
                </a:solidFill>
              </a:rPr>
              <a:t>pd</a:t>
            </a:r>
            <a:r>
              <a:rPr lang="en-US" altLang="en-US" b="1" dirty="0">
                <a:solidFill>
                  <a:srgbClr val="00B050"/>
                </a:solidFill>
              </a:rPr>
              <a:t> ≤ </a:t>
            </a:r>
            <a:r>
              <a:rPr lang="en-US" altLang="en-US" b="1" i="1" dirty="0">
                <a:solidFill>
                  <a:srgbClr val="00B050"/>
                </a:solidFill>
              </a:rPr>
              <a:t>T</a:t>
            </a:r>
            <a:r>
              <a:rPr lang="en-US" altLang="en-US" b="1" i="1" baseline="-25000" dirty="0">
                <a:solidFill>
                  <a:srgbClr val="00B050"/>
                </a:solidFill>
              </a:rPr>
              <a:t>c</a:t>
            </a:r>
            <a:r>
              <a:rPr lang="en-US" altLang="en-US" b="1" dirty="0">
                <a:solidFill>
                  <a:srgbClr val="00B050"/>
                </a:solidFill>
              </a:rPr>
              <a:t> – (</a:t>
            </a:r>
            <a:r>
              <a:rPr lang="en-US" altLang="en-US" b="1" i="1" dirty="0" err="1">
                <a:solidFill>
                  <a:srgbClr val="00B050"/>
                </a:solidFill>
              </a:rPr>
              <a:t>t</a:t>
            </a:r>
            <a:r>
              <a:rPr lang="en-US" altLang="en-US" b="1" i="1" baseline="-25000" dirty="0" err="1">
                <a:solidFill>
                  <a:srgbClr val="00B050"/>
                </a:solidFill>
              </a:rPr>
              <a:t>pcq</a:t>
            </a:r>
            <a:r>
              <a:rPr lang="en-US" altLang="en-US" b="1" dirty="0">
                <a:solidFill>
                  <a:srgbClr val="00B050"/>
                </a:solidFill>
              </a:rPr>
              <a:t> + </a:t>
            </a:r>
            <a:r>
              <a:rPr lang="en-US" altLang="en-US" b="1" i="1" dirty="0" err="1">
                <a:solidFill>
                  <a:srgbClr val="00B050"/>
                </a:solidFill>
              </a:rPr>
              <a:t>t</a:t>
            </a:r>
            <a:r>
              <a:rPr lang="en-US" altLang="en-US" b="1" baseline="-25000" dirty="0" err="1">
                <a:solidFill>
                  <a:srgbClr val="00B050"/>
                </a:solidFill>
              </a:rPr>
              <a:t>setup</a:t>
            </a:r>
            <a:r>
              <a:rPr lang="en-US" altLang="en-US" b="1" dirty="0">
                <a:solidFill>
                  <a:srgbClr val="00B050"/>
                </a:solidFill>
              </a:rPr>
              <a:t>)</a:t>
            </a:r>
            <a:endParaRPr lang="en-US" altLang="en-US" b="1" baseline="-25000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37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time slack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44196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circuit provides setup time as a function of the clock period, </a:t>
            </a:r>
            <a:r>
              <a:rPr lang="en-US" dirty="0" err="1"/>
              <a:t>T</a:t>
            </a:r>
            <a:r>
              <a:rPr lang="en-US" baseline="-25000" dirty="0" err="1"/>
              <a:t>pcq</a:t>
            </a:r>
            <a:r>
              <a:rPr lang="en-US" dirty="0"/>
              <a:t> and  </a:t>
            </a:r>
            <a:r>
              <a:rPr lang="en-US" dirty="0" err="1"/>
              <a:t>T</a:t>
            </a:r>
            <a:r>
              <a:rPr lang="en-US" baseline="-25000" dirty="0" err="1"/>
              <a:t>pd</a:t>
            </a:r>
            <a:r>
              <a:rPr lang="en-US" dirty="0"/>
              <a:t> </a:t>
            </a:r>
          </a:p>
          <a:p>
            <a:r>
              <a:rPr lang="en-US" dirty="0"/>
              <a:t>The FF requires a specified </a:t>
            </a:r>
            <a:r>
              <a:rPr lang="en-US" dirty="0" err="1"/>
              <a:t>T</a:t>
            </a:r>
            <a:r>
              <a:rPr lang="en-US" baseline="-25000" dirty="0" err="1"/>
              <a:t>setup</a:t>
            </a:r>
            <a:r>
              <a:rPr lang="en-US" dirty="0"/>
              <a:t> to operate correctly.</a:t>
            </a:r>
          </a:p>
          <a:p>
            <a:r>
              <a:rPr lang="en-US" dirty="0"/>
              <a:t>The difference between the two is called setup time slack.</a:t>
            </a:r>
          </a:p>
          <a:p>
            <a:r>
              <a:rPr lang="en-US" dirty="0"/>
              <a:t>setup time slack = (provided setup time) - (required setup time)</a:t>
            </a:r>
          </a:p>
          <a:p>
            <a:r>
              <a:rPr lang="en-US" dirty="0"/>
              <a:t>We always want positive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904" y="1496291"/>
            <a:ext cx="4188551" cy="467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8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time slack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2057400" cy="48768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351509"/>
            <a:ext cx="5486400" cy="504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95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4267200" cy="4876800"/>
          </a:xfrm>
        </p:spPr>
        <p:txBody>
          <a:bodyPr/>
          <a:lstStyle/>
          <a:p>
            <a:r>
              <a:rPr lang="en-US" dirty="0"/>
              <a:t>Hold time is the amount of time that FF0’s old data must persist at the input of FF1 after the clock 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23" y="1334655"/>
            <a:ext cx="46726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46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Hold Time Constraint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hold time constraint depends on the </a:t>
            </a:r>
            <a:r>
              <a:rPr lang="en-US" altLang="en-US" b="1" dirty="0"/>
              <a:t>minimum</a:t>
            </a:r>
            <a:r>
              <a:rPr lang="en-US" altLang="en-US" dirty="0"/>
              <a:t> delay from register R1 through the combinational logic.</a:t>
            </a:r>
          </a:p>
          <a:p>
            <a:r>
              <a:rPr lang="en-US" altLang="en-US" dirty="0"/>
              <a:t>The input to register R2 must be stable for at least </a:t>
            </a:r>
            <a:r>
              <a:rPr lang="en-US" altLang="en-US" i="1" dirty="0" err="1"/>
              <a:t>t</a:t>
            </a:r>
            <a:r>
              <a:rPr lang="en-US" altLang="en-US" baseline="-25000" dirty="0" err="1"/>
              <a:t>hold</a:t>
            </a:r>
            <a:r>
              <a:rPr lang="en-US" altLang="en-US" dirty="0"/>
              <a:t> after the clock edge.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13</a:t>
            </a:fld>
            <a:endParaRPr lang="en-US" dirty="0"/>
          </a:p>
        </p:txBody>
      </p:sp>
      <p:sp>
        <p:nvSpPr>
          <p:cNvPr id="5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81600" y="3738562"/>
            <a:ext cx="3276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i="1" dirty="0" err="1">
                <a:solidFill>
                  <a:srgbClr val="00B050"/>
                </a:solidFill>
              </a:rPr>
              <a:t>t</a:t>
            </a:r>
            <a:r>
              <a:rPr lang="en-US" altLang="en-US" baseline="-25000" dirty="0" err="1">
                <a:solidFill>
                  <a:srgbClr val="00B050"/>
                </a:solidFill>
              </a:rPr>
              <a:t>hold</a:t>
            </a:r>
            <a:r>
              <a:rPr lang="en-US" altLang="en-US" dirty="0">
                <a:solidFill>
                  <a:srgbClr val="00B050"/>
                </a:solidFill>
              </a:rPr>
              <a:t> &lt; </a:t>
            </a:r>
            <a:r>
              <a:rPr lang="en-US" altLang="en-US" i="1" dirty="0" err="1">
                <a:solidFill>
                  <a:srgbClr val="00B050"/>
                </a:solidFill>
              </a:rPr>
              <a:t>t</a:t>
            </a:r>
            <a:r>
              <a:rPr lang="en-US" altLang="en-US" i="1" baseline="-25000" dirty="0" err="1">
                <a:solidFill>
                  <a:srgbClr val="00B050"/>
                </a:solidFill>
              </a:rPr>
              <a:t>ccq</a:t>
            </a:r>
            <a:r>
              <a:rPr lang="en-US" altLang="en-US" dirty="0">
                <a:solidFill>
                  <a:srgbClr val="00B050"/>
                </a:solidFill>
              </a:rPr>
              <a:t> + </a:t>
            </a:r>
            <a:r>
              <a:rPr lang="en-US" altLang="en-US" i="1" dirty="0" err="1">
                <a:solidFill>
                  <a:srgbClr val="00B050"/>
                </a:solidFill>
              </a:rPr>
              <a:t>t</a:t>
            </a:r>
            <a:r>
              <a:rPr lang="en-US" altLang="en-US" i="1" baseline="-25000" dirty="0" err="1">
                <a:solidFill>
                  <a:srgbClr val="00B050"/>
                </a:solidFill>
              </a:rPr>
              <a:t>cd</a:t>
            </a:r>
            <a:endParaRPr lang="en-US" altLang="en-US" baseline="-25000" dirty="0">
              <a:solidFill>
                <a:srgbClr val="00B05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i="1" dirty="0" err="1">
                <a:solidFill>
                  <a:srgbClr val="00B050"/>
                </a:solidFill>
              </a:rPr>
              <a:t>t</a:t>
            </a:r>
            <a:r>
              <a:rPr lang="en-US" altLang="en-US" i="1" baseline="-25000" dirty="0" err="1">
                <a:solidFill>
                  <a:srgbClr val="00B050"/>
                </a:solidFill>
              </a:rPr>
              <a:t>cd</a:t>
            </a:r>
            <a:r>
              <a:rPr lang="en-US" altLang="en-US" dirty="0">
                <a:solidFill>
                  <a:srgbClr val="00B050"/>
                </a:solidFill>
              </a:rPr>
              <a:t> &gt; </a:t>
            </a:r>
            <a:r>
              <a:rPr lang="en-US" altLang="en-US" i="1" dirty="0" err="1">
                <a:solidFill>
                  <a:srgbClr val="00B050"/>
                </a:solidFill>
              </a:rPr>
              <a:t>t</a:t>
            </a:r>
            <a:r>
              <a:rPr lang="en-US" altLang="en-US" baseline="-25000" dirty="0" err="1">
                <a:solidFill>
                  <a:srgbClr val="00B050"/>
                </a:solidFill>
              </a:rPr>
              <a:t>hold</a:t>
            </a:r>
            <a:r>
              <a:rPr lang="en-US" altLang="en-US" baseline="-25000" dirty="0">
                <a:solidFill>
                  <a:srgbClr val="00B050"/>
                </a:solidFill>
              </a:rPr>
              <a:t> </a:t>
            </a:r>
            <a:r>
              <a:rPr lang="en-US" altLang="en-US" dirty="0">
                <a:solidFill>
                  <a:srgbClr val="00B050"/>
                </a:solidFill>
              </a:rPr>
              <a:t>- </a:t>
            </a:r>
            <a:r>
              <a:rPr lang="en-US" altLang="en-US" i="1" dirty="0" err="1">
                <a:solidFill>
                  <a:srgbClr val="00B050"/>
                </a:solidFill>
              </a:rPr>
              <a:t>t</a:t>
            </a:r>
            <a:r>
              <a:rPr lang="en-US" altLang="en-US" i="1" baseline="-25000" dirty="0" err="1">
                <a:solidFill>
                  <a:srgbClr val="00B050"/>
                </a:solidFill>
              </a:rPr>
              <a:t>ccq</a:t>
            </a:r>
            <a:r>
              <a:rPr lang="en-US" altLang="en-US" dirty="0">
                <a:solidFill>
                  <a:srgbClr val="00B050"/>
                </a:solidFill>
              </a:rPr>
              <a:t> 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914400" y="3352800"/>
          <a:ext cx="4114800" cy="3286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952450" imgH="1879176" progId="Visio.Drawing.6">
                  <p:embed/>
                </p:oleObj>
              </mc:Choice>
              <mc:Fallback>
                <p:oleObj name="VISIO" r:id="rId4" imgW="1952450" imgH="1879176" progId="Visio.Drawing.6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352800"/>
                        <a:ext cx="4114800" cy="3286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6349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14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43000" y="1752600"/>
          <a:ext cx="4205288" cy="229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325511" imgH="1524000" progId="Visio.Drawing.6">
                  <p:embed/>
                </p:oleObj>
              </mc:Choice>
              <mc:Fallback>
                <p:oleObj name="VISIO" r:id="rId6" imgW="2325511" imgH="1524000" progId="Visio.Drawing.6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52600"/>
                        <a:ext cx="4205288" cy="229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724400" y="838200"/>
            <a:ext cx="4038600" cy="337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Timing Characteristics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i="1" baseline="-25000" dirty="0" err="1">
                <a:latin typeface="Arial" panose="020B0604020202020204" pitchFamily="34" charset="0"/>
              </a:rPr>
              <a:t>ccq</a:t>
            </a:r>
            <a:r>
              <a:rPr lang="en-US" altLang="en-US" sz="1800" dirty="0">
                <a:latin typeface="Arial" panose="020B0604020202020204" pitchFamily="34" charset="0"/>
              </a:rPr>
              <a:t> = 30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i="1" baseline="-25000" dirty="0" err="1">
                <a:latin typeface="Arial" panose="020B0604020202020204" pitchFamily="34" charset="0"/>
              </a:rPr>
              <a:t>pcq</a:t>
            </a:r>
            <a:r>
              <a:rPr lang="en-US" altLang="en-US" sz="1800" dirty="0">
                <a:latin typeface="Arial" panose="020B0604020202020204" pitchFamily="34" charset="0"/>
              </a:rPr>
              <a:t> = 50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baseline="-25000" dirty="0" err="1">
                <a:latin typeface="Arial" panose="020B0604020202020204" pitchFamily="34" charset="0"/>
              </a:rPr>
              <a:t>setup</a:t>
            </a:r>
            <a:r>
              <a:rPr lang="en-US" altLang="en-US" sz="1800" dirty="0">
                <a:latin typeface="Arial" panose="020B0604020202020204" pitchFamily="34" charset="0"/>
              </a:rPr>
              <a:t> = 60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baseline="-25000" dirty="0" err="1">
                <a:latin typeface="Arial" panose="020B0604020202020204" pitchFamily="34" charset="0"/>
              </a:rPr>
              <a:t>hold</a:t>
            </a:r>
            <a:r>
              <a:rPr lang="en-US" altLang="en-US" sz="1800" dirty="0">
                <a:latin typeface="Arial" panose="020B0604020202020204" pitchFamily="34" charset="0"/>
              </a:rPr>
              <a:t> = 70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i="1" baseline="-25000" dirty="0" err="1">
                <a:latin typeface="Arial" panose="020B0604020202020204" pitchFamily="34" charset="0"/>
              </a:rPr>
              <a:t>pd</a:t>
            </a:r>
            <a:r>
              <a:rPr lang="en-US" altLang="en-US" sz="1800" dirty="0">
                <a:latin typeface="Arial" panose="020B0604020202020204" pitchFamily="34" charset="0"/>
              </a:rPr>
              <a:t> = 35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r>
              <a:rPr lang="en-US" altLang="en-US" sz="1800" dirty="0">
                <a:latin typeface="Arial" panose="020B0604020202020204" pitchFamily="34" charset="0"/>
              </a:rPr>
              <a:t> (for each gate)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800" dirty="0">
                <a:latin typeface="Arial" panose="020B0604020202020204" pitchFamily="34" charset="0"/>
              </a:rPr>
              <a:t> = 25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r>
              <a:rPr lang="en-US" altLang="en-US" sz="1800" dirty="0">
                <a:latin typeface="Arial" panose="020B0604020202020204" pitchFamily="34" charset="0"/>
              </a:rPr>
              <a:t> (for each gate)</a:t>
            </a:r>
          </a:p>
        </p:txBody>
      </p:sp>
      <p:sp>
        <p:nvSpPr>
          <p:cNvPr id="7" name="Text Box 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00200" y="4038600"/>
            <a:ext cx="3581400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pd</a:t>
            </a:r>
            <a:r>
              <a:rPr lang="en-US" altLang="en-US" sz="1600" dirty="0">
                <a:latin typeface="Arial" panose="020B0604020202020204" pitchFamily="34" charset="0"/>
              </a:rPr>
              <a:t> =? (for whole circuit)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600" dirty="0">
                <a:latin typeface="Arial" panose="020B0604020202020204" pitchFamily="34" charset="0"/>
              </a:rPr>
              <a:t> =? (for whole circuit)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Setup time constraint: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>
                <a:latin typeface="Arial" panose="020B0604020202020204" pitchFamily="34" charset="0"/>
              </a:rPr>
              <a:t> T</a:t>
            </a:r>
            <a:r>
              <a:rPr lang="en-US" altLang="en-US" sz="1600" i="1" baseline="-25000" dirty="0">
                <a:latin typeface="Arial" panose="020B0604020202020204" pitchFamily="34" charset="0"/>
              </a:rPr>
              <a:t>c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≥ ?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i="1" dirty="0">
                <a:latin typeface="Arial" panose="020B0604020202020204" pitchFamily="34" charset="0"/>
              </a:rPr>
              <a:t>f</a:t>
            </a:r>
            <a:r>
              <a:rPr lang="en-US" altLang="en-US" sz="1600" i="1" baseline="-25000" dirty="0">
                <a:latin typeface="Arial" panose="020B0604020202020204" pitchFamily="34" charset="0"/>
              </a:rPr>
              <a:t>c</a:t>
            </a:r>
            <a:r>
              <a:rPr lang="en-US" altLang="en-US" sz="1600" dirty="0">
                <a:latin typeface="Arial" panose="020B0604020202020204" pitchFamily="34" charset="0"/>
              </a:rPr>
              <a:t> = 1/</a:t>
            </a:r>
            <a:r>
              <a:rPr lang="en-US" altLang="en-US" sz="1600" i="1" dirty="0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>
                <a:latin typeface="Arial" panose="020B0604020202020204" pitchFamily="34" charset="0"/>
              </a:rPr>
              <a:t>c</a:t>
            </a:r>
            <a:r>
              <a:rPr lang="en-US" altLang="en-US" sz="1600" dirty="0">
                <a:latin typeface="Arial" panose="020B0604020202020204" pitchFamily="34" charset="0"/>
              </a:rPr>
              <a:t> = ?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05400" y="4797425"/>
            <a:ext cx="3581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Hold time constraint: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>
                <a:latin typeface="Arial" panose="020B0604020202020204" pitchFamily="34" charset="0"/>
              </a:rPr>
              <a:t>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baseline="-25000" dirty="0" err="1">
                <a:latin typeface="Arial" panose="020B0604020202020204" pitchFamily="34" charset="0"/>
              </a:rPr>
              <a:t>ccq</a:t>
            </a:r>
            <a:r>
              <a:rPr lang="en-US" altLang="en-US" sz="1600" dirty="0">
                <a:latin typeface="Arial" panose="020B0604020202020204" pitchFamily="34" charset="0"/>
              </a:rPr>
              <a:t> +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600" dirty="0">
                <a:latin typeface="Arial" panose="020B0604020202020204" pitchFamily="34" charset="0"/>
              </a:rPr>
              <a:t> &gt;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baseline="-25000" dirty="0" err="1">
                <a:latin typeface="Arial" panose="020B0604020202020204" pitchFamily="34" charset="0"/>
              </a:rPr>
              <a:t>hold</a:t>
            </a:r>
            <a:r>
              <a:rPr lang="en-US" altLang="en-US" sz="1600" dirty="0">
                <a:latin typeface="Arial" panose="020B0604020202020204" pitchFamily="34" charset="0"/>
              </a:rPr>
              <a:t> ?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endParaRPr lang="en-US" altLang="en-US" sz="1600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474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Timing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15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914400" y="1981200"/>
          <a:ext cx="4205288" cy="229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325511" imgH="1524000" progId="Visio.Drawing.6">
                  <p:embed/>
                </p:oleObj>
              </mc:Choice>
              <mc:Fallback>
                <p:oleObj name="VISIO" r:id="rId6" imgW="2325511" imgH="1524000" progId="Visio.Drawing.6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1200"/>
                        <a:ext cx="4205288" cy="229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53000" y="1066800"/>
            <a:ext cx="3581400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Timing Characteristics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i="1" baseline="-25000" dirty="0" err="1">
                <a:latin typeface="Arial" panose="020B0604020202020204" pitchFamily="34" charset="0"/>
              </a:rPr>
              <a:t>ccq</a:t>
            </a:r>
            <a:r>
              <a:rPr lang="en-US" altLang="en-US" sz="1800" dirty="0">
                <a:latin typeface="Arial" panose="020B0604020202020204" pitchFamily="34" charset="0"/>
              </a:rPr>
              <a:t> = 30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i="1" baseline="-25000" dirty="0" err="1">
                <a:latin typeface="Arial" panose="020B0604020202020204" pitchFamily="34" charset="0"/>
              </a:rPr>
              <a:t>pcq</a:t>
            </a:r>
            <a:r>
              <a:rPr lang="en-US" altLang="en-US" sz="1800" dirty="0">
                <a:latin typeface="Arial" panose="020B0604020202020204" pitchFamily="34" charset="0"/>
              </a:rPr>
              <a:t> = 50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baseline="-25000" dirty="0" err="1">
                <a:latin typeface="Arial" panose="020B0604020202020204" pitchFamily="34" charset="0"/>
              </a:rPr>
              <a:t>setup</a:t>
            </a:r>
            <a:r>
              <a:rPr lang="en-US" altLang="en-US" sz="1800" dirty="0">
                <a:latin typeface="Arial" panose="020B0604020202020204" pitchFamily="34" charset="0"/>
              </a:rPr>
              <a:t> = 60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baseline="-25000" dirty="0" err="1">
                <a:latin typeface="Arial" panose="020B0604020202020204" pitchFamily="34" charset="0"/>
              </a:rPr>
              <a:t>hold</a:t>
            </a:r>
            <a:r>
              <a:rPr lang="en-US" altLang="en-US" sz="1800" dirty="0">
                <a:latin typeface="Arial" panose="020B0604020202020204" pitchFamily="34" charset="0"/>
              </a:rPr>
              <a:t> = 70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i="1" baseline="-25000" dirty="0" err="1">
                <a:latin typeface="Arial" panose="020B0604020202020204" pitchFamily="34" charset="0"/>
              </a:rPr>
              <a:t>pd</a:t>
            </a:r>
            <a:r>
              <a:rPr lang="en-US" altLang="en-US" sz="1800" dirty="0">
                <a:latin typeface="Arial" panose="020B0604020202020204" pitchFamily="34" charset="0"/>
              </a:rPr>
              <a:t> = 35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	</a:t>
            </a:r>
            <a:r>
              <a:rPr lang="en-US" altLang="en-US" sz="1800" i="1" dirty="0" err="1">
                <a:latin typeface="Arial" panose="020B0604020202020204" pitchFamily="34" charset="0"/>
              </a:rPr>
              <a:t>t</a:t>
            </a:r>
            <a:r>
              <a:rPr lang="en-US" altLang="en-US" sz="18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800" dirty="0">
                <a:latin typeface="Arial" panose="020B0604020202020204" pitchFamily="34" charset="0"/>
              </a:rPr>
              <a:t> = 25 </a:t>
            </a:r>
            <a:r>
              <a:rPr lang="en-US" altLang="en-US" sz="1800" dirty="0" err="1">
                <a:latin typeface="Arial" panose="020B0604020202020204" pitchFamily="34" charset="0"/>
              </a:rPr>
              <a:t>ps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71600" y="4267200"/>
            <a:ext cx="3581400" cy="217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>
                <a:latin typeface="Arial" panose="020B0604020202020204" pitchFamily="34" charset="0"/>
              </a:rPr>
              <a:t>t</a:t>
            </a:r>
            <a:r>
              <a:rPr lang="en-US" altLang="en-US" sz="1600" i="1" baseline="-25000">
                <a:latin typeface="Arial" panose="020B0604020202020204" pitchFamily="34" charset="0"/>
              </a:rPr>
              <a:t>pd</a:t>
            </a:r>
            <a:r>
              <a:rPr lang="en-US" altLang="en-US" sz="1600">
                <a:latin typeface="Arial" panose="020B0604020202020204" pitchFamily="34" charset="0"/>
              </a:rPr>
              <a:t> = 3 x 35 ps = 105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>
                <a:latin typeface="Arial" panose="020B0604020202020204" pitchFamily="34" charset="0"/>
              </a:rPr>
              <a:t>t</a:t>
            </a:r>
            <a:r>
              <a:rPr lang="en-US" altLang="en-US" sz="1600" i="1" baseline="-25000">
                <a:latin typeface="Arial" panose="020B0604020202020204" pitchFamily="34" charset="0"/>
              </a:rPr>
              <a:t>cd</a:t>
            </a:r>
            <a:r>
              <a:rPr lang="en-US" altLang="en-US" sz="1600">
                <a:latin typeface="Arial" panose="020B0604020202020204" pitchFamily="34" charset="0"/>
              </a:rPr>
              <a:t> = 25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chemeClr val="accent2"/>
                </a:solidFill>
                <a:latin typeface="Arial" panose="020B0604020202020204" pitchFamily="34" charset="0"/>
              </a:rPr>
              <a:t>Setup time constraint: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>
                <a:latin typeface="Arial" panose="020B0604020202020204" pitchFamily="34" charset="0"/>
              </a:rPr>
              <a:t> T</a:t>
            </a:r>
            <a:r>
              <a:rPr lang="en-US" altLang="en-US" sz="1600" i="1" baseline="-25000">
                <a:latin typeface="Arial" panose="020B0604020202020204" pitchFamily="34" charset="0"/>
              </a:rPr>
              <a:t>c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n-US" altLang="en-US" sz="1600">
                <a:latin typeface="Arial" panose="020B0604020202020204" pitchFamily="34" charset="0"/>
              </a:rPr>
              <a:t> (50 + 105 + 60) ps = 215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</a:t>
            </a:r>
            <a:r>
              <a:rPr lang="en-US" altLang="en-US" sz="1600" i="1">
                <a:latin typeface="Arial" panose="020B0604020202020204" pitchFamily="34" charset="0"/>
              </a:rPr>
              <a:t>f</a:t>
            </a:r>
            <a:r>
              <a:rPr lang="en-US" altLang="en-US" sz="1600" i="1" baseline="-25000">
                <a:latin typeface="Arial" panose="020B0604020202020204" pitchFamily="34" charset="0"/>
              </a:rPr>
              <a:t>c</a:t>
            </a:r>
            <a:r>
              <a:rPr lang="en-US" altLang="en-US" sz="1600">
                <a:latin typeface="Arial" panose="020B0604020202020204" pitchFamily="34" charset="0"/>
              </a:rPr>
              <a:t> = 1/</a:t>
            </a:r>
            <a:r>
              <a:rPr lang="en-US" altLang="en-US" sz="1600" i="1">
                <a:latin typeface="Arial" panose="020B0604020202020204" pitchFamily="34" charset="0"/>
              </a:rPr>
              <a:t>T</a:t>
            </a:r>
            <a:r>
              <a:rPr lang="en-US" altLang="en-US" sz="1600" i="1" baseline="-25000">
                <a:latin typeface="Arial" panose="020B0604020202020204" pitchFamily="34" charset="0"/>
              </a:rPr>
              <a:t>c</a:t>
            </a:r>
            <a:r>
              <a:rPr lang="en-US" altLang="en-US" sz="1600">
                <a:latin typeface="Arial" panose="020B0604020202020204" pitchFamily="34" charset="0"/>
              </a:rPr>
              <a:t> = 4.65 GHz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876800" y="5026025"/>
            <a:ext cx="3581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Hold time constraint: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>
                <a:latin typeface="Arial" panose="020B0604020202020204" pitchFamily="34" charset="0"/>
              </a:rPr>
              <a:t>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baseline="-25000" dirty="0" err="1">
                <a:latin typeface="Arial" panose="020B0604020202020204" pitchFamily="34" charset="0"/>
              </a:rPr>
              <a:t>ccq</a:t>
            </a:r>
            <a:r>
              <a:rPr lang="en-US" altLang="en-US" sz="1600" dirty="0">
                <a:latin typeface="Arial" panose="020B0604020202020204" pitchFamily="34" charset="0"/>
              </a:rPr>
              <a:t> +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600" dirty="0">
                <a:latin typeface="Arial" panose="020B0604020202020204" pitchFamily="34" charset="0"/>
              </a:rPr>
              <a:t> &gt;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baseline="-25000" dirty="0" err="1">
                <a:latin typeface="Arial" panose="020B0604020202020204" pitchFamily="34" charset="0"/>
              </a:rPr>
              <a:t>hold</a:t>
            </a:r>
            <a:r>
              <a:rPr lang="en-US" altLang="en-US" sz="1600" dirty="0">
                <a:latin typeface="Arial" panose="020B0604020202020204" pitchFamily="34" charset="0"/>
              </a:rPr>
              <a:t> ?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 (30 + 25)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r>
              <a:rPr lang="en-US" altLang="en-US" sz="1600" dirty="0">
                <a:latin typeface="Arial" panose="020B0604020202020204" pitchFamily="34" charset="0"/>
              </a:rPr>
              <a:t> &gt; 70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r>
              <a:rPr lang="en-US" altLang="en-US" sz="1600" dirty="0">
                <a:latin typeface="Arial" panose="020B0604020202020204" pitchFamily="34" charset="0"/>
              </a:rPr>
              <a:t> ?  </a:t>
            </a:r>
            <a:r>
              <a:rPr lang="en-US" altLang="en-US" sz="1600" dirty="0">
                <a:solidFill>
                  <a:srgbClr val="FF3300"/>
                </a:solidFill>
                <a:latin typeface="Arial" panose="020B0604020202020204" pitchFamily="34" charset="0"/>
              </a:rPr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75090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Fixing Hold Time Violation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16</a:t>
            </a:fld>
            <a:endParaRPr lang="en-US" dirty="0"/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57800" y="1066800"/>
            <a:ext cx="3581400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Timing Characteristics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i="1" baseline="-25000">
                <a:latin typeface="Arial" panose="020B0604020202020204" pitchFamily="34" charset="0"/>
              </a:rPr>
              <a:t>ccq</a:t>
            </a:r>
            <a:r>
              <a:rPr lang="en-US" altLang="en-US" sz="1800">
                <a:latin typeface="Arial" panose="020B0604020202020204" pitchFamily="34" charset="0"/>
              </a:rPr>
              <a:t> = 30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i="1" baseline="-25000">
                <a:latin typeface="Arial" panose="020B0604020202020204" pitchFamily="34" charset="0"/>
              </a:rPr>
              <a:t>pcq</a:t>
            </a:r>
            <a:r>
              <a:rPr lang="en-US" altLang="en-US" sz="1800">
                <a:latin typeface="Arial" panose="020B0604020202020204" pitchFamily="34" charset="0"/>
              </a:rPr>
              <a:t> = 50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baseline="-25000">
                <a:latin typeface="Arial" panose="020B0604020202020204" pitchFamily="34" charset="0"/>
              </a:rPr>
              <a:t>setup</a:t>
            </a:r>
            <a:r>
              <a:rPr lang="en-US" altLang="en-US" sz="1800">
                <a:latin typeface="Arial" panose="020B0604020202020204" pitchFamily="34" charset="0"/>
              </a:rPr>
              <a:t> = 60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baseline="-25000">
                <a:latin typeface="Arial" panose="020B0604020202020204" pitchFamily="34" charset="0"/>
              </a:rPr>
              <a:t>hold</a:t>
            </a:r>
            <a:r>
              <a:rPr lang="en-US" altLang="en-US" sz="1800">
                <a:latin typeface="Arial" panose="020B0604020202020204" pitchFamily="34" charset="0"/>
              </a:rPr>
              <a:t> = 70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i="1" baseline="-25000">
                <a:latin typeface="Arial" panose="020B0604020202020204" pitchFamily="34" charset="0"/>
              </a:rPr>
              <a:t>pd</a:t>
            </a:r>
            <a:r>
              <a:rPr lang="en-US" altLang="en-US" sz="1800">
                <a:latin typeface="Arial" panose="020B0604020202020204" pitchFamily="34" charset="0"/>
              </a:rPr>
              <a:t> = 35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i="1" baseline="-25000">
                <a:latin typeface="Arial" panose="020B0604020202020204" pitchFamily="34" charset="0"/>
              </a:rPr>
              <a:t>cd</a:t>
            </a:r>
            <a:r>
              <a:rPr lang="en-US" altLang="en-US" sz="1800">
                <a:latin typeface="Arial" panose="020B0604020202020204" pitchFamily="34" charset="0"/>
              </a:rPr>
              <a:t> = 25 ps</a:t>
            </a: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76400" y="4267200"/>
            <a:ext cx="3581400" cy="217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pd</a:t>
            </a:r>
            <a:r>
              <a:rPr lang="en-US" altLang="en-US" sz="1600" dirty="0">
                <a:latin typeface="Arial" panose="020B0604020202020204" pitchFamily="34" charset="0"/>
              </a:rPr>
              <a:t> =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600" dirty="0">
                <a:latin typeface="Arial" panose="020B0604020202020204" pitchFamily="34" charset="0"/>
              </a:rPr>
              <a:t> =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Setup time constraint: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>
                <a:latin typeface="Arial" panose="020B0604020202020204" pitchFamily="34" charset="0"/>
              </a:rPr>
              <a:t> T</a:t>
            </a:r>
            <a:r>
              <a:rPr lang="en-US" altLang="en-US" sz="1600" i="1" baseline="-25000" dirty="0">
                <a:latin typeface="Arial" panose="020B0604020202020204" pitchFamily="34" charset="0"/>
              </a:rPr>
              <a:t>c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i="1" dirty="0">
                <a:latin typeface="Arial" panose="020B0604020202020204" pitchFamily="34" charset="0"/>
              </a:rPr>
              <a:t>f</a:t>
            </a:r>
            <a:r>
              <a:rPr lang="en-US" altLang="en-US" sz="1600" i="1" baseline="-25000" dirty="0">
                <a:latin typeface="Arial" panose="020B0604020202020204" pitchFamily="34" charset="0"/>
              </a:rPr>
              <a:t>c</a:t>
            </a:r>
            <a:r>
              <a:rPr lang="en-US" altLang="en-US" sz="1600" dirty="0">
                <a:latin typeface="Arial" panose="020B0604020202020204" pitchFamily="34" charset="0"/>
              </a:rPr>
              <a:t> =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0" y="5026025"/>
            <a:ext cx="3581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Hold time constraint: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>
                <a:latin typeface="Arial" panose="020B0604020202020204" pitchFamily="34" charset="0"/>
              </a:rPr>
              <a:t>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baseline="-25000" dirty="0" err="1">
                <a:latin typeface="Arial" panose="020B0604020202020204" pitchFamily="34" charset="0"/>
              </a:rPr>
              <a:t>ccq</a:t>
            </a:r>
            <a:r>
              <a:rPr lang="en-US" altLang="en-US" sz="1600" dirty="0">
                <a:latin typeface="Arial" panose="020B0604020202020204" pitchFamily="34" charset="0"/>
              </a:rPr>
              <a:t> +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600" dirty="0">
                <a:latin typeface="Arial" panose="020B0604020202020204" pitchFamily="34" charset="0"/>
              </a:rPr>
              <a:t> &gt;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baseline="-25000" dirty="0" err="1">
                <a:latin typeface="Arial" panose="020B0604020202020204" pitchFamily="34" charset="0"/>
              </a:rPr>
              <a:t>hold</a:t>
            </a:r>
            <a:r>
              <a:rPr lang="en-US" altLang="en-US" sz="1600" dirty="0">
                <a:latin typeface="Arial" panose="020B0604020202020204" pitchFamily="34" charset="0"/>
              </a:rPr>
              <a:t> ?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endParaRPr lang="en-US" altLang="en-US" sz="16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914400" y="2235200"/>
          <a:ext cx="3810000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15768" imgH="1517385" progId="Visio.Drawing.6">
                  <p:embed/>
                </p:oleObj>
              </mc:Choice>
              <mc:Fallback>
                <p:oleObj name="VISIO" r:id="rId7" imgW="2315768" imgH="1517385" progId="Visio.Drawing.6">
                  <p:embed/>
                  <p:pic>
                    <p:nvPicPr>
                      <p:cNvPr id="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35200"/>
                        <a:ext cx="3810000" cy="207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3581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Add buffers to the short paths:</a:t>
            </a:r>
          </a:p>
        </p:txBody>
      </p:sp>
    </p:spTree>
    <p:extLst>
      <p:ext uri="{BB962C8B-B14F-4D97-AF65-F5344CB8AC3E}">
        <p14:creationId xmlns:p14="http://schemas.microsoft.com/office/powerpoint/2010/main" val="3322862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Fixing Hold Time Violation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17</a:t>
            </a:fld>
            <a:endParaRPr lang="en-US" dirty="0"/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57800" y="1066800"/>
            <a:ext cx="3581400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Timing Characteristics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i="1" baseline="-25000">
                <a:latin typeface="Arial" panose="020B0604020202020204" pitchFamily="34" charset="0"/>
              </a:rPr>
              <a:t>ccq</a:t>
            </a:r>
            <a:r>
              <a:rPr lang="en-US" altLang="en-US" sz="1800">
                <a:latin typeface="Arial" panose="020B0604020202020204" pitchFamily="34" charset="0"/>
              </a:rPr>
              <a:t> = 30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i="1" baseline="-25000">
                <a:latin typeface="Arial" panose="020B0604020202020204" pitchFamily="34" charset="0"/>
              </a:rPr>
              <a:t>pcq</a:t>
            </a:r>
            <a:r>
              <a:rPr lang="en-US" altLang="en-US" sz="1800">
                <a:latin typeface="Arial" panose="020B0604020202020204" pitchFamily="34" charset="0"/>
              </a:rPr>
              <a:t> = 50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baseline="-25000">
                <a:latin typeface="Arial" panose="020B0604020202020204" pitchFamily="34" charset="0"/>
              </a:rPr>
              <a:t>setup</a:t>
            </a:r>
            <a:r>
              <a:rPr lang="en-US" altLang="en-US" sz="1800">
                <a:latin typeface="Arial" panose="020B0604020202020204" pitchFamily="34" charset="0"/>
              </a:rPr>
              <a:t> = 60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baseline="-25000">
                <a:latin typeface="Arial" panose="020B0604020202020204" pitchFamily="34" charset="0"/>
              </a:rPr>
              <a:t>hold</a:t>
            </a:r>
            <a:r>
              <a:rPr lang="en-US" altLang="en-US" sz="1800">
                <a:latin typeface="Arial" panose="020B0604020202020204" pitchFamily="34" charset="0"/>
              </a:rPr>
              <a:t> = 70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i="1" baseline="-25000">
                <a:latin typeface="Arial" panose="020B0604020202020204" pitchFamily="34" charset="0"/>
              </a:rPr>
              <a:t>pd</a:t>
            </a:r>
            <a:r>
              <a:rPr lang="en-US" altLang="en-US" sz="1800">
                <a:latin typeface="Arial" panose="020B0604020202020204" pitchFamily="34" charset="0"/>
              </a:rPr>
              <a:t> = 35 ps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Arial" panose="020B0604020202020204" pitchFamily="34" charset="0"/>
              </a:rPr>
              <a:t>	t</a:t>
            </a:r>
            <a:r>
              <a:rPr lang="en-US" altLang="en-US" sz="1800" i="1" baseline="-25000">
                <a:latin typeface="Arial" panose="020B0604020202020204" pitchFamily="34" charset="0"/>
              </a:rPr>
              <a:t>cd</a:t>
            </a:r>
            <a:r>
              <a:rPr lang="en-US" altLang="en-US" sz="1800">
                <a:latin typeface="Arial" panose="020B0604020202020204" pitchFamily="34" charset="0"/>
              </a:rPr>
              <a:t> = 25 ps</a:t>
            </a: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76400" y="4267200"/>
            <a:ext cx="3581400" cy="217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pd</a:t>
            </a:r>
            <a:r>
              <a:rPr lang="en-US" altLang="en-US" sz="1600" dirty="0">
                <a:latin typeface="Arial" panose="020B0604020202020204" pitchFamily="34" charset="0"/>
              </a:rPr>
              <a:t> = 3 x 35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r>
              <a:rPr lang="en-US" altLang="en-US" sz="1600" dirty="0">
                <a:latin typeface="Arial" panose="020B0604020202020204" pitchFamily="34" charset="0"/>
              </a:rPr>
              <a:t> = 105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600" dirty="0">
                <a:latin typeface="Arial" panose="020B0604020202020204" pitchFamily="34" charset="0"/>
              </a:rPr>
              <a:t> = 2 x 25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r>
              <a:rPr lang="en-US" altLang="en-US" sz="1600" dirty="0">
                <a:latin typeface="Arial" panose="020B0604020202020204" pitchFamily="34" charset="0"/>
              </a:rPr>
              <a:t> = 50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Setup time constraint: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>
                <a:latin typeface="Arial" panose="020B0604020202020204" pitchFamily="34" charset="0"/>
              </a:rPr>
              <a:t> T</a:t>
            </a:r>
            <a:r>
              <a:rPr lang="en-US" altLang="en-US" sz="1600" i="1" baseline="-25000" dirty="0">
                <a:latin typeface="Arial" panose="020B0604020202020204" pitchFamily="34" charset="0"/>
              </a:rPr>
              <a:t>c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n-US" altLang="en-US" sz="1600" dirty="0">
                <a:latin typeface="Arial" panose="020B0604020202020204" pitchFamily="34" charset="0"/>
              </a:rPr>
              <a:t> (50 + 105 + 60)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r>
              <a:rPr lang="en-US" altLang="en-US" sz="1600" dirty="0">
                <a:latin typeface="Arial" panose="020B0604020202020204" pitchFamily="34" charset="0"/>
              </a:rPr>
              <a:t> = 215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i="1" dirty="0">
                <a:latin typeface="Arial" panose="020B0604020202020204" pitchFamily="34" charset="0"/>
              </a:rPr>
              <a:t>f</a:t>
            </a:r>
            <a:r>
              <a:rPr lang="en-US" altLang="en-US" sz="1600" i="1" baseline="-25000" dirty="0">
                <a:latin typeface="Arial" panose="020B0604020202020204" pitchFamily="34" charset="0"/>
              </a:rPr>
              <a:t>c</a:t>
            </a:r>
            <a:r>
              <a:rPr lang="en-US" altLang="en-US" sz="1600" dirty="0">
                <a:latin typeface="Arial" panose="020B0604020202020204" pitchFamily="34" charset="0"/>
              </a:rPr>
              <a:t> = 1/</a:t>
            </a:r>
            <a:r>
              <a:rPr lang="en-US" altLang="en-US" sz="1600" i="1" dirty="0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>
                <a:latin typeface="Arial" panose="020B0604020202020204" pitchFamily="34" charset="0"/>
              </a:rPr>
              <a:t>c</a:t>
            </a:r>
            <a:r>
              <a:rPr lang="en-US" altLang="en-US" sz="1600" dirty="0">
                <a:latin typeface="Arial" panose="020B0604020202020204" pitchFamily="34" charset="0"/>
              </a:rPr>
              <a:t> = 4.65 GHz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0" y="5026025"/>
            <a:ext cx="3581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Hold time constraint: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i="1" dirty="0">
                <a:latin typeface="Arial" panose="020B0604020202020204" pitchFamily="34" charset="0"/>
              </a:rPr>
              <a:t>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baseline="-25000" dirty="0" err="1">
                <a:latin typeface="Arial" panose="020B0604020202020204" pitchFamily="34" charset="0"/>
              </a:rPr>
              <a:t>ccq</a:t>
            </a:r>
            <a:r>
              <a:rPr lang="en-US" altLang="en-US" sz="1600" dirty="0">
                <a:latin typeface="Arial" panose="020B0604020202020204" pitchFamily="34" charset="0"/>
              </a:rPr>
              <a:t> +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i="1" baseline="-25000" dirty="0" err="1">
                <a:latin typeface="Arial" panose="020B0604020202020204" pitchFamily="34" charset="0"/>
              </a:rPr>
              <a:t>cd</a:t>
            </a:r>
            <a:r>
              <a:rPr lang="en-US" altLang="en-US" sz="1600" dirty="0">
                <a:latin typeface="Arial" panose="020B0604020202020204" pitchFamily="34" charset="0"/>
              </a:rPr>
              <a:t> &gt; </a:t>
            </a:r>
            <a:r>
              <a:rPr lang="en-US" altLang="en-US" sz="1600" i="1" dirty="0" err="1">
                <a:latin typeface="Arial" panose="020B0604020202020204" pitchFamily="34" charset="0"/>
              </a:rPr>
              <a:t>t</a:t>
            </a:r>
            <a:r>
              <a:rPr lang="en-US" altLang="en-US" sz="1600" baseline="-25000" dirty="0" err="1">
                <a:latin typeface="Arial" panose="020B0604020202020204" pitchFamily="34" charset="0"/>
              </a:rPr>
              <a:t>hold</a:t>
            </a:r>
            <a:r>
              <a:rPr lang="en-US" altLang="en-US" sz="1600" dirty="0">
                <a:latin typeface="Arial" panose="020B0604020202020204" pitchFamily="34" charset="0"/>
              </a:rPr>
              <a:t> ?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 (30 + 50)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r>
              <a:rPr lang="en-US" altLang="en-US" sz="1600" dirty="0">
                <a:latin typeface="Arial" panose="020B0604020202020204" pitchFamily="34" charset="0"/>
              </a:rPr>
              <a:t> &gt; 70 </a:t>
            </a:r>
            <a:r>
              <a:rPr lang="en-US" altLang="en-US" sz="1600" dirty="0" err="1">
                <a:latin typeface="Arial" panose="020B0604020202020204" pitchFamily="34" charset="0"/>
              </a:rPr>
              <a:t>ps</a:t>
            </a:r>
            <a:r>
              <a:rPr lang="en-US" altLang="en-US" sz="1600" dirty="0">
                <a:latin typeface="Arial" panose="020B0604020202020204" pitchFamily="34" charset="0"/>
              </a:rPr>
              <a:t> ?  </a:t>
            </a:r>
            <a:r>
              <a:rPr lang="en-US" altLang="en-US" sz="1600" dirty="0">
                <a:solidFill>
                  <a:schemeClr val="accent2"/>
                </a:solidFill>
                <a:latin typeface="Arial" panose="020B0604020202020204" pitchFamily="34" charset="0"/>
              </a:rPr>
              <a:t>Yes!</a:t>
            </a: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914400" y="2235200"/>
          <a:ext cx="3810000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15768" imgH="1517385" progId="Visio.Drawing.6">
                  <p:embed/>
                </p:oleObj>
              </mc:Choice>
              <mc:Fallback>
                <p:oleObj name="VISIO" r:id="rId7" imgW="2315768" imgH="1517385" progId="Visio.Drawing.6">
                  <p:embed/>
                  <p:pic>
                    <p:nvPicPr>
                      <p:cNvPr id="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35200"/>
                        <a:ext cx="3810000" cy="207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81088"/>
            <a:ext cx="358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Add buffers to the short paths:</a:t>
            </a:r>
          </a:p>
        </p:txBody>
      </p:sp>
    </p:spTree>
    <p:extLst>
      <p:ext uri="{BB962C8B-B14F-4D97-AF65-F5344CB8AC3E}">
        <p14:creationId xmlns:p14="http://schemas.microsoft.com/office/powerpoint/2010/main" val="907222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Clock Skew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clock doesn’t arrive at all registers at the same time</a:t>
            </a:r>
          </a:p>
          <a:p>
            <a:r>
              <a:rPr lang="en-US" altLang="en-US" dirty="0"/>
              <a:t>Skew is the difference between two clock edges</a:t>
            </a:r>
          </a:p>
          <a:p>
            <a:r>
              <a:rPr lang="en-US" altLang="en-US" dirty="0"/>
              <a:t>Examine the worst case to guarantee that the dynamic discipline is not violated for any register – many registers in a system!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18</a:t>
            </a:fld>
            <a:endParaRPr lang="en-US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249738" y="3602037"/>
          <a:ext cx="3751262" cy="317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21874" imgH="1967716" progId="Visio.Drawing.6">
                  <p:embed/>
                </p:oleObj>
              </mc:Choice>
              <mc:Fallback>
                <p:oleObj name="VISIO" r:id="rId3" imgW="2321874" imgH="1967716" progId="Visio.Drawing.6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3602037"/>
                        <a:ext cx="3751262" cy="317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5486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Setup Time Constraint with Clock Skew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the worst case, the CLK2 is earlier than CLK1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19</a:t>
            </a:fld>
            <a:endParaRPr lang="en-US" dirty="0"/>
          </a:p>
        </p:txBody>
      </p:sp>
      <p:sp>
        <p:nvSpPr>
          <p:cNvPr id="5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24400" y="3892550"/>
            <a:ext cx="4191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i="1" dirty="0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>
                <a:solidFill>
                  <a:srgbClr val="00B050"/>
                </a:solidFill>
              </a:rPr>
              <a:t>c</a:t>
            </a:r>
            <a:r>
              <a:rPr lang="en-US" altLang="en-US" sz="2800" dirty="0">
                <a:solidFill>
                  <a:srgbClr val="00B050"/>
                </a:solidFill>
              </a:rPr>
              <a:t> ≥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B050"/>
                </a:solidFill>
              </a:rPr>
              <a:t>pcq</a:t>
            </a:r>
            <a:r>
              <a:rPr lang="en-US" altLang="en-US" sz="2800" dirty="0">
                <a:solidFill>
                  <a:srgbClr val="00B050"/>
                </a:solidFill>
              </a:rPr>
              <a:t> +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B050"/>
                </a:solidFill>
              </a:rPr>
              <a:t>pd</a:t>
            </a:r>
            <a:r>
              <a:rPr lang="en-US" altLang="en-US" sz="2800" dirty="0">
                <a:solidFill>
                  <a:srgbClr val="00B050"/>
                </a:solidFill>
              </a:rPr>
              <a:t> +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baseline="-25000" dirty="0" err="1">
                <a:solidFill>
                  <a:srgbClr val="00B050"/>
                </a:solidFill>
              </a:rPr>
              <a:t>setup</a:t>
            </a:r>
            <a:r>
              <a:rPr lang="en-US" altLang="en-US" sz="2800" dirty="0">
                <a:solidFill>
                  <a:srgbClr val="00B050"/>
                </a:solidFill>
              </a:rPr>
              <a:t> +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baseline="-25000" dirty="0" err="1">
                <a:solidFill>
                  <a:srgbClr val="00B050"/>
                </a:solidFill>
              </a:rPr>
              <a:t>skew</a:t>
            </a:r>
            <a:endParaRPr lang="en-US" altLang="en-US" sz="2800" baseline="-25000" dirty="0">
              <a:solidFill>
                <a:srgbClr val="00B05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B050"/>
                </a:solidFill>
              </a:rPr>
              <a:t>pd</a:t>
            </a:r>
            <a:r>
              <a:rPr lang="en-US" altLang="en-US" sz="2800" dirty="0">
                <a:solidFill>
                  <a:srgbClr val="00B050"/>
                </a:solidFill>
              </a:rPr>
              <a:t> ≤ </a:t>
            </a:r>
            <a:r>
              <a:rPr lang="en-US" altLang="en-US" sz="2800" i="1" dirty="0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>
                <a:solidFill>
                  <a:srgbClr val="00B050"/>
                </a:solidFill>
              </a:rPr>
              <a:t>c</a:t>
            </a:r>
            <a:r>
              <a:rPr lang="en-US" altLang="en-US" sz="2800" dirty="0">
                <a:solidFill>
                  <a:srgbClr val="00B050"/>
                </a:solidFill>
              </a:rPr>
              <a:t> – (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B050"/>
                </a:solidFill>
              </a:rPr>
              <a:t>pcq</a:t>
            </a:r>
            <a:r>
              <a:rPr lang="en-US" altLang="en-US" sz="2800" dirty="0">
                <a:solidFill>
                  <a:srgbClr val="00B050"/>
                </a:solidFill>
              </a:rPr>
              <a:t> +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baseline="-25000" dirty="0" err="1">
                <a:solidFill>
                  <a:srgbClr val="00B050"/>
                </a:solidFill>
              </a:rPr>
              <a:t>setup</a:t>
            </a:r>
            <a:r>
              <a:rPr lang="en-US" altLang="en-US" sz="2800" baseline="-25000" dirty="0">
                <a:solidFill>
                  <a:srgbClr val="00B050"/>
                </a:solidFill>
              </a:rPr>
              <a:t> </a:t>
            </a:r>
            <a:r>
              <a:rPr lang="en-US" altLang="en-US" sz="2800" dirty="0">
                <a:solidFill>
                  <a:srgbClr val="00B050"/>
                </a:solidFill>
              </a:rPr>
              <a:t>+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baseline="-25000" dirty="0" err="1">
                <a:solidFill>
                  <a:srgbClr val="00B050"/>
                </a:solidFill>
              </a:rPr>
              <a:t>skew</a:t>
            </a:r>
            <a:r>
              <a:rPr lang="en-US" altLang="en-US" sz="2800" dirty="0">
                <a:solidFill>
                  <a:srgbClr val="00B050"/>
                </a:solidFill>
              </a:rPr>
              <a:t>)</a:t>
            </a:r>
            <a:endParaRPr lang="en-US" altLang="en-US" sz="2800" baseline="-25000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800" baseline="-25000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4647" y="2216150"/>
          <a:ext cx="4745953" cy="433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58534" imgH="1972295" progId="Visio.Drawing.6">
                  <p:embed/>
                </p:oleObj>
              </mc:Choice>
              <mc:Fallback>
                <p:oleObj name="VISIO" r:id="rId4" imgW="2158534" imgH="1972295" progId="Visio.Drawing.6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7" y="2216150"/>
                        <a:ext cx="4745953" cy="433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483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Hold Time Constraint with Clock Skew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the worst case, CLK2 is later than CLK1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20</a:t>
            </a:fld>
            <a:endParaRPr lang="en-US" dirty="0"/>
          </a:p>
        </p:txBody>
      </p:sp>
      <p:sp>
        <p:nvSpPr>
          <p:cNvPr id="5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57800" y="3429000"/>
            <a:ext cx="320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B050"/>
                </a:solidFill>
              </a:rPr>
              <a:t>ccq</a:t>
            </a:r>
            <a:r>
              <a:rPr lang="en-US" altLang="en-US" sz="2800" dirty="0">
                <a:solidFill>
                  <a:srgbClr val="00B050"/>
                </a:solidFill>
              </a:rPr>
              <a:t> +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B050"/>
                </a:solidFill>
              </a:rPr>
              <a:t>cd</a:t>
            </a:r>
            <a:r>
              <a:rPr lang="en-US" altLang="en-US" sz="2800" dirty="0">
                <a:solidFill>
                  <a:srgbClr val="00B050"/>
                </a:solidFill>
              </a:rPr>
              <a:t> &gt;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baseline="-25000" dirty="0" err="1">
                <a:solidFill>
                  <a:srgbClr val="00B050"/>
                </a:solidFill>
              </a:rPr>
              <a:t>hold</a:t>
            </a:r>
            <a:r>
              <a:rPr lang="en-US" altLang="en-US" sz="2800" baseline="-25000" dirty="0">
                <a:solidFill>
                  <a:srgbClr val="00B050"/>
                </a:solidFill>
              </a:rPr>
              <a:t> </a:t>
            </a:r>
            <a:r>
              <a:rPr lang="en-US" altLang="en-US" sz="2800" dirty="0">
                <a:solidFill>
                  <a:srgbClr val="00B050"/>
                </a:solidFill>
              </a:rPr>
              <a:t>+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baseline="-25000" dirty="0" err="1">
                <a:solidFill>
                  <a:srgbClr val="00B050"/>
                </a:solidFill>
              </a:rPr>
              <a:t>skew</a:t>
            </a:r>
            <a:endParaRPr lang="en-US" altLang="en-US" sz="2800" baseline="-25000" dirty="0">
              <a:solidFill>
                <a:srgbClr val="00B05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B050"/>
                </a:solidFill>
              </a:rPr>
              <a:t>cd</a:t>
            </a:r>
            <a:r>
              <a:rPr lang="en-US" altLang="en-US" sz="2800" dirty="0">
                <a:solidFill>
                  <a:srgbClr val="00B050"/>
                </a:solidFill>
              </a:rPr>
              <a:t> &gt;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baseline="-25000" dirty="0" err="1">
                <a:solidFill>
                  <a:srgbClr val="00B050"/>
                </a:solidFill>
              </a:rPr>
              <a:t>hold</a:t>
            </a:r>
            <a:r>
              <a:rPr lang="en-US" altLang="en-US" sz="2800" baseline="-25000" dirty="0">
                <a:solidFill>
                  <a:srgbClr val="00B050"/>
                </a:solidFill>
              </a:rPr>
              <a:t> </a:t>
            </a:r>
            <a:r>
              <a:rPr lang="en-US" altLang="en-US" sz="2800" dirty="0">
                <a:solidFill>
                  <a:srgbClr val="00B050"/>
                </a:solidFill>
              </a:rPr>
              <a:t>+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baseline="-25000" dirty="0" err="1">
                <a:solidFill>
                  <a:srgbClr val="00B050"/>
                </a:solidFill>
              </a:rPr>
              <a:t>skew</a:t>
            </a:r>
            <a:r>
              <a:rPr lang="en-US" altLang="en-US" sz="2800" baseline="-25000" dirty="0">
                <a:solidFill>
                  <a:srgbClr val="00B050"/>
                </a:solidFill>
              </a:rPr>
              <a:t> </a:t>
            </a:r>
            <a:r>
              <a:rPr lang="en-US" altLang="en-US" sz="2800" dirty="0">
                <a:solidFill>
                  <a:srgbClr val="00B050"/>
                </a:solidFill>
              </a:rPr>
              <a:t>– </a:t>
            </a:r>
            <a:r>
              <a:rPr lang="en-US" altLang="en-US" sz="2800" i="1" dirty="0" err="1">
                <a:solidFill>
                  <a:srgbClr val="00B050"/>
                </a:solidFill>
              </a:rPr>
              <a:t>t</a:t>
            </a:r>
            <a:r>
              <a:rPr lang="en-US" altLang="en-US" sz="2800" i="1" baseline="-25000" dirty="0" err="1">
                <a:solidFill>
                  <a:srgbClr val="00B050"/>
                </a:solidFill>
              </a:rPr>
              <a:t>ccq</a:t>
            </a:r>
            <a:r>
              <a:rPr lang="en-US" altLang="en-US" sz="2800" dirty="0">
                <a:solidFill>
                  <a:srgbClr val="00B050"/>
                </a:solidFill>
              </a:rPr>
              <a:t> 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400" y="2209800"/>
          <a:ext cx="5055863" cy="4342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29529" imgH="2201277" progId="Visio.Drawing.6">
                  <p:embed/>
                </p:oleObj>
              </mc:Choice>
              <mc:Fallback>
                <p:oleObj name="VISIO" r:id="rId4" imgW="2129529" imgH="2201277" progId="Visio.Drawing.6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09800"/>
                        <a:ext cx="5055863" cy="4342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50406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Urban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18102</TotalTime>
  <Words>911</Words>
  <Application>Microsoft Office PowerPoint</Application>
  <PresentationFormat>On-screen Show (4:3)</PresentationFormat>
  <Paragraphs>167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Arial</vt:lpstr>
      <vt:lpstr>Calibri</vt:lpstr>
      <vt:lpstr>Franklin Gothic Book</vt:lpstr>
      <vt:lpstr>Franklin Gothic Medium</vt:lpstr>
      <vt:lpstr>Georgia</vt:lpstr>
      <vt:lpstr>Perpetua</vt:lpstr>
      <vt:lpstr>Times New Roman</vt:lpstr>
      <vt:lpstr>Titr</vt:lpstr>
      <vt:lpstr>Wingdings 2</vt:lpstr>
      <vt:lpstr>Urban</vt:lpstr>
      <vt:lpstr>Equity</vt:lpstr>
      <vt:lpstr>VISIO</vt:lpstr>
      <vt:lpstr>Visio</vt:lpstr>
      <vt:lpstr>Synthesis- Timing Issues</vt:lpstr>
      <vt:lpstr>Timing of digital circuits </vt:lpstr>
      <vt:lpstr>Timing of digital circuits </vt:lpstr>
      <vt:lpstr>Important Timing Parameters</vt:lpstr>
      <vt:lpstr>Timing of digital circuits </vt:lpstr>
      <vt:lpstr>Input Timing Constraints</vt:lpstr>
      <vt:lpstr>Output Timing Constraints</vt:lpstr>
      <vt:lpstr>Dynamic Discipline</vt:lpstr>
      <vt:lpstr>Setup Time Constraint</vt:lpstr>
      <vt:lpstr>Setup time slack</vt:lpstr>
      <vt:lpstr>Setup time slack</vt:lpstr>
      <vt:lpstr>Hold time</vt:lpstr>
      <vt:lpstr>Hold Time Constraint</vt:lpstr>
      <vt:lpstr>Timing Analysis</vt:lpstr>
      <vt:lpstr>Timing Analysis</vt:lpstr>
      <vt:lpstr>Fixing Hold Time Violation</vt:lpstr>
      <vt:lpstr>Fixing Hold Time Violation</vt:lpstr>
      <vt:lpstr>Clock Skew</vt:lpstr>
      <vt:lpstr>Setup Time Constraint with Clock Skew</vt:lpstr>
      <vt:lpstr>Hold Time Constraint with Clock Skew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Hardware/Software Codesign for Embedded Systems</dc:title>
  <dc:creator>Mostafa</dc:creator>
  <cp:lastModifiedBy>user</cp:lastModifiedBy>
  <cp:revision>471</cp:revision>
  <cp:lastPrinted>2021-01-07T14:44:06Z</cp:lastPrinted>
  <dcterms:created xsi:type="dcterms:W3CDTF">2006-08-16T00:00:00Z</dcterms:created>
  <dcterms:modified xsi:type="dcterms:W3CDTF">2025-01-15T06:46:29Z</dcterms:modified>
</cp:coreProperties>
</file>