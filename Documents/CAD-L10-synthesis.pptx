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4"/>
  </p:notesMasterIdLst>
  <p:sldIdLst>
    <p:sldId id="267" r:id="rId2"/>
    <p:sldId id="365" r:id="rId3"/>
    <p:sldId id="370" r:id="rId4"/>
    <p:sldId id="367" r:id="rId5"/>
    <p:sldId id="389" r:id="rId6"/>
    <p:sldId id="457" r:id="rId7"/>
    <p:sldId id="458" r:id="rId8"/>
    <p:sldId id="459" r:id="rId9"/>
    <p:sldId id="590" r:id="rId10"/>
    <p:sldId id="610" r:id="rId11"/>
    <p:sldId id="599" r:id="rId12"/>
    <p:sldId id="594" r:id="rId13"/>
    <p:sldId id="600" r:id="rId14"/>
    <p:sldId id="366" r:id="rId15"/>
    <p:sldId id="371" r:id="rId16"/>
    <p:sldId id="602" r:id="rId17"/>
    <p:sldId id="608" r:id="rId18"/>
    <p:sldId id="609" r:id="rId19"/>
    <p:sldId id="372" r:id="rId20"/>
    <p:sldId id="390" r:id="rId21"/>
    <p:sldId id="429" r:id="rId22"/>
    <p:sldId id="430" r:id="rId23"/>
    <p:sldId id="611" r:id="rId24"/>
    <p:sldId id="612" r:id="rId25"/>
    <p:sldId id="613" r:id="rId26"/>
    <p:sldId id="373" r:id="rId27"/>
    <p:sldId id="375" r:id="rId28"/>
    <p:sldId id="374" r:id="rId29"/>
    <p:sldId id="376" r:id="rId30"/>
    <p:sldId id="377" r:id="rId31"/>
    <p:sldId id="386" r:id="rId32"/>
    <p:sldId id="378" r:id="rId33"/>
    <p:sldId id="379" r:id="rId34"/>
    <p:sldId id="396" r:id="rId35"/>
    <p:sldId id="397" r:id="rId36"/>
    <p:sldId id="398" r:id="rId37"/>
    <p:sldId id="399" r:id="rId38"/>
    <p:sldId id="400" r:id="rId39"/>
    <p:sldId id="401" r:id="rId40"/>
    <p:sldId id="402" r:id="rId41"/>
    <p:sldId id="391" r:id="rId42"/>
    <p:sldId id="381" r:id="rId43"/>
    <p:sldId id="382" r:id="rId44"/>
    <p:sldId id="392" r:id="rId45"/>
    <p:sldId id="394" r:id="rId46"/>
    <p:sldId id="395" r:id="rId47"/>
    <p:sldId id="388" r:id="rId48"/>
    <p:sldId id="387" r:id="rId49"/>
    <p:sldId id="393" r:id="rId50"/>
    <p:sldId id="680" r:id="rId51"/>
    <p:sldId id="681" r:id="rId52"/>
    <p:sldId id="682" r:id="rId5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1" autoAdjust="0"/>
    <p:restoredTop sz="60500" autoAdjust="0"/>
  </p:normalViewPr>
  <p:slideViewPr>
    <p:cSldViewPr>
      <p:cViewPr varScale="1">
        <p:scale>
          <a:sx n="85" d="100"/>
          <a:sy n="85" d="100"/>
        </p:scale>
        <p:origin x="138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92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48.xml"/><Relationship Id="rId1" Type="http://schemas.openxmlformats.org/officeDocument/2006/relationships/slide" Target="slides/slide2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EC18981-EEB1-4932-9AC6-85149CA2396C}" type="datetimeFigureOut">
              <a:rPr lang="en-US" smtClean="0"/>
              <a:pPr/>
              <a:t>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FDE67EC-7E65-4C49-9A16-F37A27B22E1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22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B65C953-0C4C-4312-86AE-CD3FFC18525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335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143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4369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825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9001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8010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588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69CA8-7C5B-43C7-9912-D4FCE73EA1C2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69CA8-7C5B-43C7-9912-D4FCE73EA1C2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69CA8-7C5B-43C7-9912-D4FCE73EA1C2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C69CA8-7C5B-43C7-9912-D4FCE73EA1C2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76FBE-58CA-438F-A6DB-3322263ECFD5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62B3-D0CE-4577-91B6-4E6EE48DB6CD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324600"/>
            <a:ext cx="310896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388D0-B408-4B10-B37A-3F71A2746CB1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764F-BEC2-4E6D-9906-EC31044D4B52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B97A-FC40-4EC6-8C5D-1DEE687F844F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D707-1E0D-41A5-A2A9-A1A72EF52D8D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627-038C-47A6-830E-A3BE5E6D3C39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D7382-7EFB-4D47-8682-F695F6A7A2DB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785C6-1897-4ADC-AFE2-C9D663CD1808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9164-FDFC-4B13-8026-D184F725BB3D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CE4E-93C5-4D78-ADA8-970C294EB2A2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2005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Verilog HDL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1BF37CF-C1C8-485B-B3E9-995A83C656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5B29CCD-B764-499B-ACDE-2C081D461DD3}" type="datetime1">
              <a:rPr lang="en-US" smtClean="0"/>
              <a:pPr/>
              <a:t>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7.emf"/><Relationship Id="rId7" Type="http://schemas.openxmlformats.org/officeDocument/2006/relationships/oleObject" Target="../embeddings/oleObject3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10000"/>
            <a:ext cx="7162800" cy="1600200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Mehdi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Modarressi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Verilog Synthesis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6200" y="990600"/>
            <a:ext cx="2819400" cy="38100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CE233(CAD), 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Lecture 10: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Verilog Synthesis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Learn</a:t>
            </a:r>
          </a:p>
          <a:p>
            <a:pPr lvl="1"/>
            <a:r>
              <a:rPr lang="en-US" dirty="0"/>
              <a:t>How to write synthesizable Verilog code</a:t>
            </a:r>
          </a:p>
          <a:p>
            <a:pPr lvl="1"/>
            <a:r>
              <a:rPr lang="en-US" dirty="0"/>
              <a:t>Common mistakes and how to avoid them</a:t>
            </a:r>
          </a:p>
          <a:p>
            <a:pPr lvl="1"/>
            <a:r>
              <a:rPr lang="en-US" dirty="0"/>
              <a:t>What is synthesized for what we code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3429001"/>
            <a:ext cx="5515898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synthesis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914400" y="1447800"/>
            <a:ext cx="7620000" cy="2209800"/>
          </a:xfrm>
          <a:prstGeom prst="rect">
            <a:avLst/>
          </a:prstGeom>
        </p:spPr>
        <p:txBody>
          <a:bodyPr/>
          <a:lstStyle/>
          <a:p>
            <a:pPr marL="27432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Is done automatically by synthesis tools (</a:t>
            </a:r>
            <a:r>
              <a:rPr lang="en-US" sz="2000" dirty="0"/>
              <a:t>a.k.a. “silicon compilers”)</a:t>
            </a:r>
          </a:p>
          <a:p>
            <a:pPr marL="27432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000" dirty="0"/>
              <a:t>Synthesis tools process the HDL then</a:t>
            </a:r>
          </a:p>
          <a:p>
            <a:pPr marL="731520" lvl="1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000" dirty="0"/>
              <a:t>Infer logic and memory elements</a:t>
            </a:r>
          </a:p>
          <a:p>
            <a:pPr marL="731520" lvl="1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000" dirty="0"/>
              <a:t>Perform technology-independent and technology-dependent optimizations</a:t>
            </a:r>
          </a:p>
          <a:p>
            <a:pPr marL="731520" lvl="1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000" dirty="0"/>
              <a:t>Map elements to the target technology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1667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dirty="0"/>
              <a:t>Logic Synthesis </a:t>
            </a: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3352800"/>
            <a:ext cx="6705600" cy="28194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</p:pic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46304" y="6324600"/>
            <a:ext cx="310896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04800" y="1447800"/>
            <a:ext cx="1981200" cy="23083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module x (</a:t>
            </a:r>
            <a:r>
              <a:rPr lang="en-US" dirty="0" err="1"/>
              <a:t>a,b,c</a:t>
            </a:r>
            <a:r>
              <a:rPr lang="en-US" dirty="0"/>
              <a:t>)</a:t>
            </a:r>
          </a:p>
          <a:p>
            <a:r>
              <a:rPr lang="en-US" dirty="0"/>
              <a:t>   ….</a:t>
            </a:r>
          </a:p>
          <a:p>
            <a:r>
              <a:rPr lang="en-US" dirty="0"/>
              <a:t>   Always@ (</a:t>
            </a:r>
            <a:r>
              <a:rPr lang="en-US" dirty="0" err="1"/>
              <a:t>clk</a:t>
            </a:r>
            <a:r>
              <a:rPr lang="en-US" dirty="0"/>
              <a:t>)</a:t>
            </a:r>
          </a:p>
          <a:p>
            <a:r>
              <a:rPr lang="en-US" dirty="0"/>
              <a:t>  ….</a:t>
            </a:r>
          </a:p>
          <a:p>
            <a:r>
              <a:rPr lang="en-US" dirty="0"/>
              <a:t>assign a=b &amp;c;</a:t>
            </a:r>
          </a:p>
          <a:p>
            <a:r>
              <a:rPr lang="en-US" dirty="0"/>
              <a:t>……..</a:t>
            </a:r>
          </a:p>
          <a:p>
            <a:r>
              <a:rPr lang="en-US" dirty="0" err="1"/>
              <a:t>endmodule</a:t>
            </a:r>
            <a:r>
              <a:rPr lang="en-US" dirty="0"/>
              <a:t>;</a:t>
            </a:r>
          </a:p>
          <a:p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295400" y="3733800"/>
            <a:ext cx="914400" cy="609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3"/>
          <p:cNvSpPr txBox="1">
            <a:spLocks/>
          </p:cNvSpPr>
          <p:nvPr/>
        </p:nvSpPr>
        <p:spPr bwMode="auto">
          <a:xfrm>
            <a:off x="381000" y="3962400"/>
            <a:ext cx="1600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Logic synthesis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7526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this lecture, we discuss logic synthesis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Synthesis- Partitioning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2819400"/>
            <a:ext cx="2635250" cy="1444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Oval 4"/>
          <p:cNvSpPr/>
          <p:nvPr/>
        </p:nvSpPr>
        <p:spPr>
          <a:xfrm>
            <a:off x="4038600" y="3124200"/>
            <a:ext cx="16002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partitioning</a:t>
            </a:r>
          </a:p>
        </p:txBody>
      </p:sp>
      <p:pic>
        <p:nvPicPr>
          <p:cNvPr id="1607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" y="1600200"/>
            <a:ext cx="2559050" cy="140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38200" y="3810000"/>
            <a:ext cx="2514600" cy="1603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Straight Arrow Connector 9"/>
          <p:cNvCxnSpPr/>
          <p:nvPr/>
        </p:nvCxnSpPr>
        <p:spPr>
          <a:xfrm>
            <a:off x="3048000" y="3048000"/>
            <a:ext cx="8382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3581400" y="3810000"/>
            <a:ext cx="4572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791200" y="3429000"/>
            <a:ext cx="609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30480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Gate-level description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486400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Technology Library (Target FPGA)</a:t>
            </a:r>
          </a:p>
          <a:p>
            <a:r>
              <a:rPr lang="en-US" dirty="0"/>
              <a:t>(just 2-input and 3-input LUTs)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22098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Partitioned circuit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800600" y="4876800"/>
            <a:ext cx="3805881" cy="1600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</p:pic>
      <p:sp>
        <p:nvSpPr>
          <p:cNvPr id="15" name="Oval 14"/>
          <p:cNvSpPr/>
          <p:nvPr/>
        </p:nvSpPr>
        <p:spPr>
          <a:xfrm>
            <a:off x="5410200" y="5334000"/>
            <a:ext cx="990600" cy="914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 flipH="1" flipV="1">
            <a:off x="5029200" y="3962400"/>
            <a:ext cx="609600" cy="13716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Placement: Select CLBs</a:t>
            </a:r>
            <a:endParaRPr lang="el-GR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72716" y="6369050"/>
            <a:ext cx="460684" cy="365125"/>
          </a:xfrm>
        </p:spPr>
        <p:txBody>
          <a:bodyPr/>
          <a:lstStyle/>
          <a:p>
            <a:fld id="{38E280DA-B14F-CC4F-BCB5-BD52643537A5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0" y="3429000"/>
          <a:ext cx="3807632" cy="1200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864381" imgH="904043" progId="Visio.Drawing.11">
                  <p:embed/>
                </p:oleObj>
              </mc:Choice>
              <mc:Fallback>
                <p:oleObj name="Visio" r:id="rId2" imgW="2864381" imgH="904043" progId="Visio.Drawing.11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429000"/>
                        <a:ext cx="3807632" cy="12009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8107" y="2275889"/>
            <a:ext cx="3265538" cy="3507188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1752600" y="2971800"/>
            <a:ext cx="2743200" cy="45720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817032" y="4114800"/>
            <a:ext cx="1678768" cy="901244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Object 7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870135" y="1482089"/>
          <a:ext cx="2854759" cy="1242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4790966" imgH="2086093" progId="Visio.Drawing.11">
                  <p:embed/>
                </p:oleObj>
              </mc:Choice>
              <mc:Fallback>
                <p:oleObj name="Visio" r:id="rId5" imgW="4790966" imgH="2086093" progId="Visio.Drawing.11">
                  <p:embed/>
                  <p:pic>
                    <p:nvPicPr>
                      <p:cNvPr id="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0135" y="1482089"/>
                        <a:ext cx="2854759" cy="12426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469030" y="5434250"/>
          <a:ext cx="2973542" cy="129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4806604" imgH="2099939" progId="Visio.Drawing.11">
                  <p:embed/>
                </p:oleObj>
              </mc:Choice>
              <mc:Fallback>
                <p:oleObj name="Visio" r:id="rId7" imgW="4806604" imgH="2099939" progId="Visio.Drawing.11">
                  <p:embed/>
                  <p:pic>
                    <p:nvPicPr>
                      <p:cNvPr id="1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9030" y="5434250"/>
                        <a:ext cx="2973542" cy="129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7404177" y="3000375"/>
            <a:ext cx="1676400" cy="2336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CLB0: 00011</a:t>
            </a:r>
          </a:p>
          <a:p>
            <a:pPr>
              <a:lnSpc>
                <a:spcPct val="90000"/>
              </a:lnSpc>
            </a:pPr>
            <a:r>
              <a:rPr lang="en-US" dirty="0"/>
              <a:t>CLB1: ?????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CLB2: 01100</a:t>
            </a:r>
          </a:p>
          <a:p>
            <a:pPr>
              <a:lnSpc>
                <a:spcPct val="90000"/>
              </a:lnSpc>
            </a:pPr>
            <a:r>
              <a:rPr lang="en-US" dirty="0"/>
              <a:t>CLB3: XXXXX</a:t>
            </a:r>
          </a:p>
          <a:p>
            <a:pPr>
              <a:lnSpc>
                <a:spcPct val="90000"/>
              </a:lnSpc>
            </a:pPr>
            <a:r>
              <a:rPr lang="en-US" dirty="0"/>
              <a:t>SB0: 000000</a:t>
            </a:r>
          </a:p>
          <a:p>
            <a:pPr>
              <a:lnSpc>
                <a:spcPct val="90000"/>
              </a:lnSpc>
            </a:pPr>
            <a:r>
              <a:rPr lang="en-US" dirty="0"/>
              <a:t>SB1: 000010</a:t>
            </a:r>
          </a:p>
          <a:p>
            <a:pPr>
              <a:lnSpc>
                <a:spcPct val="90000"/>
              </a:lnSpc>
            </a:pPr>
            <a:r>
              <a:rPr lang="en-US" dirty="0"/>
              <a:t>SB2: 000000</a:t>
            </a:r>
          </a:p>
          <a:p>
            <a:pPr>
              <a:lnSpc>
                <a:spcPct val="90000"/>
              </a:lnSpc>
            </a:pPr>
            <a:r>
              <a:rPr lang="en-US" dirty="0"/>
              <a:t>SB3: 000000</a:t>
            </a:r>
          </a:p>
          <a:p>
            <a:pPr>
              <a:lnSpc>
                <a:spcPct val="90000"/>
              </a:lnSpc>
            </a:pPr>
            <a:r>
              <a:rPr lang="en-US" dirty="0"/>
              <a:t>SB4: 000001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184302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Routing: Select path</a:t>
            </a:r>
            <a:endParaRPr lang="el-GR" sz="4000"/>
          </a:p>
        </p:txBody>
      </p:sp>
      <p:graphicFrame>
        <p:nvGraphicFramePr>
          <p:cNvPr id="2970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0" y="1714500"/>
          <a:ext cx="8316913" cy="5116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658003" imgH="4095671" progId="Visio.Drawing.11">
                  <p:embed/>
                </p:oleObj>
              </mc:Choice>
              <mc:Fallback>
                <p:oleObj name="Visio" r:id="rId2" imgW="6658003" imgH="4095671" progId="Visio.Drawing.11">
                  <p:embed/>
                  <p:pic>
                    <p:nvPicPr>
                      <p:cNvPr id="297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714500"/>
                        <a:ext cx="8316913" cy="5116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Object 10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364162" y="2146300"/>
          <a:ext cx="1630363" cy="393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2123891" imgH="5124424" progId="Visio.Drawing.11">
                  <p:embed/>
                </p:oleObj>
              </mc:Choice>
              <mc:Fallback>
                <p:oleObj name="Visio" r:id="rId4" imgW="2123891" imgH="5124424" progId="Visio.Drawing.11">
                  <p:embed/>
                  <p:pic>
                    <p:nvPicPr>
                      <p:cNvPr id="2970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2" y="2146300"/>
                        <a:ext cx="1630363" cy="3933825"/>
                      </a:xfrm>
                      <a:prstGeom prst="rect">
                        <a:avLst/>
                      </a:prstGeom>
                      <a:extLst>
                        <a:ext uri="{FAA26D3D-D897-4be2-8F04-BA451C77F1D7}">
                          <ma14:placeholderFlag xmlns:ma14="http://schemas.microsoft.com/office/mac/drawingml/2011/main" xmlns="" val="1"/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228600" y="6363329"/>
            <a:ext cx="364816" cy="365125"/>
          </a:xfrm>
        </p:spPr>
        <p:txBody>
          <a:bodyPr/>
          <a:lstStyle/>
          <a:p>
            <a:fld id="{38E280DA-B14F-CC4F-BCB5-BD52643537A5}" type="slidenum">
              <a:rPr lang="en-US" smtClean="0"/>
              <a:t>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404177" y="3000375"/>
            <a:ext cx="1676400" cy="2336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CLB0: 00011</a:t>
            </a:r>
          </a:p>
          <a:p>
            <a:pPr>
              <a:lnSpc>
                <a:spcPct val="90000"/>
              </a:lnSpc>
            </a:pPr>
            <a:r>
              <a:rPr lang="en-US" dirty="0"/>
              <a:t>CLB1: ?????</a:t>
            </a:r>
          </a:p>
          <a:p>
            <a:pPr>
              <a:lnSpc>
                <a:spcPct val="90000"/>
              </a:lnSpc>
            </a:pPr>
            <a:r>
              <a:rPr lang="en-US" dirty="0"/>
              <a:t>CLB2: 01100</a:t>
            </a:r>
          </a:p>
          <a:p>
            <a:pPr>
              <a:lnSpc>
                <a:spcPct val="90000"/>
              </a:lnSpc>
            </a:pPr>
            <a:r>
              <a:rPr lang="en-US" dirty="0"/>
              <a:t>CLB3: XXXXX</a:t>
            </a:r>
          </a:p>
          <a:p>
            <a:pPr>
              <a:lnSpc>
                <a:spcPct val="90000"/>
              </a:lnSpc>
            </a:pPr>
            <a:r>
              <a:rPr lang="en-US" dirty="0"/>
              <a:t>SB0: 000000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SB1: 000010</a:t>
            </a:r>
          </a:p>
          <a:p>
            <a:pPr>
              <a:lnSpc>
                <a:spcPct val="90000"/>
              </a:lnSpc>
            </a:pPr>
            <a:r>
              <a:rPr lang="en-US" dirty="0"/>
              <a:t>SB2: 000000</a:t>
            </a:r>
          </a:p>
          <a:p>
            <a:pPr>
              <a:lnSpc>
                <a:spcPct val="90000"/>
              </a:lnSpc>
            </a:pPr>
            <a:r>
              <a:rPr lang="en-US" dirty="0"/>
              <a:t>SB3: 000000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SB4: 000001</a:t>
            </a:r>
            <a:endParaRPr lang="el-G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018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Configuration Bitstream</a:t>
            </a:r>
            <a:endParaRPr lang="el-GR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The configuration </a:t>
            </a:r>
            <a:r>
              <a:rPr lang="en-US" sz="2400" dirty="0" err="1"/>
              <a:t>bitstream</a:t>
            </a:r>
            <a:r>
              <a:rPr lang="en-US" sz="2400" dirty="0"/>
              <a:t> must include ALL CLBs and SBs, even unused ones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CLB0: 00011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CLB1: ?????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CLB2: 01100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CLB3: XXXXX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SB0: 000000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SB1: 000010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SB2: 000000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SB3: 000000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SB4: 000001</a:t>
            </a:r>
            <a:endParaRPr lang="el-GR" sz="240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228600" y="6248400"/>
            <a:ext cx="364816" cy="365125"/>
          </a:xfrm>
        </p:spPr>
        <p:txBody>
          <a:bodyPr/>
          <a:lstStyle/>
          <a:p>
            <a:fld id="{38E280DA-B14F-CC4F-BCB5-BD52643537A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452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8" y="2286000"/>
            <a:ext cx="9046320" cy="22455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Digital Design Flow - ASIC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9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9326" y="4451819"/>
            <a:ext cx="2355274" cy="381000"/>
          </a:xfrm>
        </p:spPr>
        <p:txBody>
          <a:bodyPr>
            <a:noAutofit/>
          </a:bodyPr>
          <a:lstStyle/>
          <a:p>
            <a:pPr marL="109728" indent="0"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2. Simulation &amp;</a:t>
            </a:r>
          </a:p>
          <a:p>
            <a:pPr marL="109728" indent="0">
              <a:buNone/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Functional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13854" y="2331389"/>
            <a:ext cx="1810446" cy="2133024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28600" y="3297058"/>
            <a:ext cx="1842654" cy="1192285"/>
          </a:xfrm>
          <a:prstGeom prst="rect">
            <a:avLst/>
          </a:prstGeom>
          <a:solidFill>
            <a:schemeClr val="accent2">
              <a:lumMod val="60000"/>
              <a:lumOff val="40000"/>
              <a:alpha val="47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200" y="2331390"/>
            <a:ext cx="2037654" cy="1499069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340926" y="2343150"/>
            <a:ext cx="3698127" cy="2133024"/>
          </a:xfrm>
          <a:prstGeom prst="rect">
            <a:avLst/>
          </a:prstGeom>
          <a:solidFill>
            <a:schemeClr val="accent4">
              <a:lumMod val="60000"/>
              <a:lumOff val="40000"/>
              <a:alpha val="4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5"/>
          <p:cNvSpPr txBox="1">
            <a:spLocks/>
          </p:cNvSpPr>
          <p:nvPr/>
        </p:nvSpPr>
        <p:spPr>
          <a:xfrm>
            <a:off x="387927" y="1877761"/>
            <a:ext cx="1524000" cy="381000"/>
          </a:xfrm>
          <a:prstGeom prst="rect">
            <a:avLst/>
          </a:prstGeom>
        </p:spPr>
        <p:txBody>
          <a:bodyPr vert="horz">
            <a:normAutofit fontScale="85000" lnSpcReduction="10000"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1. HDL Coding</a:t>
            </a:r>
          </a:p>
        </p:txBody>
      </p:sp>
      <p:sp>
        <p:nvSpPr>
          <p:cNvPr id="18" name="Content Placeholder 5"/>
          <p:cNvSpPr txBox="1">
            <a:spLocks/>
          </p:cNvSpPr>
          <p:nvPr/>
        </p:nvSpPr>
        <p:spPr>
          <a:xfrm>
            <a:off x="2071254" y="1828800"/>
            <a:ext cx="1828800" cy="381000"/>
          </a:xfrm>
          <a:prstGeom prst="rect">
            <a:avLst/>
          </a:prstGeom>
        </p:spPr>
        <p:txBody>
          <a:bodyPr vert="horz">
            <a:normAutofit fontScale="92500"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3. Logic Synthesis</a:t>
            </a:r>
          </a:p>
        </p:txBody>
      </p:sp>
      <p:sp>
        <p:nvSpPr>
          <p:cNvPr id="19" name="Content Placeholder 5"/>
          <p:cNvSpPr txBox="1">
            <a:spLocks/>
          </p:cNvSpPr>
          <p:nvPr/>
        </p:nvSpPr>
        <p:spPr>
          <a:xfrm>
            <a:off x="5340926" y="1877761"/>
            <a:ext cx="2133600" cy="381000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en-US" sz="1600" b="1" dirty="0">
                <a:solidFill>
                  <a:srgbClr val="7030A0"/>
                </a:solidFill>
              </a:rPr>
              <a:t>5. Physical Synthesis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52800" y="2331389"/>
            <a:ext cx="1988126" cy="2133024"/>
          </a:xfrm>
          <a:prstGeom prst="rect">
            <a:avLst/>
          </a:prstGeom>
          <a:solidFill>
            <a:schemeClr val="accent3">
              <a:lumMod val="60000"/>
              <a:lumOff val="40000"/>
              <a:alpha val="4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5"/>
          <p:cNvSpPr txBox="1">
            <a:spLocks/>
          </p:cNvSpPr>
          <p:nvPr/>
        </p:nvSpPr>
        <p:spPr>
          <a:xfrm>
            <a:off x="3512126" y="4619156"/>
            <a:ext cx="2202874" cy="381000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None/>
            </a:pPr>
            <a:r>
              <a:rPr lang="en-US" sz="16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4. Simulation &amp;Timing Analysis</a:t>
            </a:r>
          </a:p>
        </p:txBody>
      </p:sp>
    </p:spTree>
    <p:extLst>
      <p:ext uri="{BB962C8B-B14F-4D97-AF65-F5344CB8AC3E}">
        <p14:creationId xmlns:p14="http://schemas.microsoft.com/office/powerpoint/2010/main" val="100473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Digital Design Flow - </a:t>
            </a:r>
            <a:r>
              <a:rPr lang="en-US" dirty="0"/>
              <a:t>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10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59" y="2057400"/>
            <a:ext cx="8846092" cy="3429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04800" y="2438400"/>
            <a:ext cx="8305800" cy="304800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80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 is Constraint-Driven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designer guides the synthesis tool by providing </a:t>
            </a:r>
            <a:r>
              <a:rPr lang="en-US" b="1" dirty="0"/>
              <a:t>design constraints:</a:t>
            </a:r>
          </a:p>
          <a:p>
            <a:pPr lvl="1"/>
            <a:r>
              <a:rPr lang="en-US" dirty="0"/>
              <a:t>Timing requirements (max. expected clock frequency)</a:t>
            </a:r>
          </a:p>
          <a:p>
            <a:pPr lvl="1"/>
            <a:r>
              <a:rPr lang="en-US" dirty="0"/>
              <a:t>Area requirements</a:t>
            </a:r>
          </a:p>
          <a:p>
            <a:pPr lvl="1"/>
            <a:r>
              <a:rPr lang="en-US" dirty="0"/>
              <a:t>Maximum power consumption</a:t>
            </a:r>
          </a:p>
          <a:p>
            <a:r>
              <a:rPr lang="en-US" dirty="0"/>
              <a:t>The synthesis tool uses this constraints and tries to generate the smallest possible design that will satisfy the requirements</a:t>
            </a:r>
          </a:p>
          <a:p>
            <a:r>
              <a:rPr lang="en-US" dirty="0"/>
              <a:t>Without any constraints specified, the synthesis tool will generate a non-optimal netlist, which might not satisfy the designer’s requirements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908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Synthesis tool: (RTL &amp; Logic Synthesis)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Input:</a:t>
            </a:r>
          </a:p>
          <a:p>
            <a:pPr lvl="1"/>
            <a:r>
              <a:rPr lang="en-US" dirty="0"/>
              <a:t>HDL Code</a:t>
            </a:r>
          </a:p>
          <a:p>
            <a:pPr lvl="1"/>
            <a:r>
              <a:rPr lang="en-US" dirty="0"/>
              <a:t>“Technology library” file </a:t>
            </a:r>
          </a:p>
          <a:p>
            <a:pPr lvl="2"/>
            <a:r>
              <a:rPr lang="en-US" dirty="0"/>
              <a:t>Standard cells (known by transistor size, 90nm)</a:t>
            </a:r>
          </a:p>
          <a:p>
            <a:pPr lvl="3"/>
            <a:r>
              <a:rPr lang="en-US" dirty="0"/>
              <a:t>Basic gates (AND, OR, NOR, …)</a:t>
            </a:r>
          </a:p>
          <a:p>
            <a:pPr lvl="3"/>
            <a:r>
              <a:rPr lang="en-US" dirty="0"/>
              <a:t>Macro cells (Adders, </a:t>
            </a:r>
            <a:r>
              <a:rPr lang="en-US" dirty="0" err="1"/>
              <a:t>Muxes</a:t>
            </a:r>
            <a:r>
              <a:rPr lang="en-US" dirty="0"/>
              <a:t>, Memory, Flip-flops, …)</a:t>
            </a:r>
          </a:p>
          <a:p>
            <a:pPr lvl="1"/>
            <a:r>
              <a:rPr lang="en-US" dirty="0"/>
              <a:t>Constraint file (Timing, area, power, optimization Alg.)</a:t>
            </a:r>
          </a:p>
          <a:p>
            <a:r>
              <a:rPr lang="en-US" b="1" dirty="0"/>
              <a:t>Output:</a:t>
            </a:r>
          </a:p>
          <a:p>
            <a:pPr lvl="1"/>
            <a:r>
              <a:rPr lang="en-US" dirty="0"/>
              <a:t> A gate-level “Netlist” of the design</a:t>
            </a:r>
          </a:p>
          <a:p>
            <a:pPr lvl="1"/>
            <a:r>
              <a:rPr lang="en-US" dirty="0"/>
              <a:t>Timing files (.</a:t>
            </a:r>
            <a:r>
              <a:rPr lang="en-US" dirty="0" err="1"/>
              <a:t>sdf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639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Commercial Synthesis Tools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66800" y="2057400"/>
          <a:ext cx="6828473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718">
                  <a:extLst>
                    <a:ext uri="{9D8B030D-6E8A-4147-A177-3AD203B41FA5}">
                      <a16:colId xmlns:a16="http://schemas.microsoft.com/office/drawing/2014/main" val="3862935715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4044839696"/>
                    </a:ext>
                  </a:extLst>
                </a:gridCol>
                <a:gridCol w="2205555">
                  <a:extLst>
                    <a:ext uri="{9D8B030D-6E8A-4147-A177-3AD203B41FA5}">
                      <a16:colId xmlns:a16="http://schemas.microsoft.com/office/drawing/2014/main" val="84099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Vendor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 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platform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274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</a:t>
                      </a:r>
                      <a:r>
                        <a:rPr lang="en-US" sz="20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(Altera)</a:t>
                      </a: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Quartus</a:t>
                      </a: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3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Xilinx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ISE/ </a:t>
                      </a:r>
                      <a:r>
                        <a:rPr lang="en-US" sz="2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Vivado</a:t>
                      </a: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770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Mentor Graphics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23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Synplicity</a:t>
                      </a: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Synplify</a:t>
                      </a: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623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Synopsys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</a:t>
                      </a:r>
                      <a:r>
                        <a:rPr lang="en-US" sz="20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Compiler</a:t>
                      </a: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570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60781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13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Logic Synthesis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Behavioral coding used to be used for rapid prototyping</a:t>
            </a:r>
          </a:p>
          <a:p>
            <a:pPr lvl="1"/>
            <a:r>
              <a:rPr lang="en-US" dirty="0"/>
              <a:t>Now, we can get hardware out of it by synthesis tools</a:t>
            </a:r>
          </a:p>
          <a:p>
            <a:r>
              <a:rPr lang="en-US" dirty="0"/>
              <a:t>Assembly coding vs. C/Java programming</a:t>
            </a:r>
          </a:p>
          <a:p>
            <a:r>
              <a:rPr lang="en-US" dirty="0"/>
              <a:t>Gate-level modeling vs. behavioral modeling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Verilog Lower Abstraction Levels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Gate-level:</a:t>
            </a:r>
          </a:p>
          <a:p>
            <a:pPr lvl="1"/>
            <a:r>
              <a:rPr lang="en-US" dirty="0"/>
              <a:t>All gate-level codes are synthesizable</a:t>
            </a:r>
          </a:p>
          <a:p>
            <a:r>
              <a:rPr lang="en-US" dirty="0"/>
              <a:t>Dataflow Models:</a:t>
            </a:r>
          </a:p>
          <a:p>
            <a:pPr lvl="1"/>
            <a:r>
              <a:rPr lang="en-US" dirty="0"/>
              <a:t>Most expressions synthesizable</a:t>
            </a:r>
          </a:p>
          <a:p>
            <a:pPr lvl="2"/>
            <a:r>
              <a:rPr lang="en-US" dirty="0"/>
              <a:t>Exceptions: *, /, %</a:t>
            </a:r>
          </a:p>
          <a:p>
            <a:pPr lvl="1"/>
            <a:r>
              <a:rPr lang="en-US" dirty="0"/>
              <a:t>General rule: Delays are all ignored</a:t>
            </a: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Synthesis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Inference </a:t>
            </a:r>
          </a:p>
          <a:p>
            <a:pPr lvl="1"/>
            <a:r>
              <a:rPr lang="en-US" dirty="0"/>
              <a:t>The specific coding style suggested by tool designers</a:t>
            </a:r>
          </a:p>
          <a:p>
            <a:pPr lvl="1"/>
            <a:r>
              <a:rPr lang="en-US" dirty="0"/>
              <a:t>e.g. how to </a:t>
            </a:r>
            <a:r>
              <a:rPr lang="en-US"/>
              <a:t>make FF</a:t>
            </a:r>
            <a:endParaRPr lang="en-US" dirty="0"/>
          </a:p>
          <a:p>
            <a:r>
              <a:rPr lang="en-US" dirty="0"/>
              <a:t>General rules</a:t>
            </a:r>
          </a:p>
          <a:p>
            <a:pPr lvl="1"/>
            <a:r>
              <a:rPr lang="en-US" dirty="0"/>
              <a:t>Natural mapping of code structures to logic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607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Synthesizable Constructs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10600" cy="3048000"/>
          </a:xfrm>
        </p:spPr>
        <p:txBody>
          <a:bodyPr/>
          <a:lstStyle/>
          <a:p>
            <a:r>
              <a:rPr lang="en-US" dirty="0"/>
              <a:t>Not all Verilog constructs are synthesizable because:</a:t>
            </a:r>
          </a:p>
          <a:p>
            <a:pPr lvl="1"/>
            <a:r>
              <a:rPr lang="en-US" dirty="0"/>
              <a:t>Does not make sense in hardware (e.g. $display, initial block )</a:t>
            </a:r>
          </a:p>
          <a:p>
            <a:pPr lvl="1"/>
            <a:r>
              <a:rPr lang="en-US" dirty="0"/>
              <a:t>Not possible to achieve (e.g. delay control like #10)</a:t>
            </a:r>
          </a:p>
          <a:p>
            <a:pPr lvl="1"/>
            <a:r>
              <a:rPr lang="en-US" dirty="0"/>
              <a:t>Not support by design flow </a:t>
            </a:r>
          </a:p>
          <a:p>
            <a:pPr lvl="1"/>
            <a:r>
              <a:rPr lang="en-US" dirty="0"/>
              <a:t>Too difficult or too abstract for the synthesis software (e.g. A / 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17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438400" y="4181237"/>
            <a:ext cx="3276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Synthesizable Constructs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Ports (input, output,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Parameter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wire,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tri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function, task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always, if, else, case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assign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for, while</a:t>
            </a:r>
          </a:p>
        </p:txBody>
      </p:sp>
    </p:spTree>
    <p:extLst>
      <p:ext uri="{BB962C8B-B14F-4D97-AF65-F5344CB8AC3E}">
        <p14:creationId xmlns:p14="http://schemas.microsoft.com/office/powerpoint/2010/main" val="3213900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Non-Synthesizable Constructs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Non- Synthesizable Constructs</a:t>
            </a:r>
          </a:p>
          <a:p>
            <a:pPr lvl="1"/>
            <a:r>
              <a:rPr lang="en-US" dirty="0"/>
              <a:t>Initial (used only in testbenches)</a:t>
            </a:r>
          </a:p>
          <a:p>
            <a:pPr lvl="1"/>
            <a:r>
              <a:rPr lang="en-US" dirty="0"/>
              <a:t>real (real type data type)</a:t>
            </a:r>
          </a:p>
          <a:p>
            <a:pPr lvl="1"/>
            <a:r>
              <a:rPr lang="en-US" dirty="0"/>
              <a:t>time (time data type)</a:t>
            </a:r>
          </a:p>
          <a:p>
            <a:pPr lvl="1"/>
            <a:r>
              <a:rPr lang="en-US" dirty="0"/>
              <a:t>comparison to X and Z are ignored (e.g., a == 1’bz)</a:t>
            </a:r>
          </a:p>
          <a:p>
            <a:pPr lvl="1"/>
            <a:r>
              <a:rPr lang="en-US" dirty="0"/>
              <a:t>delays “#” are ignored by synthesis tools as if it is not there</a:t>
            </a:r>
          </a:p>
          <a:p>
            <a:pPr lvl="1"/>
            <a:r>
              <a:rPr lang="en-US" dirty="0"/>
              <a:t>The use of Z value</a:t>
            </a:r>
          </a:p>
          <a:p>
            <a:pPr lvl="1"/>
            <a:r>
              <a:rPr lang="en-US" dirty="0"/>
              <a:t>* and / are </a:t>
            </a:r>
            <a:r>
              <a:rPr lang="en-US" b="1" dirty="0"/>
              <a:t>synthesizable</a:t>
            </a:r>
            <a:r>
              <a:rPr lang="en-US" dirty="0"/>
              <a:t>, but it can be resource-intensive and slow </a:t>
            </a:r>
          </a:p>
          <a:p>
            <a:r>
              <a:rPr lang="en-US" dirty="0"/>
              <a:t>Some result in error, some are simply ignored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686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Behavioral Synthesis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Sometimes not synthesizable, or undesirably synthesized</a:t>
            </a:r>
          </a:p>
          <a:p>
            <a:pPr lvl="1"/>
            <a:r>
              <a:rPr lang="en-US" dirty="0"/>
              <a:t> Unless rules obeyed</a:t>
            </a:r>
          </a:p>
          <a:p>
            <a:r>
              <a:rPr lang="en-US" i="1" dirty="0"/>
              <a:t>initial</a:t>
            </a:r>
            <a:r>
              <a:rPr lang="en-US" dirty="0"/>
              <a:t> statements: </a:t>
            </a:r>
          </a:p>
          <a:p>
            <a:pPr lvl="1"/>
            <a:r>
              <a:rPr lang="en-US" dirty="0"/>
              <a:t>All ignored</a:t>
            </a:r>
          </a:p>
          <a:p>
            <a:pPr lvl="1"/>
            <a:r>
              <a:rPr lang="en-US" dirty="0"/>
              <a:t>Use explicit reset signals instead</a:t>
            </a:r>
          </a:p>
          <a:p>
            <a:r>
              <a:rPr lang="en-US" i="1" dirty="0"/>
              <a:t>always</a:t>
            </a:r>
            <a:r>
              <a:rPr lang="en-US" dirty="0"/>
              <a:t> statements</a:t>
            </a:r>
          </a:p>
          <a:p>
            <a:pPr lvl="1"/>
            <a:r>
              <a:rPr lang="en-US" dirty="0"/>
              <a:t>Sensitivity list decides what is synthesized</a:t>
            </a:r>
          </a:p>
          <a:p>
            <a:pPr lvl="2"/>
            <a:r>
              <a:rPr lang="en-US" dirty="0"/>
              <a:t>Combinational circuits: all variables/ports </a:t>
            </a:r>
            <a:r>
              <a:rPr lang="en-US" i="1" dirty="0"/>
              <a:t>read </a:t>
            </a:r>
            <a:r>
              <a:rPr lang="en-US" dirty="0"/>
              <a:t>in the block</a:t>
            </a:r>
          </a:p>
          <a:p>
            <a:pPr lvl="2"/>
            <a:r>
              <a:rPr lang="en-US" dirty="0"/>
              <a:t>Sequential circuits</a:t>
            </a:r>
            <a:r>
              <a:rPr lang="en-US" i="1" dirty="0"/>
              <a:t>: </a:t>
            </a:r>
            <a:r>
              <a:rPr lang="en-US" i="1" dirty="0" err="1"/>
              <a:t>posedge</a:t>
            </a:r>
            <a:r>
              <a:rPr lang="en-US" i="1" dirty="0"/>
              <a:t> or </a:t>
            </a:r>
            <a:r>
              <a:rPr lang="en-US" i="1" dirty="0" err="1"/>
              <a:t>negedge</a:t>
            </a:r>
            <a:r>
              <a:rPr lang="en-US" i="1" dirty="0"/>
              <a:t> </a:t>
            </a:r>
            <a:r>
              <a:rPr lang="en-US" dirty="0"/>
              <a:t>of the clock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US" dirty="0"/>
              <a:t>Synthesis: Combinational Logic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524000"/>
            <a:ext cx="6029325" cy="1219200"/>
          </a:xfrm>
        </p:spPr>
        <p:txBody>
          <a:bodyPr>
            <a:normAutofit/>
          </a:bodyPr>
          <a:lstStyle/>
          <a:p>
            <a:r>
              <a:rPr lang="en-US" sz="2000" dirty="0"/>
              <a:t>Combination logic function can be expressed as:   </a:t>
            </a:r>
          </a:p>
          <a:p>
            <a:pPr>
              <a:buFont typeface="Wingdings" pitchFamily="2" charset="2"/>
              <a:buNone/>
            </a:pPr>
            <a:r>
              <a:rPr lang="en-US" sz="2000" b="1" dirty="0">
                <a:solidFill>
                  <a:srgbClr val="009900"/>
                </a:solidFill>
              </a:rPr>
              <a:t>                </a:t>
            </a:r>
            <a:r>
              <a:rPr lang="en-US" sz="2000" b="1" dirty="0" err="1">
                <a:solidFill>
                  <a:srgbClr val="009900"/>
                </a:solidFill>
              </a:rPr>
              <a:t>logic_output</a:t>
            </a:r>
            <a:r>
              <a:rPr lang="en-US" sz="2000" b="1" dirty="0">
                <a:solidFill>
                  <a:srgbClr val="009900"/>
                </a:solidFill>
              </a:rPr>
              <a:t>(t) = f(</a:t>
            </a:r>
            <a:r>
              <a:rPr lang="en-US" sz="2000" b="1" dirty="0" err="1">
                <a:solidFill>
                  <a:srgbClr val="009900"/>
                </a:solidFill>
              </a:rPr>
              <a:t>logic_inputs</a:t>
            </a:r>
            <a:r>
              <a:rPr lang="en-US" sz="2000" b="1" dirty="0">
                <a:solidFill>
                  <a:srgbClr val="009900"/>
                </a:solidFill>
              </a:rPr>
              <a:t>(t))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304800" y="3886200"/>
            <a:ext cx="8391525" cy="2209800"/>
          </a:xfrm>
          <a:prstGeom prst="rect">
            <a:avLst/>
          </a:prstGeom>
          <a:noFill/>
          <a:ln w="44450" cmpd="thickThin">
            <a:noFill/>
            <a:miter lim="800000"/>
            <a:headEnd/>
            <a:tailEnd/>
          </a:ln>
          <a:effectLst/>
        </p:spPr>
        <p:txBody>
          <a:bodyPr tIns="228600"/>
          <a:lstStyle/>
          <a:p>
            <a:pPr marL="228600" indent="-228600">
              <a:spcBef>
                <a:spcPct val="20000"/>
              </a:spcBef>
              <a:buClr>
                <a:srgbClr val="800000"/>
              </a:buClr>
              <a:buFont typeface="Arial" pitchFamily="34" charset="0"/>
              <a:buChar char="•"/>
            </a:pPr>
            <a:r>
              <a:rPr lang="en-US" sz="2200" dirty="0"/>
              <a:t>In case of using always statement, all ports should be listed in the sensitivity list</a:t>
            </a:r>
          </a:p>
          <a:p>
            <a:pPr marL="228600" indent="-228600">
              <a:spcBef>
                <a:spcPct val="20000"/>
              </a:spcBef>
              <a:buClr>
                <a:srgbClr val="800000"/>
              </a:buClr>
              <a:buFont typeface="Arial" pitchFamily="34" charset="0"/>
              <a:buChar char="•"/>
            </a:pPr>
            <a:r>
              <a:rPr lang="en-US" sz="2200" dirty="0"/>
              <a:t>The combinational logic must not have feedback</a:t>
            </a:r>
          </a:p>
          <a:p>
            <a:pPr marL="228600" indent="-228600">
              <a:spcBef>
                <a:spcPct val="20000"/>
              </a:spcBef>
              <a:buClr>
                <a:srgbClr val="800000"/>
              </a:buClr>
              <a:buFont typeface="Arial" pitchFamily="34" charset="0"/>
              <a:buChar char="•"/>
            </a:pPr>
            <a:r>
              <a:rPr lang="en-US" sz="2200" dirty="0"/>
              <a:t>Specify the output of a combinational behavior for all possible cases of its inputs</a:t>
            </a:r>
          </a:p>
          <a:p>
            <a:pPr marL="228600" indent="-228600">
              <a:spcBef>
                <a:spcPct val="20000"/>
              </a:spcBef>
              <a:buClr>
                <a:srgbClr val="800000"/>
              </a:buClr>
              <a:buFont typeface="Arial" pitchFamily="34" charset="0"/>
              <a:buChar char="•"/>
            </a:pPr>
            <a:r>
              <a:rPr lang="en-US" sz="2200" dirty="0"/>
              <a:t>Logic that is not combinational will be synthesized as sequential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1219200" y="2514600"/>
            <a:ext cx="6294438" cy="914400"/>
            <a:chOff x="720" y="1392"/>
            <a:chExt cx="3965" cy="576"/>
          </a:xfrm>
        </p:grpSpPr>
        <p:sp>
          <p:nvSpPr>
            <p:cNvPr id="2054" name="Oval 6" descr="Dark vertical"/>
            <p:cNvSpPr>
              <a:spLocks noChangeArrowheads="1"/>
            </p:cNvSpPr>
            <p:nvPr/>
          </p:nvSpPr>
          <p:spPr bwMode="auto">
            <a:xfrm>
              <a:off x="2073" y="1392"/>
              <a:ext cx="1154" cy="576"/>
            </a:xfrm>
            <a:prstGeom prst="ellipse">
              <a:avLst/>
            </a:prstGeom>
            <a:pattFill prst="dkVert">
              <a:fgClr>
                <a:srgbClr val="FFFF99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28398" dir="3806097" algn="ctr" rotWithShape="0">
                <a:srgbClr val="CC9900"/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chemeClr val="accent2"/>
                  </a:solidFill>
                </a:rPr>
                <a:t>Combinational </a:t>
              </a:r>
            </a:p>
            <a:p>
              <a:pPr algn="ctr"/>
              <a:r>
                <a:rPr lang="en-US" sz="1400" b="1">
                  <a:solidFill>
                    <a:schemeClr val="accent2"/>
                  </a:solidFill>
                </a:rPr>
                <a:t>Logic</a:t>
              </a:r>
            </a:p>
          </p:txBody>
        </p:sp>
        <p:sp>
          <p:nvSpPr>
            <p:cNvPr id="2056" name="AutoShape 8"/>
            <p:cNvSpPr>
              <a:spLocks noChangeArrowheads="1"/>
            </p:cNvSpPr>
            <p:nvPr/>
          </p:nvSpPr>
          <p:spPr bwMode="auto">
            <a:xfrm>
              <a:off x="3235" y="1608"/>
              <a:ext cx="312" cy="144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rgbClr val="33CC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8" name="AutoShape 10"/>
            <p:cNvSpPr>
              <a:spLocks noChangeArrowheads="1"/>
            </p:cNvSpPr>
            <p:nvPr/>
          </p:nvSpPr>
          <p:spPr bwMode="auto">
            <a:xfrm>
              <a:off x="1765" y="1608"/>
              <a:ext cx="312" cy="144"/>
            </a:xfrm>
            <a:prstGeom prst="rightArrow">
              <a:avLst>
                <a:gd name="adj1" fmla="val 50000"/>
                <a:gd name="adj2" fmla="val 54167"/>
              </a:avLst>
            </a:prstGeom>
            <a:solidFill>
              <a:srgbClr val="0099CC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9" name="Text Box 11"/>
            <p:cNvSpPr txBox="1">
              <a:spLocks noChangeArrowheads="1"/>
            </p:cNvSpPr>
            <p:nvPr/>
          </p:nvSpPr>
          <p:spPr bwMode="auto">
            <a:xfrm>
              <a:off x="720" y="1584"/>
              <a:ext cx="955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 b="1">
                  <a:solidFill>
                    <a:schemeClr val="tx2"/>
                  </a:solidFill>
                </a:rPr>
                <a:t>logic_inputs(t)</a:t>
              </a:r>
            </a:p>
          </p:txBody>
        </p:sp>
        <p:sp>
          <p:nvSpPr>
            <p:cNvPr id="2060" name="Text Box 12"/>
            <p:cNvSpPr txBox="1">
              <a:spLocks noChangeArrowheads="1"/>
            </p:cNvSpPr>
            <p:nvPr/>
          </p:nvSpPr>
          <p:spPr bwMode="auto">
            <a:xfrm>
              <a:off x="3648" y="1584"/>
              <a:ext cx="1037" cy="19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 b="1">
                  <a:solidFill>
                    <a:schemeClr val="tx2"/>
                  </a:solidFill>
                </a:rPr>
                <a:t>logic_outputs(t)</a:t>
              </a:r>
            </a:p>
          </p:txBody>
        </p:sp>
      </p:grpSp>
      <p:sp>
        <p:nvSpPr>
          <p:cNvPr id="11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46304" y="6324600"/>
            <a:ext cx="310896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 of Combinational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many ways to  describe combinational logic with  the Verilog HDL, but some are not supported by  synthesis tools.</a:t>
            </a:r>
          </a:p>
          <a:p>
            <a:r>
              <a:rPr lang="en-US" dirty="0"/>
              <a:t>Synthesizable combinational logic can be described  by </a:t>
            </a:r>
          </a:p>
          <a:p>
            <a:pPr lvl="1"/>
            <a:r>
              <a:rPr lang="en-US" dirty="0"/>
              <a:t>a netlist of structural primitives.  </a:t>
            </a:r>
          </a:p>
          <a:p>
            <a:pPr lvl="1"/>
            <a:r>
              <a:rPr lang="en-US" dirty="0"/>
              <a:t>a set of continuous-assignment statements,</a:t>
            </a:r>
          </a:p>
          <a:p>
            <a:pPr lvl="1"/>
            <a:r>
              <a:rPr lang="en-US" dirty="0"/>
              <a:t>a level-sensitive behavior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671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Netlist of primitives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715000"/>
            <a:ext cx="8610600" cy="990600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dirty="0"/>
              <a:t>schematic for a netlist of primitives and the circuit synthesized from the netlist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22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19200"/>
            <a:ext cx="3733800" cy="3000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169272"/>
            <a:ext cx="3395663" cy="16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099" y="1184030"/>
            <a:ext cx="3968051" cy="283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6525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Continuous Assignment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23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46" y="1750434"/>
            <a:ext cx="7357754" cy="21050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4334957"/>
            <a:ext cx="2992752" cy="229444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286000" y="2743200"/>
            <a:ext cx="5029200" cy="685800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18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Procedural Assignment with always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1676400"/>
          </a:xfrm>
        </p:spPr>
        <p:txBody>
          <a:bodyPr>
            <a:normAutofit/>
          </a:bodyPr>
          <a:lstStyle/>
          <a:p>
            <a:r>
              <a:rPr lang="en-US" dirty="0"/>
              <a:t>Procedural assignment allows an alternative, often higher-level, behavioral description of combinational logic</a:t>
            </a:r>
          </a:p>
          <a:p>
            <a:r>
              <a:rPr lang="en-US" dirty="0"/>
              <a:t>Supports richer, C-like control structures such as if, for, while,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24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2784764"/>
            <a:ext cx="5936291" cy="32350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447800" y="4419600"/>
            <a:ext cx="2667000" cy="685800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3429000"/>
            <a:ext cx="22860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9590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Mix-and-Match 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610600" cy="2133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Procedural and continuous assignments can (and often do) co-exist within a module</a:t>
            </a:r>
          </a:p>
          <a:p>
            <a:r>
              <a:rPr lang="en-US" dirty="0"/>
              <a:t>Procedural assignments update the value of reg. The value will remain unchanged till procedural assignment updates the variable. </a:t>
            </a:r>
          </a:p>
          <a:p>
            <a:r>
              <a:rPr lang="en-US" dirty="0"/>
              <a:t>This is the main difference with continuous assignments in which the right hand expression is constantly placed on the left-side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25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581400"/>
            <a:ext cx="5683250" cy="304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725" y="3657600"/>
            <a:ext cx="2286000" cy="1752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600200" y="5181600"/>
            <a:ext cx="4664074" cy="644236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057399" y="5832764"/>
            <a:ext cx="5835651" cy="644236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264274" y="3664528"/>
            <a:ext cx="974726" cy="2161308"/>
          </a:xfrm>
          <a:prstGeom prst="rect">
            <a:avLst/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239000" y="4495800"/>
            <a:ext cx="654051" cy="1336964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832378" y="5999202"/>
            <a:ext cx="25875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continuous assignments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8816" y="5391972"/>
            <a:ext cx="2562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procedural assignments</a:t>
            </a:r>
          </a:p>
        </p:txBody>
      </p:sp>
    </p:spTree>
    <p:extLst>
      <p:ext uri="{BB962C8B-B14F-4D97-AF65-F5344CB8AC3E}">
        <p14:creationId xmlns:p14="http://schemas.microsoft.com/office/powerpoint/2010/main" val="2837651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Combinational Circuits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1495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2209800"/>
            <a:ext cx="7705725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762000" y="33528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always @ (a or b or c)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      z= (a &amp; b) | c;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Combinational Circuits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1524000"/>
          </a:xfrm>
        </p:spPr>
        <p:txBody>
          <a:bodyPr/>
          <a:lstStyle/>
          <a:p>
            <a:r>
              <a:rPr lang="en-US" dirty="0"/>
              <a:t>If a, b, c, and out are 2-bit vectors [1:0], then the above assign statement will translate to two identical circuits for each bit</a:t>
            </a:r>
          </a:p>
        </p:txBody>
      </p:sp>
      <p:pic>
        <p:nvPicPr>
          <p:cNvPr id="1515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2971800"/>
            <a:ext cx="5051348" cy="290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If</a:t>
            </a:r>
            <a:r>
              <a:rPr lang="en-US" dirty="0"/>
              <a:t> statement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990600"/>
          </a:xfrm>
        </p:spPr>
        <p:txBody>
          <a:bodyPr/>
          <a:lstStyle/>
          <a:p>
            <a:r>
              <a:rPr lang="en-US" dirty="0"/>
              <a:t>If there is a multiplexer in the library, then use it</a:t>
            </a:r>
          </a:p>
          <a:p>
            <a:r>
              <a:rPr lang="en-US" dirty="0"/>
              <a:t>Otherwise, use simple gates</a:t>
            </a:r>
          </a:p>
        </p:txBody>
      </p:sp>
      <p:pic>
        <p:nvPicPr>
          <p:cNvPr id="1505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2667000"/>
            <a:ext cx="8291513" cy="234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Tri-state Gates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62000" y="2057400"/>
            <a:ext cx="2743200" cy="32004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000" dirty="0"/>
              <a:t>module test(out, i1, i2);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output out;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input i1, i2;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</a:t>
            </a:r>
            <a:r>
              <a:rPr lang="en-US" sz="2000" dirty="0" err="1"/>
              <a:t>reg</a:t>
            </a:r>
            <a:r>
              <a:rPr lang="en-US" sz="2000" dirty="0"/>
              <a:t> out;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always @(i1 or i2)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if (i1)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    out = 1'bz;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else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		    out = i2;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err="1"/>
              <a:t>endmodule</a:t>
            </a:r>
            <a:endParaRPr lang="en-US" sz="2000" dirty="0"/>
          </a:p>
          <a:p>
            <a:pPr>
              <a:spcBef>
                <a:spcPts val="0"/>
              </a:spcBef>
              <a:buNone/>
            </a:pPr>
            <a:endParaRPr lang="en-US" sz="2000" dirty="0"/>
          </a:p>
        </p:txBody>
      </p:sp>
      <p:pic>
        <p:nvPicPr>
          <p:cNvPr id="1525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86200" y="2895600"/>
            <a:ext cx="4924425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Combinational Circuits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2438400"/>
          </a:xfrm>
        </p:spPr>
        <p:txBody>
          <a:bodyPr/>
          <a:lstStyle/>
          <a:p>
            <a:r>
              <a:rPr lang="en-US" dirty="0"/>
              <a:t>Example:  4-bit adder:</a:t>
            </a:r>
          </a:p>
          <a:p>
            <a:pPr lvl="1"/>
            <a:r>
              <a:rPr lang="en-US" dirty="0"/>
              <a:t>Used FA blocks if there is in the library</a:t>
            </a:r>
          </a:p>
          <a:p>
            <a:pPr lvl="1"/>
            <a:r>
              <a:rPr lang="en-US" dirty="0"/>
              <a:t>Otherwise use gates to build it</a:t>
            </a:r>
          </a:p>
        </p:txBody>
      </p:sp>
      <p:pic>
        <p:nvPicPr>
          <p:cNvPr id="1536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5334000"/>
            <a:ext cx="4876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33400" y="3226475"/>
            <a:ext cx="2362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module test(out, i1, i2);</a:t>
            </a:r>
          </a:p>
          <a:p>
            <a:r>
              <a:rPr lang="en-US" dirty="0"/>
              <a:t>   output [3:0] out;</a:t>
            </a:r>
          </a:p>
          <a:p>
            <a:r>
              <a:rPr lang="en-US" dirty="0"/>
              <a:t>   input [3:0] i1, i2;</a:t>
            </a:r>
          </a:p>
          <a:p>
            <a:r>
              <a:rPr lang="en-US" dirty="0"/>
              <a:t>   </a:t>
            </a:r>
            <a:r>
              <a:rPr lang="en-US" dirty="0" err="1"/>
              <a:t>reg</a:t>
            </a:r>
            <a:r>
              <a:rPr lang="en-US" dirty="0"/>
              <a:t> [3:0] out;</a:t>
            </a:r>
          </a:p>
          <a:p>
            <a:r>
              <a:rPr lang="en-US" dirty="0"/>
              <a:t>   always @(i1 or i2)</a:t>
            </a:r>
          </a:p>
          <a:p>
            <a:r>
              <a:rPr lang="en-US" dirty="0"/>
              <a:t>     out = i1 + i2;</a:t>
            </a:r>
          </a:p>
          <a:p>
            <a:r>
              <a:rPr lang="en-US" dirty="0" err="1"/>
              <a:t>enddmodule</a:t>
            </a:r>
            <a:endParaRPr lang="en-US" dirty="0"/>
          </a:p>
        </p:txBody>
      </p:sp>
      <p:pic>
        <p:nvPicPr>
          <p:cNvPr id="15360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62400" y="3048000"/>
            <a:ext cx="4676775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case</a:t>
            </a:r>
            <a:r>
              <a:rPr lang="en-US" dirty="0"/>
              <a:t> Statement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4876800" y="2667000"/>
            <a:ext cx="3284538" cy="2689225"/>
            <a:chOff x="2983" y="1641"/>
            <a:chExt cx="2308" cy="1890"/>
          </a:xfrm>
        </p:grpSpPr>
        <p:sp>
          <p:nvSpPr>
            <p:cNvPr id="7" name="Freeform 5" descr="Dark vertical"/>
            <p:cNvSpPr>
              <a:spLocks/>
            </p:cNvSpPr>
            <p:nvPr/>
          </p:nvSpPr>
          <p:spPr bwMode="auto">
            <a:xfrm>
              <a:off x="3909" y="1641"/>
              <a:ext cx="434" cy="12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34" y="310"/>
                </a:cxn>
                <a:cxn ang="0">
                  <a:pos x="434" y="886"/>
                </a:cxn>
                <a:cxn ang="0">
                  <a:pos x="0" y="1246"/>
                </a:cxn>
                <a:cxn ang="0">
                  <a:pos x="0" y="0"/>
                </a:cxn>
              </a:cxnLst>
              <a:rect l="0" t="0" r="r" b="b"/>
              <a:pathLst>
                <a:path w="434" h="1246">
                  <a:moveTo>
                    <a:pt x="0" y="0"/>
                  </a:moveTo>
                  <a:lnTo>
                    <a:pt x="434" y="310"/>
                  </a:lnTo>
                  <a:lnTo>
                    <a:pt x="434" y="886"/>
                  </a:lnTo>
                  <a:lnTo>
                    <a:pt x="0" y="1246"/>
                  </a:lnTo>
                  <a:lnTo>
                    <a:pt x="0" y="0"/>
                  </a:lnTo>
                  <a:close/>
                </a:path>
              </a:pathLst>
            </a:custGeom>
            <a:pattFill prst="dkVert">
              <a:fgClr>
                <a:srgbClr val="FFFF99"/>
              </a:fgClr>
              <a:bgClr>
                <a:schemeClr val="bg1"/>
              </a:bgClr>
            </a:pattFill>
            <a:ln w="254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V="1">
              <a:off x="4149" y="2697"/>
              <a:ext cx="0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3843" y="3273"/>
              <a:ext cx="678" cy="25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/>
                <a:t>sel[1:0]</a:t>
              </a: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3525" y="1881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525" y="2137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3525" y="2393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3525" y="2649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4341" y="2229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2987" y="1767"/>
              <a:ext cx="570" cy="25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/>
                <a:t>a[3:0]</a:t>
              </a: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4726" y="2121"/>
              <a:ext cx="565" cy="25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/>
                <a:t>y[3:0]</a:t>
              </a: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2983" y="2016"/>
              <a:ext cx="575" cy="25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/>
                <a:t>b[3:0]</a:t>
              </a: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2998" y="2277"/>
              <a:ext cx="558" cy="25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/>
                <a:t>c[3:0]</a:t>
              </a:r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2983" y="2532"/>
              <a:ext cx="575" cy="25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/>
                <a:t>d[3:0]</a:t>
              </a:r>
            </a:p>
          </p:txBody>
        </p:sp>
      </p:grpSp>
      <p:sp>
        <p:nvSpPr>
          <p:cNvPr id="20" name="Rectangle 27"/>
          <p:cNvSpPr txBox="1">
            <a:spLocks noChangeArrowheads="1"/>
          </p:cNvSpPr>
          <p:nvPr/>
        </p:nvSpPr>
        <p:spPr>
          <a:xfrm>
            <a:off x="0" y="1600200"/>
            <a:ext cx="4876800" cy="5546725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76300" marR="0" lvl="1" indent="-419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module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mux_4bits (y, a, b, c, d,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</a:t>
            </a:r>
          </a:p>
          <a:p>
            <a:pPr marL="876300" marR="0" lvl="1" indent="-419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[3:0] a, b, c, d;</a:t>
            </a:r>
          </a:p>
          <a:p>
            <a:pPr marL="876300" marR="0" lvl="1" indent="-419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input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[1:0]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76300" marR="0" lvl="1" indent="-419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output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[3:0] y;</a:t>
            </a:r>
          </a:p>
          <a:p>
            <a:pPr marL="876300" marR="0" lvl="1" indent="-419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reg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[3:0] y;</a:t>
            </a:r>
          </a:p>
          <a:p>
            <a:pPr marL="876300" marR="0" lvl="1" indent="-419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always @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or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or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or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876300" marR="0" lvl="1" indent="-419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case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876300" marR="0" lvl="1" indent="-419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0: y = a;</a:t>
            </a:r>
          </a:p>
          <a:p>
            <a:pPr marL="876300" marR="0" lvl="1" indent="-419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1: y = b;</a:t>
            </a:r>
          </a:p>
          <a:p>
            <a:pPr marL="876300" marR="0" lvl="1" indent="-419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2: y = c;</a:t>
            </a:r>
          </a:p>
          <a:p>
            <a:pPr marL="876300" marR="0" lvl="1" indent="-419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3: y = d;</a:t>
            </a:r>
          </a:p>
          <a:p>
            <a:pPr marL="876300" marR="0" lvl="1" indent="-419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default: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 = 4'bx;</a:t>
            </a:r>
          </a:p>
          <a:p>
            <a:pPr marL="876300" marR="0" lvl="1" indent="-419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endcase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99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76300" marR="0" lvl="1" indent="-419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endmodule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case</a:t>
            </a:r>
            <a:r>
              <a:rPr lang="en-US" dirty="0"/>
              <a:t> Statement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1546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5200" y="2362200"/>
            <a:ext cx="5334000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838200" y="1524000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module test(out, i1, i2, i3);</a:t>
            </a:r>
          </a:p>
          <a:p>
            <a:r>
              <a:rPr lang="en-US" dirty="0"/>
              <a:t>  output out;</a:t>
            </a:r>
          </a:p>
          <a:p>
            <a:r>
              <a:rPr lang="en-US" dirty="0"/>
              <a:t>   input [1:0] i1;</a:t>
            </a:r>
          </a:p>
          <a:p>
            <a:r>
              <a:rPr lang="en-US" dirty="0"/>
              <a:t>   input i2, i3;</a:t>
            </a:r>
          </a:p>
          <a:p>
            <a:r>
              <a:rPr lang="en-US" dirty="0"/>
              <a:t>   </a:t>
            </a:r>
            <a:r>
              <a:rPr lang="en-US" dirty="0" err="1"/>
              <a:t>reg</a:t>
            </a:r>
            <a:r>
              <a:rPr lang="en-US" dirty="0"/>
              <a:t> out;</a:t>
            </a:r>
          </a:p>
          <a:p>
            <a:r>
              <a:rPr lang="en-US" dirty="0"/>
              <a:t>   always @(i1 or i2 or i3)</a:t>
            </a:r>
          </a:p>
          <a:p>
            <a:r>
              <a:rPr lang="en-US" dirty="0"/>
              <a:t>      case(i1)</a:t>
            </a:r>
          </a:p>
          <a:p>
            <a:r>
              <a:rPr lang="en-US" dirty="0"/>
              <a:t>         2'b00:out = i2 + i3;</a:t>
            </a:r>
          </a:p>
          <a:p>
            <a:r>
              <a:rPr lang="en-US" dirty="0"/>
              <a:t>         2'b01:out = i2 -i3;</a:t>
            </a:r>
          </a:p>
          <a:p>
            <a:r>
              <a:rPr lang="en-US" dirty="0"/>
              <a:t>         2'b10:out = i2 &amp; i3;</a:t>
            </a:r>
          </a:p>
          <a:p>
            <a:r>
              <a:rPr lang="en-US" dirty="0"/>
              <a:t>         2'b11:out = i2 ^ i3;</a:t>
            </a:r>
          </a:p>
          <a:p>
            <a:r>
              <a:rPr lang="en-US" dirty="0"/>
              <a:t>      </a:t>
            </a:r>
            <a:r>
              <a:rPr lang="en-US" dirty="0" err="1"/>
              <a:t>endcase</a:t>
            </a:r>
            <a:endParaRPr lang="en-US" dirty="0"/>
          </a:p>
          <a:p>
            <a:r>
              <a:rPr lang="en-US" dirty="0" err="1"/>
              <a:t>endmodule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loop</a:t>
            </a:r>
            <a:r>
              <a:rPr lang="en-US" dirty="0"/>
              <a:t> Statements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81000" y="2209800"/>
            <a:ext cx="4038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/>
              </a:rPr>
              <a:t>module test(out, i1, i2);</a:t>
            </a:r>
          </a:p>
          <a:p>
            <a:r>
              <a:rPr lang="en-US" dirty="0">
                <a:latin typeface="Courier New"/>
              </a:rPr>
              <a:t> output out;</a:t>
            </a:r>
          </a:p>
          <a:p>
            <a:r>
              <a:rPr lang="en-US" dirty="0">
                <a:latin typeface="Courier New"/>
              </a:rPr>
              <a:t> input [1:0] i1;</a:t>
            </a:r>
          </a:p>
          <a:p>
            <a:r>
              <a:rPr lang="en-US" dirty="0">
                <a:latin typeface="Courier New"/>
              </a:rPr>
              <a:t> input [1:0] i2;</a:t>
            </a:r>
          </a:p>
          <a:p>
            <a:r>
              <a:rPr lang="en-US" dirty="0">
                <a:latin typeface="Courier New"/>
              </a:rPr>
              <a:t> </a:t>
            </a:r>
            <a:r>
              <a:rPr lang="en-US" dirty="0" err="1">
                <a:latin typeface="Courier New"/>
              </a:rPr>
              <a:t>reg</a:t>
            </a:r>
            <a:r>
              <a:rPr lang="en-US" dirty="0">
                <a:latin typeface="Courier New"/>
              </a:rPr>
              <a:t> [1:0] out;</a:t>
            </a:r>
          </a:p>
          <a:p>
            <a:r>
              <a:rPr lang="en-US" dirty="0">
                <a:latin typeface="Courier New"/>
              </a:rPr>
              <a:t> integer k;</a:t>
            </a:r>
          </a:p>
          <a:p>
            <a:r>
              <a:rPr lang="en-US" dirty="0">
                <a:latin typeface="Courier New"/>
              </a:rPr>
              <a:t> always @(i1 or i2)</a:t>
            </a:r>
          </a:p>
          <a:p>
            <a:r>
              <a:rPr lang="en-US" dirty="0">
                <a:latin typeface="Courier New"/>
              </a:rPr>
              <a:t>   for(k=0; k&lt;2; k=k+1)</a:t>
            </a:r>
          </a:p>
          <a:p>
            <a:r>
              <a:rPr lang="en-US" dirty="0">
                <a:latin typeface="Courier New"/>
              </a:rPr>
              <a:t>     out[k] = i1[k] &amp; i2[k];</a:t>
            </a:r>
          </a:p>
          <a:p>
            <a:r>
              <a:rPr lang="en-US" dirty="0" err="1">
                <a:latin typeface="Courier New"/>
              </a:rPr>
              <a:t>endmodule</a:t>
            </a:r>
            <a:endParaRPr lang="en-US" sz="1050" dirty="0">
              <a:latin typeface="Courier New"/>
            </a:endParaRPr>
          </a:p>
        </p:txBody>
      </p:sp>
      <p:pic>
        <p:nvPicPr>
          <p:cNvPr id="1556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0" y="2743200"/>
            <a:ext cx="4905375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905000" y="5334000"/>
            <a:ext cx="6324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Loop replicates the hardware</a:t>
            </a:r>
          </a:p>
          <a:p>
            <a:r>
              <a:rPr lang="en-US" sz="2400" dirty="0"/>
              <a:t>The loop boundaries must be known at synthesis time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1066800"/>
          </a:xfrm>
        </p:spPr>
        <p:txBody>
          <a:bodyPr/>
          <a:lstStyle/>
          <a:p>
            <a:r>
              <a:rPr lang="en-US" dirty="0"/>
              <a:t>Nested IF-ELSE might lead to an encoder</a:t>
            </a:r>
          </a:p>
          <a:p>
            <a:pPr lvl="1"/>
            <a:r>
              <a:rPr lang="en-US" dirty="0"/>
              <a:t>Example: 4-to-2 encoder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81400" y="4191000"/>
            <a:ext cx="4381594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33007" y="2709863"/>
            <a:ext cx="3529593" cy="170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644233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Priority Decoder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990600"/>
          </a:xfrm>
        </p:spPr>
        <p:txBody>
          <a:bodyPr/>
          <a:lstStyle/>
          <a:p>
            <a:r>
              <a:rPr lang="en-US" dirty="0"/>
              <a:t>A case statement may result in a priority decoder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2819400"/>
            <a:ext cx="4124325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05400" y="2514600"/>
            <a:ext cx="3324225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175163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 - concatenation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6858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209800"/>
            <a:ext cx="281940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8200" y="2209800"/>
            <a:ext cx="37719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00400" y="4191000"/>
            <a:ext cx="3095625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465762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 - replication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6858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2590800"/>
            <a:ext cx="5710084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068185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Comparator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334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1981200"/>
            <a:ext cx="491744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921315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Optimization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1143000"/>
          </a:xfrm>
        </p:spPr>
        <p:txBody>
          <a:bodyPr/>
          <a:lstStyle/>
          <a:p>
            <a:r>
              <a:rPr lang="en-US" dirty="0"/>
              <a:t>Use parenthesis</a:t>
            </a:r>
          </a:p>
          <a:p>
            <a:r>
              <a:rPr lang="en-US" dirty="0"/>
              <a:t>Most synthesis tools do this optimization</a:t>
            </a:r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2819400"/>
            <a:ext cx="2419350" cy="3438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86400" y="2971800"/>
            <a:ext cx="2363526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189032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Logic optimization- Resource Sharing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828800"/>
            <a:ext cx="2881699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91000" y="1676400"/>
            <a:ext cx="33528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800" y="3886200"/>
            <a:ext cx="30480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191000" y="4648200"/>
            <a:ext cx="457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Resource sharing: Sharing an operator under mutually exclusive conditions.</a:t>
            </a:r>
          </a:p>
        </p:txBody>
      </p:sp>
    </p:spTree>
    <p:extLst>
      <p:ext uri="{BB962C8B-B14F-4D97-AF65-F5344CB8AC3E}">
        <p14:creationId xmlns:p14="http://schemas.microsoft.com/office/powerpoint/2010/main" val="38042311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Synthesis: Sequential Logic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dirty="0"/>
              <a:t>General Rule: A variable will be synthesized as a flip-flop when its value is assigned synchronously with an edge of a signal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Logic- Flip-Flop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914400"/>
          </a:xfrm>
        </p:spPr>
        <p:txBody>
          <a:bodyPr/>
          <a:lstStyle/>
          <a:p>
            <a:r>
              <a:rPr lang="en-US" dirty="0"/>
              <a:t>A simple FF</a:t>
            </a:r>
          </a:p>
        </p:txBody>
      </p:sp>
      <p:pic>
        <p:nvPicPr>
          <p:cNvPr id="1576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276600"/>
            <a:ext cx="403860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76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0" y="3124200"/>
            <a:ext cx="2828925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Logic- Flip-Flop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1587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828800"/>
            <a:ext cx="7772400" cy="1931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87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4191000"/>
            <a:ext cx="7929563" cy="203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Registered Combinational Logic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Combinational logic that is included in a synchronous behavior will be synthesized </a:t>
            </a:r>
            <a:r>
              <a:rPr lang="en-US" sz="2500" dirty="0"/>
              <a:t>with registered output.</a:t>
            </a:r>
          </a:p>
          <a:p>
            <a:pPr>
              <a:lnSpc>
                <a:spcPct val="90000"/>
              </a:lnSpc>
            </a:pPr>
            <a:r>
              <a:rPr lang="en-US" sz="2500" dirty="0"/>
              <a:t>Example: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700" b="1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600" b="1" dirty="0"/>
              <a:t>	module </a:t>
            </a:r>
            <a:r>
              <a:rPr lang="en-US" sz="1600" dirty="0" err="1"/>
              <a:t>mux_reg</a:t>
            </a:r>
            <a:r>
              <a:rPr lang="en-US" sz="1600" dirty="0"/>
              <a:t> (a, b, c, d, y, select, clock);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600" b="1" dirty="0"/>
              <a:t>  </a:t>
            </a:r>
            <a:r>
              <a:rPr lang="en-US" sz="1600" b="1" dirty="0">
                <a:solidFill>
                  <a:schemeClr val="accent2"/>
                </a:solidFill>
              </a:rPr>
              <a:t>input</a:t>
            </a:r>
            <a:r>
              <a:rPr lang="en-US" sz="1600" b="1" dirty="0"/>
              <a:t> </a:t>
            </a:r>
            <a:r>
              <a:rPr lang="en-US" sz="1600" dirty="0"/>
              <a:t>[7:0] a, b, c, d;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600" b="1" dirty="0"/>
              <a:t>  </a:t>
            </a:r>
            <a:r>
              <a:rPr lang="en-US" sz="1600" b="1" dirty="0">
                <a:solidFill>
                  <a:schemeClr val="accent2"/>
                </a:solidFill>
              </a:rPr>
              <a:t>output</a:t>
            </a:r>
            <a:r>
              <a:rPr lang="en-US" sz="1600" b="1" dirty="0"/>
              <a:t> </a:t>
            </a:r>
            <a:r>
              <a:rPr lang="en-US" sz="1600" dirty="0"/>
              <a:t>[7:0] y;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600" b="1" dirty="0"/>
              <a:t>  </a:t>
            </a:r>
            <a:r>
              <a:rPr lang="en-US" sz="1600" b="1" dirty="0">
                <a:solidFill>
                  <a:schemeClr val="accent2"/>
                </a:solidFill>
              </a:rPr>
              <a:t>input</a:t>
            </a:r>
            <a:r>
              <a:rPr lang="en-US" sz="1600" b="1" dirty="0"/>
              <a:t> </a:t>
            </a:r>
            <a:r>
              <a:rPr lang="en-US" sz="1600" dirty="0"/>
              <a:t>[1:0] select;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600" b="1" dirty="0"/>
              <a:t>  </a:t>
            </a:r>
            <a:r>
              <a:rPr lang="en-US" sz="1600" b="1" dirty="0" err="1">
                <a:solidFill>
                  <a:srgbClr val="FF3300"/>
                </a:solidFill>
              </a:rPr>
              <a:t>reg</a:t>
            </a:r>
            <a:r>
              <a:rPr lang="en-US" sz="1600" b="1" dirty="0"/>
              <a:t> </a:t>
            </a:r>
            <a:r>
              <a:rPr lang="en-US" sz="1600" dirty="0"/>
              <a:t>[7:0] y;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600" b="1" dirty="0"/>
              <a:t>  </a:t>
            </a:r>
            <a:r>
              <a:rPr lang="en-US" sz="1600" b="1" dirty="0">
                <a:solidFill>
                  <a:srgbClr val="0099CC"/>
                </a:solidFill>
              </a:rPr>
              <a:t>always @</a:t>
            </a:r>
            <a:r>
              <a:rPr lang="en-US" sz="1600" b="1" dirty="0"/>
              <a:t> </a:t>
            </a:r>
            <a:r>
              <a:rPr lang="en-US" sz="1600" dirty="0"/>
              <a:t>(</a:t>
            </a:r>
            <a:r>
              <a:rPr lang="en-US" sz="1600" b="1" dirty="0" err="1"/>
              <a:t>posedge</a:t>
            </a:r>
            <a:r>
              <a:rPr lang="en-US" sz="1600" b="1" dirty="0"/>
              <a:t> </a:t>
            </a:r>
            <a:r>
              <a:rPr lang="en-US" sz="1600" dirty="0"/>
              <a:t>clock)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600" b="1" dirty="0"/>
              <a:t>    </a:t>
            </a:r>
            <a:r>
              <a:rPr lang="en-US" sz="1600" b="1" dirty="0">
                <a:solidFill>
                  <a:srgbClr val="009900"/>
                </a:solidFill>
              </a:rPr>
              <a:t>case</a:t>
            </a:r>
            <a:r>
              <a:rPr lang="en-US" sz="1600" b="1" dirty="0"/>
              <a:t> </a:t>
            </a:r>
            <a:r>
              <a:rPr lang="en-US" sz="1600" dirty="0"/>
              <a:t>(select)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/>
              <a:t>      0: y &lt;= a; // non-blocking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/>
              <a:t>      1: y &lt;= b; // same result with =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/>
              <a:t>      2: y &lt;= c;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600" dirty="0"/>
              <a:t>      3: y &lt;= d;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600" b="1" dirty="0"/>
              <a:t>     </a:t>
            </a:r>
            <a:r>
              <a:rPr lang="en-US" sz="1600" dirty="0"/>
              <a:t> default</a:t>
            </a:r>
            <a:r>
              <a:rPr lang="en-US" sz="1600" b="1" dirty="0"/>
              <a:t> </a:t>
            </a:r>
            <a:r>
              <a:rPr lang="en-US" sz="1600" dirty="0"/>
              <a:t>y &lt;= 8'bx;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600" b="1" dirty="0"/>
              <a:t>   </a:t>
            </a:r>
            <a:r>
              <a:rPr lang="en-US" sz="1600" b="1" dirty="0" err="1">
                <a:solidFill>
                  <a:srgbClr val="009900"/>
                </a:solidFill>
              </a:rPr>
              <a:t>endcase</a:t>
            </a:r>
            <a:endParaRPr lang="en-US" sz="1600" b="1" dirty="0">
              <a:solidFill>
                <a:srgbClr val="009900"/>
              </a:solidFill>
            </a:endParaRP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600" b="1" dirty="0" err="1"/>
              <a:t>endmodule</a:t>
            </a:r>
            <a:endParaRPr lang="en-US" sz="1600" b="1" dirty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5800" y="3429000"/>
            <a:ext cx="3962400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46304" y="6324600"/>
            <a:ext cx="310896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Logic- latch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22860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If Q were simply a combinational function of D: combinational logic</a:t>
            </a:r>
          </a:p>
          <a:p>
            <a:r>
              <a:rPr lang="en-US" dirty="0"/>
              <a:t>But are times when the always block executes but Q isn’t assigned (e.g., when G = 0)</a:t>
            </a:r>
          </a:p>
          <a:p>
            <a:r>
              <a:rPr lang="en-US" dirty="0"/>
              <a:t>The synthesizer has to arrange to remember the value of “old” value Q even if D is changing</a:t>
            </a:r>
          </a:p>
          <a:p>
            <a:pPr>
              <a:buNone/>
            </a:pPr>
            <a:r>
              <a:rPr lang="en-US" dirty="0"/>
              <a:t> → it will infer the need for a storage element: latch</a:t>
            </a:r>
          </a:p>
          <a:p>
            <a:endParaRPr lang="en-US" dirty="0"/>
          </a:p>
        </p:txBody>
      </p:sp>
      <p:pic>
        <p:nvPicPr>
          <p:cNvPr id="1566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3829050"/>
            <a:ext cx="3429000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66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00" y="4114800"/>
            <a:ext cx="272415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Unwanted Latches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8600" y="1758077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/>
              </a:rPr>
              <a:t>module test(out, i1, i2);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output out;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input i1;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input i2;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en-US" dirty="0" err="1">
                <a:solidFill>
                  <a:srgbClr val="000000"/>
                </a:solidFill>
                <a:latin typeface="Courier New"/>
              </a:rPr>
              <a:t>reg</a:t>
            </a:r>
            <a:r>
              <a:rPr lang="en-US" dirty="0">
                <a:solidFill>
                  <a:srgbClr val="000000"/>
                </a:solidFill>
                <a:latin typeface="Courier New"/>
              </a:rPr>
              <a:t> out;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always @(i1 or i2)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if(i1)</a:t>
            </a:r>
          </a:p>
          <a:p>
            <a:r>
              <a:rPr lang="en-US" dirty="0">
                <a:solidFill>
                  <a:srgbClr val="000000"/>
                </a:solidFill>
                <a:latin typeface="Courier New"/>
              </a:rPr>
              <a:t>     out = i2;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/>
              </a:rPr>
              <a:t>endmodule</a:t>
            </a:r>
            <a:endParaRPr lang="en-US" dirty="0">
              <a:solidFill>
                <a:srgbClr val="000000"/>
              </a:solidFill>
              <a:latin typeface="Courier New"/>
            </a:endParaRPr>
          </a:p>
        </p:txBody>
      </p:sp>
      <p:pic>
        <p:nvPicPr>
          <p:cNvPr id="15974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4495800"/>
            <a:ext cx="8134350" cy="2067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419600" y="1905000"/>
            <a:ext cx="3810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Latches in this case maybe unwanted</a:t>
            </a:r>
          </a:p>
          <a:p>
            <a:pPr lvl="1">
              <a:buFont typeface="Arial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We used combinational coding rules but a memory element is used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dirty="0"/>
              <a:t>Unwanted Latches (cont.)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Unintentional latches also result from incomplete case statement</a:t>
            </a:r>
          </a:p>
          <a:p>
            <a:pPr>
              <a:lnSpc>
                <a:spcPct val="90000"/>
              </a:lnSpc>
            </a:pPr>
            <a:r>
              <a:rPr lang="en-US" dirty="0"/>
              <a:t>Example: case statement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b="1" dirty="0">
                <a:solidFill>
                  <a:srgbClr val="0099CC"/>
                </a:solidFill>
              </a:rPr>
              <a:t>always @</a:t>
            </a:r>
            <a:r>
              <a:rPr lang="en-US" b="1" dirty="0"/>
              <a:t> (</a:t>
            </a:r>
            <a:r>
              <a:rPr lang="en-US" dirty="0" err="1"/>
              <a:t>sel_a</a:t>
            </a:r>
            <a:r>
              <a:rPr lang="en-US" dirty="0"/>
              <a:t> </a:t>
            </a:r>
            <a:r>
              <a:rPr lang="en-US" b="1" dirty="0">
                <a:solidFill>
                  <a:srgbClr val="CC9900"/>
                </a:solidFill>
              </a:rPr>
              <a:t>or</a:t>
            </a:r>
            <a:r>
              <a:rPr lang="en-US" b="1" dirty="0"/>
              <a:t> </a:t>
            </a:r>
            <a:r>
              <a:rPr lang="en-US" dirty="0" err="1"/>
              <a:t>sel_b</a:t>
            </a:r>
            <a:r>
              <a:rPr lang="en-US" dirty="0"/>
              <a:t> </a:t>
            </a:r>
            <a:r>
              <a:rPr lang="en-US" b="1" dirty="0">
                <a:solidFill>
                  <a:srgbClr val="CC9900"/>
                </a:solidFill>
              </a:rPr>
              <a:t>or</a:t>
            </a:r>
            <a:r>
              <a:rPr lang="en-US" b="1" dirty="0"/>
              <a:t> </a:t>
            </a:r>
            <a:r>
              <a:rPr lang="en-US" dirty="0" err="1"/>
              <a:t>data_a</a:t>
            </a:r>
            <a:r>
              <a:rPr lang="en-US" dirty="0"/>
              <a:t> </a:t>
            </a:r>
            <a:r>
              <a:rPr lang="en-US" b="1" dirty="0">
                <a:solidFill>
                  <a:srgbClr val="CC9900"/>
                </a:solidFill>
              </a:rPr>
              <a:t>or</a:t>
            </a:r>
            <a:r>
              <a:rPr lang="en-US" b="1" dirty="0"/>
              <a:t> </a:t>
            </a:r>
            <a:r>
              <a:rPr lang="en-US" dirty="0" err="1"/>
              <a:t>data_b</a:t>
            </a:r>
            <a:r>
              <a:rPr lang="en-US" dirty="0"/>
              <a:t>)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b="1" dirty="0"/>
              <a:t>   </a:t>
            </a:r>
            <a:r>
              <a:rPr lang="en-US" b="1" dirty="0">
                <a:solidFill>
                  <a:srgbClr val="009900"/>
                </a:solidFill>
              </a:rPr>
              <a:t>case</a:t>
            </a:r>
            <a:r>
              <a:rPr lang="en-US" b="1" dirty="0"/>
              <a:t> </a:t>
            </a:r>
            <a:r>
              <a:rPr lang="en-US" dirty="0"/>
              <a:t>({</a:t>
            </a:r>
            <a:r>
              <a:rPr lang="en-US" dirty="0" err="1"/>
              <a:t>sel_a</a:t>
            </a:r>
            <a:r>
              <a:rPr lang="en-US" dirty="0"/>
              <a:t>, </a:t>
            </a:r>
            <a:r>
              <a:rPr lang="en-US" dirty="0" err="1"/>
              <a:t>sel_b</a:t>
            </a:r>
            <a:r>
              <a:rPr lang="en-US" dirty="0"/>
              <a:t>})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dirty="0"/>
              <a:t>     2'b10: </a:t>
            </a:r>
            <a:r>
              <a:rPr lang="en-US" dirty="0" err="1"/>
              <a:t>y_out</a:t>
            </a:r>
            <a:r>
              <a:rPr lang="en-US" dirty="0"/>
              <a:t> = </a:t>
            </a:r>
            <a:r>
              <a:rPr lang="en-US" dirty="0" err="1"/>
              <a:t>data_a</a:t>
            </a:r>
            <a:r>
              <a:rPr lang="en-US" dirty="0"/>
              <a:t>;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dirty="0"/>
              <a:t>     2'b01: </a:t>
            </a:r>
            <a:r>
              <a:rPr lang="en-US" dirty="0" err="1"/>
              <a:t>y_out</a:t>
            </a:r>
            <a:r>
              <a:rPr lang="en-US" dirty="0"/>
              <a:t> = </a:t>
            </a:r>
            <a:r>
              <a:rPr lang="en-US" dirty="0" err="1"/>
              <a:t>data_b</a:t>
            </a:r>
            <a:r>
              <a:rPr lang="en-US" dirty="0"/>
              <a:t>;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b="1" dirty="0"/>
              <a:t>   </a:t>
            </a:r>
            <a:r>
              <a:rPr lang="en-US" b="1" dirty="0" err="1">
                <a:solidFill>
                  <a:srgbClr val="009900"/>
                </a:solidFill>
              </a:rPr>
              <a:t>endcase</a:t>
            </a:r>
            <a:endParaRPr lang="en-US" dirty="0">
              <a:solidFill>
                <a:srgbClr val="009900"/>
              </a:solidFill>
            </a:endParaRP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dirty="0">
                <a:latin typeface="Arial" charset="0"/>
              </a:rPr>
              <a:t>  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i="1" dirty="0">
              <a:solidFill>
                <a:srgbClr val="006600"/>
              </a:solidFill>
              <a:latin typeface="Arial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dirty="0"/>
              <a:t>The latch is enabled by the "event or" of the cases under which assignment is explicitly made. e.g. ({</a:t>
            </a:r>
            <a:r>
              <a:rPr lang="en-US" dirty="0" err="1"/>
              <a:t>sel_a</a:t>
            </a:r>
            <a:r>
              <a:rPr lang="en-US" dirty="0"/>
              <a:t>, </a:t>
            </a:r>
            <a:r>
              <a:rPr lang="en-US" dirty="0" err="1"/>
              <a:t>sel_b</a:t>
            </a:r>
            <a:r>
              <a:rPr lang="en-US" dirty="0"/>
              <a:t>} == 2'b10) or ({</a:t>
            </a:r>
            <a:r>
              <a:rPr lang="en-US" dirty="0" err="1"/>
              <a:t>sel_a</a:t>
            </a:r>
            <a:r>
              <a:rPr lang="en-US" dirty="0"/>
              <a:t>, </a:t>
            </a:r>
            <a:r>
              <a:rPr lang="en-US" dirty="0" err="1"/>
              <a:t>sel_b</a:t>
            </a:r>
            <a:r>
              <a:rPr lang="en-US" dirty="0"/>
              <a:t>} == 2'b01)</a:t>
            </a: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2819400"/>
            <a:ext cx="3933825" cy="1914525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46304" y="6324600"/>
            <a:ext cx="310896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/>
              <a:t>Unwanted Latches (cont.)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Example: if .. else statement</a:t>
            </a:r>
          </a:p>
          <a:p>
            <a:pPr lvl="1">
              <a:buFont typeface="Wingdings" pitchFamily="2" charset="2"/>
              <a:buNone/>
            </a:pPr>
            <a:r>
              <a:rPr lang="en-US" b="1">
                <a:solidFill>
                  <a:srgbClr val="0099CC"/>
                </a:solidFill>
              </a:rPr>
              <a:t>always @</a:t>
            </a:r>
            <a:r>
              <a:rPr lang="en-US" b="1"/>
              <a:t> (</a:t>
            </a:r>
            <a:r>
              <a:rPr lang="en-US"/>
              <a:t>sel_a </a:t>
            </a:r>
            <a:r>
              <a:rPr lang="en-US" b="1">
                <a:solidFill>
                  <a:srgbClr val="CC9900"/>
                </a:solidFill>
              </a:rPr>
              <a:t>or</a:t>
            </a:r>
            <a:r>
              <a:rPr lang="en-US" b="1"/>
              <a:t> </a:t>
            </a:r>
            <a:r>
              <a:rPr lang="en-US"/>
              <a:t>sel_b </a:t>
            </a:r>
            <a:r>
              <a:rPr lang="en-US" b="1">
                <a:solidFill>
                  <a:srgbClr val="CC9900"/>
                </a:solidFill>
              </a:rPr>
              <a:t>or</a:t>
            </a:r>
            <a:r>
              <a:rPr lang="en-US" b="1"/>
              <a:t> </a:t>
            </a:r>
            <a:r>
              <a:rPr lang="en-US"/>
              <a:t>data_a </a:t>
            </a:r>
            <a:r>
              <a:rPr lang="en-US" b="1">
                <a:solidFill>
                  <a:srgbClr val="CC9900"/>
                </a:solidFill>
              </a:rPr>
              <a:t>or</a:t>
            </a:r>
            <a:r>
              <a:rPr lang="en-US" b="1"/>
              <a:t> </a:t>
            </a:r>
            <a:r>
              <a:rPr lang="en-US"/>
              <a:t>data_b)</a:t>
            </a:r>
          </a:p>
          <a:p>
            <a:pPr lvl="1">
              <a:buFont typeface="Wingdings" pitchFamily="2" charset="2"/>
              <a:buNone/>
            </a:pPr>
            <a:r>
              <a:rPr lang="en-US" b="1"/>
              <a:t>   </a:t>
            </a:r>
            <a:r>
              <a:rPr lang="en-US" b="1">
                <a:solidFill>
                  <a:srgbClr val="009900"/>
                </a:solidFill>
              </a:rPr>
              <a:t>if</a:t>
            </a:r>
            <a:r>
              <a:rPr lang="en-US" b="1"/>
              <a:t> </a:t>
            </a:r>
            <a:r>
              <a:rPr lang="en-US"/>
              <a:t>({sel_a, sel_b} == 2’b10)</a:t>
            </a:r>
          </a:p>
          <a:p>
            <a:pPr lvl="1">
              <a:buFont typeface="Wingdings" pitchFamily="2" charset="2"/>
              <a:buNone/>
            </a:pPr>
            <a:r>
              <a:rPr lang="en-US"/>
              <a:t>       y_out = data_a;</a:t>
            </a:r>
          </a:p>
          <a:p>
            <a:pPr lvl="1">
              <a:buFont typeface="Wingdings" pitchFamily="2" charset="2"/>
              <a:buNone/>
            </a:pPr>
            <a:r>
              <a:rPr lang="en-US"/>
              <a:t>   </a:t>
            </a:r>
            <a:r>
              <a:rPr lang="en-US" b="1">
                <a:solidFill>
                  <a:srgbClr val="009900"/>
                </a:solidFill>
              </a:rPr>
              <a:t>else if </a:t>
            </a:r>
            <a:r>
              <a:rPr lang="en-US"/>
              <a:t>({sel_a, sel_b} == 2’b01)</a:t>
            </a:r>
            <a:endParaRPr lang="en-US" b="1">
              <a:solidFill>
                <a:srgbClr val="009900"/>
              </a:solidFill>
            </a:endParaRPr>
          </a:p>
          <a:p>
            <a:pPr lvl="1">
              <a:buFont typeface="Wingdings" pitchFamily="2" charset="2"/>
              <a:buNone/>
            </a:pPr>
            <a:r>
              <a:rPr lang="en-US"/>
              <a:t>       y_out = data_b;</a:t>
            </a:r>
            <a:endParaRPr lang="en-US" sz="2000"/>
          </a:p>
        </p:txBody>
      </p:sp>
      <p:pic>
        <p:nvPicPr>
          <p:cNvPr id="1639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4257675"/>
            <a:ext cx="3933825" cy="1914525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46304" y="6324600"/>
            <a:ext cx="310896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dirty="0"/>
              <a:t>Non-blocking Shift Register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000" dirty="0"/>
              <a:t>Use blocking assignments for combinational logic, and non-blocking assignment for sequential logic</a:t>
            </a:r>
          </a:p>
          <a:p>
            <a:r>
              <a:rPr lang="en-US" sz="2000" dirty="0"/>
              <a:t>Example: shift register</a:t>
            </a:r>
          </a:p>
          <a:p>
            <a:endParaRPr lang="en-US" sz="1000" b="1" dirty="0">
              <a:solidFill>
                <a:srgbClr val="0099CC"/>
              </a:solidFill>
            </a:endParaRPr>
          </a:p>
          <a:p>
            <a:pPr lvl="1">
              <a:buFont typeface="Wingdings" pitchFamily="2" charset="2"/>
              <a:buNone/>
            </a:pPr>
            <a:r>
              <a:rPr lang="en-US" sz="1500" b="1" dirty="0">
                <a:solidFill>
                  <a:srgbClr val="0099CC"/>
                </a:solidFill>
              </a:rPr>
              <a:t>always @</a:t>
            </a:r>
            <a:r>
              <a:rPr lang="en-US" sz="1500" b="1" dirty="0"/>
              <a:t> </a:t>
            </a:r>
            <a:r>
              <a:rPr lang="en-US" sz="1500" dirty="0"/>
              <a:t>(</a:t>
            </a:r>
            <a:r>
              <a:rPr lang="en-US" sz="1500" b="1" dirty="0" err="1"/>
              <a:t>posedge</a:t>
            </a:r>
            <a:r>
              <a:rPr lang="en-US" sz="1500" b="1" dirty="0"/>
              <a:t> </a:t>
            </a:r>
            <a:r>
              <a:rPr lang="en-US" sz="1500" dirty="0"/>
              <a:t>clock) </a:t>
            </a:r>
            <a:r>
              <a:rPr lang="en-US" sz="1500" b="1" dirty="0">
                <a:solidFill>
                  <a:srgbClr val="CC9900"/>
                </a:solidFill>
              </a:rPr>
              <a:t>begin</a:t>
            </a:r>
            <a:endParaRPr lang="en-US" sz="1500" dirty="0"/>
          </a:p>
          <a:p>
            <a:pPr lvl="1">
              <a:buFont typeface="Wingdings" pitchFamily="2" charset="2"/>
              <a:buNone/>
            </a:pPr>
            <a:r>
              <a:rPr lang="en-US" sz="1500" b="1" dirty="0"/>
              <a:t>   </a:t>
            </a:r>
            <a:r>
              <a:rPr lang="en-US" sz="1500" b="1" dirty="0">
                <a:solidFill>
                  <a:srgbClr val="FF3300"/>
                </a:solidFill>
              </a:rPr>
              <a:t>if</a:t>
            </a:r>
            <a:r>
              <a:rPr lang="en-US" sz="1500" b="1" dirty="0"/>
              <a:t> </a:t>
            </a:r>
            <a:r>
              <a:rPr lang="en-US" sz="1500" dirty="0"/>
              <a:t>(reset == 1'b1)</a:t>
            </a:r>
            <a:r>
              <a:rPr lang="en-US" sz="1500" b="1" dirty="0"/>
              <a:t>   </a:t>
            </a:r>
            <a:r>
              <a:rPr lang="en-US" sz="1500" b="1" dirty="0">
                <a:solidFill>
                  <a:srgbClr val="CC9900"/>
                </a:solidFill>
              </a:rPr>
              <a:t>begin</a:t>
            </a:r>
          </a:p>
          <a:p>
            <a:pPr lvl="1">
              <a:buFont typeface="Wingdings" pitchFamily="2" charset="2"/>
              <a:buNone/>
            </a:pPr>
            <a:r>
              <a:rPr lang="en-US" sz="1500" dirty="0"/>
              <a:t>     </a:t>
            </a:r>
            <a:r>
              <a:rPr lang="en-US" sz="1500" dirty="0" err="1"/>
              <a:t>reg_a</a:t>
            </a:r>
            <a:r>
              <a:rPr lang="en-US" sz="1500" dirty="0"/>
              <a:t> &lt;= 1'b0;</a:t>
            </a:r>
          </a:p>
          <a:p>
            <a:pPr lvl="1">
              <a:buFont typeface="Wingdings" pitchFamily="2" charset="2"/>
              <a:buNone/>
            </a:pPr>
            <a:r>
              <a:rPr lang="en-US" sz="1500" dirty="0"/>
              <a:t>     </a:t>
            </a:r>
            <a:r>
              <a:rPr lang="en-US" sz="1500" dirty="0" err="1"/>
              <a:t>reg_b</a:t>
            </a:r>
            <a:r>
              <a:rPr lang="en-US" sz="1500" dirty="0"/>
              <a:t> &lt;= 1'b0;</a:t>
            </a:r>
          </a:p>
          <a:p>
            <a:pPr lvl="1">
              <a:buFont typeface="Wingdings" pitchFamily="2" charset="2"/>
              <a:buNone/>
            </a:pPr>
            <a:r>
              <a:rPr lang="en-US" sz="1500" dirty="0"/>
              <a:t>     </a:t>
            </a:r>
            <a:r>
              <a:rPr lang="en-US" sz="1500" dirty="0" err="1"/>
              <a:t>reg_c</a:t>
            </a:r>
            <a:r>
              <a:rPr lang="en-US" sz="1500" dirty="0"/>
              <a:t> &lt;= 1'b0;</a:t>
            </a:r>
          </a:p>
          <a:p>
            <a:pPr lvl="1">
              <a:buFont typeface="Wingdings" pitchFamily="2" charset="2"/>
              <a:buNone/>
            </a:pPr>
            <a:r>
              <a:rPr lang="en-US" sz="1500" dirty="0"/>
              <a:t>     </a:t>
            </a:r>
            <a:r>
              <a:rPr lang="en-US" sz="1500" dirty="0" err="1"/>
              <a:t>reg_d</a:t>
            </a:r>
            <a:r>
              <a:rPr lang="en-US" sz="1500" dirty="0"/>
              <a:t> &lt;= 1'b0;</a:t>
            </a:r>
          </a:p>
          <a:p>
            <a:pPr lvl="1">
              <a:buFont typeface="Wingdings" pitchFamily="2" charset="2"/>
              <a:buNone/>
            </a:pPr>
            <a:r>
              <a:rPr lang="en-US" sz="1500" b="1" dirty="0"/>
              <a:t>   </a:t>
            </a:r>
            <a:r>
              <a:rPr lang="en-US" sz="1500" b="1" dirty="0">
                <a:solidFill>
                  <a:srgbClr val="CC9900"/>
                </a:solidFill>
              </a:rPr>
              <a:t>end</a:t>
            </a:r>
          </a:p>
          <a:p>
            <a:pPr lvl="1">
              <a:buFont typeface="Wingdings" pitchFamily="2" charset="2"/>
              <a:buNone/>
            </a:pPr>
            <a:r>
              <a:rPr lang="en-US" sz="1500" b="1" dirty="0"/>
              <a:t>   </a:t>
            </a:r>
            <a:r>
              <a:rPr lang="en-US" sz="1500" b="1" dirty="0">
                <a:solidFill>
                  <a:srgbClr val="FF3300"/>
                </a:solidFill>
              </a:rPr>
              <a:t>else</a:t>
            </a:r>
            <a:r>
              <a:rPr lang="en-US" sz="1500" b="1" dirty="0"/>
              <a:t> </a:t>
            </a:r>
            <a:r>
              <a:rPr lang="en-US" sz="1500" b="1" dirty="0">
                <a:solidFill>
                  <a:srgbClr val="CC9900"/>
                </a:solidFill>
              </a:rPr>
              <a:t>begin</a:t>
            </a:r>
          </a:p>
          <a:p>
            <a:pPr lvl="1">
              <a:buFont typeface="Wingdings" pitchFamily="2" charset="2"/>
              <a:buNone/>
            </a:pPr>
            <a:r>
              <a:rPr lang="en-US" sz="1500" dirty="0"/>
              <a:t>     </a:t>
            </a:r>
            <a:r>
              <a:rPr lang="en-US" sz="1500" dirty="0" err="1"/>
              <a:t>reg_a</a:t>
            </a:r>
            <a:r>
              <a:rPr lang="en-US" sz="1500" dirty="0"/>
              <a:t> &lt;= </a:t>
            </a:r>
            <a:r>
              <a:rPr lang="en-US" sz="1500" dirty="0" err="1"/>
              <a:t>Shift_in</a:t>
            </a:r>
            <a:r>
              <a:rPr lang="en-US" sz="1500" dirty="0"/>
              <a:t>;</a:t>
            </a:r>
          </a:p>
          <a:p>
            <a:pPr lvl="1">
              <a:buFont typeface="Wingdings" pitchFamily="2" charset="2"/>
              <a:buNone/>
            </a:pPr>
            <a:r>
              <a:rPr lang="en-US" sz="1500" dirty="0"/>
              <a:t>     </a:t>
            </a:r>
            <a:r>
              <a:rPr lang="en-US" sz="1500" dirty="0" err="1"/>
              <a:t>reg_b</a:t>
            </a:r>
            <a:r>
              <a:rPr lang="en-US" sz="1500" dirty="0"/>
              <a:t> &lt;= </a:t>
            </a:r>
            <a:r>
              <a:rPr lang="en-US" sz="1500" dirty="0" err="1"/>
              <a:t>reg_a</a:t>
            </a:r>
            <a:r>
              <a:rPr lang="en-US" sz="1500" dirty="0"/>
              <a:t>;</a:t>
            </a:r>
          </a:p>
          <a:p>
            <a:pPr lvl="1">
              <a:buFont typeface="Wingdings" pitchFamily="2" charset="2"/>
              <a:buNone/>
            </a:pPr>
            <a:r>
              <a:rPr lang="en-US" sz="1500" dirty="0"/>
              <a:t>     </a:t>
            </a:r>
            <a:r>
              <a:rPr lang="en-US" sz="1500" dirty="0" err="1"/>
              <a:t>reg_c</a:t>
            </a:r>
            <a:r>
              <a:rPr lang="en-US" sz="1500" dirty="0"/>
              <a:t> &lt;= </a:t>
            </a:r>
            <a:r>
              <a:rPr lang="en-US" sz="1500" dirty="0" err="1"/>
              <a:t>reg_b</a:t>
            </a:r>
            <a:r>
              <a:rPr lang="en-US" sz="1500" dirty="0"/>
              <a:t>;</a:t>
            </a:r>
          </a:p>
          <a:p>
            <a:pPr lvl="1">
              <a:buFont typeface="Wingdings" pitchFamily="2" charset="2"/>
              <a:buNone/>
            </a:pPr>
            <a:r>
              <a:rPr lang="en-US" sz="1500" dirty="0"/>
              <a:t>     </a:t>
            </a:r>
            <a:r>
              <a:rPr lang="en-US" sz="1500" dirty="0" err="1"/>
              <a:t>reg_d</a:t>
            </a:r>
            <a:r>
              <a:rPr lang="en-US" sz="1500" dirty="0"/>
              <a:t> &lt;= </a:t>
            </a:r>
            <a:r>
              <a:rPr lang="en-US" sz="1500" dirty="0" err="1"/>
              <a:t>reg_c</a:t>
            </a:r>
            <a:r>
              <a:rPr lang="en-US" sz="1500" dirty="0"/>
              <a:t>;</a:t>
            </a:r>
          </a:p>
          <a:p>
            <a:pPr lvl="1">
              <a:buFont typeface="Wingdings" pitchFamily="2" charset="2"/>
              <a:buNone/>
            </a:pPr>
            <a:r>
              <a:rPr lang="en-US" sz="1500" b="1" dirty="0"/>
              <a:t>   </a:t>
            </a:r>
            <a:r>
              <a:rPr lang="en-US" sz="1500" b="1" dirty="0">
                <a:solidFill>
                  <a:srgbClr val="CC9900"/>
                </a:solidFill>
              </a:rPr>
              <a:t>end</a:t>
            </a:r>
          </a:p>
          <a:p>
            <a:pPr lvl="1">
              <a:buFont typeface="Wingdings" pitchFamily="2" charset="2"/>
              <a:buNone/>
            </a:pPr>
            <a:r>
              <a:rPr lang="en-US" sz="1500" b="1" dirty="0">
                <a:solidFill>
                  <a:srgbClr val="CC9900"/>
                </a:solidFill>
              </a:rPr>
              <a:t>end</a:t>
            </a:r>
            <a:endParaRPr lang="en-US" sz="1500" dirty="0">
              <a:solidFill>
                <a:srgbClr val="CC9900"/>
              </a:solidFill>
            </a:endParaRPr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4038600"/>
            <a:ext cx="5686425" cy="1628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46304" y="6324600"/>
            <a:ext cx="310896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 Tip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general, the event-control expression of a cyclic behavior describing sequential logic must be synchronized to a single edge (</a:t>
            </a:r>
            <a:r>
              <a:rPr lang="en-US" dirty="0" err="1"/>
              <a:t>posedge</a:t>
            </a:r>
            <a:r>
              <a:rPr lang="en-US" dirty="0"/>
              <a:t> or </a:t>
            </a:r>
            <a:r>
              <a:rPr lang="en-US" dirty="0" err="1"/>
              <a:t>negedge</a:t>
            </a:r>
            <a:r>
              <a:rPr lang="en-US" dirty="0"/>
              <a:t>, but not both) of a single clock (synchronizing signal).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0940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C6294-AEF7-421F-88D2-53EEB4B9D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Clock, Reset, Combinational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470BA-D5ED-4CEC-8952-E5F128BA1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4DA1AE-E16F-4CBD-A7FE-CBEAEA701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52" y="1555589"/>
            <a:ext cx="7740098" cy="436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9339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E9E0E-0A2B-4750-A435-19841BED6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Combinational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B0BAF-5BA8-4F44-895E-600F63620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22334B-AC58-4FAE-8AD2-B48B13321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23" y="1662899"/>
            <a:ext cx="7678955" cy="397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7751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1326</TotalTime>
  <Words>2332</Words>
  <Application>Microsoft Office PowerPoint</Application>
  <PresentationFormat>On-screen Show (4:3)</PresentationFormat>
  <Paragraphs>447</Paragraphs>
  <Slides>52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3" baseType="lpstr">
      <vt:lpstr>Arial</vt:lpstr>
      <vt:lpstr>Calibri</vt:lpstr>
      <vt:lpstr>Courier New</vt:lpstr>
      <vt:lpstr>Franklin Gothic Book</vt:lpstr>
      <vt:lpstr>Georgia</vt:lpstr>
      <vt:lpstr>Perpetua</vt:lpstr>
      <vt:lpstr>Times New Roman</vt:lpstr>
      <vt:lpstr>Wingdings</vt:lpstr>
      <vt:lpstr>Wingdings 2</vt:lpstr>
      <vt:lpstr>Equity</vt:lpstr>
      <vt:lpstr>Visio</vt:lpstr>
      <vt:lpstr>Verilog Synthesis</vt:lpstr>
      <vt:lpstr>Verilog Synthesis </vt:lpstr>
      <vt:lpstr>Logic synthesis</vt:lpstr>
      <vt:lpstr>Logic Synthesis </vt:lpstr>
      <vt:lpstr>Synthesis- Partitioning</vt:lpstr>
      <vt:lpstr>Placement: Select CLBs</vt:lpstr>
      <vt:lpstr>Routing: Select path</vt:lpstr>
      <vt:lpstr>Configuration Bitstream</vt:lpstr>
      <vt:lpstr>Digital Design Flow - ASIC</vt:lpstr>
      <vt:lpstr>Digital Design Flow - Synthesis</vt:lpstr>
      <vt:lpstr>Synthesis is Constraint-Driven</vt:lpstr>
      <vt:lpstr>Synthesis tool: (RTL &amp; Logic Synthesis)</vt:lpstr>
      <vt:lpstr>Commercial Synthesis Tools</vt:lpstr>
      <vt:lpstr>Logic Synthesis</vt:lpstr>
      <vt:lpstr>Verilog Lower Abstraction Levels</vt:lpstr>
      <vt:lpstr>Synthesis basics</vt:lpstr>
      <vt:lpstr>Synthesizable Constructs</vt:lpstr>
      <vt:lpstr>Non-Synthesizable Constructs</vt:lpstr>
      <vt:lpstr>Behavioral Synthesis</vt:lpstr>
      <vt:lpstr>Synthesis: Combinational Logic</vt:lpstr>
      <vt:lpstr>Synthesis of Combinational Logic</vt:lpstr>
      <vt:lpstr>Netlist of primitives</vt:lpstr>
      <vt:lpstr>Continuous Assignment</vt:lpstr>
      <vt:lpstr>Procedural Assignment with always</vt:lpstr>
      <vt:lpstr>Mix-and-Match Assignments</vt:lpstr>
      <vt:lpstr>Combinational Circuits </vt:lpstr>
      <vt:lpstr>Combinational Circuits </vt:lpstr>
      <vt:lpstr>If statement</vt:lpstr>
      <vt:lpstr>Tri-state Gates</vt:lpstr>
      <vt:lpstr>Combinational Circuits</vt:lpstr>
      <vt:lpstr>case Statement </vt:lpstr>
      <vt:lpstr>case Statement </vt:lpstr>
      <vt:lpstr>loop Statements</vt:lpstr>
      <vt:lpstr>Encoder</vt:lpstr>
      <vt:lpstr>Priority Decoder</vt:lpstr>
      <vt:lpstr>Bus - concatenation</vt:lpstr>
      <vt:lpstr>Bus - replication</vt:lpstr>
      <vt:lpstr>Comparator </vt:lpstr>
      <vt:lpstr>Logic Optimization</vt:lpstr>
      <vt:lpstr>Logic optimization- Resource Sharing</vt:lpstr>
      <vt:lpstr>Synthesis: Sequential Logic</vt:lpstr>
      <vt:lpstr>Sequential Logic- Flip-Flop </vt:lpstr>
      <vt:lpstr>Sequential Logic- Flip-Flop</vt:lpstr>
      <vt:lpstr>Registered Combinational Logic</vt:lpstr>
      <vt:lpstr>Sequential Logic- latch</vt:lpstr>
      <vt:lpstr>Unwanted Latches</vt:lpstr>
      <vt:lpstr>Unwanted Latches (cont.)</vt:lpstr>
      <vt:lpstr>Unwanted Latches (cont.)</vt:lpstr>
      <vt:lpstr>Non-blocking Shift Register</vt:lpstr>
      <vt:lpstr>Synthesis Tip</vt:lpstr>
      <vt:lpstr>Clock, Reset, Combinational Feedback</vt:lpstr>
      <vt:lpstr>Avoid Combinational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Statements in Verilog</dc:title>
  <dc:creator>mehdi</dc:creator>
  <cp:lastModifiedBy>user</cp:lastModifiedBy>
  <cp:revision>211</cp:revision>
  <dcterms:created xsi:type="dcterms:W3CDTF">2011-11-11T14:48:38Z</dcterms:created>
  <dcterms:modified xsi:type="dcterms:W3CDTF">2025-01-15T06:53:37Z</dcterms:modified>
</cp:coreProperties>
</file>