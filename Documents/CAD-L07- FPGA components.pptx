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notesSlides/notesSlide24.xml" ContentType="application/vnd.openxmlformats-officedocument.presentationml.notesSlide+xml"/>
  <Override PartName="/ppt/tags/tag1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7"/>
  </p:notesMasterIdLst>
  <p:sldIdLst>
    <p:sldId id="267" r:id="rId2"/>
    <p:sldId id="420" r:id="rId3"/>
    <p:sldId id="475" r:id="rId4"/>
    <p:sldId id="403" r:id="rId5"/>
    <p:sldId id="408" r:id="rId6"/>
    <p:sldId id="404" r:id="rId7"/>
    <p:sldId id="405" r:id="rId8"/>
    <p:sldId id="406" r:id="rId9"/>
    <p:sldId id="407" r:id="rId10"/>
    <p:sldId id="472" r:id="rId11"/>
    <p:sldId id="476" r:id="rId12"/>
    <p:sldId id="473" r:id="rId13"/>
    <p:sldId id="409" r:id="rId14"/>
    <p:sldId id="411" r:id="rId15"/>
    <p:sldId id="412" r:id="rId16"/>
    <p:sldId id="477" r:id="rId17"/>
    <p:sldId id="413" r:id="rId18"/>
    <p:sldId id="470" r:id="rId19"/>
    <p:sldId id="478" r:id="rId20"/>
    <p:sldId id="414" r:id="rId21"/>
    <p:sldId id="479" r:id="rId22"/>
    <p:sldId id="415" r:id="rId23"/>
    <p:sldId id="416" r:id="rId24"/>
    <p:sldId id="481" r:id="rId25"/>
    <p:sldId id="482" r:id="rId26"/>
    <p:sldId id="483" r:id="rId27"/>
    <p:sldId id="484" r:id="rId28"/>
    <p:sldId id="485" r:id="rId29"/>
    <p:sldId id="486" r:id="rId30"/>
    <p:sldId id="480" r:id="rId31"/>
    <p:sldId id="469" r:id="rId32"/>
    <p:sldId id="447" r:id="rId33"/>
    <p:sldId id="446" r:id="rId34"/>
    <p:sldId id="444" r:id="rId35"/>
    <p:sldId id="445" r:id="rId36"/>
    <p:sldId id="442" r:id="rId37"/>
    <p:sldId id="443" r:id="rId38"/>
    <p:sldId id="422" r:id="rId39"/>
    <p:sldId id="488" r:id="rId40"/>
    <p:sldId id="489" r:id="rId41"/>
    <p:sldId id="424" r:id="rId42"/>
    <p:sldId id="434" r:id="rId43"/>
    <p:sldId id="490" r:id="rId44"/>
    <p:sldId id="492" r:id="rId45"/>
    <p:sldId id="494" r:id="rId46"/>
  </p:sldIdLst>
  <p:sldSz cx="9144000" cy="6858000" type="screen4x3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26" autoAdjust="0"/>
    <p:restoredTop sz="99833" autoAdjust="0"/>
  </p:normalViewPr>
  <p:slideViewPr>
    <p:cSldViewPr>
      <p:cViewPr varScale="1">
        <p:scale>
          <a:sx n="70" d="100"/>
          <a:sy n="70" d="100"/>
        </p:scale>
        <p:origin x="1332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30" y="8178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DEC18981-EEB1-4932-9AC6-85149CA2396C}" type="datetimeFigureOut">
              <a:rPr lang="en-US" smtClean="0"/>
              <a:pPr/>
              <a:t>12/12/2020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vert="horz" lIns="96661" tIns="48331" rIns="96661" bIns="48331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EFDE67EC-7E65-4C49-9A16-F37A27B22E1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21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3" Type="http://schemas.openxmlformats.org/officeDocument/2006/relationships/slide" Target="../slides/slide42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4CA39B-6811-4A09-B2EF-CF371A139D97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DE67EC-7E65-4C49-9A16-F37A27B22E15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DE67EC-7E65-4C49-9A16-F37A27B22E1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4316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DE67EC-7E65-4C49-9A16-F37A27B22E15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DE67EC-7E65-4C49-9A16-F37A27B22E15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DE67EC-7E65-4C49-9A16-F37A27B22E15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DE67EC-7E65-4C49-9A16-F37A27B22E15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DE67EC-7E65-4C49-9A16-F37A27B22E15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DE67EC-7E65-4C49-9A16-F37A27B22E15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4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7" name="Rectangle 5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4664856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DE67EC-7E65-4C49-9A16-F37A27B22E15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9145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47775" y="709613"/>
            <a:ext cx="4835525" cy="3625850"/>
          </a:xfrm>
          <a:ln/>
        </p:spPr>
      </p:sp>
      <p:sp>
        <p:nvSpPr>
          <p:cNvPr id="148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55849" y="4570731"/>
            <a:ext cx="5417038" cy="4334199"/>
          </a:xfrm>
          <a:noFill/>
          <a:ln/>
        </p:spPr>
        <p:txBody>
          <a:bodyPr lIns="94994" tIns="47498" rIns="94994" bIns="47498"/>
          <a:lstStyle/>
          <a:p>
            <a:endParaRPr lang="en-US" smtClean="0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DE67EC-7E65-4C49-9A16-F37A27B22E15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DE67EC-7E65-4C49-9A16-F37A27B22E15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DE67EC-7E65-4C49-9A16-F37A27B22E15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98048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DE67EC-7E65-4C49-9A16-F37A27B22E15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DE67EC-7E65-4C49-9A16-F37A27B22E15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71135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DE67EC-7E65-4C49-9A16-F37A27B22E15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7F0522B-7632-4900-B53A-A04E61725147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DE67EC-7E65-4C49-9A16-F37A27B22E15}" type="slidenum">
              <a:rPr lang="en-US" smtClean="0"/>
              <a:pPr/>
              <a:t>23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DE67EC-7E65-4C49-9A16-F37A27B22E15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03731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DE67EC-7E65-4C49-9A16-F37A27B22E15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93844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DE67EC-7E65-4C49-9A16-F37A27B22E15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58902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3" name="Rectangle 3"/>
          <p:cNvSpPr>
            <a:spLocks noGrp="1" noChangeArrowheads="1"/>
          </p:cNvSpPr>
          <p:nvPr>
            <p:ph type="body" idx="1"/>
            <p:custDataLst>
              <p:tags r:id="rId1"/>
            </p:custDataLst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mtClean="0"/>
              <a:t>All 7 series families share the same basic building blocks. The mixture and number of these resources varies across families.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76FBE-58CA-438F-A6DB-3322263ECFD5}" type="datetime1">
              <a:rPr lang="en-US" smtClean="0"/>
              <a:pPr/>
              <a:t>12/12/2020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562B3-D0CE-4577-91B6-4E6EE48DB6CD}" type="datetime1">
              <a:rPr lang="en-US" smtClean="0"/>
              <a:pPr/>
              <a:t>12/12/2020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324600"/>
            <a:ext cx="310896" cy="3429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388D0-B408-4B10-B37A-3F71A2746CB1}" type="datetime1">
              <a:rPr lang="en-US" smtClean="0"/>
              <a:pPr/>
              <a:t>12/12/2020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4764F-BEC2-4E6D-9906-EC31044D4B52}" type="datetime1">
              <a:rPr lang="en-US" smtClean="0"/>
              <a:pPr/>
              <a:t>12/12/2020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DB97A-FC40-4EC6-8C5D-1DEE687F844F}" type="datetime1">
              <a:rPr lang="en-US" smtClean="0"/>
              <a:pPr/>
              <a:t>12/12/2020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4D707-1E0D-41A5-A2A9-A1A72EF52D8D}" type="datetime1">
              <a:rPr lang="en-US" smtClean="0"/>
              <a:pPr/>
              <a:t>12/12/2020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17627-038C-47A6-830E-A3BE5E6D3C39}" type="datetime1">
              <a:rPr lang="en-US" smtClean="0"/>
              <a:pPr/>
              <a:t>12/12/2020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D7382-7EFB-4D47-8682-F695F6A7A2DB}" type="datetime1">
              <a:rPr lang="en-US" smtClean="0"/>
              <a:pPr/>
              <a:t>12/12/2020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785C6-1897-4ADC-AFE2-C9D663CD1808}" type="datetime1">
              <a:rPr lang="en-US" smtClean="0"/>
              <a:pPr/>
              <a:t>12/12/2020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39164-FDFC-4B13-8026-D184F725BB3D}" type="datetime1">
              <a:rPr lang="en-US" smtClean="0"/>
              <a:pPr/>
              <a:t>12/12/2020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6CE4E-93C5-4D78-ADA8-970C294EB2A2}" type="datetime1">
              <a:rPr lang="en-US" smtClean="0"/>
              <a:pPr/>
              <a:t>12/12/2020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91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41763"/>
            <a:ext cx="4038600" cy="218916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2005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Verilog HDL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41BF37CF-C1C8-485B-B3E9-995A83C6563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96850"/>
            <a:ext cx="7924800" cy="9874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389063"/>
            <a:ext cx="3886200" cy="4495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89063"/>
            <a:ext cx="3886200" cy="4495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35B29CCD-B764-499B-ACDE-2C081D461DD3}" type="datetime1">
              <a:rPr lang="en-US" smtClean="0"/>
              <a:pPr/>
              <a:t>12/12/2020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2" Type="http://schemas.openxmlformats.org/officeDocument/2006/relationships/tags" Target="../tags/tag2.xml"/><Relationship Id="rId16" Type="http://schemas.openxmlformats.org/officeDocument/2006/relationships/notesSlide" Target="../notesSlides/notesSlide10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slideLayout" Target="../slideLayouts/slideLayout2.xml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2.emf"/><Relationship Id="rId4" Type="http://schemas.openxmlformats.org/officeDocument/2006/relationships/oleObject" Target="../embeddings/oleObject1.bin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15.emf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21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22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23.emf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emf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tags" Target="../tags/tag17.xml"/><Relationship Id="rId7" Type="http://schemas.openxmlformats.org/officeDocument/2006/relationships/image" Target="../media/image39.png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6" Type="http://schemas.openxmlformats.org/officeDocument/2006/relationships/notesSlide" Target="../notesSlides/notesSlide24.xml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18.xml"/><Relationship Id="rId9" Type="http://schemas.openxmlformats.org/officeDocument/2006/relationships/image" Target="../media/image41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dirty="0" smtClean="0"/>
              <a:t>FPGA components</a:t>
            </a:r>
            <a:endParaRPr lang="en-US" sz="4400" dirty="0"/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76200" y="990600"/>
            <a:ext cx="2819400" cy="381000"/>
          </a:xfrm>
          <a:prstGeom prst="rect">
            <a:avLst/>
          </a:prstGeom>
        </p:spPr>
        <p:txBody>
          <a:bodyPr>
            <a:normAutofit fontScale="92500" lnSpcReduction="1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 2"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CE233(CAD), Lecture </a:t>
            </a:r>
            <a:r>
              <a:rPr lang="en-US" sz="2200" dirty="0" smtClean="0">
                <a:solidFill>
                  <a:schemeClr val="tx2"/>
                </a:solidFill>
              </a:rPr>
              <a:t>7</a:t>
            </a: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 2"/>
              <a:buNone/>
              <a:tabLst/>
              <a:defRPr/>
            </a:pP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914400" y="3810000"/>
            <a:ext cx="7162800" cy="16002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 2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Mehdi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Modarressi</a:t>
            </a:r>
            <a:endParaRPr kumimoji="0" lang="en-US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 2"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Department of Electrical and Computer Engineering,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 2"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University of  Tehran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 2"/>
              <a:buNone/>
              <a:tabLst/>
              <a:defRPr/>
            </a:pP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Reading:</a:t>
            </a:r>
          </a:p>
          <a:p>
            <a:pPr lvl="1"/>
            <a:r>
              <a:rPr lang="sv-SE" i="1" dirty="0" smtClean="0"/>
              <a:t>Spartan-3 Generation FPGA User Guide, Xilinx ug331 (v1.8)</a:t>
            </a:r>
          </a:p>
          <a:p>
            <a:pPr lvl="1"/>
            <a:r>
              <a:rPr lang="en-US" dirty="0" smtClean="0"/>
              <a:t>“FPGA Prototyping By VHDL Examples- Xilinx Spartan-3 Version”, Chapter 2</a:t>
            </a:r>
          </a:p>
          <a:p>
            <a:pPr lvl="1"/>
            <a:r>
              <a:rPr lang="en-US" dirty="0" smtClean="0"/>
              <a:t>“The Design Warrior's Guide to FPGAs”, Chapter 4</a:t>
            </a:r>
          </a:p>
          <a:p>
            <a:pPr lvl="1"/>
            <a:endParaRPr lang="sv-SE" i="1" dirty="0" smtClean="0"/>
          </a:p>
          <a:p>
            <a:pPr lvl="1"/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FPGA components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Configurable Logic Blocks (Lecture 5)</a:t>
            </a:r>
          </a:p>
          <a:p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Interconnects (Lecture 6)</a:t>
            </a:r>
          </a:p>
          <a:p>
            <a:r>
              <a:rPr lang="en-US" dirty="0" smtClean="0"/>
              <a:t>Carry-chain</a:t>
            </a:r>
          </a:p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Block RAM</a:t>
            </a:r>
          </a:p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Dedicated multipliers</a:t>
            </a:r>
          </a:p>
          <a:p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Programmable Input Output Blocks (IOB)</a:t>
            </a:r>
          </a:p>
          <a:p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Clock manager</a:t>
            </a:r>
          </a:p>
          <a:p>
            <a:pP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1497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CLB arithmetic logic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2667000"/>
          </a:xfrm>
        </p:spPr>
        <p:txBody>
          <a:bodyPr>
            <a:normAutofit fontScale="92500"/>
          </a:bodyPr>
          <a:lstStyle/>
          <a:p>
            <a:r>
              <a:rPr lang="en-US" dirty="0" smtClean="0"/>
              <a:t>Adder is the base of many arithmetic operations</a:t>
            </a:r>
          </a:p>
          <a:p>
            <a:r>
              <a:rPr lang="en-US" dirty="0" smtClean="0"/>
              <a:t>Special logic in CLBs to implement adder</a:t>
            </a:r>
          </a:p>
          <a:p>
            <a:r>
              <a:rPr lang="en-US" dirty="0" smtClean="0"/>
              <a:t>Adders are traditionally constructed by cascading full adders</a:t>
            </a:r>
          </a:p>
          <a:p>
            <a:r>
              <a:rPr lang="en-US" dirty="0" smtClean="0"/>
              <a:t>Good modularity but long latency due to the serial operation</a:t>
            </a:r>
          </a:p>
          <a:p>
            <a:pPr lvl="1"/>
            <a:r>
              <a:rPr lang="en-US" dirty="0" smtClean="0"/>
              <a:t> Carry must be propagated from the first to the last full adder: the n</a:t>
            </a:r>
            <a:r>
              <a:rPr lang="en-US" baseline="30000" dirty="0" smtClean="0"/>
              <a:t>th.</a:t>
            </a:r>
            <a:r>
              <a:rPr lang="en-US" dirty="0" smtClean="0"/>
              <a:t> adder cannot start until the carry of the n-1</a:t>
            </a:r>
            <a:r>
              <a:rPr lang="en-US" baseline="30000" dirty="0" smtClean="0"/>
              <a:t>th.</a:t>
            </a:r>
            <a:r>
              <a:rPr lang="en-US" dirty="0" smtClean="0"/>
              <a:t> full adder is calculated</a:t>
            </a:r>
          </a:p>
          <a:p>
            <a:endParaRPr lang="en-US" dirty="0"/>
          </a:p>
        </p:txBody>
      </p:sp>
      <p:pic>
        <p:nvPicPr>
          <p:cNvPr id="14131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66800" y="4114800"/>
            <a:ext cx="7279341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Ripple carry adder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914400" y="4267200"/>
            <a:ext cx="7772400" cy="1752600"/>
          </a:xfrm>
        </p:spPr>
        <p:txBody>
          <a:bodyPr/>
          <a:lstStyle/>
          <a:p>
            <a:r>
              <a:rPr lang="en-US" dirty="0" smtClean="0"/>
              <a:t>Critical path in a k-bit ripple carry adder</a:t>
            </a:r>
            <a:endParaRPr lang="en-US" dirty="0"/>
          </a:p>
        </p:txBody>
      </p:sp>
      <p:pic>
        <p:nvPicPr>
          <p:cNvPr id="14541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38200" y="1600200"/>
            <a:ext cx="7181850" cy="266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Rectangle 6"/>
          <p:cNvSpPr/>
          <p:nvPr/>
        </p:nvSpPr>
        <p:spPr>
          <a:xfrm>
            <a:off x="609600" y="6324600"/>
            <a:ext cx="25155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Source: ECE 645, Lecture 3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CLB arithmetic logic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30480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We can predict the carry of each full adder (FA) from its inputs</a:t>
            </a:r>
          </a:p>
          <a:p>
            <a:r>
              <a:rPr lang="en-US" dirty="0" smtClean="0"/>
              <a:t>If a=b=0, no carry will be produced by the FA (regardless of the </a:t>
            </a:r>
            <a:r>
              <a:rPr lang="en-US" dirty="0" err="1" smtClean="0"/>
              <a:t>carry_in</a:t>
            </a:r>
            <a:r>
              <a:rPr lang="en-US" dirty="0" smtClean="0"/>
              <a:t>)</a:t>
            </a:r>
          </a:p>
          <a:p>
            <a:r>
              <a:rPr lang="en-US" dirty="0" smtClean="0"/>
              <a:t>If a=b=1, a carry will be produced by the FA (regardless of the </a:t>
            </a:r>
            <a:r>
              <a:rPr lang="en-US" dirty="0" err="1" smtClean="0"/>
              <a:t>carry_in</a:t>
            </a:r>
            <a:r>
              <a:rPr lang="en-US" dirty="0" smtClean="0"/>
              <a:t>)</a:t>
            </a:r>
          </a:p>
          <a:p>
            <a:r>
              <a:rPr lang="en-US" dirty="0" smtClean="0"/>
              <a:t>If  </a:t>
            </a:r>
            <a:r>
              <a:rPr lang="en-US" dirty="0" err="1" smtClean="0"/>
              <a:t>a≠b</a:t>
            </a:r>
            <a:r>
              <a:rPr lang="en-US" dirty="0" smtClean="0"/>
              <a:t>, the input carry will be propagated to the output</a:t>
            </a:r>
          </a:p>
          <a:p>
            <a:endParaRPr lang="en-US" dirty="0"/>
          </a:p>
        </p:txBody>
      </p:sp>
      <p:pic>
        <p:nvPicPr>
          <p:cNvPr id="142338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38200" y="4343400"/>
            <a:ext cx="7600950" cy="1876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Carry look-ahead adder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533400" y="4648200"/>
            <a:ext cx="2743200" cy="16002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smtClean="0"/>
              <a:t>Full-adder with carry look-ahead Implemented in SPARTAN-3</a:t>
            </a:r>
            <a:endParaRPr lang="en-US" dirty="0"/>
          </a:p>
        </p:txBody>
      </p:sp>
      <p:pic>
        <p:nvPicPr>
          <p:cNvPr id="14336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590800" y="1905000"/>
            <a:ext cx="6334125" cy="1943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Content Placeholder 3"/>
          <p:cNvSpPr txBox="1">
            <a:spLocks/>
          </p:cNvSpPr>
          <p:nvPr/>
        </p:nvSpPr>
        <p:spPr>
          <a:xfrm>
            <a:off x="228600" y="2133600"/>
            <a:ext cx="2743200" cy="160020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 2"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Conventional serial full adder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3219450" y="4114800"/>
            <a:ext cx="5257800" cy="2381250"/>
            <a:chOff x="3219450" y="4114800"/>
            <a:chExt cx="5257800" cy="2381250"/>
          </a:xfrm>
        </p:grpSpPr>
        <p:pic>
          <p:nvPicPr>
            <p:cNvPr id="143362" name="Picture 2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3429000" y="4114800"/>
              <a:ext cx="5048250" cy="2381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59745" name="Picture 1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3219450" y="5124450"/>
              <a:ext cx="361950" cy="4381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0"/>
            <a:ext cx="7772400" cy="1143000"/>
          </a:xfrm>
        </p:spPr>
        <p:txBody>
          <a:bodyPr/>
          <a:lstStyle/>
          <a:p>
            <a:r>
              <a:rPr lang="en-US" dirty="0" smtClean="0"/>
              <a:t>Carry look-ahead adder in SPARTAN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5410200"/>
            <a:ext cx="4495800" cy="1143000"/>
          </a:xfrm>
        </p:spPr>
        <p:txBody>
          <a:bodyPr>
            <a:noAutofit/>
          </a:bodyPr>
          <a:lstStyle/>
          <a:p>
            <a:r>
              <a:rPr lang="en-US" sz="2400" dirty="0" smtClean="0"/>
              <a:t>Adder data-path in one slice</a:t>
            </a:r>
          </a:p>
          <a:p>
            <a:r>
              <a:rPr lang="en-US" sz="2400" dirty="0" smtClean="0"/>
              <a:t>Implements an FA to add two 1-bit inputs A and B</a:t>
            </a:r>
            <a:endParaRPr lang="en-US" sz="2400" dirty="0"/>
          </a:p>
        </p:txBody>
      </p:sp>
      <p:grpSp>
        <p:nvGrpSpPr>
          <p:cNvPr id="13" name="Group 12"/>
          <p:cNvGrpSpPr/>
          <p:nvPr/>
        </p:nvGrpSpPr>
        <p:grpSpPr>
          <a:xfrm>
            <a:off x="457200" y="1143000"/>
            <a:ext cx="8505825" cy="4038600"/>
            <a:chOff x="457200" y="1219200"/>
            <a:chExt cx="8505825" cy="4705350"/>
          </a:xfrm>
        </p:grpSpPr>
        <p:pic>
          <p:nvPicPr>
            <p:cNvPr id="144387" name="Picture 3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457200" y="1219200"/>
              <a:ext cx="8505825" cy="47053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cxnSp>
          <p:nvCxnSpPr>
            <p:cNvPr id="7" name="Straight Connector 6"/>
            <p:cNvCxnSpPr/>
            <p:nvPr/>
          </p:nvCxnSpPr>
          <p:spPr>
            <a:xfrm rot="5400000" flipH="1" flipV="1">
              <a:off x="3428206" y="2590800"/>
              <a:ext cx="915194" cy="794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V="1">
              <a:off x="3886200" y="2133600"/>
              <a:ext cx="609600" cy="794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0" y="5257801"/>
            <a:ext cx="3111436" cy="14097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42672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Adder by Spartan-3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914400" y="1676400"/>
            <a:ext cx="3048000" cy="4572000"/>
          </a:xfrm>
        </p:spPr>
        <p:txBody>
          <a:bodyPr/>
          <a:lstStyle/>
          <a:p>
            <a:r>
              <a:rPr lang="en-US" dirty="0" smtClean="0"/>
              <a:t>8-bit adder using 4 slices of Spartan-3 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609600" y="6324600"/>
            <a:ext cx="25155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Source: ECE 645, Lecture 3</a:t>
            </a:r>
            <a:endParaRPr lang="en-US" dirty="0"/>
          </a:p>
        </p:txBody>
      </p:sp>
      <p:pic>
        <p:nvPicPr>
          <p:cNvPr id="6" name="Picture 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862513" y="107950"/>
            <a:ext cx="3976687" cy="6369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8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Carry Chain in Artix-7</a:t>
            </a:r>
          </a:p>
        </p:txBody>
      </p:sp>
      <p:sp>
        <p:nvSpPr>
          <p:cNvPr id="15363" name="Rectangle 290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4395788" cy="4799013"/>
          </a:xfrm>
        </p:spPr>
        <p:txBody>
          <a:bodyPr>
            <a:normAutofit fontScale="92500"/>
          </a:bodyPr>
          <a:lstStyle/>
          <a:p>
            <a:pPr eaLnBrk="1" hangingPunct="1"/>
            <a:r>
              <a:rPr lang="en-GB" smtClean="0"/>
              <a:t>Carry chain can implement fast arithmetic addition and subtraction </a:t>
            </a:r>
          </a:p>
          <a:p>
            <a:pPr lvl="1" eaLnBrk="1" hangingPunct="1"/>
            <a:r>
              <a:rPr lang="en-GB" smtClean="0"/>
              <a:t>Carry out is propagated vertically through the four LUTs in a slice</a:t>
            </a:r>
          </a:p>
          <a:p>
            <a:pPr lvl="1" eaLnBrk="1" hangingPunct="1"/>
            <a:r>
              <a:rPr lang="en-GB" smtClean="0"/>
              <a:t>The carry chain propagates from one slice to the slice in the same column in the CLB above</a:t>
            </a:r>
          </a:p>
          <a:p>
            <a:pPr eaLnBrk="1" hangingPunct="1"/>
            <a:r>
              <a:rPr lang="en-GB" smtClean="0"/>
              <a:t>Carry look-ahead</a:t>
            </a:r>
          </a:p>
          <a:p>
            <a:pPr lvl="1" eaLnBrk="1" hangingPunct="1"/>
            <a:r>
              <a:rPr lang="en-US" smtClean="0"/>
              <a:t>Combinatorial carry look-ahead over the four LUTs in a slice</a:t>
            </a:r>
          </a:p>
          <a:p>
            <a:pPr lvl="1" eaLnBrk="1" hangingPunct="1"/>
            <a:r>
              <a:rPr lang="en-US" smtClean="0"/>
              <a:t>Implements faster carry cascading from slice to slice</a:t>
            </a:r>
          </a:p>
          <a:p>
            <a:pPr eaLnBrk="1" hangingPunct="1"/>
            <a:endParaRPr lang="en-US" smtClean="0"/>
          </a:p>
        </p:txBody>
      </p:sp>
      <p:sp>
        <p:nvSpPr>
          <p:cNvPr id="15364" name="Rectangle 3"/>
          <p:cNvSpPr>
            <a:spLocks noChangeArrowheads="1"/>
          </p:cNvSpPr>
          <p:nvPr/>
        </p:nvSpPr>
        <p:spPr bwMode="auto">
          <a:xfrm>
            <a:off x="395288" y="1628775"/>
            <a:ext cx="3960812" cy="475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45718" rIns="91436" bIns="45718"/>
          <a:lstStyle/>
          <a:p>
            <a:pPr marL="228600" indent="-228600" algn="l">
              <a:lnSpc>
                <a:spcPct val="110000"/>
              </a:lnSpc>
              <a:spcBef>
                <a:spcPct val="20000"/>
              </a:spcBef>
              <a:buFont typeface="Wingdings" pitchFamily="2" charset="2"/>
              <a:buChar char="§"/>
            </a:pPr>
            <a:endParaRPr lang="en-US" sz="2000">
              <a:latin typeface="Arial Narrow" pitchFamily="34" charset="0"/>
            </a:endParaRPr>
          </a:p>
        </p:txBody>
      </p:sp>
      <p:sp>
        <p:nvSpPr>
          <p:cNvPr id="923653" name="Rectangle 5"/>
          <p:cNvSpPr>
            <a:spLocks noChangeArrowheads="1"/>
          </p:cNvSpPr>
          <p:nvPr/>
        </p:nvSpPr>
        <p:spPr bwMode="ltGray">
          <a:xfrm>
            <a:off x="5048250" y="1731963"/>
            <a:ext cx="3770313" cy="4540250"/>
          </a:xfrm>
          <a:prstGeom prst="rect">
            <a:avLst/>
          </a:prstGeom>
          <a:gradFill rotWithShape="0">
            <a:gsLst>
              <a:gs pos="0">
                <a:srgbClr val="0000CC"/>
              </a:gs>
              <a:gs pos="50000">
                <a:srgbClr val="5C8EFB"/>
              </a:gs>
              <a:gs pos="100000">
                <a:srgbClr val="0000CC"/>
              </a:gs>
            </a:gsLst>
            <a:lin ang="2700000" scaled="1"/>
          </a:gradFill>
          <a:ln w="28575">
            <a:solidFill>
              <a:schemeClr val="bg1"/>
            </a:solidFill>
            <a:miter lim="800000"/>
            <a:headEnd/>
            <a:tailEnd/>
          </a:ln>
          <a:effectLst>
            <a:outerShdw dist="17961" dir="2700000" algn="ctr" rotWithShape="0">
              <a:schemeClr val="tx1"/>
            </a:outerShdw>
          </a:effectLst>
        </p:spPr>
        <p:txBody>
          <a:bodyPr wrap="none" lIns="91425" tIns="45713" rIns="91425" bIns="45713" anchor="ctr"/>
          <a:lstStyle/>
          <a:p>
            <a:pPr>
              <a:defRPr/>
            </a:pPr>
            <a:endParaRPr lang="en-US" sz="2400" noProof="1">
              <a:latin typeface="Times New Roman" pitchFamily="18" charset="0"/>
            </a:endParaRPr>
          </a:p>
        </p:txBody>
      </p:sp>
      <p:sp>
        <p:nvSpPr>
          <p:cNvPr id="15366" name="Line 6"/>
          <p:cNvSpPr>
            <a:spLocks noChangeShapeType="1"/>
          </p:cNvSpPr>
          <p:nvPr/>
        </p:nvSpPr>
        <p:spPr bwMode="auto">
          <a:xfrm>
            <a:off x="6240463" y="2517775"/>
            <a:ext cx="1360487" cy="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5367" name="Line 7"/>
          <p:cNvSpPr>
            <a:spLocks noChangeShapeType="1"/>
          </p:cNvSpPr>
          <p:nvPr/>
        </p:nvSpPr>
        <p:spPr bwMode="auto">
          <a:xfrm>
            <a:off x="6418263" y="2562225"/>
            <a:ext cx="1169987" cy="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5368" name="AutoShape 8"/>
          <p:cNvSpPr>
            <a:spLocks noChangeArrowheads="1"/>
          </p:cNvSpPr>
          <p:nvPr/>
        </p:nvSpPr>
        <p:spPr bwMode="auto">
          <a:xfrm>
            <a:off x="7104063" y="1774825"/>
            <a:ext cx="71437" cy="60325"/>
          </a:xfrm>
          <a:prstGeom prst="triangle">
            <a:avLst>
              <a:gd name="adj" fmla="val 50000"/>
            </a:avLst>
          </a:prstGeom>
          <a:solidFill>
            <a:srgbClr val="FF0000"/>
          </a:solid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5369" name="Line 9"/>
          <p:cNvSpPr>
            <a:spLocks noChangeShapeType="1"/>
          </p:cNvSpPr>
          <p:nvPr/>
        </p:nvSpPr>
        <p:spPr bwMode="auto">
          <a:xfrm>
            <a:off x="7140575" y="2408238"/>
            <a:ext cx="0" cy="69215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5370" name="Line 10"/>
          <p:cNvSpPr>
            <a:spLocks noChangeShapeType="1"/>
          </p:cNvSpPr>
          <p:nvPr/>
        </p:nvSpPr>
        <p:spPr bwMode="auto">
          <a:xfrm flipV="1">
            <a:off x="6416675" y="3452813"/>
            <a:ext cx="1169988" cy="4762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5371" name="Line 11"/>
          <p:cNvSpPr>
            <a:spLocks noChangeShapeType="1"/>
          </p:cNvSpPr>
          <p:nvPr/>
        </p:nvSpPr>
        <p:spPr bwMode="auto">
          <a:xfrm flipV="1">
            <a:off x="6413500" y="3498850"/>
            <a:ext cx="1184275" cy="3175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5372" name="Line 12"/>
          <p:cNvSpPr>
            <a:spLocks noChangeShapeType="1"/>
          </p:cNvSpPr>
          <p:nvPr/>
        </p:nvSpPr>
        <p:spPr bwMode="auto">
          <a:xfrm>
            <a:off x="7131050" y="3344863"/>
            <a:ext cx="0" cy="690562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5373" name="AutoShape 13"/>
          <p:cNvSpPr>
            <a:spLocks noChangeArrowheads="1"/>
          </p:cNvSpPr>
          <p:nvPr/>
        </p:nvSpPr>
        <p:spPr bwMode="auto">
          <a:xfrm rot="5400000" flipV="1">
            <a:off x="6476207" y="3029744"/>
            <a:ext cx="217487" cy="539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188 w 21600"/>
              <a:gd name="T13" fmla="*/ 3188 h 21600"/>
              <a:gd name="T14" fmla="*/ 18412 w 21600"/>
              <a:gd name="T15" fmla="*/ 1841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776" y="21600"/>
                </a:lnTo>
                <a:lnTo>
                  <a:pt x="18824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accent1"/>
          </a:solid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5374" name="Line 14"/>
          <p:cNvSpPr>
            <a:spLocks noChangeShapeType="1"/>
          </p:cNvSpPr>
          <p:nvPr/>
        </p:nvSpPr>
        <p:spPr bwMode="auto">
          <a:xfrm>
            <a:off x="6580188" y="3154363"/>
            <a:ext cx="0" cy="512762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5375" name="Line 15"/>
          <p:cNvSpPr>
            <a:spLocks noChangeShapeType="1"/>
          </p:cNvSpPr>
          <p:nvPr/>
        </p:nvSpPr>
        <p:spPr bwMode="auto">
          <a:xfrm flipH="1">
            <a:off x="5168900" y="3305175"/>
            <a:ext cx="1417638" cy="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5376" name="Line 16"/>
          <p:cNvSpPr>
            <a:spLocks noChangeShapeType="1"/>
          </p:cNvSpPr>
          <p:nvPr/>
        </p:nvSpPr>
        <p:spPr bwMode="auto">
          <a:xfrm>
            <a:off x="6464300" y="3109913"/>
            <a:ext cx="4763" cy="354012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5377" name="Line 17"/>
          <p:cNvSpPr>
            <a:spLocks noChangeShapeType="1"/>
          </p:cNvSpPr>
          <p:nvPr/>
        </p:nvSpPr>
        <p:spPr bwMode="auto">
          <a:xfrm flipH="1">
            <a:off x="6461125" y="3108325"/>
            <a:ext cx="95250" cy="3175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5378" name="Line 18"/>
          <p:cNvSpPr>
            <a:spLocks noChangeShapeType="1"/>
          </p:cNvSpPr>
          <p:nvPr/>
        </p:nvSpPr>
        <p:spPr bwMode="auto">
          <a:xfrm flipH="1">
            <a:off x="6461125" y="3021013"/>
            <a:ext cx="95250" cy="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5379" name="Line 19"/>
          <p:cNvSpPr>
            <a:spLocks noChangeShapeType="1"/>
          </p:cNvSpPr>
          <p:nvPr/>
        </p:nvSpPr>
        <p:spPr bwMode="auto">
          <a:xfrm>
            <a:off x="6464300" y="2516188"/>
            <a:ext cx="4763" cy="50165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5380" name="Line 20"/>
          <p:cNvSpPr>
            <a:spLocks noChangeShapeType="1"/>
          </p:cNvSpPr>
          <p:nvPr/>
        </p:nvSpPr>
        <p:spPr bwMode="auto">
          <a:xfrm flipV="1">
            <a:off x="6575425" y="3657600"/>
            <a:ext cx="1008063" cy="635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5381" name="AutoShape 21"/>
          <p:cNvSpPr>
            <a:spLocks noChangeArrowheads="1"/>
          </p:cNvSpPr>
          <p:nvPr/>
        </p:nvSpPr>
        <p:spPr bwMode="auto">
          <a:xfrm rot="-5400000">
            <a:off x="7475538" y="3054350"/>
            <a:ext cx="311150" cy="8572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188 w 21600"/>
              <a:gd name="T13" fmla="*/ 3188 h 21600"/>
              <a:gd name="T14" fmla="*/ 18412 w 21600"/>
              <a:gd name="T15" fmla="*/ 1841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776" y="21600"/>
                </a:lnTo>
                <a:lnTo>
                  <a:pt x="18824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accent1"/>
          </a:solid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vert="eaVert" wrap="none" lIns="76197" tIns="38098" rIns="76197" bIns="38098" anchor="ctr"/>
          <a:lstStyle/>
          <a:p>
            <a:endParaRPr lang="en-US"/>
          </a:p>
        </p:txBody>
      </p:sp>
      <p:sp>
        <p:nvSpPr>
          <p:cNvPr id="15382" name="Line 22"/>
          <p:cNvSpPr>
            <a:spLocks noChangeShapeType="1"/>
          </p:cNvSpPr>
          <p:nvPr/>
        </p:nvSpPr>
        <p:spPr bwMode="auto">
          <a:xfrm>
            <a:off x="7673975" y="3097213"/>
            <a:ext cx="762000" cy="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5383" name="AutoShape 23"/>
          <p:cNvSpPr>
            <a:spLocks noChangeArrowheads="1"/>
          </p:cNvSpPr>
          <p:nvPr/>
        </p:nvSpPr>
        <p:spPr bwMode="auto">
          <a:xfrm rot="5400000">
            <a:off x="8414544" y="3061494"/>
            <a:ext cx="60325" cy="71437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5384" name="Freeform 24"/>
          <p:cNvSpPr>
            <a:spLocks/>
          </p:cNvSpPr>
          <p:nvPr/>
        </p:nvSpPr>
        <p:spPr bwMode="auto">
          <a:xfrm>
            <a:off x="7437438" y="3111500"/>
            <a:ext cx="161925" cy="430213"/>
          </a:xfrm>
          <a:custGeom>
            <a:avLst/>
            <a:gdLst>
              <a:gd name="T0" fmla="*/ 2147483647 w 36"/>
              <a:gd name="T1" fmla="*/ 2147483647 h 219"/>
              <a:gd name="T2" fmla="*/ 0 w 36"/>
              <a:gd name="T3" fmla="*/ 2147483647 h 219"/>
              <a:gd name="T4" fmla="*/ 0 w 36"/>
              <a:gd name="T5" fmla="*/ 0 h 219"/>
              <a:gd name="T6" fmla="*/ 2147483647 w 36"/>
              <a:gd name="T7" fmla="*/ 0 h 219"/>
              <a:gd name="T8" fmla="*/ 0 60000 65536"/>
              <a:gd name="T9" fmla="*/ 0 60000 65536"/>
              <a:gd name="T10" fmla="*/ 0 60000 65536"/>
              <a:gd name="T11" fmla="*/ 0 60000 65536"/>
              <a:gd name="T12" fmla="*/ 0 w 36"/>
              <a:gd name="T13" fmla="*/ 0 h 219"/>
              <a:gd name="T14" fmla="*/ 36 w 36"/>
              <a:gd name="T15" fmla="*/ 219 h 21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6" h="219">
                <a:moveTo>
                  <a:pt x="36" y="219"/>
                </a:moveTo>
                <a:lnTo>
                  <a:pt x="0" y="219"/>
                </a:lnTo>
                <a:lnTo>
                  <a:pt x="0" y="0"/>
                </a:lnTo>
                <a:lnTo>
                  <a:pt x="33" y="0"/>
                </a:lnTo>
              </a:path>
            </a:pathLst>
          </a:custGeom>
          <a:noFill/>
          <a:ln w="12700" cap="flat" cmpd="sng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5385" name="AutoShape 25"/>
          <p:cNvSpPr>
            <a:spLocks noChangeArrowheads="1"/>
          </p:cNvSpPr>
          <p:nvPr/>
        </p:nvSpPr>
        <p:spPr bwMode="auto">
          <a:xfrm flipV="1">
            <a:off x="7054850" y="3290888"/>
            <a:ext cx="104775" cy="52387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188 w 21600"/>
              <a:gd name="T13" fmla="*/ 3188 h 21600"/>
              <a:gd name="T14" fmla="*/ 18412 w 21600"/>
              <a:gd name="T15" fmla="*/ 1841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776" y="21600"/>
                </a:lnTo>
                <a:lnTo>
                  <a:pt x="18824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FF0000"/>
          </a:solid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5386" name="AutoShape 26"/>
          <p:cNvSpPr>
            <a:spLocks noChangeArrowheads="1"/>
          </p:cNvSpPr>
          <p:nvPr/>
        </p:nvSpPr>
        <p:spPr bwMode="auto">
          <a:xfrm flipV="1">
            <a:off x="7096125" y="3178175"/>
            <a:ext cx="103188" cy="52388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188 w 21600"/>
              <a:gd name="T13" fmla="*/ 3188 h 21600"/>
              <a:gd name="T14" fmla="*/ 18412 w 21600"/>
              <a:gd name="T15" fmla="*/ 1841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776" y="21600"/>
                </a:lnTo>
                <a:lnTo>
                  <a:pt x="18824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FF0000"/>
          </a:solid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5387" name="Line 27"/>
          <p:cNvSpPr>
            <a:spLocks noChangeShapeType="1"/>
          </p:cNvSpPr>
          <p:nvPr/>
        </p:nvSpPr>
        <p:spPr bwMode="auto">
          <a:xfrm flipV="1">
            <a:off x="7108825" y="3232150"/>
            <a:ext cx="0" cy="55563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5388" name="Line 28"/>
          <p:cNvSpPr>
            <a:spLocks noChangeShapeType="1"/>
          </p:cNvSpPr>
          <p:nvPr/>
        </p:nvSpPr>
        <p:spPr bwMode="auto">
          <a:xfrm flipV="1">
            <a:off x="7086600" y="3344863"/>
            <a:ext cx="0" cy="155575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5389" name="Line 29"/>
          <p:cNvSpPr>
            <a:spLocks noChangeShapeType="1"/>
          </p:cNvSpPr>
          <p:nvPr/>
        </p:nvSpPr>
        <p:spPr bwMode="auto">
          <a:xfrm flipV="1">
            <a:off x="7140575" y="2930525"/>
            <a:ext cx="0" cy="244475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5390" name="Line 30"/>
          <p:cNvSpPr>
            <a:spLocks noChangeShapeType="1"/>
          </p:cNvSpPr>
          <p:nvPr/>
        </p:nvSpPr>
        <p:spPr bwMode="auto">
          <a:xfrm flipH="1">
            <a:off x="7135813" y="3024188"/>
            <a:ext cx="444500" cy="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5391" name="AutoShape 31"/>
          <p:cNvSpPr>
            <a:spLocks noChangeArrowheads="1"/>
          </p:cNvSpPr>
          <p:nvPr/>
        </p:nvSpPr>
        <p:spPr bwMode="auto">
          <a:xfrm flipH="1">
            <a:off x="7199313" y="3257550"/>
            <a:ext cx="95250" cy="69850"/>
          </a:xfrm>
          <a:prstGeom prst="flowChartOnlineStorage">
            <a:avLst/>
          </a:prstGeom>
          <a:solidFill>
            <a:schemeClr val="accent1"/>
          </a:solid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5392" name="Line 32"/>
          <p:cNvSpPr>
            <a:spLocks noChangeShapeType="1"/>
          </p:cNvSpPr>
          <p:nvPr/>
        </p:nvSpPr>
        <p:spPr bwMode="auto">
          <a:xfrm>
            <a:off x="7299325" y="3290888"/>
            <a:ext cx="136525" cy="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5393" name="Line 33"/>
          <p:cNvSpPr>
            <a:spLocks noChangeShapeType="1"/>
          </p:cNvSpPr>
          <p:nvPr/>
        </p:nvSpPr>
        <p:spPr bwMode="auto">
          <a:xfrm flipV="1">
            <a:off x="6610350" y="3063875"/>
            <a:ext cx="990600" cy="635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grpSp>
        <p:nvGrpSpPr>
          <p:cNvPr id="15394" name="Group 34"/>
          <p:cNvGrpSpPr>
            <a:grpSpLocks/>
          </p:cNvGrpSpPr>
          <p:nvPr>
            <p:custDataLst>
              <p:tags r:id="rId2"/>
            </p:custDataLst>
          </p:nvPr>
        </p:nvGrpSpPr>
        <p:grpSpPr bwMode="auto">
          <a:xfrm>
            <a:off x="7516813" y="3198813"/>
            <a:ext cx="66675" cy="257175"/>
            <a:chOff x="5481" y="2519"/>
            <a:chExt cx="47" cy="194"/>
          </a:xfrm>
        </p:grpSpPr>
        <p:sp>
          <p:nvSpPr>
            <p:cNvPr id="15640" name="Line 35"/>
            <p:cNvSpPr>
              <a:spLocks noChangeShapeType="1"/>
            </p:cNvSpPr>
            <p:nvPr/>
          </p:nvSpPr>
          <p:spPr bwMode="auto">
            <a:xfrm flipV="1">
              <a:off x="5485" y="2520"/>
              <a:ext cx="0" cy="193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5641" name="Line 36"/>
            <p:cNvSpPr>
              <a:spLocks noChangeShapeType="1"/>
            </p:cNvSpPr>
            <p:nvPr/>
          </p:nvSpPr>
          <p:spPr bwMode="auto">
            <a:xfrm rot="16200000" flipV="1">
              <a:off x="5505" y="2495"/>
              <a:ext cx="0" cy="47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</p:grpSp>
      <p:sp>
        <p:nvSpPr>
          <p:cNvPr id="15395" name="Line 37"/>
          <p:cNvSpPr>
            <a:spLocks noChangeShapeType="1"/>
          </p:cNvSpPr>
          <p:nvPr/>
        </p:nvSpPr>
        <p:spPr bwMode="auto">
          <a:xfrm flipV="1">
            <a:off x="7478713" y="3155950"/>
            <a:ext cx="0" cy="347663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5396" name="Line 38"/>
          <p:cNvSpPr>
            <a:spLocks noChangeShapeType="1"/>
          </p:cNvSpPr>
          <p:nvPr/>
        </p:nvSpPr>
        <p:spPr bwMode="auto">
          <a:xfrm rot="16200000" flipV="1">
            <a:off x="7531100" y="3100388"/>
            <a:ext cx="0" cy="11430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5397" name="Line 39"/>
          <p:cNvSpPr>
            <a:spLocks noChangeShapeType="1"/>
          </p:cNvSpPr>
          <p:nvPr/>
        </p:nvSpPr>
        <p:spPr bwMode="auto">
          <a:xfrm>
            <a:off x="7519988" y="3322638"/>
            <a:ext cx="915987" cy="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5398" name="AutoShape 40"/>
          <p:cNvSpPr>
            <a:spLocks noChangeArrowheads="1"/>
          </p:cNvSpPr>
          <p:nvPr/>
        </p:nvSpPr>
        <p:spPr bwMode="auto">
          <a:xfrm rot="5400000">
            <a:off x="8414544" y="3286919"/>
            <a:ext cx="60325" cy="71437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5399" name="Rectangle 41"/>
          <p:cNvSpPr>
            <a:spLocks noChangeArrowheads="1"/>
          </p:cNvSpPr>
          <p:nvPr/>
        </p:nvSpPr>
        <p:spPr bwMode="auto">
          <a:xfrm>
            <a:off x="7985125" y="3457575"/>
            <a:ext cx="214313" cy="236538"/>
          </a:xfrm>
          <a:prstGeom prst="rect">
            <a:avLst/>
          </a:prstGeom>
          <a:gradFill rotWithShape="1">
            <a:gsLst>
              <a:gs pos="0">
                <a:srgbClr val="FFFFCC"/>
              </a:gs>
              <a:gs pos="100000">
                <a:srgbClr val="76765E"/>
              </a:gs>
            </a:gsLst>
            <a:lin ang="2700000" scaled="1"/>
          </a:grad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5400" name="AutoShape 42"/>
          <p:cNvSpPr>
            <a:spLocks noChangeArrowheads="1"/>
          </p:cNvSpPr>
          <p:nvPr/>
        </p:nvSpPr>
        <p:spPr bwMode="auto">
          <a:xfrm rot="5400000">
            <a:off x="7981950" y="3632200"/>
            <a:ext cx="60325" cy="53975"/>
          </a:xfrm>
          <a:prstGeom prst="triangle">
            <a:avLst>
              <a:gd name="adj" fmla="val 50000"/>
            </a:avLst>
          </a:prstGeom>
          <a:noFill/>
          <a:ln w="12700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5401" name="AutoShape 43"/>
          <p:cNvSpPr>
            <a:spLocks noChangeArrowheads="1"/>
          </p:cNvSpPr>
          <p:nvPr/>
        </p:nvSpPr>
        <p:spPr bwMode="auto">
          <a:xfrm rot="-5400000">
            <a:off x="7474744" y="3509169"/>
            <a:ext cx="312737" cy="8572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188 w 21600"/>
              <a:gd name="T13" fmla="*/ 3188 h 21600"/>
              <a:gd name="T14" fmla="*/ 18412 w 21600"/>
              <a:gd name="T15" fmla="*/ 1841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776" y="21600"/>
                </a:lnTo>
                <a:lnTo>
                  <a:pt x="18824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accent1"/>
          </a:solid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5402" name="Line 44"/>
          <p:cNvSpPr>
            <a:spLocks noChangeShapeType="1"/>
          </p:cNvSpPr>
          <p:nvPr/>
        </p:nvSpPr>
        <p:spPr bwMode="auto">
          <a:xfrm>
            <a:off x="7677150" y="3546475"/>
            <a:ext cx="303213" cy="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5403" name="Line 45"/>
          <p:cNvSpPr>
            <a:spLocks noChangeShapeType="1"/>
          </p:cNvSpPr>
          <p:nvPr/>
        </p:nvSpPr>
        <p:spPr bwMode="auto">
          <a:xfrm>
            <a:off x="8202613" y="3546475"/>
            <a:ext cx="238125" cy="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5404" name="AutoShape 46"/>
          <p:cNvSpPr>
            <a:spLocks noChangeArrowheads="1"/>
          </p:cNvSpPr>
          <p:nvPr/>
        </p:nvSpPr>
        <p:spPr bwMode="auto">
          <a:xfrm rot="5400000">
            <a:off x="8419306" y="3507582"/>
            <a:ext cx="60325" cy="71438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5405" name="Line 47"/>
          <p:cNvSpPr>
            <a:spLocks noChangeShapeType="1"/>
          </p:cNvSpPr>
          <p:nvPr/>
        </p:nvSpPr>
        <p:spPr bwMode="auto">
          <a:xfrm>
            <a:off x="7394575" y="3581400"/>
            <a:ext cx="192088" cy="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5406" name="Line 48"/>
          <p:cNvSpPr>
            <a:spLocks noChangeShapeType="1"/>
          </p:cNvSpPr>
          <p:nvPr/>
        </p:nvSpPr>
        <p:spPr bwMode="auto">
          <a:xfrm flipV="1">
            <a:off x="7399338" y="3022600"/>
            <a:ext cx="0" cy="555625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5407" name="Line 49"/>
          <p:cNvSpPr>
            <a:spLocks noChangeShapeType="1"/>
          </p:cNvSpPr>
          <p:nvPr/>
        </p:nvSpPr>
        <p:spPr bwMode="auto">
          <a:xfrm flipV="1">
            <a:off x="7362825" y="3065463"/>
            <a:ext cx="0" cy="554037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5408" name="Line 50"/>
          <p:cNvSpPr>
            <a:spLocks noChangeShapeType="1"/>
          </p:cNvSpPr>
          <p:nvPr/>
        </p:nvSpPr>
        <p:spPr bwMode="auto">
          <a:xfrm>
            <a:off x="7359650" y="3616325"/>
            <a:ext cx="231775" cy="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5409" name="AutoShape 51"/>
          <p:cNvSpPr>
            <a:spLocks noChangeArrowheads="1"/>
          </p:cNvSpPr>
          <p:nvPr/>
        </p:nvSpPr>
        <p:spPr bwMode="auto">
          <a:xfrm rot="5400000" flipV="1">
            <a:off x="6928644" y="2810669"/>
            <a:ext cx="149225" cy="52387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5050 w 21600"/>
              <a:gd name="T13" fmla="*/ 5050 h 21600"/>
              <a:gd name="T14" fmla="*/ 16550 w 21600"/>
              <a:gd name="T15" fmla="*/ 1655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6499" y="21600"/>
                </a:lnTo>
                <a:lnTo>
                  <a:pt x="15101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FF0000"/>
          </a:solidFill>
          <a:ln w="12700" cap="rnd">
            <a:solidFill>
              <a:schemeClr val="bg1"/>
            </a:solidFill>
            <a:prstDash val="sysDot"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5410" name="Line 52"/>
          <p:cNvSpPr>
            <a:spLocks noChangeShapeType="1"/>
          </p:cNvSpPr>
          <p:nvPr/>
        </p:nvSpPr>
        <p:spPr bwMode="auto">
          <a:xfrm flipV="1">
            <a:off x="6877050" y="2797175"/>
            <a:ext cx="0" cy="69850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5411" name="Line 53"/>
          <p:cNvSpPr>
            <a:spLocks noChangeShapeType="1"/>
          </p:cNvSpPr>
          <p:nvPr/>
        </p:nvSpPr>
        <p:spPr bwMode="auto">
          <a:xfrm flipV="1">
            <a:off x="6908800" y="2887663"/>
            <a:ext cx="0" cy="774700"/>
          </a:xfrm>
          <a:prstGeom prst="line">
            <a:avLst/>
          </a:prstGeom>
          <a:noFill/>
          <a:ln w="12700" cap="rnd">
            <a:solidFill>
              <a:schemeClr val="bg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5412" name="Line 54"/>
          <p:cNvSpPr>
            <a:spLocks noChangeShapeType="1"/>
          </p:cNvSpPr>
          <p:nvPr/>
        </p:nvSpPr>
        <p:spPr bwMode="auto">
          <a:xfrm rot="16200000" flipV="1">
            <a:off x="6923882" y="2751931"/>
            <a:ext cx="0" cy="96837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5413" name="Line 55"/>
          <p:cNvSpPr>
            <a:spLocks noChangeShapeType="1"/>
          </p:cNvSpPr>
          <p:nvPr/>
        </p:nvSpPr>
        <p:spPr bwMode="auto">
          <a:xfrm rot="16200000" flipV="1">
            <a:off x="6944519" y="2845594"/>
            <a:ext cx="0" cy="77788"/>
          </a:xfrm>
          <a:prstGeom prst="line">
            <a:avLst/>
          </a:prstGeom>
          <a:noFill/>
          <a:ln w="12700" cap="rnd">
            <a:solidFill>
              <a:schemeClr val="bg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5414" name="Line 56"/>
          <p:cNvSpPr>
            <a:spLocks noChangeShapeType="1"/>
          </p:cNvSpPr>
          <p:nvPr/>
        </p:nvSpPr>
        <p:spPr bwMode="auto">
          <a:xfrm rot="16200000" flipV="1">
            <a:off x="7283450" y="2576513"/>
            <a:ext cx="0" cy="51435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5415" name="Line 57"/>
          <p:cNvSpPr>
            <a:spLocks noChangeShapeType="1"/>
          </p:cNvSpPr>
          <p:nvPr/>
        </p:nvSpPr>
        <p:spPr bwMode="auto">
          <a:xfrm rot="16200000" flipV="1">
            <a:off x="7560469" y="2947194"/>
            <a:ext cx="0" cy="55562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5416" name="Line 58"/>
          <p:cNvSpPr>
            <a:spLocks noChangeShapeType="1"/>
          </p:cNvSpPr>
          <p:nvPr/>
        </p:nvSpPr>
        <p:spPr bwMode="auto">
          <a:xfrm flipV="1">
            <a:off x="7535863" y="2836863"/>
            <a:ext cx="0" cy="134937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grpSp>
        <p:nvGrpSpPr>
          <p:cNvPr id="15417" name="Group 59"/>
          <p:cNvGrpSpPr>
            <a:grpSpLocks/>
          </p:cNvGrpSpPr>
          <p:nvPr>
            <p:custDataLst>
              <p:tags r:id="rId3"/>
            </p:custDataLst>
          </p:nvPr>
        </p:nvGrpSpPr>
        <p:grpSpPr bwMode="auto">
          <a:xfrm>
            <a:off x="7332663" y="2789238"/>
            <a:ext cx="150812" cy="182562"/>
            <a:chOff x="5234" y="2189"/>
            <a:chExt cx="114" cy="138"/>
          </a:xfrm>
        </p:grpSpPr>
        <p:sp>
          <p:nvSpPr>
            <p:cNvPr id="15638" name="Rectangle 60"/>
            <p:cNvSpPr>
              <a:spLocks noChangeArrowheads="1"/>
            </p:cNvSpPr>
            <p:nvPr/>
          </p:nvSpPr>
          <p:spPr bwMode="auto">
            <a:xfrm>
              <a:off x="5234" y="2189"/>
              <a:ext cx="114" cy="138"/>
            </a:xfrm>
            <a:prstGeom prst="rect">
              <a:avLst/>
            </a:prstGeom>
            <a:gradFill rotWithShape="1">
              <a:gsLst>
                <a:gs pos="0">
                  <a:srgbClr val="FFFFCC"/>
                </a:gs>
                <a:gs pos="100000">
                  <a:srgbClr val="76765E"/>
                </a:gs>
              </a:gsLst>
              <a:lin ang="2700000" scaled="1"/>
            </a:gradFill>
            <a:ln w="12700">
              <a:solidFill>
                <a:schemeClr val="bg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5639" name="AutoShape 61"/>
            <p:cNvSpPr>
              <a:spLocks noChangeArrowheads="1"/>
            </p:cNvSpPr>
            <p:nvPr/>
          </p:nvSpPr>
          <p:spPr bwMode="auto">
            <a:xfrm rot="5400000">
              <a:off x="5229" y="2292"/>
              <a:ext cx="39" cy="27"/>
            </a:xfrm>
            <a:prstGeom prst="triangle">
              <a:avLst>
                <a:gd name="adj" fmla="val 50000"/>
              </a:avLst>
            </a:prstGeom>
            <a:noFill/>
            <a:ln w="12700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15418" name="AutoShape 62"/>
          <p:cNvSpPr>
            <a:spLocks noChangeArrowheads="1"/>
          </p:cNvSpPr>
          <p:nvPr/>
        </p:nvSpPr>
        <p:spPr bwMode="auto">
          <a:xfrm rot="-5400000">
            <a:off x="7474744" y="2115344"/>
            <a:ext cx="312737" cy="8572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188 w 21600"/>
              <a:gd name="T13" fmla="*/ 3188 h 21600"/>
              <a:gd name="T14" fmla="*/ 18412 w 21600"/>
              <a:gd name="T15" fmla="*/ 1841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776" y="21600"/>
                </a:lnTo>
                <a:lnTo>
                  <a:pt x="18824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accent1"/>
          </a:solid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vert="eaVert" wrap="none" lIns="76197" tIns="38098" rIns="76197" bIns="38098" anchor="ctr"/>
          <a:lstStyle/>
          <a:p>
            <a:endParaRPr lang="en-US"/>
          </a:p>
        </p:txBody>
      </p:sp>
      <p:sp>
        <p:nvSpPr>
          <p:cNvPr id="15419" name="Line 63"/>
          <p:cNvSpPr>
            <a:spLocks noChangeShapeType="1"/>
          </p:cNvSpPr>
          <p:nvPr/>
        </p:nvSpPr>
        <p:spPr bwMode="auto">
          <a:xfrm>
            <a:off x="7673975" y="2157413"/>
            <a:ext cx="762000" cy="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5420" name="AutoShape 64"/>
          <p:cNvSpPr>
            <a:spLocks noChangeArrowheads="1"/>
          </p:cNvSpPr>
          <p:nvPr/>
        </p:nvSpPr>
        <p:spPr bwMode="auto">
          <a:xfrm rot="5400000">
            <a:off x="8413750" y="2122488"/>
            <a:ext cx="61913" cy="71437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5421" name="Freeform 65"/>
          <p:cNvSpPr>
            <a:spLocks/>
          </p:cNvSpPr>
          <p:nvPr/>
        </p:nvSpPr>
        <p:spPr bwMode="auto">
          <a:xfrm>
            <a:off x="7437438" y="2173288"/>
            <a:ext cx="161925" cy="428625"/>
          </a:xfrm>
          <a:custGeom>
            <a:avLst/>
            <a:gdLst>
              <a:gd name="T0" fmla="*/ 2147483647 w 36"/>
              <a:gd name="T1" fmla="*/ 2147483647 h 219"/>
              <a:gd name="T2" fmla="*/ 0 w 36"/>
              <a:gd name="T3" fmla="*/ 2147483647 h 219"/>
              <a:gd name="T4" fmla="*/ 0 w 36"/>
              <a:gd name="T5" fmla="*/ 0 h 219"/>
              <a:gd name="T6" fmla="*/ 2147483647 w 36"/>
              <a:gd name="T7" fmla="*/ 0 h 219"/>
              <a:gd name="T8" fmla="*/ 0 60000 65536"/>
              <a:gd name="T9" fmla="*/ 0 60000 65536"/>
              <a:gd name="T10" fmla="*/ 0 60000 65536"/>
              <a:gd name="T11" fmla="*/ 0 60000 65536"/>
              <a:gd name="T12" fmla="*/ 0 w 36"/>
              <a:gd name="T13" fmla="*/ 0 h 219"/>
              <a:gd name="T14" fmla="*/ 36 w 36"/>
              <a:gd name="T15" fmla="*/ 219 h 21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6" h="219">
                <a:moveTo>
                  <a:pt x="36" y="219"/>
                </a:moveTo>
                <a:lnTo>
                  <a:pt x="0" y="219"/>
                </a:lnTo>
                <a:lnTo>
                  <a:pt x="0" y="0"/>
                </a:lnTo>
                <a:lnTo>
                  <a:pt x="33" y="0"/>
                </a:lnTo>
              </a:path>
            </a:pathLst>
          </a:custGeom>
          <a:noFill/>
          <a:ln w="12700" cap="flat" cmpd="sng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5422" name="AutoShape 66"/>
          <p:cNvSpPr>
            <a:spLocks noChangeArrowheads="1"/>
          </p:cNvSpPr>
          <p:nvPr/>
        </p:nvSpPr>
        <p:spPr bwMode="auto">
          <a:xfrm flipV="1">
            <a:off x="7054850" y="2351088"/>
            <a:ext cx="104775" cy="52387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188 w 21600"/>
              <a:gd name="T13" fmla="*/ 3188 h 21600"/>
              <a:gd name="T14" fmla="*/ 18412 w 21600"/>
              <a:gd name="T15" fmla="*/ 1841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776" y="21600"/>
                </a:lnTo>
                <a:lnTo>
                  <a:pt x="18824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FF0000"/>
          </a:solid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5423" name="AutoShape 67"/>
          <p:cNvSpPr>
            <a:spLocks noChangeArrowheads="1"/>
          </p:cNvSpPr>
          <p:nvPr/>
        </p:nvSpPr>
        <p:spPr bwMode="auto">
          <a:xfrm flipV="1">
            <a:off x="7096125" y="2238375"/>
            <a:ext cx="103188" cy="539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188 w 21600"/>
              <a:gd name="T13" fmla="*/ 3188 h 21600"/>
              <a:gd name="T14" fmla="*/ 18412 w 21600"/>
              <a:gd name="T15" fmla="*/ 1841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776" y="21600"/>
                </a:lnTo>
                <a:lnTo>
                  <a:pt x="18824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FF0000"/>
          </a:solid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5424" name="Line 68"/>
          <p:cNvSpPr>
            <a:spLocks noChangeShapeType="1"/>
          </p:cNvSpPr>
          <p:nvPr/>
        </p:nvSpPr>
        <p:spPr bwMode="auto">
          <a:xfrm flipV="1">
            <a:off x="7108825" y="2292350"/>
            <a:ext cx="0" cy="55563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5425" name="Line 69"/>
          <p:cNvSpPr>
            <a:spLocks noChangeShapeType="1"/>
          </p:cNvSpPr>
          <p:nvPr/>
        </p:nvSpPr>
        <p:spPr bwMode="auto">
          <a:xfrm flipV="1">
            <a:off x="7086600" y="2405063"/>
            <a:ext cx="0" cy="157162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5426" name="Line 70"/>
          <p:cNvSpPr>
            <a:spLocks noChangeShapeType="1"/>
          </p:cNvSpPr>
          <p:nvPr/>
        </p:nvSpPr>
        <p:spPr bwMode="auto">
          <a:xfrm flipV="1">
            <a:off x="7140575" y="1831975"/>
            <a:ext cx="0" cy="404813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5427" name="Line 71"/>
          <p:cNvSpPr>
            <a:spLocks noChangeShapeType="1"/>
          </p:cNvSpPr>
          <p:nvPr/>
        </p:nvSpPr>
        <p:spPr bwMode="auto">
          <a:xfrm flipH="1">
            <a:off x="7135813" y="2085975"/>
            <a:ext cx="444500" cy="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5428" name="AutoShape 72"/>
          <p:cNvSpPr>
            <a:spLocks noChangeArrowheads="1"/>
          </p:cNvSpPr>
          <p:nvPr/>
        </p:nvSpPr>
        <p:spPr bwMode="auto">
          <a:xfrm flipH="1">
            <a:off x="7199313" y="2317750"/>
            <a:ext cx="95250" cy="69850"/>
          </a:xfrm>
          <a:prstGeom prst="flowChartOnlineStorage">
            <a:avLst/>
          </a:prstGeom>
          <a:solidFill>
            <a:schemeClr val="accent1"/>
          </a:solid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5429" name="Line 73"/>
          <p:cNvSpPr>
            <a:spLocks noChangeShapeType="1"/>
          </p:cNvSpPr>
          <p:nvPr/>
        </p:nvSpPr>
        <p:spPr bwMode="auto">
          <a:xfrm>
            <a:off x="7299325" y="2351088"/>
            <a:ext cx="136525" cy="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grpSp>
        <p:nvGrpSpPr>
          <p:cNvPr id="15430" name="Group 75"/>
          <p:cNvGrpSpPr>
            <a:grpSpLocks/>
          </p:cNvGrpSpPr>
          <p:nvPr>
            <p:custDataLst>
              <p:tags r:id="rId4"/>
            </p:custDataLst>
          </p:nvPr>
        </p:nvGrpSpPr>
        <p:grpSpPr bwMode="auto">
          <a:xfrm>
            <a:off x="7516813" y="2260600"/>
            <a:ext cx="66675" cy="255588"/>
            <a:chOff x="5481" y="2519"/>
            <a:chExt cx="47" cy="194"/>
          </a:xfrm>
        </p:grpSpPr>
        <p:sp>
          <p:nvSpPr>
            <p:cNvPr id="15636" name="Line 76"/>
            <p:cNvSpPr>
              <a:spLocks noChangeShapeType="1"/>
            </p:cNvSpPr>
            <p:nvPr/>
          </p:nvSpPr>
          <p:spPr bwMode="auto">
            <a:xfrm flipV="1">
              <a:off x="5485" y="2520"/>
              <a:ext cx="0" cy="193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5637" name="Line 77"/>
            <p:cNvSpPr>
              <a:spLocks noChangeShapeType="1"/>
            </p:cNvSpPr>
            <p:nvPr/>
          </p:nvSpPr>
          <p:spPr bwMode="auto">
            <a:xfrm rot="16200000" flipV="1">
              <a:off x="5505" y="2495"/>
              <a:ext cx="0" cy="47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</p:grpSp>
      <p:sp>
        <p:nvSpPr>
          <p:cNvPr id="15431" name="Line 78"/>
          <p:cNvSpPr>
            <a:spLocks noChangeShapeType="1"/>
          </p:cNvSpPr>
          <p:nvPr/>
        </p:nvSpPr>
        <p:spPr bwMode="auto">
          <a:xfrm flipV="1">
            <a:off x="7478713" y="2216150"/>
            <a:ext cx="0" cy="347663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5432" name="Line 79"/>
          <p:cNvSpPr>
            <a:spLocks noChangeShapeType="1"/>
          </p:cNvSpPr>
          <p:nvPr/>
        </p:nvSpPr>
        <p:spPr bwMode="auto">
          <a:xfrm rot="16200000" flipV="1">
            <a:off x="7531100" y="2160588"/>
            <a:ext cx="0" cy="11430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5433" name="Line 80"/>
          <p:cNvSpPr>
            <a:spLocks noChangeShapeType="1"/>
          </p:cNvSpPr>
          <p:nvPr/>
        </p:nvSpPr>
        <p:spPr bwMode="auto">
          <a:xfrm>
            <a:off x="7519988" y="2382838"/>
            <a:ext cx="915987" cy="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5434" name="AutoShape 81"/>
          <p:cNvSpPr>
            <a:spLocks noChangeArrowheads="1"/>
          </p:cNvSpPr>
          <p:nvPr/>
        </p:nvSpPr>
        <p:spPr bwMode="auto">
          <a:xfrm rot="5400000">
            <a:off x="8414544" y="2347119"/>
            <a:ext cx="60325" cy="71437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5435" name="Rectangle 82"/>
          <p:cNvSpPr>
            <a:spLocks noChangeArrowheads="1"/>
          </p:cNvSpPr>
          <p:nvPr/>
        </p:nvSpPr>
        <p:spPr bwMode="auto">
          <a:xfrm>
            <a:off x="7985125" y="2517775"/>
            <a:ext cx="214313" cy="236538"/>
          </a:xfrm>
          <a:prstGeom prst="rect">
            <a:avLst/>
          </a:prstGeom>
          <a:gradFill rotWithShape="1">
            <a:gsLst>
              <a:gs pos="0">
                <a:srgbClr val="FFFFCC"/>
              </a:gs>
              <a:gs pos="100000">
                <a:srgbClr val="76765E"/>
              </a:gs>
            </a:gsLst>
            <a:lin ang="2700000" scaled="1"/>
          </a:grad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5436" name="AutoShape 83"/>
          <p:cNvSpPr>
            <a:spLocks noChangeArrowheads="1"/>
          </p:cNvSpPr>
          <p:nvPr/>
        </p:nvSpPr>
        <p:spPr bwMode="auto">
          <a:xfrm rot="5400000">
            <a:off x="7981156" y="2693194"/>
            <a:ext cx="61913" cy="53975"/>
          </a:xfrm>
          <a:prstGeom prst="triangle">
            <a:avLst>
              <a:gd name="adj" fmla="val 50000"/>
            </a:avLst>
          </a:prstGeom>
          <a:noFill/>
          <a:ln w="12700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5437" name="AutoShape 84"/>
          <p:cNvSpPr>
            <a:spLocks noChangeArrowheads="1"/>
          </p:cNvSpPr>
          <p:nvPr/>
        </p:nvSpPr>
        <p:spPr bwMode="auto">
          <a:xfrm rot="-5400000">
            <a:off x="7474744" y="2569369"/>
            <a:ext cx="312737" cy="8572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188 w 21600"/>
              <a:gd name="T13" fmla="*/ 3188 h 21600"/>
              <a:gd name="T14" fmla="*/ 18412 w 21600"/>
              <a:gd name="T15" fmla="*/ 1841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776" y="21600"/>
                </a:lnTo>
                <a:lnTo>
                  <a:pt x="18824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accent1"/>
          </a:solid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5438" name="Line 85"/>
          <p:cNvSpPr>
            <a:spLocks noChangeShapeType="1"/>
          </p:cNvSpPr>
          <p:nvPr/>
        </p:nvSpPr>
        <p:spPr bwMode="auto">
          <a:xfrm>
            <a:off x="7677150" y="2608263"/>
            <a:ext cx="303213" cy="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5439" name="Line 86"/>
          <p:cNvSpPr>
            <a:spLocks noChangeShapeType="1"/>
          </p:cNvSpPr>
          <p:nvPr/>
        </p:nvSpPr>
        <p:spPr bwMode="auto">
          <a:xfrm>
            <a:off x="8202613" y="2608263"/>
            <a:ext cx="238125" cy="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5440" name="AutoShape 87"/>
          <p:cNvSpPr>
            <a:spLocks noChangeArrowheads="1"/>
          </p:cNvSpPr>
          <p:nvPr/>
        </p:nvSpPr>
        <p:spPr bwMode="auto">
          <a:xfrm rot="5400000">
            <a:off x="8419306" y="2567782"/>
            <a:ext cx="60325" cy="71438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5441" name="Line 88"/>
          <p:cNvSpPr>
            <a:spLocks noChangeShapeType="1"/>
          </p:cNvSpPr>
          <p:nvPr/>
        </p:nvSpPr>
        <p:spPr bwMode="auto">
          <a:xfrm>
            <a:off x="7394575" y="2641600"/>
            <a:ext cx="192088" cy="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5442" name="Line 89"/>
          <p:cNvSpPr>
            <a:spLocks noChangeShapeType="1"/>
          </p:cNvSpPr>
          <p:nvPr/>
        </p:nvSpPr>
        <p:spPr bwMode="auto">
          <a:xfrm flipV="1">
            <a:off x="7399338" y="2084388"/>
            <a:ext cx="0" cy="554037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5443" name="AutoShape 92"/>
          <p:cNvSpPr>
            <a:spLocks noChangeArrowheads="1"/>
          </p:cNvSpPr>
          <p:nvPr/>
        </p:nvSpPr>
        <p:spPr bwMode="auto">
          <a:xfrm rot="5400000" flipV="1">
            <a:off x="6928644" y="1872457"/>
            <a:ext cx="149225" cy="52387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5050 w 21600"/>
              <a:gd name="T13" fmla="*/ 5050 h 21600"/>
              <a:gd name="T14" fmla="*/ 16550 w 21600"/>
              <a:gd name="T15" fmla="*/ 1655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6499" y="21600"/>
                </a:lnTo>
                <a:lnTo>
                  <a:pt x="15101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FF0000"/>
          </a:solidFill>
          <a:ln w="12700" cap="rnd">
            <a:solidFill>
              <a:schemeClr val="bg1"/>
            </a:solidFill>
            <a:prstDash val="sysDot"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5444" name="Line 93"/>
          <p:cNvSpPr>
            <a:spLocks noChangeShapeType="1"/>
          </p:cNvSpPr>
          <p:nvPr/>
        </p:nvSpPr>
        <p:spPr bwMode="auto">
          <a:xfrm flipV="1">
            <a:off x="6877050" y="1857375"/>
            <a:ext cx="0" cy="650875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5445" name="Line 94"/>
          <p:cNvSpPr>
            <a:spLocks noChangeShapeType="1"/>
          </p:cNvSpPr>
          <p:nvPr/>
        </p:nvSpPr>
        <p:spPr bwMode="auto">
          <a:xfrm rot="16200000" flipV="1">
            <a:off x="6923882" y="1812131"/>
            <a:ext cx="0" cy="96837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5446" name="Line 95"/>
          <p:cNvSpPr>
            <a:spLocks noChangeShapeType="1"/>
          </p:cNvSpPr>
          <p:nvPr/>
        </p:nvSpPr>
        <p:spPr bwMode="auto">
          <a:xfrm rot="16200000" flipV="1">
            <a:off x="7283450" y="1638300"/>
            <a:ext cx="0" cy="51435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5447" name="Line 96"/>
          <p:cNvSpPr>
            <a:spLocks noChangeShapeType="1"/>
          </p:cNvSpPr>
          <p:nvPr/>
        </p:nvSpPr>
        <p:spPr bwMode="auto">
          <a:xfrm rot="16200000" flipV="1">
            <a:off x="7560469" y="2007394"/>
            <a:ext cx="0" cy="55562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5448" name="Line 97"/>
          <p:cNvSpPr>
            <a:spLocks noChangeShapeType="1"/>
          </p:cNvSpPr>
          <p:nvPr/>
        </p:nvSpPr>
        <p:spPr bwMode="auto">
          <a:xfrm flipV="1">
            <a:off x="7535863" y="1897063"/>
            <a:ext cx="0" cy="134937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grpSp>
        <p:nvGrpSpPr>
          <p:cNvPr id="15449" name="Group 98"/>
          <p:cNvGrpSpPr>
            <a:grpSpLocks/>
          </p:cNvGrpSpPr>
          <p:nvPr>
            <p:custDataLst>
              <p:tags r:id="rId5"/>
            </p:custDataLst>
          </p:nvPr>
        </p:nvGrpSpPr>
        <p:grpSpPr bwMode="auto">
          <a:xfrm>
            <a:off x="7332663" y="1849438"/>
            <a:ext cx="150812" cy="182562"/>
            <a:chOff x="5234" y="2189"/>
            <a:chExt cx="114" cy="138"/>
          </a:xfrm>
        </p:grpSpPr>
        <p:sp>
          <p:nvSpPr>
            <p:cNvPr id="15634" name="Rectangle 99"/>
            <p:cNvSpPr>
              <a:spLocks noChangeArrowheads="1"/>
            </p:cNvSpPr>
            <p:nvPr/>
          </p:nvSpPr>
          <p:spPr bwMode="auto">
            <a:xfrm>
              <a:off x="5234" y="2189"/>
              <a:ext cx="114" cy="138"/>
            </a:xfrm>
            <a:prstGeom prst="rect">
              <a:avLst/>
            </a:prstGeom>
            <a:gradFill rotWithShape="1">
              <a:gsLst>
                <a:gs pos="0">
                  <a:srgbClr val="FFFFCC"/>
                </a:gs>
                <a:gs pos="100000">
                  <a:srgbClr val="76765E"/>
                </a:gs>
              </a:gsLst>
              <a:lin ang="2700000" scaled="1"/>
            </a:gradFill>
            <a:ln w="12700">
              <a:solidFill>
                <a:schemeClr val="bg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5635" name="AutoShape 100"/>
            <p:cNvSpPr>
              <a:spLocks noChangeArrowheads="1"/>
            </p:cNvSpPr>
            <p:nvPr/>
          </p:nvSpPr>
          <p:spPr bwMode="auto">
            <a:xfrm rot="5400000">
              <a:off x="5229" y="2292"/>
              <a:ext cx="39" cy="27"/>
            </a:xfrm>
            <a:prstGeom prst="triangle">
              <a:avLst>
                <a:gd name="adj" fmla="val 50000"/>
              </a:avLst>
            </a:prstGeom>
            <a:noFill/>
            <a:ln w="12700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15450" name="Line 101"/>
          <p:cNvSpPr>
            <a:spLocks noChangeShapeType="1"/>
          </p:cNvSpPr>
          <p:nvPr/>
        </p:nvSpPr>
        <p:spPr bwMode="auto">
          <a:xfrm flipH="1">
            <a:off x="5195888" y="2365375"/>
            <a:ext cx="1709737" cy="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5451" name="Line 102"/>
          <p:cNvSpPr>
            <a:spLocks noChangeShapeType="1"/>
          </p:cNvSpPr>
          <p:nvPr/>
        </p:nvSpPr>
        <p:spPr bwMode="auto">
          <a:xfrm>
            <a:off x="6392863" y="4645025"/>
            <a:ext cx="1187450" cy="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5452" name="Line 103"/>
          <p:cNvSpPr>
            <a:spLocks noChangeShapeType="1"/>
          </p:cNvSpPr>
          <p:nvPr/>
        </p:nvSpPr>
        <p:spPr bwMode="auto">
          <a:xfrm>
            <a:off x="6410325" y="4689475"/>
            <a:ext cx="1177925" cy="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5453" name="Line 104"/>
          <p:cNvSpPr>
            <a:spLocks noChangeShapeType="1"/>
          </p:cNvSpPr>
          <p:nvPr/>
        </p:nvSpPr>
        <p:spPr bwMode="auto">
          <a:xfrm>
            <a:off x="7132638" y="4535488"/>
            <a:ext cx="0" cy="69215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5454" name="Line 105"/>
          <p:cNvSpPr>
            <a:spLocks noChangeShapeType="1"/>
          </p:cNvSpPr>
          <p:nvPr/>
        </p:nvSpPr>
        <p:spPr bwMode="auto">
          <a:xfrm flipV="1">
            <a:off x="6408738" y="5580063"/>
            <a:ext cx="1169987" cy="4762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5455" name="Line 106"/>
          <p:cNvSpPr>
            <a:spLocks noChangeShapeType="1"/>
          </p:cNvSpPr>
          <p:nvPr/>
        </p:nvSpPr>
        <p:spPr bwMode="auto">
          <a:xfrm flipV="1">
            <a:off x="6405563" y="5626100"/>
            <a:ext cx="1168400" cy="3175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5456" name="AutoShape 107"/>
          <p:cNvSpPr>
            <a:spLocks noChangeArrowheads="1"/>
          </p:cNvSpPr>
          <p:nvPr/>
        </p:nvSpPr>
        <p:spPr bwMode="auto">
          <a:xfrm rot="5400000" flipV="1">
            <a:off x="6468269" y="5156994"/>
            <a:ext cx="217487" cy="539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188 w 21600"/>
              <a:gd name="T13" fmla="*/ 3188 h 21600"/>
              <a:gd name="T14" fmla="*/ 18412 w 21600"/>
              <a:gd name="T15" fmla="*/ 1841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776" y="21600"/>
                </a:lnTo>
                <a:lnTo>
                  <a:pt x="18824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accent1"/>
          </a:solid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5457" name="Line 108"/>
          <p:cNvSpPr>
            <a:spLocks noChangeShapeType="1"/>
          </p:cNvSpPr>
          <p:nvPr/>
        </p:nvSpPr>
        <p:spPr bwMode="auto">
          <a:xfrm>
            <a:off x="6572250" y="5281613"/>
            <a:ext cx="0" cy="512762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5458" name="Line 109"/>
          <p:cNvSpPr>
            <a:spLocks noChangeShapeType="1"/>
          </p:cNvSpPr>
          <p:nvPr/>
        </p:nvSpPr>
        <p:spPr bwMode="auto">
          <a:xfrm flipH="1">
            <a:off x="5168900" y="5448300"/>
            <a:ext cx="1409700" cy="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5459" name="Line 110"/>
          <p:cNvSpPr>
            <a:spLocks noChangeShapeType="1"/>
          </p:cNvSpPr>
          <p:nvPr/>
        </p:nvSpPr>
        <p:spPr bwMode="auto">
          <a:xfrm>
            <a:off x="6456363" y="5237163"/>
            <a:ext cx="4762" cy="354012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5460" name="Line 111"/>
          <p:cNvSpPr>
            <a:spLocks noChangeShapeType="1"/>
          </p:cNvSpPr>
          <p:nvPr/>
        </p:nvSpPr>
        <p:spPr bwMode="auto">
          <a:xfrm flipH="1">
            <a:off x="6453188" y="5235575"/>
            <a:ext cx="95250" cy="3175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5461" name="Line 112"/>
          <p:cNvSpPr>
            <a:spLocks noChangeShapeType="1"/>
          </p:cNvSpPr>
          <p:nvPr/>
        </p:nvSpPr>
        <p:spPr bwMode="auto">
          <a:xfrm flipH="1">
            <a:off x="6453188" y="5148263"/>
            <a:ext cx="95250" cy="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5462" name="Line 113"/>
          <p:cNvSpPr>
            <a:spLocks noChangeShapeType="1"/>
          </p:cNvSpPr>
          <p:nvPr/>
        </p:nvSpPr>
        <p:spPr bwMode="auto">
          <a:xfrm>
            <a:off x="6456363" y="4643438"/>
            <a:ext cx="4762" cy="50165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5463" name="Line 114"/>
          <p:cNvSpPr>
            <a:spLocks noChangeShapeType="1"/>
          </p:cNvSpPr>
          <p:nvPr/>
        </p:nvSpPr>
        <p:spPr bwMode="auto">
          <a:xfrm flipV="1">
            <a:off x="6567488" y="5784850"/>
            <a:ext cx="1008062" cy="635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5464" name="AutoShape 115"/>
          <p:cNvSpPr>
            <a:spLocks noChangeArrowheads="1"/>
          </p:cNvSpPr>
          <p:nvPr/>
        </p:nvSpPr>
        <p:spPr bwMode="auto">
          <a:xfrm rot="-5400000">
            <a:off x="7467601" y="5181600"/>
            <a:ext cx="311150" cy="8572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188 w 21600"/>
              <a:gd name="T13" fmla="*/ 3188 h 21600"/>
              <a:gd name="T14" fmla="*/ 18412 w 21600"/>
              <a:gd name="T15" fmla="*/ 1841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776" y="21600"/>
                </a:lnTo>
                <a:lnTo>
                  <a:pt x="18824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accent1"/>
          </a:solid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vert="eaVert" wrap="none" lIns="76197" tIns="38098" rIns="76197" bIns="38098" anchor="ctr"/>
          <a:lstStyle/>
          <a:p>
            <a:endParaRPr lang="en-US"/>
          </a:p>
        </p:txBody>
      </p:sp>
      <p:sp>
        <p:nvSpPr>
          <p:cNvPr id="15465" name="Line 116"/>
          <p:cNvSpPr>
            <a:spLocks noChangeShapeType="1"/>
          </p:cNvSpPr>
          <p:nvPr/>
        </p:nvSpPr>
        <p:spPr bwMode="auto">
          <a:xfrm>
            <a:off x="7666038" y="5224463"/>
            <a:ext cx="762000" cy="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5466" name="AutoShape 117"/>
          <p:cNvSpPr>
            <a:spLocks noChangeArrowheads="1"/>
          </p:cNvSpPr>
          <p:nvPr/>
        </p:nvSpPr>
        <p:spPr bwMode="auto">
          <a:xfrm rot="5400000">
            <a:off x="8406606" y="5188744"/>
            <a:ext cx="60325" cy="71438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5467" name="Freeform 118"/>
          <p:cNvSpPr>
            <a:spLocks/>
          </p:cNvSpPr>
          <p:nvPr/>
        </p:nvSpPr>
        <p:spPr bwMode="auto">
          <a:xfrm>
            <a:off x="7429500" y="5238750"/>
            <a:ext cx="161925" cy="430213"/>
          </a:xfrm>
          <a:custGeom>
            <a:avLst/>
            <a:gdLst>
              <a:gd name="T0" fmla="*/ 2147483647 w 36"/>
              <a:gd name="T1" fmla="*/ 2147483647 h 219"/>
              <a:gd name="T2" fmla="*/ 0 w 36"/>
              <a:gd name="T3" fmla="*/ 2147483647 h 219"/>
              <a:gd name="T4" fmla="*/ 0 w 36"/>
              <a:gd name="T5" fmla="*/ 0 h 219"/>
              <a:gd name="T6" fmla="*/ 2147483647 w 36"/>
              <a:gd name="T7" fmla="*/ 0 h 219"/>
              <a:gd name="T8" fmla="*/ 0 60000 65536"/>
              <a:gd name="T9" fmla="*/ 0 60000 65536"/>
              <a:gd name="T10" fmla="*/ 0 60000 65536"/>
              <a:gd name="T11" fmla="*/ 0 60000 65536"/>
              <a:gd name="T12" fmla="*/ 0 w 36"/>
              <a:gd name="T13" fmla="*/ 0 h 219"/>
              <a:gd name="T14" fmla="*/ 36 w 36"/>
              <a:gd name="T15" fmla="*/ 219 h 21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6" h="219">
                <a:moveTo>
                  <a:pt x="36" y="219"/>
                </a:moveTo>
                <a:lnTo>
                  <a:pt x="0" y="219"/>
                </a:lnTo>
                <a:lnTo>
                  <a:pt x="0" y="0"/>
                </a:lnTo>
                <a:lnTo>
                  <a:pt x="33" y="0"/>
                </a:lnTo>
              </a:path>
            </a:pathLst>
          </a:custGeom>
          <a:noFill/>
          <a:ln w="12700" cap="flat" cmpd="sng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5468" name="AutoShape 119"/>
          <p:cNvSpPr>
            <a:spLocks noChangeArrowheads="1"/>
          </p:cNvSpPr>
          <p:nvPr/>
        </p:nvSpPr>
        <p:spPr bwMode="auto">
          <a:xfrm flipV="1">
            <a:off x="7046913" y="5418138"/>
            <a:ext cx="104775" cy="52387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188 w 21600"/>
              <a:gd name="T13" fmla="*/ 3188 h 21600"/>
              <a:gd name="T14" fmla="*/ 18412 w 21600"/>
              <a:gd name="T15" fmla="*/ 1841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776" y="21600"/>
                </a:lnTo>
                <a:lnTo>
                  <a:pt x="18824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FF0000"/>
          </a:solid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5469" name="AutoShape 120"/>
          <p:cNvSpPr>
            <a:spLocks noChangeArrowheads="1"/>
          </p:cNvSpPr>
          <p:nvPr/>
        </p:nvSpPr>
        <p:spPr bwMode="auto">
          <a:xfrm flipV="1">
            <a:off x="7088188" y="5305425"/>
            <a:ext cx="103187" cy="52388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188 w 21600"/>
              <a:gd name="T13" fmla="*/ 3188 h 21600"/>
              <a:gd name="T14" fmla="*/ 18412 w 21600"/>
              <a:gd name="T15" fmla="*/ 1841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776" y="21600"/>
                </a:lnTo>
                <a:lnTo>
                  <a:pt x="18824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FF0000"/>
          </a:solid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5470" name="Line 121"/>
          <p:cNvSpPr>
            <a:spLocks noChangeShapeType="1"/>
          </p:cNvSpPr>
          <p:nvPr/>
        </p:nvSpPr>
        <p:spPr bwMode="auto">
          <a:xfrm flipV="1">
            <a:off x="7100888" y="5359400"/>
            <a:ext cx="0" cy="55563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5471" name="Line 122"/>
          <p:cNvSpPr>
            <a:spLocks noChangeShapeType="1"/>
          </p:cNvSpPr>
          <p:nvPr/>
        </p:nvSpPr>
        <p:spPr bwMode="auto">
          <a:xfrm flipV="1">
            <a:off x="7078663" y="5472113"/>
            <a:ext cx="0" cy="155575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5472" name="Line 123"/>
          <p:cNvSpPr>
            <a:spLocks noChangeShapeType="1"/>
          </p:cNvSpPr>
          <p:nvPr/>
        </p:nvSpPr>
        <p:spPr bwMode="auto">
          <a:xfrm flipV="1">
            <a:off x="7132638" y="5057775"/>
            <a:ext cx="0" cy="244475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5473" name="Line 124"/>
          <p:cNvSpPr>
            <a:spLocks noChangeShapeType="1"/>
          </p:cNvSpPr>
          <p:nvPr/>
        </p:nvSpPr>
        <p:spPr bwMode="auto">
          <a:xfrm flipH="1">
            <a:off x="7127875" y="5151438"/>
            <a:ext cx="444500" cy="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5474" name="AutoShape 125"/>
          <p:cNvSpPr>
            <a:spLocks noChangeArrowheads="1"/>
          </p:cNvSpPr>
          <p:nvPr/>
        </p:nvSpPr>
        <p:spPr bwMode="auto">
          <a:xfrm flipH="1">
            <a:off x="7191375" y="5384800"/>
            <a:ext cx="95250" cy="69850"/>
          </a:xfrm>
          <a:prstGeom prst="flowChartOnlineStorage">
            <a:avLst/>
          </a:prstGeom>
          <a:solidFill>
            <a:schemeClr val="accent1"/>
          </a:solid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5475" name="Line 126"/>
          <p:cNvSpPr>
            <a:spLocks noChangeShapeType="1"/>
          </p:cNvSpPr>
          <p:nvPr/>
        </p:nvSpPr>
        <p:spPr bwMode="auto">
          <a:xfrm>
            <a:off x="7291388" y="5418138"/>
            <a:ext cx="136525" cy="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5476" name="Line 127"/>
          <p:cNvSpPr>
            <a:spLocks noChangeShapeType="1"/>
          </p:cNvSpPr>
          <p:nvPr/>
        </p:nvSpPr>
        <p:spPr bwMode="auto">
          <a:xfrm flipV="1">
            <a:off x="6602413" y="5191125"/>
            <a:ext cx="977900" cy="635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grpSp>
        <p:nvGrpSpPr>
          <p:cNvPr id="15477" name="Group 128"/>
          <p:cNvGrpSpPr>
            <a:grpSpLocks/>
          </p:cNvGrpSpPr>
          <p:nvPr>
            <p:custDataLst>
              <p:tags r:id="rId6"/>
            </p:custDataLst>
          </p:nvPr>
        </p:nvGrpSpPr>
        <p:grpSpPr bwMode="auto">
          <a:xfrm>
            <a:off x="7508875" y="5326063"/>
            <a:ext cx="66675" cy="257175"/>
            <a:chOff x="5481" y="2519"/>
            <a:chExt cx="47" cy="194"/>
          </a:xfrm>
        </p:grpSpPr>
        <p:sp>
          <p:nvSpPr>
            <p:cNvPr id="15632" name="Line 129"/>
            <p:cNvSpPr>
              <a:spLocks noChangeShapeType="1"/>
            </p:cNvSpPr>
            <p:nvPr/>
          </p:nvSpPr>
          <p:spPr bwMode="auto">
            <a:xfrm flipV="1">
              <a:off x="5485" y="2520"/>
              <a:ext cx="0" cy="193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5633" name="Line 130"/>
            <p:cNvSpPr>
              <a:spLocks noChangeShapeType="1"/>
            </p:cNvSpPr>
            <p:nvPr/>
          </p:nvSpPr>
          <p:spPr bwMode="auto">
            <a:xfrm rot="16200000" flipV="1">
              <a:off x="5505" y="2495"/>
              <a:ext cx="0" cy="47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</p:grpSp>
      <p:sp>
        <p:nvSpPr>
          <p:cNvPr id="15478" name="Line 131"/>
          <p:cNvSpPr>
            <a:spLocks noChangeShapeType="1"/>
          </p:cNvSpPr>
          <p:nvPr/>
        </p:nvSpPr>
        <p:spPr bwMode="auto">
          <a:xfrm flipV="1">
            <a:off x="7470775" y="5283200"/>
            <a:ext cx="0" cy="347663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5479" name="Line 132"/>
          <p:cNvSpPr>
            <a:spLocks noChangeShapeType="1"/>
          </p:cNvSpPr>
          <p:nvPr/>
        </p:nvSpPr>
        <p:spPr bwMode="auto">
          <a:xfrm rot="16200000" flipV="1">
            <a:off x="7523163" y="5227638"/>
            <a:ext cx="0" cy="11430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5480" name="Line 133"/>
          <p:cNvSpPr>
            <a:spLocks noChangeShapeType="1"/>
          </p:cNvSpPr>
          <p:nvPr/>
        </p:nvSpPr>
        <p:spPr bwMode="auto">
          <a:xfrm>
            <a:off x="7512050" y="5449888"/>
            <a:ext cx="915988" cy="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5481" name="AutoShape 134"/>
          <p:cNvSpPr>
            <a:spLocks noChangeArrowheads="1"/>
          </p:cNvSpPr>
          <p:nvPr/>
        </p:nvSpPr>
        <p:spPr bwMode="auto">
          <a:xfrm rot="5400000">
            <a:off x="8406606" y="5414169"/>
            <a:ext cx="60325" cy="71438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5482" name="Rectangle 135"/>
          <p:cNvSpPr>
            <a:spLocks noChangeArrowheads="1"/>
          </p:cNvSpPr>
          <p:nvPr/>
        </p:nvSpPr>
        <p:spPr bwMode="auto">
          <a:xfrm>
            <a:off x="7977188" y="5584825"/>
            <a:ext cx="214312" cy="236538"/>
          </a:xfrm>
          <a:prstGeom prst="rect">
            <a:avLst/>
          </a:prstGeom>
          <a:gradFill rotWithShape="1">
            <a:gsLst>
              <a:gs pos="0">
                <a:srgbClr val="FFFFCC"/>
              </a:gs>
              <a:gs pos="100000">
                <a:srgbClr val="76765E"/>
              </a:gs>
            </a:gsLst>
            <a:lin ang="2700000" scaled="1"/>
          </a:grad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5483" name="AutoShape 136"/>
          <p:cNvSpPr>
            <a:spLocks noChangeArrowheads="1"/>
          </p:cNvSpPr>
          <p:nvPr/>
        </p:nvSpPr>
        <p:spPr bwMode="auto">
          <a:xfrm rot="5400000">
            <a:off x="7974013" y="5759450"/>
            <a:ext cx="60325" cy="53975"/>
          </a:xfrm>
          <a:prstGeom prst="triangle">
            <a:avLst>
              <a:gd name="adj" fmla="val 50000"/>
            </a:avLst>
          </a:prstGeom>
          <a:noFill/>
          <a:ln w="12700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5484" name="AutoShape 137"/>
          <p:cNvSpPr>
            <a:spLocks noChangeArrowheads="1"/>
          </p:cNvSpPr>
          <p:nvPr/>
        </p:nvSpPr>
        <p:spPr bwMode="auto">
          <a:xfrm rot="-5400000">
            <a:off x="7466807" y="5636419"/>
            <a:ext cx="312737" cy="8572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188 w 21600"/>
              <a:gd name="T13" fmla="*/ 3188 h 21600"/>
              <a:gd name="T14" fmla="*/ 18412 w 21600"/>
              <a:gd name="T15" fmla="*/ 1841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776" y="21600"/>
                </a:lnTo>
                <a:lnTo>
                  <a:pt x="18824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accent1"/>
          </a:solid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5485" name="Line 138"/>
          <p:cNvSpPr>
            <a:spLocks noChangeShapeType="1"/>
          </p:cNvSpPr>
          <p:nvPr/>
        </p:nvSpPr>
        <p:spPr bwMode="auto">
          <a:xfrm>
            <a:off x="7669213" y="5673725"/>
            <a:ext cx="303212" cy="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5486" name="Line 139"/>
          <p:cNvSpPr>
            <a:spLocks noChangeShapeType="1"/>
          </p:cNvSpPr>
          <p:nvPr/>
        </p:nvSpPr>
        <p:spPr bwMode="auto">
          <a:xfrm>
            <a:off x="8194675" y="5673725"/>
            <a:ext cx="238125" cy="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5487" name="AutoShape 140"/>
          <p:cNvSpPr>
            <a:spLocks noChangeArrowheads="1"/>
          </p:cNvSpPr>
          <p:nvPr/>
        </p:nvSpPr>
        <p:spPr bwMode="auto">
          <a:xfrm rot="5400000">
            <a:off x="8411369" y="5634832"/>
            <a:ext cx="60325" cy="71437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5488" name="Line 141"/>
          <p:cNvSpPr>
            <a:spLocks noChangeShapeType="1"/>
          </p:cNvSpPr>
          <p:nvPr/>
        </p:nvSpPr>
        <p:spPr bwMode="auto">
          <a:xfrm>
            <a:off x="7386638" y="5708650"/>
            <a:ext cx="192087" cy="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5489" name="Line 142"/>
          <p:cNvSpPr>
            <a:spLocks noChangeShapeType="1"/>
          </p:cNvSpPr>
          <p:nvPr/>
        </p:nvSpPr>
        <p:spPr bwMode="auto">
          <a:xfrm flipV="1">
            <a:off x="7391400" y="5149850"/>
            <a:ext cx="0" cy="555625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5490" name="Line 143"/>
          <p:cNvSpPr>
            <a:spLocks noChangeShapeType="1"/>
          </p:cNvSpPr>
          <p:nvPr/>
        </p:nvSpPr>
        <p:spPr bwMode="auto">
          <a:xfrm flipV="1">
            <a:off x="7354888" y="5192713"/>
            <a:ext cx="0" cy="554037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5491" name="Line 144"/>
          <p:cNvSpPr>
            <a:spLocks noChangeShapeType="1"/>
          </p:cNvSpPr>
          <p:nvPr/>
        </p:nvSpPr>
        <p:spPr bwMode="auto">
          <a:xfrm>
            <a:off x="7351713" y="5743575"/>
            <a:ext cx="231775" cy="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5492" name="AutoShape 145"/>
          <p:cNvSpPr>
            <a:spLocks noChangeArrowheads="1"/>
          </p:cNvSpPr>
          <p:nvPr/>
        </p:nvSpPr>
        <p:spPr bwMode="auto">
          <a:xfrm rot="5400000" flipV="1">
            <a:off x="6920706" y="4937919"/>
            <a:ext cx="149225" cy="52388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5050 w 21600"/>
              <a:gd name="T13" fmla="*/ 5050 h 21600"/>
              <a:gd name="T14" fmla="*/ 16550 w 21600"/>
              <a:gd name="T15" fmla="*/ 1655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6499" y="21600"/>
                </a:lnTo>
                <a:lnTo>
                  <a:pt x="15101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FF0000"/>
          </a:solidFill>
          <a:ln w="12700" cap="rnd">
            <a:solidFill>
              <a:schemeClr val="bg1"/>
            </a:solidFill>
            <a:prstDash val="sysDot"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5493" name="Line 146"/>
          <p:cNvSpPr>
            <a:spLocks noChangeShapeType="1"/>
          </p:cNvSpPr>
          <p:nvPr/>
        </p:nvSpPr>
        <p:spPr bwMode="auto">
          <a:xfrm flipV="1">
            <a:off x="6869113" y="4924425"/>
            <a:ext cx="0" cy="69850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5494" name="Line 147"/>
          <p:cNvSpPr>
            <a:spLocks noChangeShapeType="1"/>
          </p:cNvSpPr>
          <p:nvPr/>
        </p:nvSpPr>
        <p:spPr bwMode="auto">
          <a:xfrm flipV="1">
            <a:off x="6900863" y="5014913"/>
            <a:ext cx="0" cy="774700"/>
          </a:xfrm>
          <a:prstGeom prst="line">
            <a:avLst/>
          </a:prstGeom>
          <a:noFill/>
          <a:ln w="12700" cap="rnd">
            <a:solidFill>
              <a:schemeClr val="bg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5495" name="Line 148"/>
          <p:cNvSpPr>
            <a:spLocks noChangeShapeType="1"/>
          </p:cNvSpPr>
          <p:nvPr/>
        </p:nvSpPr>
        <p:spPr bwMode="auto">
          <a:xfrm rot="16200000" flipV="1">
            <a:off x="6915944" y="4879181"/>
            <a:ext cx="0" cy="96838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5496" name="Line 149"/>
          <p:cNvSpPr>
            <a:spLocks noChangeShapeType="1"/>
          </p:cNvSpPr>
          <p:nvPr/>
        </p:nvSpPr>
        <p:spPr bwMode="auto">
          <a:xfrm rot="16200000" flipV="1">
            <a:off x="6936582" y="4972844"/>
            <a:ext cx="0" cy="77787"/>
          </a:xfrm>
          <a:prstGeom prst="line">
            <a:avLst/>
          </a:prstGeom>
          <a:noFill/>
          <a:ln w="12700" cap="rnd">
            <a:solidFill>
              <a:schemeClr val="bg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5497" name="Line 150"/>
          <p:cNvSpPr>
            <a:spLocks noChangeShapeType="1"/>
          </p:cNvSpPr>
          <p:nvPr/>
        </p:nvSpPr>
        <p:spPr bwMode="auto">
          <a:xfrm rot="16200000" flipV="1">
            <a:off x="7275513" y="4703763"/>
            <a:ext cx="0" cy="51435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5498" name="Line 151"/>
          <p:cNvSpPr>
            <a:spLocks noChangeShapeType="1"/>
          </p:cNvSpPr>
          <p:nvPr/>
        </p:nvSpPr>
        <p:spPr bwMode="auto">
          <a:xfrm rot="16200000" flipV="1">
            <a:off x="7552532" y="5074443"/>
            <a:ext cx="0" cy="55563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5499" name="Line 152"/>
          <p:cNvSpPr>
            <a:spLocks noChangeShapeType="1"/>
          </p:cNvSpPr>
          <p:nvPr/>
        </p:nvSpPr>
        <p:spPr bwMode="auto">
          <a:xfrm flipV="1">
            <a:off x="7527925" y="4964113"/>
            <a:ext cx="0" cy="134937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grpSp>
        <p:nvGrpSpPr>
          <p:cNvPr id="15500" name="Group 153"/>
          <p:cNvGrpSpPr>
            <a:grpSpLocks/>
          </p:cNvGrpSpPr>
          <p:nvPr>
            <p:custDataLst>
              <p:tags r:id="rId7"/>
            </p:custDataLst>
          </p:nvPr>
        </p:nvGrpSpPr>
        <p:grpSpPr bwMode="auto">
          <a:xfrm>
            <a:off x="7324725" y="4916488"/>
            <a:ext cx="150813" cy="182562"/>
            <a:chOff x="5234" y="2189"/>
            <a:chExt cx="114" cy="138"/>
          </a:xfrm>
        </p:grpSpPr>
        <p:sp>
          <p:nvSpPr>
            <p:cNvPr id="15630" name="Rectangle 154"/>
            <p:cNvSpPr>
              <a:spLocks noChangeArrowheads="1"/>
            </p:cNvSpPr>
            <p:nvPr/>
          </p:nvSpPr>
          <p:spPr bwMode="auto">
            <a:xfrm>
              <a:off x="5234" y="2189"/>
              <a:ext cx="114" cy="138"/>
            </a:xfrm>
            <a:prstGeom prst="rect">
              <a:avLst/>
            </a:prstGeom>
            <a:gradFill rotWithShape="1">
              <a:gsLst>
                <a:gs pos="0">
                  <a:srgbClr val="FFFFCC"/>
                </a:gs>
                <a:gs pos="100000">
                  <a:srgbClr val="76765E"/>
                </a:gs>
              </a:gsLst>
              <a:lin ang="2700000" scaled="1"/>
            </a:gradFill>
            <a:ln w="12700">
              <a:solidFill>
                <a:schemeClr val="bg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5631" name="AutoShape 155"/>
            <p:cNvSpPr>
              <a:spLocks noChangeArrowheads="1"/>
            </p:cNvSpPr>
            <p:nvPr/>
          </p:nvSpPr>
          <p:spPr bwMode="auto">
            <a:xfrm rot="5400000">
              <a:off x="5229" y="2292"/>
              <a:ext cx="39" cy="27"/>
            </a:xfrm>
            <a:prstGeom prst="triangle">
              <a:avLst>
                <a:gd name="adj" fmla="val 50000"/>
              </a:avLst>
            </a:prstGeom>
            <a:noFill/>
            <a:ln w="12700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15501" name="AutoShape 156"/>
          <p:cNvSpPr>
            <a:spLocks noChangeArrowheads="1"/>
          </p:cNvSpPr>
          <p:nvPr/>
        </p:nvSpPr>
        <p:spPr bwMode="auto">
          <a:xfrm rot="-5400000">
            <a:off x="7466807" y="4242594"/>
            <a:ext cx="312737" cy="8572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188 w 21600"/>
              <a:gd name="T13" fmla="*/ 3188 h 21600"/>
              <a:gd name="T14" fmla="*/ 18412 w 21600"/>
              <a:gd name="T15" fmla="*/ 1841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776" y="21600"/>
                </a:lnTo>
                <a:lnTo>
                  <a:pt x="18824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accent1"/>
          </a:solid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vert="eaVert" wrap="none" lIns="76197" tIns="38098" rIns="76197" bIns="38098" anchor="ctr"/>
          <a:lstStyle/>
          <a:p>
            <a:endParaRPr lang="en-US"/>
          </a:p>
        </p:txBody>
      </p:sp>
      <p:sp>
        <p:nvSpPr>
          <p:cNvPr id="15502" name="Line 157"/>
          <p:cNvSpPr>
            <a:spLocks noChangeShapeType="1"/>
          </p:cNvSpPr>
          <p:nvPr/>
        </p:nvSpPr>
        <p:spPr bwMode="auto">
          <a:xfrm>
            <a:off x="7666038" y="4284663"/>
            <a:ext cx="762000" cy="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5503" name="AutoShape 158"/>
          <p:cNvSpPr>
            <a:spLocks noChangeArrowheads="1"/>
          </p:cNvSpPr>
          <p:nvPr/>
        </p:nvSpPr>
        <p:spPr bwMode="auto">
          <a:xfrm rot="5400000">
            <a:off x="8405812" y="4249738"/>
            <a:ext cx="61913" cy="71438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5504" name="Freeform 159"/>
          <p:cNvSpPr>
            <a:spLocks/>
          </p:cNvSpPr>
          <p:nvPr/>
        </p:nvSpPr>
        <p:spPr bwMode="auto">
          <a:xfrm>
            <a:off x="7429500" y="4300538"/>
            <a:ext cx="161925" cy="428625"/>
          </a:xfrm>
          <a:custGeom>
            <a:avLst/>
            <a:gdLst>
              <a:gd name="T0" fmla="*/ 2147483647 w 36"/>
              <a:gd name="T1" fmla="*/ 2147483647 h 219"/>
              <a:gd name="T2" fmla="*/ 0 w 36"/>
              <a:gd name="T3" fmla="*/ 2147483647 h 219"/>
              <a:gd name="T4" fmla="*/ 0 w 36"/>
              <a:gd name="T5" fmla="*/ 0 h 219"/>
              <a:gd name="T6" fmla="*/ 2147483647 w 36"/>
              <a:gd name="T7" fmla="*/ 0 h 219"/>
              <a:gd name="T8" fmla="*/ 0 60000 65536"/>
              <a:gd name="T9" fmla="*/ 0 60000 65536"/>
              <a:gd name="T10" fmla="*/ 0 60000 65536"/>
              <a:gd name="T11" fmla="*/ 0 60000 65536"/>
              <a:gd name="T12" fmla="*/ 0 w 36"/>
              <a:gd name="T13" fmla="*/ 0 h 219"/>
              <a:gd name="T14" fmla="*/ 36 w 36"/>
              <a:gd name="T15" fmla="*/ 219 h 21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6" h="219">
                <a:moveTo>
                  <a:pt x="36" y="219"/>
                </a:moveTo>
                <a:lnTo>
                  <a:pt x="0" y="219"/>
                </a:lnTo>
                <a:lnTo>
                  <a:pt x="0" y="0"/>
                </a:lnTo>
                <a:lnTo>
                  <a:pt x="33" y="0"/>
                </a:lnTo>
              </a:path>
            </a:pathLst>
          </a:custGeom>
          <a:noFill/>
          <a:ln w="12700" cap="flat" cmpd="sng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5505" name="AutoShape 160"/>
          <p:cNvSpPr>
            <a:spLocks noChangeArrowheads="1"/>
          </p:cNvSpPr>
          <p:nvPr/>
        </p:nvSpPr>
        <p:spPr bwMode="auto">
          <a:xfrm flipV="1">
            <a:off x="7046913" y="4478338"/>
            <a:ext cx="104775" cy="52387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188 w 21600"/>
              <a:gd name="T13" fmla="*/ 3188 h 21600"/>
              <a:gd name="T14" fmla="*/ 18412 w 21600"/>
              <a:gd name="T15" fmla="*/ 1841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776" y="21600"/>
                </a:lnTo>
                <a:lnTo>
                  <a:pt x="18824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FF0000"/>
          </a:solid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5506" name="AutoShape 161"/>
          <p:cNvSpPr>
            <a:spLocks noChangeArrowheads="1"/>
          </p:cNvSpPr>
          <p:nvPr/>
        </p:nvSpPr>
        <p:spPr bwMode="auto">
          <a:xfrm flipV="1">
            <a:off x="7088188" y="4365625"/>
            <a:ext cx="103187" cy="539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188 w 21600"/>
              <a:gd name="T13" fmla="*/ 3188 h 21600"/>
              <a:gd name="T14" fmla="*/ 18412 w 21600"/>
              <a:gd name="T15" fmla="*/ 1841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776" y="21600"/>
                </a:lnTo>
                <a:lnTo>
                  <a:pt x="18824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FF0000"/>
          </a:solid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5507" name="Line 162"/>
          <p:cNvSpPr>
            <a:spLocks noChangeShapeType="1"/>
          </p:cNvSpPr>
          <p:nvPr/>
        </p:nvSpPr>
        <p:spPr bwMode="auto">
          <a:xfrm flipV="1">
            <a:off x="7100888" y="4419600"/>
            <a:ext cx="0" cy="55563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5508" name="Line 163"/>
          <p:cNvSpPr>
            <a:spLocks noChangeShapeType="1"/>
          </p:cNvSpPr>
          <p:nvPr/>
        </p:nvSpPr>
        <p:spPr bwMode="auto">
          <a:xfrm flipV="1">
            <a:off x="7078663" y="4532313"/>
            <a:ext cx="0" cy="157162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5509" name="Line 164"/>
          <p:cNvSpPr>
            <a:spLocks noChangeShapeType="1"/>
          </p:cNvSpPr>
          <p:nvPr/>
        </p:nvSpPr>
        <p:spPr bwMode="auto">
          <a:xfrm flipV="1">
            <a:off x="7132638" y="3959225"/>
            <a:ext cx="0" cy="404813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5510" name="Line 165"/>
          <p:cNvSpPr>
            <a:spLocks noChangeShapeType="1"/>
          </p:cNvSpPr>
          <p:nvPr/>
        </p:nvSpPr>
        <p:spPr bwMode="auto">
          <a:xfrm flipH="1">
            <a:off x="7127875" y="4213225"/>
            <a:ext cx="444500" cy="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5511" name="AutoShape 166"/>
          <p:cNvSpPr>
            <a:spLocks noChangeArrowheads="1"/>
          </p:cNvSpPr>
          <p:nvPr/>
        </p:nvSpPr>
        <p:spPr bwMode="auto">
          <a:xfrm flipH="1">
            <a:off x="7191375" y="4445000"/>
            <a:ext cx="95250" cy="69850"/>
          </a:xfrm>
          <a:prstGeom prst="flowChartOnlineStorage">
            <a:avLst/>
          </a:prstGeom>
          <a:solidFill>
            <a:schemeClr val="accent1"/>
          </a:solid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5512" name="Line 167"/>
          <p:cNvSpPr>
            <a:spLocks noChangeShapeType="1"/>
          </p:cNvSpPr>
          <p:nvPr/>
        </p:nvSpPr>
        <p:spPr bwMode="auto">
          <a:xfrm>
            <a:off x="7291388" y="4478338"/>
            <a:ext cx="136525" cy="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grpSp>
        <p:nvGrpSpPr>
          <p:cNvPr id="15513" name="Group 168"/>
          <p:cNvGrpSpPr>
            <a:grpSpLocks/>
          </p:cNvGrpSpPr>
          <p:nvPr>
            <p:custDataLst>
              <p:tags r:id="rId8"/>
            </p:custDataLst>
          </p:nvPr>
        </p:nvGrpSpPr>
        <p:grpSpPr bwMode="auto">
          <a:xfrm>
            <a:off x="7508875" y="4387850"/>
            <a:ext cx="66675" cy="255588"/>
            <a:chOff x="5481" y="2519"/>
            <a:chExt cx="47" cy="194"/>
          </a:xfrm>
        </p:grpSpPr>
        <p:sp>
          <p:nvSpPr>
            <p:cNvPr id="15628" name="Line 169"/>
            <p:cNvSpPr>
              <a:spLocks noChangeShapeType="1"/>
            </p:cNvSpPr>
            <p:nvPr/>
          </p:nvSpPr>
          <p:spPr bwMode="auto">
            <a:xfrm flipV="1">
              <a:off x="5485" y="2520"/>
              <a:ext cx="0" cy="193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5629" name="Line 170"/>
            <p:cNvSpPr>
              <a:spLocks noChangeShapeType="1"/>
            </p:cNvSpPr>
            <p:nvPr/>
          </p:nvSpPr>
          <p:spPr bwMode="auto">
            <a:xfrm rot="16200000" flipV="1">
              <a:off x="5505" y="2495"/>
              <a:ext cx="0" cy="47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</p:grpSp>
      <p:sp>
        <p:nvSpPr>
          <p:cNvPr id="15514" name="Line 171"/>
          <p:cNvSpPr>
            <a:spLocks noChangeShapeType="1"/>
          </p:cNvSpPr>
          <p:nvPr/>
        </p:nvSpPr>
        <p:spPr bwMode="auto">
          <a:xfrm flipV="1">
            <a:off x="7470775" y="4343400"/>
            <a:ext cx="0" cy="347663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5515" name="Line 172"/>
          <p:cNvSpPr>
            <a:spLocks noChangeShapeType="1"/>
          </p:cNvSpPr>
          <p:nvPr/>
        </p:nvSpPr>
        <p:spPr bwMode="auto">
          <a:xfrm rot="16200000" flipV="1">
            <a:off x="7523163" y="4287838"/>
            <a:ext cx="0" cy="11430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5516" name="Line 173"/>
          <p:cNvSpPr>
            <a:spLocks noChangeShapeType="1"/>
          </p:cNvSpPr>
          <p:nvPr/>
        </p:nvSpPr>
        <p:spPr bwMode="auto">
          <a:xfrm>
            <a:off x="7512050" y="4510088"/>
            <a:ext cx="915988" cy="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5517" name="AutoShape 174"/>
          <p:cNvSpPr>
            <a:spLocks noChangeArrowheads="1"/>
          </p:cNvSpPr>
          <p:nvPr/>
        </p:nvSpPr>
        <p:spPr bwMode="auto">
          <a:xfrm rot="5400000">
            <a:off x="8406606" y="4474369"/>
            <a:ext cx="60325" cy="71438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5518" name="Rectangle 175"/>
          <p:cNvSpPr>
            <a:spLocks noChangeArrowheads="1"/>
          </p:cNvSpPr>
          <p:nvPr/>
        </p:nvSpPr>
        <p:spPr bwMode="auto">
          <a:xfrm>
            <a:off x="7977188" y="4645025"/>
            <a:ext cx="214312" cy="236538"/>
          </a:xfrm>
          <a:prstGeom prst="rect">
            <a:avLst/>
          </a:prstGeom>
          <a:gradFill rotWithShape="1">
            <a:gsLst>
              <a:gs pos="0">
                <a:srgbClr val="FFFFCC"/>
              </a:gs>
              <a:gs pos="100000">
                <a:srgbClr val="76765E"/>
              </a:gs>
            </a:gsLst>
            <a:lin ang="2700000" scaled="1"/>
          </a:grad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5519" name="AutoShape 176"/>
          <p:cNvSpPr>
            <a:spLocks noChangeArrowheads="1"/>
          </p:cNvSpPr>
          <p:nvPr/>
        </p:nvSpPr>
        <p:spPr bwMode="auto">
          <a:xfrm rot="5400000">
            <a:off x="7973219" y="4820444"/>
            <a:ext cx="61913" cy="53975"/>
          </a:xfrm>
          <a:prstGeom prst="triangle">
            <a:avLst>
              <a:gd name="adj" fmla="val 50000"/>
            </a:avLst>
          </a:prstGeom>
          <a:noFill/>
          <a:ln w="12700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5520" name="AutoShape 177"/>
          <p:cNvSpPr>
            <a:spLocks noChangeArrowheads="1"/>
          </p:cNvSpPr>
          <p:nvPr/>
        </p:nvSpPr>
        <p:spPr bwMode="auto">
          <a:xfrm rot="-5400000">
            <a:off x="7466807" y="4696619"/>
            <a:ext cx="312737" cy="8572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188 w 21600"/>
              <a:gd name="T13" fmla="*/ 3188 h 21600"/>
              <a:gd name="T14" fmla="*/ 18412 w 21600"/>
              <a:gd name="T15" fmla="*/ 1841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776" y="21600"/>
                </a:lnTo>
                <a:lnTo>
                  <a:pt x="18824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accent1"/>
          </a:solid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5521" name="Line 178"/>
          <p:cNvSpPr>
            <a:spLocks noChangeShapeType="1"/>
          </p:cNvSpPr>
          <p:nvPr/>
        </p:nvSpPr>
        <p:spPr bwMode="auto">
          <a:xfrm>
            <a:off x="7669213" y="4735513"/>
            <a:ext cx="303212" cy="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5522" name="Line 179"/>
          <p:cNvSpPr>
            <a:spLocks noChangeShapeType="1"/>
          </p:cNvSpPr>
          <p:nvPr/>
        </p:nvSpPr>
        <p:spPr bwMode="auto">
          <a:xfrm>
            <a:off x="8194675" y="4735513"/>
            <a:ext cx="238125" cy="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5523" name="AutoShape 180"/>
          <p:cNvSpPr>
            <a:spLocks noChangeArrowheads="1"/>
          </p:cNvSpPr>
          <p:nvPr/>
        </p:nvSpPr>
        <p:spPr bwMode="auto">
          <a:xfrm rot="5400000">
            <a:off x="8411369" y="4695032"/>
            <a:ext cx="60325" cy="71437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5524" name="Line 181"/>
          <p:cNvSpPr>
            <a:spLocks noChangeShapeType="1"/>
          </p:cNvSpPr>
          <p:nvPr/>
        </p:nvSpPr>
        <p:spPr bwMode="auto">
          <a:xfrm>
            <a:off x="7386638" y="4768850"/>
            <a:ext cx="192087" cy="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5525" name="Line 182"/>
          <p:cNvSpPr>
            <a:spLocks noChangeShapeType="1"/>
          </p:cNvSpPr>
          <p:nvPr/>
        </p:nvSpPr>
        <p:spPr bwMode="auto">
          <a:xfrm flipV="1">
            <a:off x="7391400" y="4211638"/>
            <a:ext cx="0" cy="554037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5526" name="Line 183"/>
          <p:cNvSpPr>
            <a:spLocks noChangeShapeType="1"/>
          </p:cNvSpPr>
          <p:nvPr/>
        </p:nvSpPr>
        <p:spPr bwMode="auto">
          <a:xfrm flipV="1">
            <a:off x="7354888" y="4252913"/>
            <a:ext cx="0" cy="555625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5527" name="Line 184"/>
          <p:cNvSpPr>
            <a:spLocks noChangeShapeType="1"/>
          </p:cNvSpPr>
          <p:nvPr/>
        </p:nvSpPr>
        <p:spPr bwMode="auto">
          <a:xfrm>
            <a:off x="7351713" y="4803775"/>
            <a:ext cx="231775" cy="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5528" name="Line 185"/>
          <p:cNvSpPr>
            <a:spLocks noChangeShapeType="1"/>
          </p:cNvSpPr>
          <p:nvPr/>
        </p:nvSpPr>
        <p:spPr bwMode="auto">
          <a:xfrm flipV="1">
            <a:off x="6869113" y="3984625"/>
            <a:ext cx="0" cy="650875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5529" name="Line 186"/>
          <p:cNvSpPr>
            <a:spLocks noChangeShapeType="1"/>
          </p:cNvSpPr>
          <p:nvPr/>
        </p:nvSpPr>
        <p:spPr bwMode="auto">
          <a:xfrm rot="16200000" flipV="1">
            <a:off x="6915944" y="3939381"/>
            <a:ext cx="0" cy="96838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5530" name="Line 187"/>
          <p:cNvSpPr>
            <a:spLocks noChangeShapeType="1"/>
          </p:cNvSpPr>
          <p:nvPr/>
        </p:nvSpPr>
        <p:spPr bwMode="auto">
          <a:xfrm rot="16200000" flipV="1">
            <a:off x="7275513" y="3765550"/>
            <a:ext cx="0" cy="51435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5531" name="Line 188"/>
          <p:cNvSpPr>
            <a:spLocks noChangeShapeType="1"/>
          </p:cNvSpPr>
          <p:nvPr/>
        </p:nvSpPr>
        <p:spPr bwMode="auto">
          <a:xfrm rot="16200000" flipV="1">
            <a:off x="7552532" y="4134643"/>
            <a:ext cx="0" cy="55563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5532" name="Line 189"/>
          <p:cNvSpPr>
            <a:spLocks noChangeShapeType="1"/>
          </p:cNvSpPr>
          <p:nvPr/>
        </p:nvSpPr>
        <p:spPr bwMode="auto">
          <a:xfrm flipV="1">
            <a:off x="7527925" y="4024313"/>
            <a:ext cx="0" cy="134937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grpSp>
        <p:nvGrpSpPr>
          <p:cNvPr id="15533" name="Group 190"/>
          <p:cNvGrpSpPr>
            <a:grpSpLocks/>
          </p:cNvGrpSpPr>
          <p:nvPr>
            <p:custDataLst>
              <p:tags r:id="rId9"/>
            </p:custDataLst>
          </p:nvPr>
        </p:nvGrpSpPr>
        <p:grpSpPr bwMode="auto">
          <a:xfrm>
            <a:off x="7324725" y="3976688"/>
            <a:ext cx="150813" cy="182562"/>
            <a:chOff x="5234" y="2189"/>
            <a:chExt cx="114" cy="138"/>
          </a:xfrm>
        </p:grpSpPr>
        <p:sp>
          <p:nvSpPr>
            <p:cNvPr id="15626" name="Rectangle 191"/>
            <p:cNvSpPr>
              <a:spLocks noChangeArrowheads="1"/>
            </p:cNvSpPr>
            <p:nvPr/>
          </p:nvSpPr>
          <p:spPr bwMode="auto">
            <a:xfrm>
              <a:off x="5234" y="2189"/>
              <a:ext cx="114" cy="138"/>
            </a:xfrm>
            <a:prstGeom prst="rect">
              <a:avLst/>
            </a:prstGeom>
            <a:gradFill rotWithShape="1">
              <a:gsLst>
                <a:gs pos="0">
                  <a:srgbClr val="FFFFCC"/>
                </a:gs>
                <a:gs pos="100000">
                  <a:srgbClr val="76765E"/>
                </a:gs>
              </a:gsLst>
              <a:lin ang="2700000" scaled="1"/>
            </a:gradFill>
            <a:ln w="12700">
              <a:solidFill>
                <a:schemeClr val="bg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5627" name="AutoShape 192"/>
            <p:cNvSpPr>
              <a:spLocks noChangeArrowheads="1"/>
            </p:cNvSpPr>
            <p:nvPr/>
          </p:nvSpPr>
          <p:spPr bwMode="auto">
            <a:xfrm rot="5400000">
              <a:off x="5229" y="2292"/>
              <a:ext cx="39" cy="27"/>
            </a:xfrm>
            <a:prstGeom prst="triangle">
              <a:avLst>
                <a:gd name="adj" fmla="val 50000"/>
              </a:avLst>
            </a:prstGeom>
            <a:noFill/>
            <a:ln w="12700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15534" name="Line 193"/>
          <p:cNvSpPr>
            <a:spLocks noChangeShapeType="1"/>
          </p:cNvSpPr>
          <p:nvPr/>
        </p:nvSpPr>
        <p:spPr bwMode="auto">
          <a:xfrm flipH="1">
            <a:off x="5140325" y="4484688"/>
            <a:ext cx="1762125" cy="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5535" name="Line 194"/>
          <p:cNvSpPr>
            <a:spLocks noChangeShapeType="1"/>
          </p:cNvSpPr>
          <p:nvPr/>
        </p:nvSpPr>
        <p:spPr bwMode="auto">
          <a:xfrm flipV="1">
            <a:off x="6908800" y="1935163"/>
            <a:ext cx="0" cy="433387"/>
          </a:xfrm>
          <a:prstGeom prst="line">
            <a:avLst/>
          </a:prstGeom>
          <a:noFill/>
          <a:ln w="12700" cap="rnd">
            <a:solidFill>
              <a:schemeClr val="bg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5536" name="Line 195"/>
          <p:cNvSpPr>
            <a:spLocks noChangeShapeType="1"/>
          </p:cNvSpPr>
          <p:nvPr/>
        </p:nvSpPr>
        <p:spPr bwMode="auto">
          <a:xfrm rot="16200000" flipV="1">
            <a:off x="6944519" y="1893094"/>
            <a:ext cx="0" cy="77788"/>
          </a:xfrm>
          <a:prstGeom prst="line">
            <a:avLst/>
          </a:prstGeom>
          <a:noFill/>
          <a:ln w="12700" cap="rnd">
            <a:solidFill>
              <a:schemeClr val="bg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5537" name="Line 196"/>
          <p:cNvSpPr>
            <a:spLocks noChangeShapeType="1"/>
          </p:cNvSpPr>
          <p:nvPr/>
        </p:nvSpPr>
        <p:spPr bwMode="auto">
          <a:xfrm flipV="1">
            <a:off x="6905625" y="4057650"/>
            <a:ext cx="0" cy="433388"/>
          </a:xfrm>
          <a:prstGeom prst="line">
            <a:avLst/>
          </a:prstGeom>
          <a:noFill/>
          <a:ln w="12700" cap="rnd">
            <a:solidFill>
              <a:schemeClr val="bg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5538" name="Line 197"/>
          <p:cNvSpPr>
            <a:spLocks noChangeShapeType="1"/>
          </p:cNvSpPr>
          <p:nvPr/>
        </p:nvSpPr>
        <p:spPr bwMode="auto">
          <a:xfrm rot="16200000" flipV="1">
            <a:off x="6939757" y="4015581"/>
            <a:ext cx="0" cy="77787"/>
          </a:xfrm>
          <a:prstGeom prst="line">
            <a:avLst/>
          </a:prstGeom>
          <a:noFill/>
          <a:ln w="12700" cap="rnd">
            <a:solidFill>
              <a:schemeClr val="bg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5539" name="AutoShape 198"/>
          <p:cNvSpPr>
            <a:spLocks noChangeArrowheads="1"/>
          </p:cNvSpPr>
          <p:nvPr/>
        </p:nvSpPr>
        <p:spPr bwMode="auto">
          <a:xfrm rot="5400000" flipV="1">
            <a:off x="6920706" y="3999707"/>
            <a:ext cx="149225" cy="52388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5050 w 21600"/>
              <a:gd name="T13" fmla="*/ 5050 h 21600"/>
              <a:gd name="T14" fmla="*/ 16550 w 21600"/>
              <a:gd name="T15" fmla="*/ 1655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6499" y="21600"/>
                </a:lnTo>
                <a:lnTo>
                  <a:pt x="15101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FF0000"/>
          </a:solidFill>
          <a:ln w="12700" cap="rnd">
            <a:solidFill>
              <a:schemeClr val="bg1"/>
            </a:solidFill>
            <a:prstDash val="sysDot"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5540" name="AutoShape 199"/>
          <p:cNvSpPr>
            <a:spLocks noChangeArrowheads="1"/>
          </p:cNvSpPr>
          <p:nvPr/>
        </p:nvSpPr>
        <p:spPr bwMode="auto">
          <a:xfrm rot="5400000" flipV="1">
            <a:off x="6658769" y="4228306"/>
            <a:ext cx="217488" cy="539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188 w 21600"/>
              <a:gd name="T13" fmla="*/ 3188 h 21600"/>
              <a:gd name="T14" fmla="*/ 18412 w 21600"/>
              <a:gd name="T15" fmla="*/ 1841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776" y="21600"/>
                </a:lnTo>
                <a:lnTo>
                  <a:pt x="18824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accent1"/>
          </a:solid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5541" name="Line 200"/>
          <p:cNvSpPr>
            <a:spLocks noChangeShapeType="1"/>
          </p:cNvSpPr>
          <p:nvPr/>
        </p:nvSpPr>
        <p:spPr bwMode="auto">
          <a:xfrm>
            <a:off x="6794500" y="4256088"/>
            <a:ext cx="790575" cy="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5542" name="Line 201"/>
          <p:cNvSpPr>
            <a:spLocks noChangeShapeType="1"/>
          </p:cNvSpPr>
          <p:nvPr/>
        </p:nvSpPr>
        <p:spPr bwMode="auto">
          <a:xfrm flipV="1">
            <a:off x="6675438" y="4316413"/>
            <a:ext cx="0" cy="333375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5543" name="Line 202"/>
          <p:cNvSpPr>
            <a:spLocks noChangeShapeType="1"/>
          </p:cNvSpPr>
          <p:nvPr/>
        </p:nvSpPr>
        <p:spPr bwMode="auto">
          <a:xfrm rot="16200000" flipV="1">
            <a:off x="6706394" y="4287044"/>
            <a:ext cx="0" cy="65088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5544" name="Line 203"/>
          <p:cNvSpPr>
            <a:spLocks noChangeShapeType="1"/>
          </p:cNvSpPr>
          <p:nvPr/>
        </p:nvSpPr>
        <p:spPr bwMode="auto">
          <a:xfrm rot="16200000" flipV="1">
            <a:off x="6706394" y="4156869"/>
            <a:ext cx="0" cy="65088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5545" name="Line 204"/>
          <p:cNvSpPr>
            <a:spLocks noChangeShapeType="1"/>
          </p:cNvSpPr>
          <p:nvPr/>
        </p:nvSpPr>
        <p:spPr bwMode="auto">
          <a:xfrm flipV="1">
            <a:off x="6675438" y="3451225"/>
            <a:ext cx="0" cy="738188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5546" name="Line 205"/>
          <p:cNvSpPr>
            <a:spLocks noChangeShapeType="1"/>
          </p:cNvSpPr>
          <p:nvPr/>
        </p:nvSpPr>
        <p:spPr bwMode="auto">
          <a:xfrm flipV="1">
            <a:off x="6770688" y="4343400"/>
            <a:ext cx="0" cy="13970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grpSp>
        <p:nvGrpSpPr>
          <p:cNvPr id="15547" name="Group 206"/>
          <p:cNvGrpSpPr>
            <a:grpSpLocks/>
          </p:cNvGrpSpPr>
          <p:nvPr>
            <p:custDataLst>
              <p:tags r:id="rId10"/>
            </p:custDataLst>
          </p:nvPr>
        </p:nvGrpSpPr>
        <p:grpSpPr bwMode="auto">
          <a:xfrm>
            <a:off x="5126038" y="2338388"/>
            <a:ext cx="1287462" cy="735012"/>
            <a:chOff x="3788" y="1868"/>
            <a:chExt cx="974" cy="556"/>
          </a:xfrm>
        </p:grpSpPr>
        <p:sp>
          <p:nvSpPr>
            <p:cNvPr id="15609" name="AutoShape 207"/>
            <p:cNvSpPr>
              <a:spLocks noChangeArrowheads="1"/>
            </p:cNvSpPr>
            <p:nvPr/>
          </p:nvSpPr>
          <p:spPr bwMode="auto">
            <a:xfrm rot="5400000">
              <a:off x="3792" y="1864"/>
              <a:ext cx="46" cy="54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5610" name="Line 208"/>
            <p:cNvSpPr>
              <a:spLocks noChangeShapeType="1"/>
            </p:cNvSpPr>
            <p:nvPr/>
          </p:nvSpPr>
          <p:spPr bwMode="auto">
            <a:xfrm>
              <a:off x="3834" y="2004"/>
              <a:ext cx="273" cy="0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5611" name="Line 209"/>
            <p:cNvSpPr>
              <a:spLocks noChangeShapeType="1"/>
            </p:cNvSpPr>
            <p:nvPr/>
          </p:nvSpPr>
          <p:spPr bwMode="auto">
            <a:xfrm>
              <a:off x="3834" y="2050"/>
              <a:ext cx="273" cy="0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5612" name="Line 210"/>
            <p:cNvSpPr>
              <a:spLocks noChangeShapeType="1"/>
            </p:cNvSpPr>
            <p:nvPr/>
          </p:nvSpPr>
          <p:spPr bwMode="auto">
            <a:xfrm>
              <a:off x="3834" y="2094"/>
              <a:ext cx="273" cy="0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5613" name="Line 211"/>
            <p:cNvSpPr>
              <a:spLocks noChangeShapeType="1"/>
            </p:cNvSpPr>
            <p:nvPr/>
          </p:nvSpPr>
          <p:spPr bwMode="auto">
            <a:xfrm>
              <a:off x="3834" y="2140"/>
              <a:ext cx="273" cy="0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5614" name="Line 212"/>
            <p:cNvSpPr>
              <a:spLocks noChangeShapeType="1"/>
            </p:cNvSpPr>
            <p:nvPr/>
          </p:nvSpPr>
          <p:spPr bwMode="auto">
            <a:xfrm>
              <a:off x="3834" y="2186"/>
              <a:ext cx="273" cy="0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5615" name="Line 213"/>
            <p:cNvSpPr>
              <a:spLocks noChangeShapeType="1"/>
            </p:cNvSpPr>
            <p:nvPr/>
          </p:nvSpPr>
          <p:spPr bwMode="auto">
            <a:xfrm>
              <a:off x="3834" y="2232"/>
              <a:ext cx="273" cy="0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5616" name="AutoShape 214"/>
            <p:cNvSpPr>
              <a:spLocks noChangeArrowheads="1"/>
            </p:cNvSpPr>
            <p:nvPr/>
          </p:nvSpPr>
          <p:spPr bwMode="auto">
            <a:xfrm rot="5400000">
              <a:off x="3797" y="1977"/>
              <a:ext cx="46" cy="54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5617" name="AutoShape 215"/>
            <p:cNvSpPr>
              <a:spLocks noChangeArrowheads="1"/>
            </p:cNvSpPr>
            <p:nvPr/>
          </p:nvSpPr>
          <p:spPr bwMode="auto">
            <a:xfrm rot="5400000">
              <a:off x="3798" y="2022"/>
              <a:ext cx="44" cy="54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5618" name="AutoShape 216"/>
            <p:cNvSpPr>
              <a:spLocks noChangeArrowheads="1"/>
            </p:cNvSpPr>
            <p:nvPr/>
          </p:nvSpPr>
          <p:spPr bwMode="auto">
            <a:xfrm rot="5400000">
              <a:off x="3797" y="2067"/>
              <a:ext cx="46" cy="54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5619" name="AutoShape 217"/>
            <p:cNvSpPr>
              <a:spLocks noChangeArrowheads="1"/>
            </p:cNvSpPr>
            <p:nvPr/>
          </p:nvSpPr>
          <p:spPr bwMode="auto">
            <a:xfrm rot="5400000">
              <a:off x="3797" y="2113"/>
              <a:ext cx="46" cy="54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5620" name="AutoShape 218"/>
            <p:cNvSpPr>
              <a:spLocks noChangeArrowheads="1"/>
            </p:cNvSpPr>
            <p:nvPr/>
          </p:nvSpPr>
          <p:spPr bwMode="auto">
            <a:xfrm rot="5400000">
              <a:off x="3797" y="2159"/>
              <a:ext cx="46" cy="54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5621" name="AutoShape 219"/>
            <p:cNvSpPr>
              <a:spLocks noChangeArrowheads="1"/>
            </p:cNvSpPr>
            <p:nvPr/>
          </p:nvSpPr>
          <p:spPr bwMode="auto">
            <a:xfrm rot="5400000">
              <a:off x="3798" y="2204"/>
              <a:ext cx="44" cy="54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5622" name="Line 220"/>
            <p:cNvSpPr>
              <a:spLocks noChangeShapeType="1"/>
            </p:cNvSpPr>
            <p:nvPr/>
          </p:nvSpPr>
          <p:spPr bwMode="auto">
            <a:xfrm flipH="1">
              <a:off x="3841" y="2399"/>
              <a:ext cx="573" cy="0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5623" name="AutoShape 221"/>
            <p:cNvSpPr>
              <a:spLocks noChangeArrowheads="1"/>
            </p:cNvSpPr>
            <p:nvPr/>
          </p:nvSpPr>
          <p:spPr bwMode="auto">
            <a:xfrm rot="5400000">
              <a:off x="3792" y="2374"/>
              <a:ext cx="46" cy="54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5624" name="Line 222"/>
            <p:cNvSpPr>
              <a:spLocks noChangeShapeType="1"/>
            </p:cNvSpPr>
            <p:nvPr/>
          </p:nvSpPr>
          <p:spPr bwMode="auto">
            <a:xfrm flipV="1">
              <a:off x="4409" y="1892"/>
              <a:ext cx="0" cy="508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5625" name="Rectangle 223"/>
            <p:cNvSpPr>
              <a:spLocks noChangeArrowheads="1"/>
            </p:cNvSpPr>
            <p:nvPr/>
          </p:nvSpPr>
          <p:spPr bwMode="auto">
            <a:xfrm>
              <a:off x="4107" y="1958"/>
              <a:ext cx="655" cy="364"/>
            </a:xfrm>
            <a:prstGeom prst="rect">
              <a:avLst/>
            </a:prstGeom>
            <a:gradFill rotWithShape="1">
              <a:gsLst>
                <a:gs pos="0">
                  <a:srgbClr val="003366"/>
                </a:gs>
                <a:gs pos="100000">
                  <a:srgbClr val="FFFFFF"/>
                </a:gs>
              </a:gsLst>
              <a:lin ang="2700000" scaled="1"/>
            </a:gradFill>
            <a:ln w="12700">
              <a:solidFill>
                <a:schemeClr val="bg1"/>
              </a:solidFill>
              <a:miter lim="800000"/>
              <a:headEnd/>
              <a:tailEnd/>
            </a:ln>
          </p:spPr>
          <p:txBody>
            <a:bodyPr lIns="76197" tIns="38098" rIns="76197" bIns="38098" anchor="ctr"/>
            <a:lstStyle/>
            <a:p>
              <a:r>
                <a:rPr lang="en-US" sz="800"/>
                <a:t>LUT/RAM/SRL</a:t>
              </a:r>
            </a:p>
          </p:txBody>
        </p:sp>
      </p:grpSp>
      <p:grpSp>
        <p:nvGrpSpPr>
          <p:cNvPr id="15548" name="Group 224"/>
          <p:cNvGrpSpPr>
            <a:grpSpLocks/>
          </p:cNvGrpSpPr>
          <p:nvPr>
            <p:custDataLst>
              <p:tags r:id="rId11"/>
            </p:custDataLst>
          </p:nvPr>
        </p:nvGrpSpPr>
        <p:grpSpPr bwMode="auto">
          <a:xfrm>
            <a:off x="5126038" y="3275013"/>
            <a:ext cx="1287462" cy="735012"/>
            <a:chOff x="3788" y="1868"/>
            <a:chExt cx="974" cy="556"/>
          </a:xfrm>
        </p:grpSpPr>
        <p:sp>
          <p:nvSpPr>
            <p:cNvPr id="15592" name="AutoShape 225"/>
            <p:cNvSpPr>
              <a:spLocks noChangeArrowheads="1"/>
            </p:cNvSpPr>
            <p:nvPr/>
          </p:nvSpPr>
          <p:spPr bwMode="auto">
            <a:xfrm rot="5400000">
              <a:off x="3792" y="1864"/>
              <a:ext cx="46" cy="54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5593" name="Line 226"/>
            <p:cNvSpPr>
              <a:spLocks noChangeShapeType="1"/>
            </p:cNvSpPr>
            <p:nvPr/>
          </p:nvSpPr>
          <p:spPr bwMode="auto">
            <a:xfrm>
              <a:off x="3834" y="2004"/>
              <a:ext cx="273" cy="0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5594" name="Line 227"/>
            <p:cNvSpPr>
              <a:spLocks noChangeShapeType="1"/>
            </p:cNvSpPr>
            <p:nvPr/>
          </p:nvSpPr>
          <p:spPr bwMode="auto">
            <a:xfrm>
              <a:off x="3834" y="2050"/>
              <a:ext cx="273" cy="0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5595" name="Line 228"/>
            <p:cNvSpPr>
              <a:spLocks noChangeShapeType="1"/>
            </p:cNvSpPr>
            <p:nvPr/>
          </p:nvSpPr>
          <p:spPr bwMode="auto">
            <a:xfrm>
              <a:off x="3834" y="2094"/>
              <a:ext cx="273" cy="0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5596" name="Line 229"/>
            <p:cNvSpPr>
              <a:spLocks noChangeShapeType="1"/>
            </p:cNvSpPr>
            <p:nvPr/>
          </p:nvSpPr>
          <p:spPr bwMode="auto">
            <a:xfrm>
              <a:off x="3834" y="2140"/>
              <a:ext cx="273" cy="0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5597" name="Line 230"/>
            <p:cNvSpPr>
              <a:spLocks noChangeShapeType="1"/>
            </p:cNvSpPr>
            <p:nvPr/>
          </p:nvSpPr>
          <p:spPr bwMode="auto">
            <a:xfrm>
              <a:off x="3834" y="2186"/>
              <a:ext cx="273" cy="0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5598" name="Line 231"/>
            <p:cNvSpPr>
              <a:spLocks noChangeShapeType="1"/>
            </p:cNvSpPr>
            <p:nvPr/>
          </p:nvSpPr>
          <p:spPr bwMode="auto">
            <a:xfrm>
              <a:off x="3834" y="2232"/>
              <a:ext cx="273" cy="0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5599" name="AutoShape 232"/>
            <p:cNvSpPr>
              <a:spLocks noChangeArrowheads="1"/>
            </p:cNvSpPr>
            <p:nvPr/>
          </p:nvSpPr>
          <p:spPr bwMode="auto">
            <a:xfrm rot="5400000">
              <a:off x="3797" y="1977"/>
              <a:ext cx="46" cy="54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5600" name="AutoShape 233"/>
            <p:cNvSpPr>
              <a:spLocks noChangeArrowheads="1"/>
            </p:cNvSpPr>
            <p:nvPr/>
          </p:nvSpPr>
          <p:spPr bwMode="auto">
            <a:xfrm rot="5400000">
              <a:off x="3798" y="2022"/>
              <a:ext cx="44" cy="54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5601" name="AutoShape 234"/>
            <p:cNvSpPr>
              <a:spLocks noChangeArrowheads="1"/>
            </p:cNvSpPr>
            <p:nvPr/>
          </p:nvSpPr>
          <p:spPr bwMode="auto">
            <a:xfrm rot="5400000">
              <a:off x="3797" y="2067"/>
              <a:ext cx="46" cy="54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5602" name="AutoShape 235"/>
            <p:cNvSpPr>
              <a:spLocks noChangeArrowheads="1"/>
            </p:cNvSpPr>
            <p:nvPr/>
          </p:nvSpPr>
          <p:spPr bwMode="auto">
            <a:xfrm rot="5400000">
              <a:off x="3797" y="2113"/>
              <a:ext cx="46" cy="54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5603" name="AutoShape 236"/>
            <p:cNvSpPr>
              <a:spLocks noChangeArrowheads="1"/>
            </p:cNvSpPr>
            <p:nvPr/>
          </p:nvSpPr>
          <p:spPr bwMode="auto">
            <a:xfrm rot="5400000">
              <a:off x="3797" y="2159"/>
              <a:ext cx="46" cy="54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5604" name="AutoShape 237"/>
            <p:cNvSpPr>
              <a:spLocks noChangeArrowheads="1"/>
            </p:cNvSpPr>
            <p:nvPr/>
          </p:nvSpPr>
          <p:spPr bwMode="auto">
            <a:xfrm rot="5400000">
              <a:off x="3798" y="2204"/>
              <a:ext cx="44" cy="54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5605" name="Line 238"/>
            <p:cNvSpPr>
              <a:spLocks noChangeShapeType="1"/>
            </p:cNvSpPr>
            <p:nvPr/>
          </p:nvSpPr>
          <p:spPr bwMode="auto">
            <a:xfrm flipH="1">
              <a:off x="3841" y="2399"/>
              <a:ext cx="573" cy="0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5606" name="AutoShape 239"/>
            <p:cNvSpPr>
              <a:spLocks noChangeArrowheads="1"/>
            </p:cNvSpPr>
            <p:nvPr/>
          </p:nvSpPr>
          <p:spPr bwMode="auto">
            <a:xfrm rot="5400000">
              <a:off x="3792" y="2374"/>
              <a:ext cx="46" cy="54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5607" name="Line 240"/>
            <p:cNvSpPr>
              <a:spLocks noChangeShapeType="1"/>
            </p:cNvSpPr>
            <p:nvPr/>
          </p:nvSpPr>
          <p:spPr bwMode="auto">
            <a:xfrm flipV="1">
              <a:off x="4409" y="1892"/>
              <a:ext cx="0" cy="508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5608" name="Rectangle 241"/>
            <p:cNvSpPr>
              <a:spLocks noChangeArrowheads="1"/>
            </p:cNvSpPr>
            <p:nvPr/>
          </p:nvSpPr>
          <p:spPr bwMode="auto">
            <a:xfrm>
              <a:off x="4107" y="1958"/>
              <a:ext cx="655" cy="364"/>
            </a:xfrm>
            <a:prstGeom prst="rect">
              <a:avLst/>
            </a:prstGeom>
            <a:gradFill rotWithShape="1">
              <a:gsLst>
                <a:gs pos="0">
                  <a:srgbClr val="003366"/>
                </a:gs>
                <a:gs pos="100000">
                  <a:srgbClr val="FFFFFF"/>
                </a:gs>
              </a:gsLst>
              <a:lin ang="2700000" scaled="1"/>
            </a:gradFill>
            <a:ln w="12700">
              <a:solidFill>
                <a:schemeClr val="bg1"/>
              </a:solidFill>
              <a:miter lim="800000"/>
              <a:headEnd/>
              <a:tailEnd/>
            </a:ln>
          </p:spPr>
          <p:txBody>
            <a:bodyPr lIns="76197" tIns="38098" rIns="76197" bIns="38098" anchor="ctr"/>
            <a:lstStyle/>
            <a:p>
              <a:r>
                <a:rPr lang="en-US" sz="800"/>
                <a:t>LUT/RAM/SRL</a:t>
              </a:r>
            </a:p>
          </p:txBody>
        </p:sp>
      </p:grpSp>
      <p:grpSp>
        <p:nvGrpSpPr>
          <p:cNvPr id="15549" name="Group 242"/>
          <p:cNvGrpSpPr>
            <a:grpSpLocks/>
          </p:cNvGrpSpPr>
          <p:nvPr>
            <p:custDataLst>
              <p:tags r:id="rId12"/>
            </p:custDataLst>
          </p:nvPr>
        </p:nvGrpSpPr>
        <p:grpSpPr bwMode="auto">
          <a:xfrm>
            <a:off x="5126038" y="4452938"/>
            <a:ext cx="1287462" cy="736600"/>
            <a:chOff x="3788" y="1868"/>
            <a:chExt cx="974" cy="556"/>
          </a:xfrm>
        </p:grpSpPr>
        <p:sp>
          <p:nvSpPr>
            <p:cNvPr id="15575" name="AutoShape 243"/>
            <p:cNvSpPr>
              <a:spLocks noChangeArrowheads="1"/>
            </p:cNvSpPr>
            <p:nvPr/>
          </p:nvSpPr>
          <p:spPr bwMode="auto">
            <a:xfrm rot="5400000">
              <a:off x="3792" y="1864"/>
              <a:ext cx="46" cy="54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5576" name="Line 244"/>
            <p:cNvSpPr>
              <a:spLocks noChangeShapeType="1"/>
            </p:cNvSpPr>
            <p:nvPr/>
          </p:nvSpPr>
          <p:spPr bwMode="auto">
            <a:xfrm>
              <a:off x="3834" y="2004"/>
              <a:ext cx="273" cy="0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5577" name="Line 245"/>
            <p:cNvSpPr>
              <a:spLocks noChangeShapeType="1"/>
            </p:cNvSpPr>
            <p:nvPr/>
          </p:nvSpPr>
          <p:spPr bwMode="auto">
            <a:xfrm>
              <a:off x="3834" y="2050"/>
              <a:ext cx="273" cy="0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5578" name="Line 246"/>
            <p:cNvSpPr>
              <a:spLocks noChangeShapeType="1"/>
            </p:cNvSpPr>
            <p:nvPr/>
          </p:nvSpPr>
          <p:spPr bwMode="auto">
            <a:xfrm>
              <a:off x="3834" y="2094"/>
              <a:ext cx="273" cy="0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5579" name="Line 247"/>
            <p:cNvSpPr>
              <a:spLocks noChangeShapeType="1"/>
            </p:cNvSpPr>
            <p:nvPr/>
          </p:nvSpPr>
          <p:spPr bwMode="auto">
            <a:xfrm>
              <a:off x="3834" y="2140"/>
              <a:ext cx="273" cy="0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5580" name="Line 248"/>
            <p:cNvSpPr>
              <a:spLocks noChangeShapeType="1"/>
            </p:cNvSpPr>
            <p:nvPr/>
          </p:nvSpPr>
          <p:spPr bwMode="auto">
            <a:xfrm>
              <a:off x="3834" y="2186"/>
              <a:ext cx="273" cy="0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5581" name="Line 249"/>
            <p:cNvSpPr>
              <a:spLocks noChangeShapeType="1"/>
            </p:cNvSpPr>
            <p:nvPr/>
          </p:nvSpPr>
          <p:spPr bwMode="auto">
            <a:xfrm>
              <a:off x="3834" y="2232"/>
              <a:ext cx="273" cy="0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5582" name="AutoShape 250"/>
            <p:cNvSpPr>
              <a:spLocks noChangeArrowheads="1"/>
            </p:cNvSpPr>
            <p:nvPr/>
          </p:nvSpPr>
          <p:spPr bwMode="auto">
            <a:xfrm rot="5400000">
              <a:off x="3797" y="1977"/>
              <a:ext cx="46" cy="54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5583" name="AutoShape 251"/>
            <p:cNvSpPr>
              <a:spLocks noChangeArrowheads="1"/>
            </p:cNvSpPr>
            <p:nvPr/>
          </p:nvSpPr>
          <p:spPr bwMode="auto">
            <a:xfrm rot="5400000">
              <a:off x="3798" y="2022"/>
              <a:ext cx="44" cy="54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5584" name="AutoShape 252"/>
            <p:cNvSpPr>
              <a:spLocks noChangeArrowheads="1"/>
            </p:cNvSpPr>
            <p:nvPr/>
          </p:nvSpPr>
          <p:spPr bwMode="auto">
            <a:xfrm rot="5400000">
              <a:off x="3797" y="2067"/>
              <a:ext cx="46" cy="54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5585" name="AutoShape 253"/>
            <p:cNvSpPr>
              <a:spLocks noChangeArrowheads="1"/>
            </p:cNvSpPr>
            <p:nvPr/>
          </p:nvSpPr>
          <p:spPr bwMode="auto">
            <a:xfrm rot="5400000">
              <a:off x="3797" y="2113"/>
              <a:ext cx="46" cy="54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5586" name="AutoShape 254"/>
            <p:cNvSpPr>
              <a:spLocks noChangeArrowheads="1"/>
            </p:cNvSpPr>
            <p:nvPr/>
          </p:nvSpPr>
          <p:spPr bwMode="auto">
            <a:xfrm rot="5400000">
              <a:off x="3797" y="2159"/>
              <a:ext cx="46" cy="54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5587" name="AutoShape 255"/>
            <p:cNvSpPr>
              <a:spLocks noChangeArrowheads="1"/>
            </p:cNvSpPr>
            <p:nvPr/>
          </p:nvSpPr>
          <p:spPr bwMode="auto">
            <a:xfrm rot="5400000">
              <a:off x="3798" y="2204"/>
              <a:ext cx="44" cy="54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5588" name="Line 256"/>
            <p:cNvSpPr>
              <a:spLocks noChangeShapeType="1"/>
            </p:cNvSpPr>
            <p:nvPr/>
          </p:nvSpPr>
          <p:spPr bwMode="auto">
            <a:xfrm flipH="1">
              <a:off x="3841" y="2399"/>
              <a:ext cx="573" cy="0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5589" name="AutoShape 257"/>
            <p:cNvSpPr>
              <a:spLocks noChangeArrowheads="1"/>
            </p:cNvSpPr>
            <p:nvPr/>
          </p:nvSpPr>
          <p:spPr bwMode="auto">
            <a:xfrm rot="5400000">
              <a:off x="3792" y="2374"/>
              <a:ext cx="46" cy="54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5590" name="Line 258"/>
            <p:cNvSpPr>
              <a:spLocks noChangeShapeType="1"/>
            </p:cNvSpPr>
            <p:nvPr/>
          </p:nvSpPr>
          <p:spPr bwMode="auto">
            <a:xfrm flipV="1">
              <a:off x="4409" y="1892"/>
              <a:ext cx="0" cy="508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5591" name="Rectangle 259"/>
            <p:cNvSpPr>
              <a:spLocks noChangeArrowheads="1"/>
            </p:cNvSpPr>
            <p:nvPr/>
          </p:nvSpPr>
          <p:spPr bwMode="auto">
            <a:xfrm>
              <a:off x="4107" y="1958"/>
              <a:ext cx="655" cy="364"/>
            </a:xfrm>
            <a:prstGeom prst="rect">
              <a:avLst/>
            </a:prstGeom>
            <a:gradFill rotWithShape="1">
              <a:gsLst>
                <a:gs pos="0">
                  <a:srgbClr val="003366"/>
                </a:gs>
                <a:gs pos="100000">
                  <a:srgbClr val="FFFFFF"/>
                </a:gs>
              </a:gsLst>
              <a:lin ang="2700000" scaled="1"/>
            </a:gradFill>
            <a:ln w="12700">
              <a:solidFill>
                <a:schemeClr val="bg1"/>
              </a:solidFill>
              <a:miter lim="800000"/>
              <a:headEnd/>
              <a:tailEnd/>
            </a:ln>
          </p:spPr>
          <p:txBody>
            <a:bodyPr lIns="76197" tIns="38098" rIns="76197" bIns="38098" anchor="ctr"/>
            <a:lstStyle/>
            <a:p>
              <a:r>
                <a:rPr lang="en-US" sz="800"/>
                <a:t>LUT/RAM/SRL</a:t>
              </a:r>
            </a:p>
          </p:txBody>
        </p:sp>
      </p:grpSp>
      <p:grpSp>
        <p:nvGrpSpPr>
          <p:cNvPr id="15550" name="Group 260"/>
          <p:cNvGrpSpPr>
            <a:grpSpLocks/>
          </p:cNvGrpSpPr>
          <p:nvPr>
            <p:custDataLst>
              <p:tags r:id="rId13"/>
            </p:custDataLst>
          </p:nvPr>
        </p:nvGrpSpPr>
        <p:grpSpPr bwMode="auto">
          <a:xfrm>
            <a:off x="5126038" y="5418138"/>
            <a:ext cx="1287462" cy="735012"/>
            <a:chOff x="3788" y="1868"/>
            <a:chExt cx="974" cy="556"/>
          </a:xfrm>
        </p:grpSpPr>
        <p:sp>
          <p:nvSpPr>
            <p:cNvPr id="15558" name="AutoShape 261"/>
            <p:cNvSpPr>
              <a:spLocks noChangeArrowheads="1"/>
            </p:cNvSpPr>
            <p:nvPr/>
          </p:nvSpPr>
          <p:spPr bwMode="auto">
            <a:xfrm rot="5400000">
              <a:off x="3792" y="1864"/>
              <a:ext cx="46" cy="54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5559" name="Line 262"/>
            <p:cNvSpPr>
              <a:spLocks noChangeShapeType="1"/>
            </p:cNvSpPr>
            <p:nvPr/>
          </p:nvSpPr>
          <p:spPr bwMode="auto">
            <a:xfrm>
              <a:off x="3834" y="2004"/>
              <a:ext cx="273" cy="0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5560" name="Line 263"/>
            <p:cNvSpPr>
              <a:spLocks noChangeShapeType="1"/>
            </p:cNvSpPr>
            <p:nvPr/>
          </p:nvSpPr>
          <p:spPr bwMode="auto">
            <a:xfrm>
              <a:off x="3834" y="2050"/>
              <a:ext cx="273" cy="0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5561" name="Line 264"/>
            <p:cNvSpPr>
              <a:spLocks noChangeShapeType="1"/>
            </p:cNvSpPr>
            <p:nvPr/>
          </p:nvSpPr>
          <p:spPr bwMode="auto">
            <a:xfrm>
              <a:off x="3834" y="2094"/>
              <a:ext cx="273" cy="0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5562" name="Line 265"/>
            <p:cNvSpPr>
              <a:spLocks noChangeShapeType="1"/>
            </p:cNvSpPr>
            <p:nvPr/>
          </p:nvSpPr>
          <p:spPr bwMode="auto">
            <a:xfrm>
              <a:off x="3834" y="2140"/>
              <a:ext cx="273" cy="0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5563" name="Line 266"/>
            <p:cNvSpPr>
              <a:spLocks noChangeShapeType="1"/>
            </p:cNvSpPr>
            <p:nvPr/>
          </p:nvSpPr>
          <p:spPr bwMode="auto">
            <a:xfrm>
              <a:off x="3834" y="2186"/>
              <a:ext cx="273" cy="0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5564" name="Line 267"/>
            <p:cNvSpPr>
              <a:spLocks noChangeShapeType="1"/>
            </p:cNvSpPr>
            <p:nvPr/>
          </p:nvSpPr>
          <p:spPr bwMode="auto">
            <a:xfrm>
              <a:off x="3834" y="2232"/>
              <a:ext cx="273" cy="0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5565" name="AutoShape 268"/>
            <p:cNvSpPr>
              <a:spLocks noChangeArrowheads="1"/>
            </p:cNvSpPr>
            <p:nvPr/>
          </p:nvSpPr>
          <p:spPr bwMode="auto">
            <a:xfrm rot="5400000">
              <a:off x="3797" y="1977"/>
              <a:ext cx="46" cy="54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5566" name="AutoShape 269"/>
            <p:cNvSpPr>
              <a:spLocks noChangeArrowheads="1"/>
            </p:cNvSpPr>
            <p:nvPr/>
          </p:nvSpPr>
          <p:spPr bwMode="auto">
            <a:xfrm rot="5400000">
              <a:off x="3798" y="2022"/>
              <a:ext cx="44" cy="54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5567" name="AutoShape 270"/>
            <p:cNvSpPr>
              <a:spLocks noChangeArrowheads="1"/>
            </p:cNvSpPr>
            <p:nvPr/>
          </p:nvSpPr>
          <p:spPr bwMode="auto">
            <a:xfrm rot="5400000">
              <a:off x="3797" y="2067"/>
              <a:ext cx="46" cy="54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5568" name="AutoShape 271"/>
            <p:cNvSpPr>
              <a:spLocks noChangeArrowheads="1"/>
            </p:cNvSpPr>
            <p:nvPr/>
          </p:nvSpPr>
          <p:spPr bwMode="auto">
            <a:xfrm rot="5400000">
              <a:off x="3797" y="2113"/>
              <a:ext cx="46" cy="54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5569" name="AutoShape 272"/>
            <p:cNvSpPr>
              <a:spLocks noChangeArrowheads="1"/>
            </p:cNvSpPr>
            <p:nvPr/>
          </p:nvSpPr>
          <p:spPr bwMode="auto">
            <a:xfrm rot="5400000">
              <a:off x="3797" y="2159"/>
              <a:ext cx="46" cy="54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5570" name="AutoShape 273"/>
            <p:cNvSpPr>
              <a:spLocks noChangeArrowheads="1"/>
            </p:cNvSpPr>
            <p:nvPr/>
          </p:nvSpPr>
          <p:spPr bwMode="auto">
            <a:xfrm rot="5400000">
              <a:off x="3798" y="2204"/>
              <a:ext cx="44" cy="54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5571" name="Line 274"/>
            <p:cNvSpPr>
              <a:spLocks noChangeShapeType="1"/>
            </p:cNvSpPr>
            <p:nvPr/>
          </p:nvSpPr>
          <p:spPr bwMode="auto">
            <a:xfrm flipH="1">
              <a:off x="3841" y="2399"/>
              <a:ext cx="573" cy="0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5572" name="AutoShape 275"/>
            <p:cNvSpPr>
              <a:spLocks noChangeArrowheads="1"/>
            </p:cNvSpPr>
            <p:nvPr/>
          </p:nvSpPr>
          <p:spPr bwMode="auto">
            <a:xfrm rot="5400000">
              <a:off x="3792" y="2374"/>
              <a:ext cx="46" cy="54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5573" name="Line 276"/>
            <p:cNvSpPr>
              <a:spLocks noChangeShapeType="1"/>
            </p:cNvSpPr>
            <p:nvPr/>
          </p:nvSpPr>
          <p:spPr bwMode="auto">
            <a:xfrm flipV="1">
              <a:off x="4409" y="1892"/>
              <a:ext cx="0" cy="508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5574" name="Rectangle 277"/>
            <p:cNvSpPr>
              <a:spLocks noChangeArrowheads="1"/>
            </p:cNvSpPr>
            <p:nvPr/>
          </p:nvSpPr>
          <p:spPr bwMode="auto">
            <a:xfrm>
              <a:off x="4107" y="1958"/>
              <a:ext cx="655" cy="364"/>
            </a:xfrm>
            <a:prstGeom prst="rect">
              <a:avLst/>
            </a:prstGeom>
            <a:gradFill rotWithShape="1">
              <a:gsLst>
                <a:gs pos="0">
                  <a:srgbClr val="003366"/>
                </a:gs>
                <a:gs pos="100000">
                  <a:srgbClr val="FFFFFF"/>
                </a:gs>
              </a:gsLst>
              <a:lin ang="2700000" scaled="1"/>
            </a:gradFill>
            <a:ln w="12700">
              <a:solidFill>
                <a:schemeClr val="bg1"/>
              </a:solidFill>
              <a:miter lim="800000"/>
              <a:headEnd/>
              <a:tailEnd/>
            </a:ln>
          </p:spPr>
          <p:txBody>
            <a:bodyPr lIns="76197" tIns="38098" rIns="76197" bIns="38098" anchor="ctr"/>
            <a:lstStyle/>
            <a:p>
              <a:r>
                <a:rPr lang="en-US" sz="800"/>
                <a:t>LUT/RAM/SRL</a:t>
              </a:r>
            </a:p>
          </p:txBody>
        </p:sp>
      </p:grpSp>
      <p:sp>
        <p:nvSpPr>
          <p:cNvPr id="15551" name="Line 278"/>
          <p:cNvSpPr>
            <a:spLocks noChangeShapeType="1"/>
          </p:cNvSpPr>
          <p:nvPr/>
        </p:nvSpPr>
        <p:spPr bwMode="auto">
          <a:xfrm>
            <a:off x="7119938" y="5483225"/>
            <a:ext cx="0" cy="45085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5552" name="Rectangle 283"/>
          <p:cNvSpPr>
            <a:spLocks noChangeArrowheads="1"/>
          </p:cNvSpPr>
          <p:nvPr/>
        </p:nvSpPr>
        <p:spPr bwMode="auto">
          <a:xfrm>
            <a:off x="6972300" y="1601788"/>
            <a:ext cx="338138" cy="4562475"/>
          </a:xfrm>
          <a:prstGeom prst="rect">
            <a:avLst/>
          </a:prstGeom>
          <a:noFill/>
          <a:ln w="25400" algn="ctr">
            <a:solidFill>
              <a:srgbClr val="00FF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5553" name="Group 284"/>
          <p:cNvGrpSpPr>
            <a:grpSpLocks/>
          </p:cNvGrpSpPr>
          <p:nvPr>
            <p:custDataLst>
              <p:tags r:id="rId14"/>
            </p:custDataLst>
          </p:nvPr>
        </p:nvGrpSpPr>
        <p:grpSpPr bwMode="auto">
          <a:xfrm>
            <a:off x="6969125" y="5937250"/>
            <a:ext cx="276225" cy="315913"/>
            <a:chOff x="5180" y="4585"/>
            <a:chExt cx="208" cy="239"/>
          </a:xfrm>
          <a:solidFill>
            <a:srgbClr val="FF0000"/>
          </a:solidFill>
        </p:grpSpPr>
        <p:sp>
          <p:nvSpPr>
            <p:cNvPr id="15554" name="AutoShape 285"/>
            <p:cNvSpPr>
              <a:spLocks noChangeArrowheads="1"/>
            </p:cNvSpPr>
            <p:nvPr/>
          </p:nvSpPr>
          <p:spPr bwMode="auto">
            <a:xfrm flipV="1">
              <a:off x="5235" y="4585"/>
              <a:ext cx="120" cy="6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3240 w 21600"/>
                <a:gd name="T13" fmla="*/ 3135 h 21600"/>
                <a:gd name="T14" fmla="*/ 18360 w 21600"/>
                <a:gd name="T15" fmla="*/ 18465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2776" y="21600"/>
                  </a:lnTo>
                  <a:lnTo>
                    <a:pt x="18824" y="21600"/>
                  </a:lnTo>
                  <a:lnTo>
                    <a:pt x="21600" y="0"/>
                  </a:lnTo>
                  <a:close/>
                </a:path>
              </a:pathLst>
            </a:custGeom>
            <a:grpFill/>
            <a:ln w="12700">
              <a:solidFill>
                <a:schemeClr val="bg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5555" name="Line 286"/>
            <p:cNvSpPr>
              <a:spLocks noChangeShapeType="1"/>
            </p:cNvSpPr>
            <p:nvPr/>
          </p:nvSpPr>
          <p:spPr bwMode="auto">
            <a:xfrm>
              <a:off x="5341" y="4648"/>
              <a:ext cx="0" cy="142"/>
            </a:xfrm>
            <a:prstGeom prst="line">
              <a:avLst/>
            </a:prstGeom>
            <a:grpFill/>
            <a:ln w="12700">
              <a:solidFill>
                <a:schemeClr val="bg1"/>
              </a:solidFill>
              <a:round/>
              <a:headEnd/>
              <a:tailEnd/>
            </a:ln>
            <a:extLst/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5556" name="AutoShape 287"/>
            <p:cNvSpPr>
              <a:spLocks noChangeArrowheads="1"/>
            </p:cNvSpPr>
            <p:nvPr/>
          </p:nvSpPr>
          <p:spPr bwMode="auto">
            <a:xfrm>
              <a:off x="5313" y="4778"/>
              <a:ext cx="55" cy="46"/>
            </a:xfrm>
            <a:prstGeom prst="triangle">
              <a:avLst>
                <a:gd name="adj" fmla="val 50000"/>
              </a:avLst>
            </a:prstGeom>
            <a:grpFill/>
            <a:ln w="1270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5557" name="Text Box 288"/>
            <p:cNvSpPr txBox="1">
              <a:spLocks noChangeArrowheads="1"/>
            </p:cNvSpPr>
            <p:nvPr/>
          </p:nvSpPr>
          <p:spPr bwMode="auto">
            <a:xfrm>
              <a:off x="5180" y="4619"/>
              <a:ext cx="208" cy="13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6197" tIns="38098" rIns="76197" bIns="38098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700">
                  <a:solidFill>
                    <a:schemeClr val="bg1"/>
                  </a:solidFill>
                </a:rPr>
                <a:t>0 1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806476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FPGA components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Configurable Logic Blocks (Lecture 5)</a:t>
            </a:r>
          </a:p>
          <a:p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Interconnects (Lecture 6)</a:t>
            </a:r>
          </a:p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Carry-chain</a:t>
            </a:r>
          </a:p>
          <a:p>
            <a:r>
              <a:rPr lang="en-US" b="1" dirty="0" smtClean="0"/>
              <a:t>Memory</a:t>
            </a:r>
            <a:endParaRPr lang="en-US" b="1" dirty="0"/>
          </a:p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Dedicated multipliers</a:t>
            </a:r>
          </a:p>
          <a:p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Programmable Input Output Blocks (IOB)</a:t>
            </a:r>
          </a:p>
          <a:p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Clock manager</a:t>
            </a:r>
          </a:p>
          <a:p>
            <a:pP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8698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On-chip storage on the FPGA:</a:t>
            </a:r>
          </a:p>
          <a:p>
            <a:pPr lvl="1">
              <a:defRPr/>
            </a:pPr>
            <a:r>
              <a:rPr lang="en-US" sz="2400" dirty="0"/>
              <a:t>reduces system costs</a:t>
            </a:r>
          </a:p>
          <a:p>
            <a:pPr lvl="1">
              <a:defRPr/>
            </a:pPr>
            <a:r>
              <a:rPr lang="en-US" sz="2400" dirty="0"/>
              <a:t>allows for a wider, faster memory interface</a:t>
            </a:r>
          </a:p>
          <a:p>
            <a:pPr lvl="1">
              <a:defRPr/>
            </a:pPr>
            <a:r>
              <a:rPr lang="en-US" sz="2400" dirty="0"/>
              <a:t>reduces I/O demands</a:t>
            </a:r>
          </a:p>
          <a:p>
            <a:pPr>
              <a:defRPr/>
            </a:pPr>
            <a:r>
              <a:rPr lang="en-US" dirty="0"/>
              <a:t>There are two ways of implementing memory on FPGAs: </a:t>
            </a:r>
          </a:p>
          <a:p>
            <a:pPr lvl="1">
              <a:defRPr/>
            </a:pPr>
            <a:r>
              <a:rPr lang="en-US" sz="2400" dirty="0"/>
              <a:t>embedded memory (large fixed dedicated memory blocks)</a:t>
            </a:r>
          </a:p>
          <a:p>
            <a:pPr lvl="1">
              <a:defRPr/>
            </a:pPr>
            <a:r>
              <a:rPr lang="en-US" sz="2400" dirty="0"/>
              <a:t>distributed memory (small memories spread across the entire FPGA chip)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5799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2547939" y="4695825"/>
            <a:ext cx="1443037" cy="1481138"/>
            <a:chOff x="4705" y="576"/>
            <a:chExt cx="661" cy="741"/>
          </a:xfrm>
        </p:grpSpPr>
        <p:sp>
          <p:nvSpPr>
            <p:cNvPr id="69749" name="Rectangle 4"/>
            <p:cNvSpPr>
              <a:spLocks noChangeArrowheads="1"/>
            </p:cNvSpPr>
            <p:nvPr/>
          </p:nvSpPr>
          <p:spPr bwMode="auto">
            <a:xfrm>
              <a:off x="4845" y="712"/>
              <a:ext cx="400" cy="605"/>
            </a:xfrm>
            <a:prstGeom prst="rect">
              <a:avLst/>
            </a:prstGeom>
            <a:solidFill>
              <a:srgbClr val="99CC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750" name="Rectangle 5"/>
            <p:cNvSpPr>
              <a:spLocks noChangeArrowheads="1"/>
            </p:cNvSpPr>
            <p:nvPr/>
          </p:nvSpPr>
          <p:spPr bwMode="auto">
            <a:xfrm>
              <a:off x="4705" y="576"/>
              <a:ext cx="661" cy="1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55562" tIns="28575" rIns="55562" bIns="28575">
              <a:spAutoFit/>
            </a:bodyPr>
            <a:lstStyle/>
            <a:p>
              <a:pPr algn="ctr" defTabSz="330200"/>
              <a:r>
                <a:rPr lang="en-US" sz="1200" b="1" dirty="0" smtClean="0"/>
                <a:t>RAM16X1b</a:t>
              </a:r>
              <a:endParaRPr lang="en-US" sz="1200" b="1" dirty="0"/>
            </a:p>
          </p:txBody>
        </p:sp>
        <p:sp>
          <p:nvSpPr>
            <p:cNvPr id="69751" name="Line 6"/>
            <p:cNvSpPr>
              <a:spLocks noChangeShapeType="1"/>
            </p:cNvSpPr>
            <p:nvPr/>
          </p:nvSpPr>
          <p:spPr bwMode="auto">
            <a:xfrm flipH="1">
              <a:off x="5245" y="994"/>
              <a:ext cx="8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752" name="Rectangle 7"/>
            <p:cNvSpPr>
              <a:spLocks noChangeArrowheads="1"/>
            </p:cNvSpPr>
            <p:nvPr/>
          </p:nvSpPr>
          <p:spPr bwMode="auto">
            <a:xfrm>
              <a:off x="5045" y="945"/>
              <a:ext cx="280" cy="1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55562" tIns="28575" rIns="55562" bIns="28575">
              <a:spAutoFit/>
            </a:bodyPr>
            <a:lstStyle/>
            <a:p>
              <a:pPr algn="ctr" defTabSz="330200"/>
              <a:r>
                <a:rPr lang="en-US" sz="800" b="1"/>
                <a:t>O</a:t>
              </a:r>
            </a:p>
          </p:txBody>
        </p:sp>
        <p:sp>
          <p:nvSpPr>
            <p:cNvPr id="69753" name="Line 8"/>
            <p:cNvSpPr>
              <a:spLocks noChangeShapeType="1"/>
            </p:cNvSpPr>
            <p:nvPr/>
          </p:nvSpPr>
          <p:spPr bwMode="auto">
            <a:xfrm flipH="1" flipV="1">
              <a:off x="4765" y="914"/>
              <a:ext cx="8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3" name="Group 9"/>
            <p:cNvGrpSpPr>
              <a:grpSpLocks/>
            </p:cNvGrpSpPr>
            <p:nvPr/>
          </p:nvGrpSpPr>
          <p:grpSpPr bwMode="auto">
            <a:xfrm>
              <a:off x="4805" y="889"/>
              <a:ext cx="78" cy="51"/>
              <a:chOff x="3312" y="1555"/>
              <a:chExt cx="94" cy="60"/>
            </a:xfrm>
          </p:grpSpPr>
          <p:sp>
            <p:nvSpPr>
              <p:cNvPr id="69768" name="AutoShape 10"/>
              <p:cNvSpPr>
                <a:spLocks noChangeArrowheads="1"/>
              </p:cNvSpPr>
              <p:nvPr/>
            </p:nvSpPr>
            <p:spPr bwMode="auto">
              <a:xfrm rot="5400000">
                <a:off x="3353" y="1562"/>
                <a:ext cx="60" cy="46"/>
              </a:xfrm>
              <a:prstGeom prst="triangle">
                <a:avLst>
                  <a:gd name="adj" fmla="val 49995"/>
                </a:avLst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9769" name="AutoShape 11"/>
              <p:cNvSpPr>
                <a:spLocks noChangeArrowheads="1"/>
              </p:cNvSpPr>
              <p:nvPr/>
            </p:nvSpPr>
            <p:spPr bwMode="auto">
              <a:xfrm>
                <a:off x="3312" y="1560"/>
                <a:ext cx="48" cy="48"/>
              </a:xfrm>
              <a:prstGeom prst="diamond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69755" name="Rectangle 12"/>
            <p:cNvSpPr>
              <a:spLocks noChangeArrowheads="1"/>
            </p:cNvSpPr>
            <p:nvPr/>
          </p:nvSpPr>
          <p:spPr bwMode="auto">
            <a:xfrm>
              <a:off x="4845" y="713"/>
              <a:ext cx="96" cy="1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55562" tIns="28575" rIns="55562" bIns="28575">
              <a:spAutoFit/>
            </a:bodyPr>
            <a:lstStyle/>
            <a:p>
              <a:pPr defTabSz="330200"/>
              <a:r>
                <a:rPr lang="en-US" sz="800" b="1"/>
                <a:t>D</a:t>
              </a:r>
            </a:p>
          </p:txBody>
        </p:sp>
        <p:sp>
          <p:nvSpPr>
            <p:cNvPr id="69756" name="Rectangle 13"/>
            <p:cNvSpPr>
              <a:spLocks noChangeArrowheads="1"/>
            </p:cNvSpPr>
            <p:nvPr/>
          </p:nvSpPr>
          <p:spPr bwMode="auto">
            <a:xfrm>
              <a:off x="4845" y="793"/>
              <a:ext cx="160" cy="1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55562" tIns="28575" rIns="55562" bIns="28575">
              <a:spAutoFit/>
            </a:bodyPr>
            <a:lstStyle/>
            <a:p>
              <a:pPr defTabSz="330200"/>
              <a:r>
                <a:rPr lang="en-US" sz="800" b="1"/>
                <a:t>WE</a:t>
              </a:r>
            </a:p>
          </p:txBody>
        </p:sp>
        <p:sp>
          <p:nvSpPr>
            <p:cNvPr id="69757" name="Rectangle 14"/>
            <p:cNvSpPr>
              <a:spLocks noChangeArrowheads="1"/>
            </p:cNvSpPr>
            <p:nvPr/>
          </p:nvSpPr>
          <p:spPr bwMode="auto">
            <a:xfrm>
              <a:off x="4884" y="873"/>
              <a:ext cx="241" cy="1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55562" tIns="28575" rIns="55562" bIns="28575">
              <a:spAutoFit/>
            </a:bodyPr>
            <a:lstStyle/>
            <a:p>
              <a:pPr defTabSz="330200"/>
              <a:r>
                <a:rPr lang="en-US" sz="800" b="1"/>
                <a:t>WCLK</a:t>
              </a:r>
            </a:p>
          </p:txBody>
        </p:sp>
        <p:sp>
          <p:nvSpPr>
            <p:cNvPr id="69758" name="Rectangle 15"/>
            <p:cNvSpPr>
              <a:spLocks noChangeArrowheads="1"/>
            </p:cNvSpPr>
            <p:nvPr/>
          </p:nvSpPr>
          <p:spPr bwMode="auto">
            <a:xfrm>
              <a:off x="4845" y="954"/>
              <a:ext cx="160" cy="1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55562" tIns="28575" rIns="55562" bIns="28575">
              <a:spAutoFit/>
            </a:bodyPr>
            <a:lstStyle/>
            <a:p>
              <a:pPr defTabSz="330200"/>
              <a:r>
                <a:rPr lang="en-US" sz="800" b="1"/>
                <a:t>A0</a:t>
              </a:r>
            </a:p>
          </p:txBody>
        </p:sp>
        <p:sp>
          <p:nvSpPr>
            <p:cNvPr id="69759" name="Rectangle 16"/>
            <p:cNvSpPr>
              <a:spLocks noChangeArrowheads="1"/>
            </p:cNvSpPr>
            <p:nvPr/>
          </p:nvSpPr>
          <p:spPr bwMode="auto">
            <a:xfrm>
              <a:off x="4845" y="1035"/>
              <a:ext cx="160" cy="1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55562" tIns="28575" rIns="55562" bIns="28575">
              <a:spAutoFit/>
            </a:bodyPr>
            <a:lstStyle/>
            <a:p>
              <a:pPr defTabSz="330200"/>
              <a:r>
                <a:rPr lang="en-US" sz="800" b="1"/>
                <a:t>A1</a:t>
              </a:r>
            </a:p>
          </p:txBody>
        </p:sp>
        <p:sp>
          <p:nvSpPr>
            <p:cNvPr id="69760" name="Rectangle 17"/>
            <p:cNvSpPr>
              <a:spLocks noChangeArrowheads="1"/>
            </p:cNvSpPr>
            <p:nvPr/>
          </p:nvSpPr>
          <p:spPr bwMode="auto">
            <a:xfrm>
              <a:off x="4845" y="1115"/>
              <a:ext cx="160" cy="1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55562" tIns="28575" rIns="55562" bIns="28575">
              <a:spAutoFit/>
            </a:bodyPr>
            <a:lstStyle/>
            <a:p>
              <a:pPr defTabSz="330200"/>
              <a:r>
                <a:rPr lang="en-US" sz="800" b="1"/>
                <a:t>A2</a:t>
              </a:r>
            </a:p>
          </p:txBody>
        </p:sp>
        <p:sp>
          <p:nvSpPr>
            <p:cNvPr id="69761" name="Rectangle 18"/>
            <p:cNvSpPr>
              <a:spLocks noChangeArrowheads="1"/>
            </p:cNvSpPr>
            <p:nvPr/>
          </p:nvSpPr>
          <p:spPr bwMode="auto">
            <a:xfrm>
              <a:off x="4845" y="1195"/>
              <a:ext cx="160" cy="1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55562" tIns="28575" rIns="55562" bIns="28575">
              <a:spAutoFit/>
            </a:bodyPr>
            <a:lstStyle/>
            <a:p>
              <a:pPr defTabSz="330200"/>
              <a:r>
                <a:rPr lang="en-US" sz="800" b="1"/>
                <a:t>A3</a:t>
              </a:r>
            </a:p>
          </p:txBody>
        </p:sp>
        <p:sp>
          <p:nvSpPr>
            <p:cNvPr id="69762" name="Line 19"/>
            <p:cNvSpPr>
              <a:spLocks noChangeShapeType="1"/>
            </p:cNvSpPr>
            <p:nvPr/>
          </p:nvSpPr>
          <p:spPr bwMode="auto">
            <a:xfrm flipH="1">
              <a:off x="4765" y="752"/>
              <a:ext cx="8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763" name="Line 20"/>
            <p:cNvSpPr>
              <a:spLocks noChangeShapeType="1"/>
            </p:cNvSpPr>
            <p:nvPr/>
          </p:nvSpPr>
          <p:spPr bwMode="auto">
            <a:xfrm flipH="1">
              <a:off x="4765" y="833"/>
              <a:ext cx="8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764" name="Line 21"/>
            <p:cNvSpPr>
              <a:spLocks noChangeShapeType="1"/>
            </p:cNvSpPr>
            <p:nvPr/>
          </p:nvSpPr>
          <p:spPr bwMode="auto">
            <a:xfrm flipH="1">
              <a:off x="4765" y="994"/>
              <a:ext cx="8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765" name="Line 22"/>
            <p:cNvSpPr>
              <a:spLocks noChangeShapeType="1"/>
            </p:cNvSpPr>
            <p:nvPr/>
          </p:nvSpPr>
          <p:spPr bwMode="auto">
            <a:xfrm flipH="1">
              <a:off x="4765" y="1075"/>
              <a:ext cx="8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766" name="Line 23"/>
            <p:cNvSpPr>
              <a:spLocks noChangeShapeType="1"/>
            </p:cNvSpPr>
            <p:nvPr/>
          </p:nvSpPr>
          <p:spPr bwMode="auto">
            <a:xfrm flipH="1">
              <a:off x="4765" y="1156"/>
              <a:ext cx="8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767" name="Line 24"/>
            <p:cNvSpPr>
              <a:spLocks noChangeShapeType="1"/>
            </p:cNvSpPr>
            <p:nvPr/>
          </p:nvSpPr>
          <p:spPr bwMode="auto">
            <a:xfrm flipH="1">
              <a:off x="4765" y="1236"/>
              <a:ext cx="8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" name="Group 25"/>
          <p:cNvGrpSpPr>
            <a:grpSpLocks/>
          </p:cNvGrpSpPr>
          <p:nvPr/>
        </p:nvGrpSpPr>
        <p:grpSpPr bwMode="auto">
          <a:xfrm>
            <a:off x="7315200" y="990600"/>
            <a:ext cx="1219200" cy="1981200"/>
            <a:chOff x="4012" y="1483"/>
            <a:chExt cx="589" cy="753"/>
          </a:xfrm>
        </p:grpSpPr>
        <p:sp>
          <p:nvSpPr>
            <p:cNvPr id="69725" name="Rectangle 26"/>
            <p:cNvSpPr>
              <a:spLocks noChangeArrowheads="1"/>
            </p:cNvSpPr>
            <p:nvPr/>
          </p:nvSpPr>
          <p:spPr bwMode="auto">
            <a:xfrm>
              <a:off x="4012" y="1483"/>
              <a:ext cx="589" cy="15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55562" tIns="28575" rIns="55562" bIns="28575">
              <a:spAutoFit/>
            </a:bodyPr>
            <a:lstStyle/>
            <a:p>
              <a:pPr algn="ctr" defTabSz="330200"/>
              <a:r>
                <a:rPr lang="en-US" sz="1600" b="1" dirty="0" smtClean="0"/>
                <a:t>RAM32X1b</a:t>
              </a:r>
              <a:endParaRPr lang="en-US" sz="1600" b="1" dirty="0"/>
            </a:p>
          </p:txBody>
        </p:sp>
        <p:grpSp>
          <p:nvGrpSpPr>
            <p:cNvPr id="5" name="Group 27"/>
            <p:cNvGrpSpPr>
              <a:grpSpLocks/>
            </p:cNvGrpSpPr>
            <p:nvPr/>
          </p:nvGrpSpPr>
          <p:grpSpPr bwMode="auto">
            <a:xfrm>
              <a:off x="4040" y="1603"/>
              <a:ext cx="528" cy="633"/>
              <a:chOff x="4040" y="1603"/>
              <a:chExt cx="528" cy="633"/>
            </a:xfrm>
          </p:grpSpPr>
          <p:sp>
            <p:nvSpPr>
              <p:cNvPr id="69727" name="Rectangle 28"/>
              <p:cNvSpPr>
                <a:spLocks noChangeArrowheads="1"/>
              </p:cNvSpPr>
              <p:nvPr/>
            </p:nvSpPr>
            <p:spPr bwMode="auto">
              <a:xfrm>
                <a:off x="4115" y="1603"/>
                <a:ext cx="378" cy="633"/>
              </a:xfrm>
              <a:prstGeom prst="rect">
                <a:avLst/>
              </a:prstGeom>
              <a:solidFill>
                <a:srgbClr val="99CC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sz="2400"/>
              </a:p>
            </p:txBody>
          </p:sp>
          <p:sp>
            <p:nvSpPr>
              <p:cNvPr id="69728" name="Line 29"/>
              <p:cNvSpPr>
                <a:spLocks noChangeShapeType="1"/>
              </p:cNvSpPr>
              <p:nvPr/>
            </p:nvSpPr>
            <p:spPr bwMode="auto">
              <a:xfrm flipH="1">
                <a:off x="4493" y="1864"/>
                <a:ext cx="75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 sz="2400"/>
              </a:p>
            </p:txBody>
          </p:sp>
          <p:sp>
            <p:nvSpPr>
              <p:cNvPr id="69729" name="Rectangle 30"/>
              <p:cNvSpPr>
                <a:spLocks noChangeArrowheads="1"/>
              </p:cNvSpPr>
              <p:nvPr/>
            </p:nvSpPr>
            <p:spPr bwMode="auto">
              <a:xfrm>
                <a:off x="4417" y="1827"/>
                <a:ext cx="76" cy="10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55562" tIns="28575" rIns="55562" bIns="28575">
                <a:spAutoFit/>
              </a:bodyPr>
              <a:lstStyle/>
              <a:p>
                <a:pPr algn="ctr" defTabSz="330200"/>
                <a:r>
                  <a:rPr lang="en-US" sz="1000" b="1"/>
                  <a:t>O</a:t>
                </a:r>
              </a:p>
            </p:txBody>
          </p:sp>
          <p:sp>
            <p:nvSpPr>
              <p:cNvPr id="69730" name="Line 31"/>
              <p:cNvSpPr>
                <a:spLocks noChangeShapeType="1"/>
              </p:cNvSpPr>
              <p:nvPr/>
            </p:nvSpPr>
            <p:spPr bwMode="auto">
              <a:xfrm flipH="1" flipV="1">
                <a:off x="4040" y="1789"/>
                <a:ext cx="75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 sz="2400"/>
              </a:p>
            </p:txBody>
          </p:sp>
          <p:grpSp>
            <p:nvGrpSpPr>
              <p:cNvPr id="6" name="Group 32"/>
              <p:cNvGrpSpPr>
                <a:grpSpLocks/>
              </p:cNvGrpSpPr>
              <p:nvPr/>
            </p:nvGrpSpPr>
            <p:grpSpPr bwMode="auto">
              <a:xfrm>
                <a:off x="4078" y="1767"/>
                <a:ext cx="74" cy="46"/>
                <a:chOff x="3312" y="1555"/>
                <a:chExt cx="94" cy="60"/>
              </a:xfrm>
            </p:grpSpPr>
            <p:sp>
              <p:nvSpPr>
                <p:cNvPr id="69747" name="AutoShape 33"/>
                <p:cNvSpPr>
                  <a:spLocks noChangeArrowheads="1"/>
                </p:cNvSpPr>
                <p:nvPr/>
              </p:nvSpPr>
              <p:spPr bwMode="auto">
                <a:xfrm rot="5400000">
                  <a:off x="3353" y="1562"/>
                  <a:ext cx="60" cy="46"/>
                </a:xfrm>
                <a:prstGeom prst="triangle">
                  <a:avLst>
                    <a:gd name="adj" fmla="val 49995"/>
                  </a:avLst>
                </a:prstGeom>
                <a:noFill/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400"/>
                </a:p>
              </p:txBody>
            </p:sp>
            <p:sp>
              <p:nvSpPr>
                <p:cNvPr id="69748" name="AutoShape 34"/>
                <p:cNvSpPr>
                  <a:spLocks noChangeArrowheads="1"/>
                </p:cNvSpPr>
                <p:nvPr/>
              </p:nvSpPr>
              <p:spPr bwMode="auto">
                <a:xfrm>
                  <a:off x="3312" y="1560"/>
                  <a:ext cx="48" cy="48"/>
                </a:xfrm>
                <a:prstGeom prst="diamond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400"/>
                </a:p>
              </p:txBody>
            </p:sp>
          </p:grpSp>
          <p:sp>
            <p:nvSpPr>
              <p:cNvPr id="69732" name="Rectangle 35"/>
              <p:cNvSpPr>
                <a:spLocks noChangeArrowheads="1"/>
              </p:cNvSpPr>
              <p:nvPr/>
            </p:nvSpPr>
            <p:spPr bwMode="auto">
              <a:xfrm>
                <a:off x="4115" y="1605"/>
                <a:ext cx="92" cy="10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55562" tIns="28575" rIns="55562" bIns="28575">
                <a:spAutoFit/>
              </a:bodyPr>
              <a:lstStyle/>
              <a:p>
                <a:pPr defTabSz="330200"/>
                <a:r>
                  <a:rPr lang="en-US" sz="1000" b="1"/>
                  <a:t>D</a:t>
                </a:r>
              </a:p>
            </p:txBody>
          </p:sp>
          <p:sp>
            <p:nvSpPr>
              <p:cNvPr id="69733" name="Rectangle 36"/>
              <p:cNvSpPr>
                <a:spLocks noChangeArrowheads="1"/>
              </p:cNvSpPr>
              <p:nvPr/>
            </p:nvSpPr>
            <p:spPr bwMode="auto">
              <a:xfrm>
                <a:off x="4115" y="1678"/>
                <a:ext cx="205" cy="10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55562" tIns="28575" rIns="55562" bIns="28575">
                <a:spAutoFit/>
              </a:bodyPr>
              <a:lstStyle/>
              <a:p>
                <a:pPr defTabSz="330200"/>
                <a:r>
                  <a:rPr lang="en-US" sz="1000" b="1"/>
                  <a:t>WE</a:t>
                </a:r>
              </a:p>
            </p:txBody>
          </p:sp>
          <p:sp>
            <p:nvSpPr>
              <p:cNvPr id="69734" name="Rectangle 37"/>
              <p:cNvSpPr>
                <a:spLocks noChangeArrowheads="1"/>
              </p:cNvSpPr>
              <p:nvPr/>
            </p:nvSpPr>
            <p:spPr bwMode="auto">
              <a:xfrm>
                <a:off x="4128" y="1759"/>
                <a:ext cx="263" cy="10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55562" tIns="28575" rIns="55562" bIns="28575">
                <a:spAutoFit/>
              </a:bodyPr>
              <a:lstStyle/>
              <a:p>
                <a:pPr defTabSz="330200"/>
                <a:r>
                  <a:rPr lang="en-US" sz="1000" b="1"/>
                  <a:t>WCLK</a:t>
                </a:r>
              </a:p>
            </p:txBody>
          </p:sp>
          <p:sp>
            <p:nvSpPr>
              <p:cNvPr id="69735" name="Rectangle 38"/>
              <p:cNvSpPr>
                <a:spLocks noChangeArrowheads="1"/>
              </p:cNvSpPr>
              <p:nvPr/>
            </p:nvSpPr>
            <p:spPr bwMode="auto">
              <a:xfrm>
                <a:off x="4115" y="1827"/>
                <a:ext cx="151" cy="10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55562" tIns="28575" rIns="55562" bIns="28575">
                <a:spAutoFit/>
              </a:bodyPr>
              <a:lstStyle/>
              <a:p>
                <a:pPr defTabSz="330200"/>
                <a:r>
                  <a:rPr lang="en-US" sz="1000" b="1"/>
                  <a:t>A0</a:t>
                </a:r>
              </a:p>
            </p:txBody>
          </p:sp>
          <p:sp>
            <p:nvSpPr>
              <p:cNvPr id="69736" name="Rectangle 39"/>
              <p:cNvSpPr>
                <a:spLocks noChangeArrowheads="1"/>
              </p:cNvSpPr>
              <p:nvPr/>
            </p:nvSpPr>
            <p:spPr bwMode="auto">
              <a:xfrm>
                <a:off x="4115" y="1902"/>
                <a:ext cx="151" cy="10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55562" tIns="28575" rIns="55562" bIns="28575">
                <a:spAutoFit/>
              </a:bodyPr>
              <a:lstStyle/>
              <a:p>
                <a:pPr defTabSz="330200"/>
                <a:r>
                  <a:rPr lang="en-US" sz="1000" b="1" dirty="0"/>
                  <a:t>A1</a:t>
                </a:r>
              </a:p>
            </p:txBody>
          </p:sp>
          <p:sp>
            <p:nvSpPr>
              <p:cNvPr id="69737" name="Rectangle 40"/>
              <p:cNvSpPr>
                <a:spLocks noChangeArrowheads="1"/>
              </p:cNvSpPr>
              <p:nvPr/>
            </p:nvSpPr>
            <p:spPr bwMode="auto">
              <a:xfrm>
                <a:off x="4115" y="1976"/>
                <a:ext cx="151" cy="10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55562" tIns="28575" rIns="55562" bIns="28575">
                <a:spAutoFit/>
              </a:bodyPr>
              <a:lstStyle/>
              <a:p>
                <a:pPr defTabSz="330200"/>
                <a:r>
                  <a:rPr lang="en-US" sz="1000" b="1"/>
                  <a:t>A2</a:t>
                </a:r>
              </a:p>
            </p:txBody>
          </p:sp>
          <p:sp>
            <p:nvSpPr>
              <p:cNvPr id="69738" name="Rectangle 41"/>
              <p:cNvSpPr>
                <a:spLocks noChangeArrowheads="1"/>
              </p:cNvSpPr>
              <p:nvPr/>
            </p:nvSpPr>
            <p:spPr bwMode="auto">
              <a:xfrm>
                <a:off x="4115" y="2050"/>
                <a:ext cx="151" cy="10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55562" tIns="28575" rIns="55562" bIns="28575">
                <a:spAutoFit/>
              </a:bodyPr>
              <a:lstStyle/>
              <a:p>
                <a:pPr defTabSz="330200"/>
                <a:r>
                  <a:rPr lang="en-US" sz="1000" b="1"/>
                  <a:t>A3</a:t>
                </a:r>
              </a:p>
            </p:txBody>
          </p:sp>
          <p:sp>
            <p:nvSpPr>
              <p:cNvPr id="69739" name="Line 42"/>
              <p:cNvSpPr>
                <a:spLocks noChangeShapeType="1"/>
              </p:cNvSpPr>
              <p:nvPr/>
            </p:nvSpPr>
            <p:spPr bwMode="auto">
              <a:xfrm flipH="1">
                <a:off x="4040" y="1640"/>
                <a:ext cx="75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 sz="2400"/>
              </a:p>
            </p:txBody>
          </p:sp>
          <p:sp>
            <p:nvSpPr>
              <p:cNvPr id="69740" name="Line 43"/>
              <p:cNvSpPr>
                <a:spLocks noChangeShapeType="1"/>
              </p:cNvSpPr>
              <p:nvPr/>
            </p:nvSpPr>
            <p:spPr bwMode="auto">
              <a:xfrm flipH="1">
                <a:off x="4040" y="1715"/>
                <a:ext cx="75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 sz="2400"/>
              </a:p>
            </p:txBody>
          </p:sp>
          <p:sp>
            <p:nvSpPr>
              <p:cNvPr id="69741" name="Line 44"/>
              <p:cNvSpPr>
                <a:spLocks noChangeShapeType="1"/>
              </p:cNvSpPr>
              <p:nvPr/>
            </p:nvSpPr>
            <p:spPr bwMode="auto">
              <a:xfrm flipH="1">
                <a:off x="4040" y="1864"/>
                <a:ext cx="75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 sz="2400"/>
              </a:p>
            </p:txBody>
          </p:sp>
          <p:sp>
            <p:nvSpPr>
              <p:cNvPr id="69742" name="Line 45"/>
              <p:cNvSpPr>
                <a:spLocks noChangeShapeType="1"/>
              </p:cNvSpPr>
              <p:nvPr/>
            </p:nvSpPr>
            <p:spPr bwMode="auto">
              <a:xfrm flipH="1">
                <a:off x="4040" y="1938"/>
                <a:ext cx="75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 sz="2400"/>
              </a:p>
            </p:txBody>
          </p:sp>
          <p:sp>
            <p:nvSpPr>
              <p:cNvPr id="69743" name="Line 46"/>
              <p:cNvSpPr>
                <a:spLocks noChangeShapeType="1"/>
              </p:cNvSpPr>
              <p:nvPr/>
            </p:nvSpPr>
            <p:spPr bwMode="auto">
              <a:xfrm flipH="1">
                <a:off x="4040" y="2013"/>
                <a:ext cx="75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 sz="2400"/>
              </a:p>
            </p:txBody>
          </p:sp>
          <p:sp>
            <p:nvSpPr>
              <p:cNvPr id="69744" name="Line 47"/>
              <p:cNvSpPr>
                <a:spLocks noChangeShapeType="1"/>
              </p:cNvSpPr>
              <p:nvPr/>
            </p:nvSpPr>
            <p:spPr bwMode="auto">
              <a:xfrm flipH="1">
                <a:off x="4040" y="2087"/>
                <a:ext cx="75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 sz="2400"/>
              </a:p>
            </p:txBody>
          </p:sp>
          <p:sp>
            <p:nvSpPr>
              <p:cNvPr id="69745" name="Rectangle 48"/>
              <p:cNvSpPr>
                <a:spLocks noChangeArrowheads="1"/>
              </p:cNvSpPr>
              <p:nvPr/>
            </p:nvSpPr>
            <p:spPr bwMode="auto">
              <a:xfrm>
                <a:off x="4115" y="2125"/>
                <a:ext cx="151" cy="10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55562" tIns="28575" rIns="55562" bIns="28575">
                <a:spAutoFit/>
              </a:bodyPr>
              <a:lstStyle/>
              <a:p>
                <a:pPr defTabSz="330200"/>
                <a:r>
                  <a:rPr lang="en-US" sz="1000" b="1"/>
                  <a:t>A4</a:t>
                </a:r>
              </a:p>
            </p:txBody>
          </p:sp>
          <p:sp>
            <p:nvSpPr>
              <p:cNvPr id="69746" name="Line 49"/>
              <p:cNvSpPr>
                <a:spLocks noChangeShapeType="1"/>
              </p:cNvSpPr>
              <p:nvPr/>
            </p:nvSpPr>
            <p:spPr bwMode="auto">
              <a:xfrm flipH="1">
                <a:off x="4040" y="2162"/>
                <a:ext cx="75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 sz="2400"/>
              </a:p>
            </p:txBody>
          </p:sp>
        </p:grpSp>
      </p:grpSp>
      <p:grpSp>
        <p:nvGrpSpPr>
          <p:cNvPr id="7" name="Group 50"/>
          <p:cNvGrpSpPr>
            <a:grpSpLocks/>
          </p:cNvGrpSpPr>
          <p:nvPr/>
        </p:nvGrpSpPr>
        <p:grpSpPr bwMode="auto">
          <a:xfrm>
            <a:off x="7239000" y="4038071"/>
            <a:ext cx="1447800" cy="1830233"/>
            <a:chOff x="4504" y="2241"/>
            <a:chExt cx="587" cy="811"/>
          </a:xfrm>
        </p:grpSpPr>
        <p:sp>
          <p:nvSpPr>
            <p:cNvPr id="69698" name="Rectangle 51"/>
            <p:cNvSpPr>
              <a:spLocks noChangeArrowheads="1"/>
            </p:cNvSpPr>
            <p:nvPr/>
          </p:nvSpPr>
          <p:spPr bwMode="auto">
            <a:xfrm>
              <a:off x="4504" y="2241"/>
              <a:ext cx="587" cy="1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55562" tIns="28575" rIns="55562" bIns="28575">
              <a:spAutoFit/>
            </a:bodyPr>
            <a:lstStyle/>
            <a:p>
              <a:pPr algn="ctr" defTabSz="330200"/>
              <a:r>
                <a:rPr lang="en-US" sz="1600" b="1" dirty="0" smtClean="0"/>
                <a:t>RAM16X2b</a:t>
              </a:r>
              <a:endParaRPr lang="en-US" sz="1600" b="1" dirty="0"/>
            </a:p>
          </p:txBody>
        </p:sp>
        <p:grpSp>
          <p:nvGrpSpPr>
            <p:cNvPr id="8" name="Group 52"/>
            <p:cNvGrpSpPr>
              <a:grpSpLocks/>
            </p:cNvGrpSpPr>
            <p:nvPr/>
          </p:nvGrpSpPr>
          <p:grpSpPr bwMode="auto">
            <a:xfrm>
              <a:off x="4525" y="2376"/>
              <a:ext cx="524" cy="676"/>
              <a:chOff x="4525" y="2376"/>
              <a:chExt cx="524" cy="676"/>
            </a:xfrm>
          </p:grpSpPr>
          <p:grpSp>
            <p:nvGrpSpPr>
              <p:cNvPr id="9" name="Group 53"/>
              <p:cNvGrpSpPr>
                <a:grpSpLocks/>
              </p:cNvGrpSpPr>
              <p:nvPr/>
            </p:nvGrpSpPr>
            <p:grpSpPr bwMode="auto">
              <a:xfrm>
                <a:off x="4525" y="2376"/>
                <a:ext cx="524" cy="676"/>
                <a:chOff x="4525" y="2376"/>
                <a:chExt cx="524" cy="676"/>
              </a:xfrm>
            </p:grpSpPr>
            <p:sp>
              <p:nvSpPr>
                <p:cNvPr id="69704" name="Rectangle 54"/>
                <p:cNvSpPr>
                  <a:spLocks noChangeArrowheads="1"/>
                </p:cNvSpPr>
                <p:nvPr/>
              </p:nvSpPr>
              <p:spPr bwMode="auto">
                <a:xfrm>
                  <a:off x="4600" y="2376"/>
                  <a:ext cx="374" cy="676"/>
                </a:xfrm>
                <a:prstGeom prst="rect">
                  <a:avLst/>
                </a:prstGeom>
                <a:solidFill>
                  <a:srgbClr val="99CCFF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9705" name="Line 55"/>
                <p:cNvSpPr>
                  <a:spLocks noChangeShapeType="1"/>
                </p:cNvSpPr>
                <p:nvPr/>
              </p:nvSpPr>
              <p:spPr bwMode="auto">
                <a:xfrm flipH="1">
                  <a:off x="4974" y="2674"/>
                  <a:ext cx="75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9706" name="Rectangle 56"/>
                <p:cNvSpPr>
                  <a:spLocks noChangeArrowheads="1"/>
                </p:cNvSpPr>
                <p:nvPr/>
              </p:nvSpPr>
              <p:spPr bwMode="auto">
                <a:xfrm>
                  <a:off x="4835" y="2711"/>
                  <a:ext cx="152" cy="11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lIns="55562" tIns="28575" rIns="55562" bIns="28575">
                  <a:spAutoFit/>
                </a:bodyPr>
                <a:lstStyle/>
                <a:p>
                  <a:pPr algn="ctr" defTabSz="330200"/>
                  <a:r>
                    <a:rPr lang="en-US" sz="800" b="1"/>
                    <a:t>O1</a:t>
                  </a:r>
                </a:p>
              </p:txBody>
            </p:sp>
            <p:sp>
              <p:nvSpPr>
                <p:cNvPr id="69707" name="Line 57"/>
                <p:cNvSpPr>
                  <a:spLocks noChangeShapeType="1"/>
                </p:cNvSpPr>
                <p:nvPr/>
              </p:nvSpPr>
              <p:spPr bwMode="auto">
                <a:xfrm flipH="1" flipV="1">
                  <a:off x="4525" y="2669"/>
                  <a:ext cx="75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10" name="Group 58"/>
                <p:cNvGrpSpPr>
                  <a:grpSpLocks/>
                </p:cNvGrpSpPr>
                <p:nvPr/>
              </p:nvGrpSpPr>
              <p:grpSpPr bwMode="auto">
                <a:xfrm>
                  <a:off x="4562" y="2645"/>
                  <a:ext cx="74" cy="50"/>
                  <a:chOff x="3312" y="1555"/>
                  <a:chExt cx="94" cy="60"/>
                </a:xfrm>
              </p:grpSpPr>
              <p:sp>
                <p:nvSpPr>
                  <p:cNvPr id="69723" name="AutoShape 59"/>
                  <p:cNvSpPr>
                    <a:spLocks noChangeArrowheads="1"/>
                  </p:cNvSpPr>
                  <p:nvPr/>
                </p:nvSpPr>
                <p:spPr bwMode="auto">
                  <a:xfrm rot="5400000">
                    <a:off x="3353" y="1562"/>
                    <a:ext cx="60" cy="46"/>
                  </a:xfrm>
                  <a:prstGeom prst="triangle">
                    <a:avLst>
                      <a:gd name="adj" fmla="val 49995"/>
                    </a:avLst>
                  </a:prstGeom>
                  <a:noFill/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69724" name="AutoShape 60"/>
                  <p:cNvSpPr>
                    <a:spLocks noChangeArrowheads="1"/>
                  </p:cNvSpPr>
                  <p:nvPr/>
                </p:nvSpPr>
                <p:spPr bwMode="auto">
                  <a:xfrm>
                    <a:off x="3312" y="1560"/>
                    <a:ext cx="48" cy="48"/>
                  </a:xfrm>
                  <a:prstGeom prst="diamond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69709" name="Rectangle 61"/>
                <p:cNvSpPr>
                  <a:spLocks noChangeArrowheads="1"/>
                </p:cNvSpPr>
                <p:nvPr/>
              </p:nvSpPr>
              <p:spPr bwMode="auto">
                <a:xfrm>
                  <a:off x="4601" y="2389"/>
                  <a:ext cx="174" cy="11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lIns="55562" tIns="28575" rIns="55562" bIns="28575">
                  <a:spAutoFit/>
                </a:bodyPr>
                <a:lstStyle/>
                <a:p>
                  <a:pPr defTabSz="330200"/>
                  <a:r>
                    <a:rPr lang="en-US" sz="800" b="1"/>
                    <a:t>D0</a:t>
                  </a:r>
                </a:p>
              </p:txBody>
            </p:sp>
            <p:sp>
              <p:nvSpPr>
                <p:cNvPr id="69710" name="Rectangle 62"/>
                <p:cNvSpPr>
                  <a:spLocks noChangeArrowheads="1"/>
                </p:cNvSpPr>
                <p:nvPr/>
              </p:nvSpPr>
              <p:spPr bwMode="auto">
                <a:xfrm>
                  <a:off x="4601" y="2527"/>
                  <a:ext cx="247" cy="11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lIns="55562" tIns="28575" rIns="55562" bIns="28575">
                  <a:spAutoFit/>
                </a:bodyPr>
                <a:lstStyle/>
                <a:p>
                  <a:pPr defTabSz="330200"/>
                  <a:r>
                    <a:rPr lang="en-US" sz="800" b="1"/>
                    <a:t>WE</a:t>
                  </a:r>
                </a:p>
              </p:txBody>
            </p:sp>
            <p:sp>
              <p:nvSpPr>
                <p:cNvPr id="69711" name="Rectangle 63"/>
                <p:cNvSpPr>
                  <a:spLocks noChangeArrowheads="1"/>
                </p:cNvSpPr>
                <p:nvPr/>
              </p:nvSpPr>
              <p:spPr bwMode="auto">
                <a:xfrm>
                  <a:off x="4608" y="2615"/>
                  <a:ext cx="300" cy="11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lIns="55562" tIns="28575" rIns="55562" bIns="28575">
                  <a:spAutoFit/>
                </a:bodyPr>
                <a:lstStyle/>
                <a:p>
                  <a:pPr defTabSz="330200"/>
                  <a:r>
                    <a:rPr lang="en-US" sz="800" b="1"/>
                    <a:t>WCLK</a:t>
                  </a:r>
                </a:p>
              </p:txBody>
            </p:sp>
            <p:sp>
              <p:nvSpPr>
                <p:cNvPr id="69712" name="Rectangle 64"/>
                <p:cNvSpPr>
                  <a:spLocks noChangeArrowheads="1"/>
                </p:cNvSpPr>
                <p:nvPr/>
              </p:nvSpPr>
              <p:spPr bwMode="auto">
                <a:xfrm>
                  <a:off x="4601" y="2687"/>
                  <a:ext cx="149" cy="11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lIns="55562" tIns="28575" rIns="55562" bIns="28575">
                  <a:spAutoFit/>
                </a:bodyPr>
                <a:lstStyle/>
                <a:p>
                  <a:pPr defTabSz="330200"/>
                  <a:r>
                    <a:rPr lang="en-US" sz="800" b="1"/>
                    <a:t>A0</a:t>
                  </a:r>
                </a:p>
              </p:txBody>
            </p:sp>
            <p:sp>
              <p:nvSpPr>
                <p:cNvPr id="69713" name="Rectangle 65"/>
                <p:cNvSpPr>
                  <a:spLocks noChangeArrowheads="1"/>
                </p:cNvSpPr>
                <p:nvPr/>
              </p:nvSpPr>
              <p:spPr bwMode="auto">
                <a:xfrm>
                  <a:off x="4601" y="2766"/>
                  <a:ext cx="149" cy="11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lIns="55562" tIns="28575" rIns="55562" bIns="28575">
                  <a:spAutoFit/>
                </a:bodyPr>
                <a:lstStyle/>
                <a:p>
                  <a:pPr defTabSz="330200"/>
                  <a:r>
                    <a:rPr lang="en-US" sz="800" b="1"/>
                    <a:t>A1</a:t>
                  </a:r>
                </a:p>
              </p:txBody>
            </p:sp>
            <p:sp>
              <p:nvSpPr>
                <p:cNvPr id="69714" name="Rectangle 66"/>
                <p:cNvSpPr>
                  <a:spLocks noChangeArrowheads="1"/>
                </p:cNvSpPr>
                <p:nvPr/>
              </p:nvSpPr>
              <p:spPr bwMode="auto">
                <a:xfrm>
                  <a:off x="4601" y="2845"/>
                  <a:ext cx="149" cy="11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lIns="55562" tIns="28575" rIns="55562" bIns="28575">
                  <a:spAutoFit/>
                </a:bodyPr>
                <a:lstStyle/>
                <a:p>
                  <a:pPr defTabSz="330200"/>
                  <a:r>
                    <a:rPr lang="en-US" sz="800" b="1"/>
                    <a:t>A2</a:t>
                  </a:r>
                </a:p>
              </p:txBody>
            </p:sp>
            <p:sp>
              <p:nvSpPr>
                <p:cNvPr id="69715" name="Rectangle 67"/>
                <p:cNvSpPr>
                  <a:spLocks noChangeArrowheads="1"/>
                </p:cNvSpPr>
                <p:nvPr/>
              </p:nvSpPr>
              <p:spPr bwMode="auto">
                <a:xfrm>
                  <a:off x="4601" y="2924"/>
                  <a:ext cx="149" cy="11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lIns="55562" tIns="28575" rIns="55562" bIns="28575">
                  <a:spAutoFit/>
                </a:bodyPr>
                <a:lstStyle/>
                <a:p>
                  <a:pPr defTabSz="330200"/>
                  <a:r>
                    <a:rPr lang="en-US" sz="800" b="1"/>
                    <a:t>A3</a:t>
                  </a:r>
                </a:p>
              </p:txBody>
            </p:sp>
            <p:sp>
              <p:nvSpPr>
                <p:cNvPr id="69716" name="Line 68"/>
                <p:cNvSpPr>
                  <a:spLocks noChangeShapeType="1"/>
                </p:cNvSpPr>
                <p:nvPr/>
              </p:nvSpPr>
              <p:spPr bwMode="auto">
                <a:xfrm flipH="1">
                  <a:off x="4525" y="2435"/>
                  <a:ext cx="75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9717" name="Line 69"/>
                <p:cNvSpPr>
                  <a:spLocks noChangeShapeType="1"/>
                </p:cNvSpPr>
                <p:nvPr/>
              </p:nvSpPr>
              <p:spPr bwMode="auto">
                <a:xfrm flipH="1">
                  <a:off x="4525" y="2567"/>
                  <a:ext cx="75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9718" name="Line 70"/>
                <p:cNvSpPr>
                  <a:spLocks noChangeShapeType="1"/>
                </p:cNvSpPr>
                <p:nvPr/>
              </p:nvSpPr>
              <p:spPr bwMode="auto">
                <a:xfrm flipH="1">
                  <a:off x="4525" y="2503"/>
                  <a:ext cx="75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9719" name="Line 71"/>
                <p:cNvSpPr>
                  <a:spLocks noChangeShapeType="1"/>
                </p:cNvSpPr>
                <p:nvPr/>
              </p:nvSpPr>
              <p:spPr bwMode="auto">
                <a:xfrm flipH="1">
                  <a:off x="4525" y="2754"/>
                  <a:ext cx="75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9720" name="Line 72"/>
                <p:cNvSpPr>
                  <a:spLocks noChangeShapeType="1"/>
                </p:cNvSpPr>
                <p:nvPr/>
              </p:nvSpPr>
              <p:spPr bwMode="auto">
                <a:xfrm flipH="1">
                  <a:off x="4525" y="2833"/>
                  <a:ext cx="75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9721" name="Line 73"/>
                <p:cNvSpPr>
                  <a:spLocks noChangeShapeType="1"/>
                </p:cNvSpPr>
                <p:nvPr/>
              </p:nvSpPr>
              <p:spPr bwMode="auto">
                <a:xfrm flipH="1">
                  <a:off x="4525" y="2913"/>
                  <a:ext cx="75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9722" name="Line 74"/>
                <p:cNvSpPr>
                  <a:spLocks noChangeShapeType="1"/>
                </p:cNvSpPr>
                <p:nvPr/>
              </p:nvSpPr>
              <p:spPr bwMode="auto">
                <a:xfrm flipH="1">
                  <a:off x="4525" y="2992"/>
                  <a:ext cx="75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69701" name="Text Box 75" descr="Wide upward diagonal"/>
              <p:cNvSpPr txBox="1">
                <a:spLocks noChangeArrowheads="1"/>
              </p:cNvSpPr>
              <p:nvPr/>
            </p:nvSpPr>
            <p:spPr bwMode="auto">
              <a:xfrm>
                <a:off x="4569" y="2448"/>
                <a:ext cx="183" cy="135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r>
                  <a:rPr lang="en-US" sz="800"/>
                  <a:t>D1</a:t>
                </a:r>
              </a:p>
            </p:txBody>
          </p:sp>
          <p:sp>
            <p:nvSpPr>
              <p:cNvPr id="69702" name="Line 76"/>
              <p:cNvSpPr>
                <a:spLocks noChangeShapeType="1"/>
              </p:cNvSpPr>
              <p:nvPr/>
            </p:nvSpPr>
            <p:spPr bwMode="auto">
              <a:xfrm flipH="1">
                <a:off x="4974" y="2757"/>
                <a:ext cx="75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9703" name="Rectangle 77"/>
              <p:cNvSpPr>
                <a:spLocks noChangeArrowheads="1"/>
              </p:cNvSpPr>
              <p:nvPr/>
            </p:nvSpPr>
            <p:spPr bwMode="auto">
              <a:xfrm>
                <a:off x="4835" y="2622"/>
                <a:ext cx="152" cy="1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55562" tIns="28575" rIns="55562" bIns="28575">
                <a:spAutoFit/>
              </a:bodyPr>
              <a:lstStyle/>
              <a:p>
                <a:pPr algn="ctr" defTabSz="330200"/>
                <a:r>
                  <a:rPr lang="en-US" sz="800" b="1"/>
                  <a:t>O0</a:t>
                </a:r>
              </a:p>
            </p:txBody>
          </p:sp>
        </p:grpSp>
      </p:grpSp>
      <p:sp>
        <p:nvSpPr>
          <p:cNvPr id="69637" name="Text Box 78" descr="Wide upward diagonal"/>
          <p:cNvSpPr txBox="1">
            <a:spLocks noChangeArrowheads="1"/>
          </p:cNvSpPr>
          <p:nvPr/>
        </p:nvSpPr>
        <p:spPr bwMode="auto">
          <a:xfrm>
            <a:off x="2063751" y="5359400"/>
            <a:ext cx="403225" cy="6413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sz="3600" dirty="0"/>
              <a:t>=</a:t>
            </a:r>
          </a:p>
        </p:txBody>
      </p:sp>
      <p:sp>
        <p:nvSpPr>
          <p:cNvPr id="69638" name="Text Box 79" descr="Wide upward diagonal"/>
          <p:cNvSpPr txBox="1">
            <a:spLocks noChangeArrowheads="1"/>
          </p:cNvSpPr>
          <p:nvPr/>
        </p:nvSpPr>
        <p:spPr bwMode="auto">
          <a:xfrm>
            <a:off x="6454775" y="3481388"/>
            <a:ext cx="403225" cy="5588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3600"/>
              <a:t>=</a:t>
            </a:r>
          </a:p>
        </p:txBody>
      </p:sp>
      <p:sp>
        <p:nvSpPr>
          <p:cNvPr id="69639" name="Rectangle 80"/>
          <p:cNvSpPr>
            <a:spLocks noChangeArrowheads="1"/>
          </p:cNvSpPr>
          <p:nvPr/>
        </p:nvSpPr>
        <p:spPr bwMode="auto">
          <a:xfrm>
            <a:off x="5329238" y="2347913"/>
            <a:ext cx="684212" cy="2794000"/>
          </a:xfrm>
          <a:prstGeom prst="rect">
            <a:avLst/>
          </a:prstGeom>
          <a:solidFill>
            <a:srgbClr val="FFCC0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1" name="Group 81"/>
          <p:cNvGrpSpPr>
            <a:grpSpLocks/>
          </p:cNvGrpSpPr>
          <p:nvPr/>
        </p:nvGrpSpPr>
        <p:grpSpPr bwMode="auto">
          <a:xfrm>
            <a:off x="5253038" y="3838575"/>
            <a:ext cx="850900" cy="1184275"/>
            <a:chOff x="3024" y="1344"/>
            <a:chExt cx="528" cy="480"/>
          </a:xfrm>
        </p:grpSpPr>
        <p:sp>
          <p:nvSpPr>
            <p:cNvPr id="69692" name="Rectangle 82"/>
            <p:cNvSpPr>
              <a:spLocks noChangeArrowheads="1"/>
            </p:cNvSpPr>
            <p:nvPr/>
          </p:nvSpPr>
          <p:spPr bwMode="auto">
            <a:xfrm>
              <a:off x="3120" y="1344"/>
              <a:ext cx="336" cy="480"/>
            </a:xfrm>
            <a:prstGeom prst="rect">
              <a:avLst/>
            </a:prstGeom>
            <a:solidFill>
              <a:srgbClr val="FFFF99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000"/>
                <a:t>LUT</a:t>
              </a:r>
            </a:p>
          </p:txBody>
        </p:sp>
        <p:sp>
          <p:nvSpPr>
            <p:cNvPr id="69693" name="Line 83"/>
            <p:cNvSpPr>
              <a:spLocks noChangeShapeType="1"/>
            </p:cNvSpPr>
            <p:nvPr/>
          </p:nvSpPr>
          <p:spPr bwMode="auto">
            <a:xfrm flipH="1">
              <a:off x="3024" y="1440"/>
              <a:ext cx="9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694" name="Line 84"/>
            <p:cNvSpPr>
              <a:spLocks noChangeShapeType="1"/>
            </p:cNvSpPr>
            <p:nvPr/>
          </p:nvSpPr>
          <p:spPr bwMode="auto">
            <a:xfrm flipH="1">
              <a:off x="3024" y="1536"/>
              <a:ext cx="9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695" name="Line 85"/>
            <p:cNvSpPr>
              <a:spLocks noChangeShapeType="1"/>
            </p:cNvSpPr>
            <p:nvPr/>
          </p:nvSpPr>
          <p:spPr bwMode="auto">
            <a:xfrm flipH="1">
              <a:off x="3024" y="1632"/>
              <a:ext cx="9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696" name="Line 86"/>
            <p:cNvSpPr>
              <a:spLocks noChangeShapeType="1"/>
            </p:cNvSpPr>
            <p:nvPr/>
          </p:nvSpPr>
          <p:spPr bwMode="auto">
            <a:xfrm flipH="1">
              <a:off x="3024" y="1728"/>
              <a:ext cx="9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697" name="Line 87"/>
            <p:cNvSpPr>
              <a:spLocks noChangeShapeType="1"/>
            </p:cNvSpPr>
            <p:nvPr/>
          </p:nvSpPr>
          <p:spPr bwMode="auto">
            <a:xfrm flipH="1">
              <a:off x="3456" y="1584"/>
              <a:ext cx="9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2" name="Group 88"/>
          <p:cNvGrpSpPr>
            <a:grpSpLocks/>
          </p:cNvGrpSpPr>
          <p:nvPr/>
        </p:nvGrpSpPr>
        <p:grpSpPr bwMode="auto">
          <a:xfrm>
            <a:off x="5253038" y="2533650"/>
            <a:ext cx="850900" cy="1185863"/>
            <a:chOff x="3024" y="1344"/>
            <a:chExt cx="528" cy="480"/>
          </a:xfrm>
        </p:grpSpPr>
        <p:sp>
          <p:nvSpPr>
            <p:cNvPr id="69686" name="Rectangle 89"/>
            <p:cNvSpPr>
              <a:spLocks noChangeArrowheads="1"/>
            </p:cNvSpPr>
            <p:nvPr/>
          </p:nvSpPr>
          <p:spPr bwMode="auto">
            <a:xfrm>
              <a:off x="3120" y="1344"/>
              <a:ext cx="336" cy="480"/>
            </a:xfrm>
            <a:prstGeom prst="rect">
              <a:avLst/>
            </a:prstGeom>
            <a:solidFill>
              <a:srgbClr val="FFFF99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000"/>
                <a:t>LUT</a:t>
              </a:r>
            </a:p>
          </p:txBody>
        </p:sp>
        <p:sp>
          <p:nvSpPr>
            <p:cNvPr id="69687" name="Line 90"/>
            <p:cNvSpPr>
              <a:spLocks noChangeShapeType="1"/>
            </p:cNvSpPr>
            <p:nvPr/>
          </p:nvSpPr>
          <p:spPr bwMode="auto">
            <a:xfrm flipH="1">
              <a:off x="3024" y="1440"/>
              <a:ext cx="9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688" name="Line 91"/>
            <p:cNvSpPr>
              <a:spLocks noChangeShapeType="1"/>
            </p:cNvSpPr>
            <p:nvPr/>
          </p:nvSpPr>
          <p:spPr bwMode="auto">
            <a:xfrm flipH="1">
              <a:off x="3024" y="1536"/>
              <a:ext cx="9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689" name="Line 92"/>
            <p:cNvSpPr>
              <a:spLocks noChangeShapeType="1"/>
            </p:cNvSpPr>
            <p:nvPr/>
          </p:nvSpPr>
          <p:spPr bwMode="auto">
            <a:xfrm flipH="1">
              <a:off x="3024" y="1632"/>
              <a:ext cx="9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690" name="Line 93"/>
            <p:cNvSpPr>
              <a:spLocks noChangeShapeType="1"/>
            </p:cNvSpPr>
            <p:nvPr/>
          </p:nvSpPr>
          <p:spPr bwMode="auto">
            <a:xfrm flipH="1">
              <a:off x="3024" y="1728"/>
              <a:ext cx="9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691" name="Line 94"/>
            <p:cNvSpPr>
              <a:spLocks noChangeShapeType="1"/>
            </p:cNvSpPr>
            <p:nvPr/>
          </p:nvSpPr>
          <p:spPr bwMode="auto">
            <a:xfrm flipH="1">
              <a:off x="3456" y="1584"/>
              <a:ext cx="9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69642" name="AutoShape 95" descr="Wide upward diagonal"/>
          <p:cNvSpPr>
            <a:spLocks/>
          </p:cNvSpPr>
          <p:nvPr/>
        </p:nvSpPr>
        <p:spPr bwMode="auto">
          <a:xfrm flipH="1">
            <a:off x="6059488" y="2293938"/>
            <a:ext cx="444500" cy="2895600"/>
          </a:xfrm>
          <a:prstGeom prst="leftBrace">
            <a:avLst>
              <a:gd name="adj1" fmla="val 54286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9643" name="Text Box 96" descr="Wide upward diagonal"/>
          <p:cNvSpPr txBox="1">
            <a:spLocks noChangeArrowheads="1"/>
          </p:cNvSpPr>
          <p:nvPr/>
        </p:nvSpPr>
        <p:spPr bwMode="auto">
          <a:xfrm>
            <a:off x="7391400" y="3124200"/>
            <a:ext cx="558800" cy="5588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3600" b="1" dirty="0"/>
              <a:t>or</a:t>
            </a:r>
          </a:p>
        </p:txBody>
      </p:sp>
      <p:grpSp>
        <p:nvGrpSpPr>
          <p:cNvPr id="13" name="Group 97"/>
          <p:cNvGrpSpPr>
            <a:grpSpLocks/>
          </p:cNvGrpSpPr>
          <p:nvPr/>
        </p:nvGrpSpPr>
        <p:grpSpPr bwMode="auto">
          <a:xfrm>
            <a:off x="762000" y="4848225"/>
            <a:ext cx="1171575" cy="1400175"/>
            <a:chOff x="3024" y="1344"/>
            <a:chExt cx="528" cy="480"/>
          </a:xfrm>
        </p:grpSpPr>
        <p:sp>
          <p:nvSpPr>
            <p:cNvPr id="69680" name="Rectangle 98"/>
            <p:cNvSpPr>
              <a:spLocks noChangeArrowheads="1"/>
            </p:cNvSpPr>
            <p:nvPr/>
          </p:nvSpPr>
          <p:spPr bwMode="auto">
            <a:xfrm>
              <a:off x="3120" y="1344"/>
              <a:ext cx="336" cy="480"/>
            </a:xfrm>
            <a:prstGeom prst="rect">
              <a:avLst/>
            </a:prstGeom>
            <a:solidFill>
              <a:srgbClr val="FFFF99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000"/>
                <a:t>LUT</a:t>
              </a:r>
            </a:p>
          </p:txBody>
        </p:sp>
        <p:sp>
          <p:nvSpPr>
            <p:cNvPr id="69681" name="Line 99"/>
            <p:cNvSpPr>
              <a:spLocks noChangeShapeType="1"/>
            </p:cNvSpPr>
            <p:nvPr/>
          </p:nvSpPr>
          <p:spPr bwMode="auto">
            <a:xfrm flipH="1">
              <a:off x="3024" y="1440"/>
              <a:ext cx="9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682" name="Line 100"/>
            <p:cNvSpPr>
              <a:spLocks noChangeShapeType="1"/>
            </p:cNvSpPr>
            <p:nvPr/>
          </p:nvSpPr>
          <p:spPr bwMode="auto">
            <a:xfrm flipH="1">
              <a:off x="3024" y="1536"/>
              <a:ext cx="9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683" name="Line 101"/>
            <p:cNvSpPr>
              <a:spLocks noChangeShapeType="1"/>
            </p:cNvSpPr>
            <p:nvPr/>
          </p:nvSpPr>
          <p:spPr bwMode="auto">
            <a:xfrm flipH="1">
              <a:off x="3024" y="1632"/>
              <a:ext cx="9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684" name="Line 102"/>
            <p:cNvSpPr>
              <a:spLocks noChangeShapeType="1"/>
            </p:cNvSpPr>
            <p:nvPr/>
          </p:nvSpPr>
          <p:spPr bwMode="auto">
            <a:xfrm flipH="1">
              <a:off x="3024" y="1728"/>
              <a:ext cx="9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685" name="Line 103"/>
            <p:cNvSpPr>
              <a:spLocks noChangeShapeType="1"/>
            </p:cNvSpPr>
            <p:nvPr/>
          </p:nvSpPr>
          <p:spPr bwMode="auto">
            <a:xfrm flipH="1">
              <a:off x="3456" y="1584"/>
              <a:ext cx="9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69647" name="Rectangle 152"/>
          <p:cNvSpPr>
            <a:spLocks noGrp="1" noChangeArrowheads="1"/>
          </p:cNvSpPr>
          <p:nvPr>
            <p:ph type="title"/>
          </p:nvPr>
        </p:nvSpPr>
        <p:spPr>
          <a:xfrm>
            <a:off x="609600" y="460375"/>
            <a:ext cx="5334000" cy="987425"/>
          </a:xfrm>
        </p:spPr>
        <p:txBody>
          <a:bodyPr/>
          <a:lstStyle/>
          <a:p>
            <a:r>
              <a:rPr lang="en-US" dirty="0" smtClean="0"/>
              <a:t>Distributed RAM</a:t>
            </a:r>
          </a:p>
        </p:txBody>
      </p:sp>
      <p:sp>
        <p:nvSpPr>
          <p:cNvPr id="69648" name="Rectangle 153"/>
          <p:cNvSpPr>
            <a:spLocks noGrp="1" noChangeArrowheads="1"/>
          </p:cNvSpPr>
          <p:nvPr>
            <p:ph type="body" sz="half" idx="1"/>
          </p:nvPr>
        </p:nvSpPr>
        <p:spPr>
          <a:xfrm>
            <a:off x="609600" y="1389063"/>
            <a:ext cx="4572000" cy="3335337"/>
          </a:xfrm>
        </p:spPr>
        <p:txBody>
          <a:bodyPr/>
          <a:lstStyle/>
          <a:p>
            <a:r>
              <a:rPr lang="en-US" sz="2800" dirty="0" smtClean="0"/>
              <a:t>A LUT in a SLICEM may be configured for use as a RAM</a:t>
            </a:r>
          </a:p>
          <a:p>
            <a:pPr lvl="1"/>
            <a:r>
              <a:rPr lang="en-US" sz="2400" dirty="0" smtClean="0"/>
              <a:t>Implement single and dual port</a:t>
            </a:r>
          </a:p>
          <a:p>
            <a:pPr lvl="1"/>
            <a:r>
              <a:rPr lang="en-US" sz="2400" dirty="0" smtClean="0"/>
              <a:t>Cascade LUTs to increase size</a:t>
            </a:r>
          </a:p>
          <a:p>
            <a:r>
              <a:rPr lang="en-US" sz="2800" dirty="0" smtClean="0"/>
              <a:t>Synchronous write only</a:t>
            </a:r>
          </a:p>
          <a:p>
            <a:r>
              <a:rPr lang="en-US" sz="2800" dirty="0" smtClean="0"/>
              <a:t>Reads may be synchronous</a:t>
            </a:r>
            <a:br>
              <a:rPr lang="en-US" sz="2800" dirty="0" smtClean="0"/>
            </a:br>
            <a:r>
              <a:rPr lang="en-US" sz="2800" dirty="0" smtClean="0"/>
              <a:t>or asynchronous.</a:t>
            </a:r>
          </a:p>
        </p:txBody>
      </p:sp>
      <p:sp>
        <p:nvSpPr>
          <p:cNvPr id="138" name="Slide Number Placeholder 2"/>
          <p:cNvSpPr txBox="1">
            <a:spLocks/>
          </p:cNvSpPr>
          <p:nvPr/>
        </p:nvSpPr>
        <p:spPr>
          <a:xfrm>
            <a:off x="146304" y="6324600"/>
            <a:ext cx="691896" cy="533400"/>
          </a:xfrm>
          <a:prstGeom prst="ellipse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9" name="Rectangle 138"/>
          <p:cNvSpPr/>
          <p:nvPr/>
        </p:nvSpPr>
        <p:spPr>
          <a:xfrm>
            <a:off x="685800" y="6488668"/>
            <a:ext cx="309225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 smtClean="0"/>
              <a:t>Source: EE178 Lecture 4, by T. </a:t>
            </a:r>
            <a:r>
              <a:rPr lang="en-US" sz="1600" dirty="0" err="1" smtClean="0"/>
              <a:t>Cauhuu</a:t>
            </a:r>
            <a:endParaRPr lang="en-US" sz="16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Block RAM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447800"/>
            <a:ext cx="4648200" cy="5029200"/>
          </a:xfrm>
        </p:spPr>
        <p:txBody>
          <a:bodyPr>
            <a:normAutofit/>
          </a:bodyPr>
          <a:lstStyle/>
          <a:p>
            <a:r>
              <a:rPr lang="en-US" sz="2400" dirty="0" smtClean="0"/>
              <a:t>On-chip memory blocks of Static RAM</a:t>
            </a:r>
          </a:p>
          <a:p>
            <a:r>
              <a:rPr lang="en-US" sz="2400" dirty="0" smtClean="0"/>
              <a:t>Both single and dual-port memories</a:t>
            </a:r>
          </a:p>
          <a:p>
            <a:r>
              <a:rPr lang="en-US" sz="2400" dirty="0" smtClean="0"/>
              <a:t>XC3S400 has two columns of RAM</a:t>
            </a:r>
          </a:p>
          <a:p>
            <a:r>
              <a:rPr lang="en-US" sz="2400" dirty="0" smtClean="0"/>
              <a:t>Each column contains 8 blocks of RAM (the figure shows 6 blocks!)</a:t>
            </a:r>
          </a:p>
          <a:p>
            <a:r>
              <a:rPr lang="en-US" sz="2400" dirty="0" smtClean="0"/>
              <a:t>Each block is 18-kilobit synchronous RAM</a:t>
            </a:r>
          </a:p>
          <a:p>
            <a:pPr lvl="1"/>
            <a:r>
              <a:rPr lang="en-US" sz="2200" dirty="0" smtClean="0"/>
              <a:t>Each block has 16 </a:t>
            </a:r>
            <a:r>
              <a:rPr lang="en-US" sz="2200" dirty="0"/>
              <a:t>kb </a:t>
            </a:r>
            <a:r>
              <a:rPr lang="en-US" sz="2200" dirty="0" smtClean="0"/>
              <a:t>data, 2kb parity</a:t>
            </a:r>
          </a:p>
          <a:p>
            <a:pPr lvl="1"/>
            <a:r>
              <a:rPr lang="en-US" sz="2400" dirty="0" smtClean="0"/>
              <a:t>Total RAM=18 kb×16 blocks= 288 kb</a:t>
            </a:r>
            <a:endParaRPr lang="en-US" dirty="0"/>
          </a:p>
        </p:txBody>
      </p:sp>
      <p:pic>
        <p:nvPicPr>
          <p:cNvPr id="14643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105400" y="1524000"/>
            <a:ext cx="3895725" cy="3981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Block RAM organization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Can be used as RAM blocks with different lengths and widths</a:t>
            </a:r>
          </a:p>
          <a:p>
            <a:r>
              <a:rPr lang="en-US" dirty="0" smtClean="0"/>
              <a:t>2kb of the RAM is devoted to parity bits</a:t>
            </a:r>
          </a:p>
          <a:p>
            <a:r>
              <a:rPr lang="en-US" dirty="0" smtClean="0"/>
              <a:t>16Kx1 configuration can be used as a large lookup table</a:t>
            </a:r>
            <a:endParaRPr lang="en-US" dirty="0"/>
          </a:p>
        </p:txBody>
      </p:sp>
      <p:graphicFrame>
        <p:nvGraphicFramePr>
          <p:cNvPr id="147459" name="Object 4"/>
          <p:cNvGraphicFramePr>
            <a:graphicFrameLocks noChangeAspect="1"/>
          </p:cNvGraphicFramePr>
          <p:nvPr/>
        </p:nvGraphicFramePr>
        <p:xfrm>
          <a:off x="1905000" y="3048000"/>
          <a:ext cx="4991100" cy="208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560" name="Worksheet" r:id="rId4" imgW="5895000" imgH="2452680" progId="Excel.Sheet.8">
                  <p:embed/>
                </p:oleObj>
              </mc:Choice>
              <mc:Fallback>
                <p:oleObj name="Worksheet" r:id="rId4" imgW="5895000" imgH="2452680" progId="Excel.Shee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3048000"/>
                        <a:ext cx="4991100" cy="2082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FPGA components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Configurable Logic Blocks (Lecture 5)</a:t>
            </a:r>
          </a:p>
          <a:p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Interconnects (Lecture 6)</a:t>
            </a:r>
          </a:p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Carry-chain</a:t>
            </a:r>
          </a:p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Memory</a:t>
            </a:r>
          </a:p>
          <a:p>
            <a:r>
              <a:rPr lang="en-US" b="1" dirty="0"/>
              <a:t>Dedicated multipliers</a:t>
            </a:r>
          </a:p>
          <a:p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Programmable Input Output Blocks (IOB)</a:t>
            </a:r>
          </a:p>
          <a:p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Clock manager</a:t>
            </a:r>
          </a:p>
          <a:p>
            <a:pP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47946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Multiplier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4038600" cy="4572000"/>
          </a:xfrm>
        </p:spPr>
        <p:txBody>
          <a:bodyPr/>
          <a:lstStyle/>
          <a:p>
            <a:r>
              <a:rPr lang="en-US" dirty="0" smtClean="0"/>
              <a:t>18×18 multipliers</a:t>
            </a:r>
          </a:p>
          <a:p>
            <a:r>
              <a:rPr lang="en-US" dirty="0" smtClean="0"/>
              <a:t>Very fast: single cycle latency</a:t>
            </a:r>
          </a:p>
          <a:p>
            <a:r>
              <a:rPr lang="en-US" dirty="0" smtClean="0"/>
              <a:t>16 multipliers in Spartan-3</a:t>
            </a:r>
          </a:p>
          <a:p>
            <a:r>
              <a:rPr lang="en-US" dirty="0" smtClean="0"/>
              <a:t>Can use registers in input and output of  each multiplier</a:t>
            </a:r>
          </a:p>
          <a:p>
            <a:pPr lvl="1"/>
            <a:r>
              <a:rPr lang="en-US" dirty="0" smtClean="0"/>
              <a:t>For pipelined operation</a:t>
            </a:r>
            <a:endParaRPr lang="en-US" dirty="0"/>
          </a:p>
        </p:txBody>
      </p:sp>
      <p:grpSp>
        <p:nvGrpSpPr>
          <p:cNvPr id="5" name="Group 8"/>
          <p:cNvGrpSpPr>
            <a:grpSpLocks/>
          </p:cNvGrpSpPr>
          <p:nvPr/>
        </p:nvGrpSpPr>
        <p:grpSpPr bwMode="auto">
          <a:xfrm>
            <a:off x="990600" y="4648200"/>
            <a:ext cx="2868612" cy="1771650"/>
            <a:chOff x="816" y="1392"/>
            <a:chExt cx="1807" cy="1116"/>
          </a:xfrm>
        </p:grpSpPr>
        <p:pic>
          <p:nvPicPr>
            <p:cNvPr id="6" name="Picture 9" descr="Background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816" y="1392"/>
              <a:ext cx="1807" cy="11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7" name="Text Box 10"/>
            <p:cNvSpPr txBox="1">
              <a:spLocks noChangeArrowheads="1"/>
            </p:cNvSpPr>
            <p:nvPr/>
          </p:nvSpPr>
          <p:spPr bwMode="auto">
            <a:xfrm>
              <a:off x="913" y="1672"/>
              <a:ext cx="351" cy="19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400">
                  <a:solidFill>
                    <a:schemeClr val="bg1"/>
                  </a:solidFill>
                </a:rPr>
                <a:t>18 Bit</a:t>
              </a:r>
            </a:p>
          </p:txBody>
        </p:sp>
        <p:sp>
          <p:nvSpPr>
            <p:cNvPr id="8" name="Text Box 11"/>
            <p:cNvSpPr txBox="1">
              <a:spLocks noChangeArrowheads="1"/>
            </p:cNvSpPr>
            <p:nvPr/>
          </p:nvSpPr>
          <p:spPr bwMode="auto">
            <a:xfrm>
              <a:off x="913" y="2160"/>
              <a:ext cx="351" cy="19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400">
                  <a:solidFill>
                    <a:schemeClr val="bg1"/>
                  </a:solidFill>
                </a:rPr>
                <a:t>18 Bit</a:t>
              </a:r>
            </a:p>
          </p:txBody>
        </p:sp>
        <p:sp>
          <p:nvSpPr>
            <p:cNvPr id="9" name="Text Box 12"/>
            <p:cNvSpPr txBox="1">
              <a:spLocks noChangeArrowheads="1"/>
            </p:cNvSpPr>
            <p:nvPr/>
          </p:nvSpPr>
          <p:spPr bwMode="auto">
            <a:xfrm>
              <a:off x="2025" y="1864"/>
              <a:ext cx="351" cy="19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400">
                  <a:solidFill>
                    <a:schemeClr val="bg1"/>
                  </a:solidFill>
                </a:rPr>
                <a:t>36 Bit</a:t>
              </a:r>
            </a:p>
          </p:txBody>
        </p:sp>
      </p:grpSp>
      <p:pic>
        <p:nvPicPr>
          <p:cNvPr id="148482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181600" y="3919298"/>
            <a:ext cx="3581400" cy="27863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" name="Picture 3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257800" y="228600"/>
            <a:ext cx="3352800" cy="34265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Oval 11"/>
          <p:cNvSpPr/>
          <p:nvPr/>
        </p:nvSpPr>
        <p:spPr>
          <a:xfrm>
            <a:off x="6248400" y="3276600"/>
            <a:ext cx="1447800" cy="38100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/>
          <p:cNvGraphicFramePr>
            <a:graphicFrameLocks noChangeAspect="1"/>
          </p:cNvGraphicFramePr>
          <p:nvPr>
            <p:extLst/>
          </p:nvPr>
        </p:nvGraphicFramePr>
        <p:xfrm>
          <a:off x="2212500" y="1295400"/>
          <a:ext cx="5483700" cy="4103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1806" name="Visio" r:id="rId3" imgW="3419399" imgH="2558377" progId="Visio.Drawing.11">
                  <p:embed/>
                </p:oleObj>
              </mc:Choice>
              <mc:Fallback>
                <p:oleObj name="Visio" r:id="rId3" imgW="3419399" imgH="2558377" progId="Visio.Drawing.11">
                  <p:embed/>
                  <p:pic>
                    <p:nvPicPr>
                      <p:cNvPr id="2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2500" y="1295400"/>
                        <a:ext cx="5483700" cy="4103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838200" y="533400"/>
            <a:ext cx="7696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>
              <a:spcBef>
                <a:spcPct val="0"/>
              </a:spcBef>
              <a:buClrTx/>
            </a:pPr>
            <a:r>
              <a:rPr lang="en-GB" sz="4000" dirty="0" smtClea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DSP block</a:t>
            </a:r>
            <a:endParaRPr lang="pl-PL" sz="3600" dirty="0">
              <a:solidFill>
                <a:srgbClr val="000099"/>
              </a:solidFill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915537" y="5562600"/>
            <a:ext cx="7772400" cy="1219200"/>
          </a:xfrm>
          <a:prstGeom prst="rect">
            <a:avLst/>
          </a:prstGeom>
        </p:spPr>
        <p:txBody>
          <a:bodyPr>
            <a:normAutofit/>
          </a:bodyPr>
          <a:lstStyle>
            <a:lvl1pPr marL="274320" indent="-274320" algn="l" rtl="0" eaLnBrk="1" latinLnBrk="0" hangingPunct="1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SzPct val="8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SzPct val="80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FontTx/>
              <a:buChar char="o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In 7-series, we have Multiply and accumulate (MAC), instead of simple multiplier</a:t>
            </a:r>
            <a:endParaRPr lang="en-CA" dirty="0" smtClean="0"/>
          </a:p>
        </p:txBody>
      </p:sp>
    </p:spTree>
    <p:extLst>
      <p:ext uri="{BB962C8B-B14F-4D97-AF65-F5344CB8AC3E}">
        <p14:creationId xmlns:p14="http://schemas.microsoft.com/office/powerpoint/2010/main" val="1053657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650"/>
    </mc:Choice>
    <mc:Fallback xmlns="">
      <p:transition spd="slow" advTm="2650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FPGA components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Configurable Logic Blocks (Lecture 5)</a:t>
            </a:r>
          </a:p>
          <a:p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Interconnects (Lecture 6)</a:t>
            </a:r>
          </a:p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Carry-chain</a:t>
            </a:r>
          </a:p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Memory</a:t>
            </a:r>
          </a:p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Dedicated multipliers</a:t>
            </a:r>
          </a:p>
          <a:p>
            <a:r>
              <a:rPr lang="en-US" b="1" dirty="0" smtClean="0"/>
              <a:t>Programmable Input Output Blocks (IOB)</a:t>
            </a:r>
          </a:p>
          <a:p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Clock manager</a:t>
            </a:r>
          </a:p>
          <a:p>
            <a:pP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982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I/O resources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I/O pins</a:t>
            </a:r>
          </a:p>
          <a:p>
            <a:r>
              <a:rPr lang="en-US" dirty="0" smtClean="0"/>
              <a:t>Can be configured as both input and output</a:t>
            </a:r>
          </a:p>
          <a:p>
            <a:r>
              <a:rPr lang="en-US" dirty="0" smtClean="0"/>
              <a:t>I/O pins have different architectural and electrical aspects</a:t>
            </a:r>
          </a:p>
          <a:p>
            <a:pPr lvl="1"/>
            <a:r>
              <a:rPr lang="en-US" dirty="0" smtClean="0"/>
              <a:t>The most interesting aspect is the double data rate capability</a:t>
            </a:r>
            <a:endParaRPr lang="en-US" dirty="0"/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90600" y="3581400"/>
            <a:ext cx="4572000" cy="3010178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</p:pic>
      <p:sp>
        <p:nvSpPr>
          <p:cNvPr id="6" name="Rectangle 5"/>
          <p:cNvSpPr/>
          <p:nvPr/>
        </p:nvSpPr>
        <p:spPr>
          <a:xfrm>
            <a:off x="5638800" y="4495800"/>
            <a:ext cx="32766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              </a:t>
            </a:r>
            <a:r>
              <a:rPr lang="en-US" sz="2000" dirty="0" smtClean="0"/>
              <a:t>Basic I/O block</a:t>
            </a:r>
          </a:p>
          <a:p>
            <a:r>
              <a:rPr lang="en-US" sz="2000" dirty="0" smtClean="0"/>
              <a:t>More complex blocks in reality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Configurable I/O Standards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/>
          </a:p>
        </p:txBody>
      </p:sp>
      <p:pic>
        <p:nvPicPr>
          <p:cNvPr id="5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1429936"/>
            <a:ext cx="8077200" cy="512326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654829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Spartan-3  I/O- DDR</a:t>
            </a:r>
          </a:p>
        </p:txBody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Double-Data-Rate (DDR) transmission describes the technique of sending data on both the rising and falling edges of the clock</a:t>
            </a:r>
          </a:p>
          <a:p>
            <a:r>
              <a:rPr lang="en-US" dirty="0" smtClean="0"/>
              <a:t>Doubles the bandwidth</a:t>
            </a:r>
          </a:p>
        </p:txBody>
      </p:sp>
      <p:sp>
        <p:nvSpPr>
          <p:cNvPr id="6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146304" y="6248400"/>
            <a:ext cx="387096" cy="3810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 dirty="0"/>
          </a:p>
        </p:txBody>
      </p:sp>
      <p:pic>
        <p:nvPicPr>
          <p:cNvPr id="14950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048000" y="3505200"/>
            <a:ext cx="3495675" cy="290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Spartan-3  I/O- DDR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23</a:t>
            </a:fld>
            <a:endParaRPr lang="en-US"/>
          </a:p>
        </p:txBody>
      </p:sp>
      <p:pic>
        <p:nvPicPr>
          <p:cNvPr id="15053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286000" y="1447800"/>
            <a:ext cx="4505325" cy="283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50531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286000" y="4572000"/>
            <a:ext cx="4933950" cy="190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3426" name="Object 2"/>
          <p:cNvGraphicFramePr>
            <a:graphicFrameLocks noChangeAspect="1"/>
          </p:cNvGraphicFramePr>
          <p:nvPr>
            <p:extLst/>
          </p:nvPr>
        </p:nvGraphicFramePr>
        <p:xfrm>
          <a:off x="609600" y="1524000"/>
          <a:ext cx="8229600" cy="3197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2828" name="Visio" r:id="rId3" imgW="3996157" imgH="1553337" progId="Visio.Drawing.6">
                  <p:embed/>
                </p:oleObj>
              </mc:Choice>
              <mc:Fallback>
                <p:oleObj name="Visio" r:id="rId3" imgW="3996157" imgH="1553337" progId="Visio.Drawing.6">
                  <p:embed/>
                  <p:pic>
                    <p:nvPicPr>
                      <p:cNvPr id="10342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1524000"/>
                        <a:ext cx="8229600" cy="3197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427" name="Rectangle 3"/>
          <p:cNvSpPr>
            <a:spLocks noChangeArrowheads="1"/>
          </p:cNvSpPr>
          <p:nvPr/>
        </p:nvSpPr>
        <p:spPr bwMode="auto">
          <a:xfrm>
            <a:off x="685800" y="6362700"/>
            <a:ext cx="82296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  <a:buClrTx/>
            </a:pPr>
            <a:r>
              <a:rPr kumimoji="0" lang="en-US" sz="1200" dirty="0" smtClean="0"/>
              <a:t>Source: The </a:t>
            </a:r>
            <a:r>
              <a:rPr kumimoji="0" lang="en-US" sz="1200" dirty="0"/>
              <a:t>Design Warrior’s Guide to </a:t>
            </a:r>
            <a:r>
              <a:rPr kumimoji="0" lang="en-US" sz="1200" dirty="0" smtClean="0"/>
              <a:t>FPGAs Devices</a:t>
            </a:r>
            <a:r>
              <a:rPr kumimoji="0" lang="en-US" sz="1200" dirty="0"/>
              <a:t>, Tools, and Flows. ISBN 0750676043</a:t>
            </a:r>
            <a:br>
              <a:rPr kumimoji="0" lang="en-US" sz="1200" dirty="0"/>
            </a:br>
            <a:endParaRPr kumimoji="0" lang="en-US" sz="1200" dirty="0"/>
          </a:p>
        </p:txBody>
      </p:sp>
      <p:sp>
        <p:nvSpPr>
          <p:cNvPr id="103428" name="Rectangle 4"/>
          <p:cNvSpPr>
            <a:spLocks noChangeArrowheads="1"/>
          </p:cNvSpPr>
          <p:nvPr/>
        </p:nvSpPr>
        <p:spPr bwMode="auto">
          <a:xfrm>
            <a:off x="838200" y="457200"/>
            <a:ext cx="8915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>
              <a:spcBef>
                <a:spcPct val="0"/>
              </a:spcBef>
              <a:buClrTx/>
            </a:pPr>
            <a:r>
              <a:rPr lang="en-GB" sz="40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Gigabit Transceiver</a:t>
            </a:r>
            <a:endParaRPr lang="pl-PL" sz="40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914400" y="4953000"/>
            <a:ext cx="7772400" cy="1219200"/>
          </a:xfrm>
          <a:prstGeom prst="rect">
            <a:avLst/>
          </a:prstGeom>
        </p:spPr>
        <p:txBody>
          <a:bodyPr>
            <a:normAutofit/>
          </a:bodyPr>
          <a:lstStyle>
            <a:lvl1pPr marL="274320" indent="-274320" algn="l" rtl="0" eaLnBrk="1" latinLnBrk="0" hangingPunct="1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SzPct val="8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SzPct val="80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FontTx/>
              <a:buChar char="o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Modern FPGAs have dedicated Transceiver blocks for high-speed communication</a:t>
            </a:r>
            <a:endParaRPr lang="en-CA" dirty="0" smtClean="0"/>
          </a:p>
        </p:txBody>
      </p:sp>
    </p:spTree>
    <p:extLst>
      <p:ext uri="{BB962C8B-B14F-4D97-AF65-F5344CB8AC3E}">
        <p14:creationId xmlns:p14="http://schemas.microsoft.com/office/powerpoint/2010/main" val="832616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4450" name="Object 2"/>
          <p:cNvGraphicFramePr>
            <a:graphicFrameLocks noChangeAspect="1"/>
          </p:cNvGraphicFramePr>
          <p:nvPr>
            <p:extLst/>
          </p:nvPr>
        </p:nvGraphicFramePr>
        <p:xfrm>
          <a:off x="381000" y="1878013"/>
          <a:ext cx="8229600" cy="3836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52" name="Visio" r:id="rId3" imgW="4266362" imgH="1989849" progId="Visio.Drawing.6">
                  <p:embed/>
                </p:oleObj>
              </mc:Choice>
              <mc:Fallback>
                <p:oleObj name="Visio" r:id="rId3" imgW="4266362" imgH="1989849" progId="Visio.Drawing.6">
                  <p:embed/>
                  <p:pic>
                    <p:nvPicPr>
                      <p:cNvPr id="10445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1878013"/>
                        <a:ext cx="8229600" cy="3836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452" name="Rectangle 4"/>
          <p:cNvSpPr>
            <a:spLocks noChangeArrowheads="1"/>
          </p:cNvSpPr>
          <p:nvPr/>
        </p:nvSpPr>
        <p:spPr bwMode="auto">
          <a:xfrm>
            <a:off x="838200" y="533400"/>
            <a:ext cx="7696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>
              <a:spcBef>
                <a:spcPct val="0"/>
              </a:spcBef>
              <a:buClrTx/>
            </a:pPr>
            <a:r>
              <a:rPr lang="en-GB" sz="40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Why differential signalling</a:t>
            </a:r>
            <a:r>
              <a:rPr lang="en-GB" sz="3600" dirty="0" smtClean="0">
                <a:solidFill>
                  <a:srgbClr val="000099"/>
                </a:solidFill>
              </a:rPr>
              <a:t>?</a:t>
            </a:r>
            <a:endParaRPr lang="pl-PL" sz="3600" dirty="0">
              <a:solidFill>
                <a:srgbClr val="000099"/>
              </a:solidFill>
            </a:endParaRP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685800" y="6362700"/>
            <a:ext cx="82296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  <a:buClrTx/>
            </a:pPr>
            <a:r>
              <a:rPr kumimoji="0" lang="en-US" sz="1200" dirty="0" smtClean="0"/>
              <a:t>Source: The </a:t>
            </a:r>
            <a:r>
              <a:rPr kumimoji="0" lang="en-US" sz="1200" dirty="0"/>
              <a:t>Design Warrior’s Guide to </a:t>
            </a:r>
            <a:r>
              <a:rPr kumimoji="0" lang="en-US" sz="1200" dirty="0" smtClean="0"/>
              <a:t>FPGAs Devices</a:t>
            </a:r>
            <a:r>
              <a:rPr kumimoji="0" lang="en-US" sz="1200" dirty="0"/>
              <a:t>, Tools, and Flows. ISBN 0750676043</a:t>
            </a:r>
            <a:br>
              <a:rPr kumimoji="0" lang="en-US" sz="1200" dirty="0"/>
            </a:br>
            <a:endParaRPr kumimoji="0" lang="en-US" sz="1200" dirty="0"/>
          </a:p>
        </p:txBody>
      </p:sp>
    </p:spTree>
    <p:extLst>
      <p:ext uri="{BB962C8B-B14F-4D97-AF65-F5344CB8AC3E}">
        <p14:creationId xmlns:p14="http://schemas.microsoft.com/office/powerpoint/2010/main" val="860070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5474" name="Object 2"/>
          <p:cNvGraphicFramePr>
            <a:graphicFrameLocks noChangeAspect="1"/>
          </p:cNvGraphicFramePr>
          <p:nvPr/>
        </p:nvGraphicFramePr>
        <p:xfrm>
          <a:off x="609600" y="1265238"/>
          <a:ext cx="7620000" cy="4144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876" name="Visio" r:id="rId3" imgW="1828000" imgH="994410" progId="Visio.Drawing.6">
                  <p:embed/>
                </p:oleObj>
              </mc:Choice>
              <mc:Fallback>
                <p:oleObj name="Visio" r:id="rId3" imgW="1828000" imgH="994410" progId="Visio.Drawing.6">
                  <p:embed/>
                  <p:pic>
                    <p:nvPicPr>
                      <p:cNvPr id="10547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1265238"/>
                        <a:ext cx="7620000" cy="4144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5476" name="Rectangle 4"/>
          <p:cNvSpPr>
            <a:spLocks noChangeArrowheads="1"/>
          </p:cNvSpPr>
          <p:nvPr/>
        </p:nvSpPr>
        <p:spPr bwMode="auto">
          <a:xfrm>
            <a:off x="838200" y="304800"/>
            <a:ext cx="8342194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>
              <a:spcBef>
                <a:spcPct val="0"/>
              </a:spcBef>
            </a:pPr>
            <a:r>
              <a:rPr lang="pl-PL" sz="40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Generating a Differential Pair</a:t>
            </a: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685800" y="6362700"/>
            <a:ext cx="82296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  <a:buClrTx/>
            </a:pPr>
            <a:r>
              <a:rPr kumimoji="0" lang="en-US" sz="1200" dirty="0" smtClean="0"/>
              <a:t>Source: The </a:t>
            </a:r>
            <a:r>
              <a:rPr kumimoji="0" lang="en-US" sz="1200" dirty="0"/>
              <a:t>Design Warrior’s Guide to </a:t>
            </a:r>
            <a:r>
              <a:rPr kumimoji="0" lang="en-US" sz="1200" dirty="0" smtClean="0"/>
              <a:t>FPGAs Devices</a:t>
            </a:r>
            <a:r>
              <a:rPr kumimoji="0" lang="en-US" sz="1200" dirty="0"/>
              <a:t>, Tools, and Flows. ISBN 0750676043</a:t>
            </a:r>
            <a:br>
              <a:rPr kumimoji="0" lang="en-US" sz="1200" dirty="0"/>
            </a:br>
            <a:endParaRPr kumimoji="0" lang="en-US" sz="1200" dirty="0"/>
          </a:p>
        </p:txBody>
      </p:sp>
    </p:spTree>
    <p:extLst>
      <p:ext uri="{BB962C8B-B14F-4D97-AF65-F5344CB8AC3E}">
        <p14:creationId xmlns:p14="http://schemas.microsoft.com/office/powerpoint/2010/main" val="3820381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I/O pins</a:t>
            </a:r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GB" dirty="0" smtClean="0"/>
              <a:t>In addition to more CLBs, modern families has more I/O pins</a:t>
            </a:r>
          </a:p>
          <a:p>
            <a:r>
              <a:rPr lang="en-GB" dirty="0" smtClean="0"/>
              <a:t>Most Spartan 3 FPGAs have QFP package</a:t>
            </a:r>
            <a:r>
              <a:rPr lang="en-GB" dirty="0"/>
              <a:t>(or some variant of it)</a:t>
            </a:r>
            <a:endParaRPr lang="en-GB" dirty="0" smtClean="0"/>
          </a:p>
          <a:p>
            <a:r>
              <a:rPr lang="en-GB" dirty="0" smtClean="0"/>
              <a:t>Modern FPGA have BGA package</a:t>
            </a:r>
            <a:r>
              <a:rPr lang="en-GB" dirty="0"/>
              <a:t>(or some variant of it</a:t>
            </a:r>
            <a:r>
              <a:rPr lang="en-GB" dirty="0" smtClean="0"/>
              <a:t>)</a:t>
            </a:r>
          </a:p>
          <a:p>
            <a:r>
              <a:rPr lang="en-GB" dirty="0" smtClean="0"/>
              <a:t>What is BGA? QFP?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40053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QFP</a:t>
            </a:r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GB" dirty="0" smtClean="0"/>
              <a:t>Quad Flat Package</a:t>
            </a:r>
          </a:p>
          <a:p>
            <a:r>
              <a:rPr lang="en-GB" dirty="0" smtClean="0"/>
              <a:t>Pins are on each </a:t>
            </a:r>
            <a:r>
              <a:rPr lang="en-GB" dirty="0"/>
              <a:t>of the four </a:t>
            </a:r>
            <a:r>
              <a:rPr lang="en-GB" dirty="0" smtClean="0"/>
              <a:t>sides of the chip</a:t>
            </a:r>
          </a:p>
          <a:p>
            <a:r>
              <a:rPr lang="en-GB" dirty="0" smtClean="0"/>
              <a:t>Limited number of pins, but easier to mount on board</a:t>
            </a:r>
            <a:endParaRPr lang="en-GB" dirty="0"/>
          </a:p>
        </p:txBody>
      </p:sp>
      <p:pic>
        <p:nvPicPr>
          <p:cNvPr id="156674" name="Picture 2" descr="http://www.jps-pcb.com/upfile/2016/05/20160531151306_84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800" y="3810000"/>
            <a:ext cx="2749483" cy="213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6679" name="Picture 7" descr="http://billaltmann.com/wp-content/uploads/2016/07/QFP-package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999" y="3953586"/>
            <a:ext cx="3246467" cy="18464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6706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BGA</a:t>
            </a:r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GB" dirty="0" smtClean="0"/>
              <a:t>Ball Grid Array</a:t>
            </a:r>
          </a:p>
          <a:p>
            <a:r>
              <a:rPr lang="en-GB" dirty="0" smtClean="0"/>
              <a:t>Pins are placed on the whole </a:t>
            </a:r>
            <a:r>
              <a:rPr lang="en-GB" dirty="0"/>
              <a:t>bottom surface of the </a:t>
            </a:r>
            <a:r>
              <a:rPr lang="en-GB" dirty="0" smtClean="0"/>
              <a:t>device, </a:t>
            </a:r>
            <a:r>
              <a:rPr lang="en-GB" dirty="0"/>
              <a:t>instead of just the perimeter</a:t>
            </a:r>
            <a:r>
              <a:rPr lang="en-GB" dirty="0" smtClean="0"/>
              <a:t>.</a:t>
            </a:r>
          </a:p>
          <a:p>
            <a:r>
              <a:rPr lang="en-GB" dirty="0" smtClean="0"/>
              <a:t>More pins, but hard to solder and mount on board</a:t>
            </a:r>
            <a:endParaRPr lang="en-GB" dirty="0"/>
          </a:p>
        </p:txBody>
      </p:sp>
      <p:pic>
        <p:nvPicPr>
          <p:cNvPr id="1556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800" y="3962400"/>
            <a:ext cx="3333750" cy="2505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5652" name="Picture 4" descr="http://www.radio-electronics.com/images/smd-bga-ball-grid-array-package-02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148" y="3810000"/>
            <a:ext cx="3818823" cy="2533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8489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FPGA components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Configurable Logic Blocks (Lecture 5)</a:t>
            </a:r>
          </a:p>
          <a:p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Interconnects (Lecture 6)</a:t>
            </a:r>
          </a:p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Carry-chain</a:t>
            </a:r>
          </a:p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Memory</a:t>
            </a:r>
          </a:p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Dedicated multipliers</a:t>
            </a:r>
          </a:p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Programmable Input Output Blocks (IOB)</a:t>
            </a:r>
          </a:p>
          <a:p>
            <a:r>
              <a:rPr lang="en-US" b="1" dirty="0" smtClean="0"/>
              <a:t>Clock manager</a:t>
            </a:r>
          </a:p>
          <a:p>
            <a:pP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8673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Clock in FPGAs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 of the synchronous elements inside an FPGA need to be driven by a clock signal.</a:t>
            </a:r>
          </a:p>
          <a:p>
            <a:r>
              <a:rPr lang="en-US" dirty="0"/>
              <a:t>Such a clock signal typically originates in the outside world, comes into the FPGA via a special clock input pin, and is then routed through the device and connected to the appropriate registers.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23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Clock in FPGAs</a:t>
            </a:r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GB" dirty="0"/>
              <a:t>Clock skew is an important </a:t>
            </a:r>
            <a:r>
              <a:rPr lang="en-GB" dirty="0" smtClean="0"/>
              <a:t>problem in clock distribution</a:t>
            </a:r>
            <a:endParaRPr lang="en-GB" dirty="0"/>
          </a:p>
          <a:p>
            <a:endParaRPr lang="en-GB" dirty="0"/>
          </a:p>
        </p:txBody>
      </p:sp>
      <p:pic>
        <p:nvPicPr>
          <p:cNvPr id="1607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2286000"/>
            <a:ext cx="7996114" cy="38195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94807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Clocking in FPGAs- skew problem</a:t>
            </a:r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GB" dirty="0" smtClean="0"/>
              <a:t>Clock skew is an important problem</a:t>
            </a:r>
            <a:endParaRPr lang="en-GB" dirty="0"/>
          </a:p>
        </p:txBody>
      </p:sp>
      <p:pic>
        <p:nvPicPr>
          <p:cNvPr id="1597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2590800"/>
            <a:ext cx="8195310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9392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Skew solution</a:t>
            </a:r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GB" dirty="0"/>
              <a:t>Don’t use gated clocks</a:t>
            </a:r>
          </a:p>
          <a:p>
            <a:r>
              <a:rPr lang="en-GB" dirty="0" smtClean="0"/>
              <a:t>Balance </a:t>
            </a:r>
            <a:r>
              <a:rPr lang="en-GB" dirty="0"/>
              <a:t>clock paths (tree distribution</a:t>
            </a:r>
            <a:r>
              <a:rPr lang="en-GB" dirty="0" smtClean="0"/>
              <a:t>)</a:t>
            </a:r>
          </a:p>
          <a:p>
            <a:r>
              <a:rPr lang="en-GB" dirty="0" smtClean="0"/>
              <a:t>The most common way: H-tree:</a:t>
            </a:r>
          </a:p>
          <a:p>
            <a:pPr lvl="1"/>
            <a:r>
              <a:rPr lang="en-GB" dirty="0" smtClean="0"/>
              <a:t>All FFs (black squares) </a:t>
            </a:r>
          </a:p>
          <a:p>
            <a:pPr marL="0" indent="0">
              <a:buNone/>
            </a:pPr>
            <a:r>
              <a:rPr lang="en-GB" dirty="0" smtClean="0"/>
              <a:t>        receive clock at the same time</a:t>
            </a:r>
            <a:endParaRPr lang="en-GB" dirty="0"/>
          </a:p>
        </p:txBody>
      </p:sp>
      <p:pic>
        <p:nvPicPr>
          <p:cNvPr id="1576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800" y="3124200"/>
            <a:ext cx="3144116" cy="33175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32900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Realistic H-trees</a:t>
            </a:r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35</a:t>
            </a:fld>
            <a:endParaRPr lang="en-US"/>
          </a:p>
        </p:txBody>
      </p:sp>
      <p:pic>
        <p:nvPicPr>
          <p:cNvPr id="1587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3138" y="2286000"/>
            <a:ext cx="2962275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87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828800"/>
            <a:ext cx="5638800" cy="41216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235442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FPGA clock tree</a:t>
            </a:r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914400" y="5486400"/>
            <a:ext cx="7772400" cy="914400"/>
          </a:xfrm>
        </p:spPr>
        <p:txBody>
          <a:bodyPr/>
          <a:lstStyle/>
          <a:p>
            <a:endParaRPr lang="en-GB" dirty="0"/>
          </a:p>
        </p:txBody>
      </p:sp>
      <p:pic>
        <p:nvPicPr>
          <p:cNvPr id="1556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1447800"/>
            <a:ext cx="7173278" cy="3886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890977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6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801" y="914400"/>
            <a:ext cx="4800600" cy="5825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Spartan-3 clock tree</a:t>
            </a:r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685800" y="1447800"/>
            <a:ext cx="3505200" cy="4572000"/>
          </a:xfrm>
        </p:spPr>
        <p:txBody>
          <a:bodyPr/>
          <a:lstStyle/>
          <a:p>
            <a:r>
              <a:rPr lang="en-GB" dirty="0"/>
              <a:t>Spartan-3 devices have eight Global Clock input pads called GCLK0 through </a:t>
            </a:r>
            <a:r>
              <a:rPr lang="en-GB" dirty="0" smtClean="0"/>
              <a:t>GCLK7</a:t>
            </a:r>
          </a:p>
          <a:p>
            <a:r>
              <a:rPr lang="en-GB" dirty="0" smtClean="0"/>
              <a:t>The eight BUFGMUX components (4 at the top and 4 at the bottom side) can </a:t>
            </a:r>
            <a:r>
              <a:rPr lang="en-GB" dirty="0"/>
              <a:t>multiplex between </a:t>
            </a:r>
            <a:r>
              <a:rPr lang="en-GB" dirty="0" smtClean="0"/>
              <a:t>clock sources</a:t>
            </a:r>
          </a:p>
          <a:p>
            <a:pPr lvl="1"/>
            <a:r>
              <a:rPr lang="en-GB" dirty="0" smtClean="0"/>
              <a:t>From input pins or from DCMs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713096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Digital Clock Manager (DCM)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246017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Used to generate clock signal for FPGA out of the external clock signal</a:t>
            </a:r>
          </a:p>
          <a:p>
            <a:r>
              <a:rPr lang="en-US" dirty="0"/>
              <a:t>Phase Shift a clock </a:t>
            </a:r>
            <a:r>
              <a:rPr lang="en-US" dirty="0" smtClean="0"/>
              <a:t>signal</a:t>
            </a:r>
          </a:p>
          <a:p>
            <a:r>
              <a:rPr lang="en-US" dirty="0" smtClean="0"/>
              <a:t>Multiply </a:t>
            </a:r>
            <a:r>
              <a:rPr lang="en-US" dirty="0"/>
              <a:t>or </a:t>
            </a:r>
            <a:r>
              <a:rPr lang="en-US" dirty="0" smtClean="0"/>
              <a:t>divide an incoming clock frequency or </a:t>
            </a:r>
            <a:r>
              <a:rPr lang="en-US" dirty="0"/>
              <a:t>synthesize a completely new frequency by a mixture of </a:t>
            </a:r>
            <a:r>
              <a:rPr lang="en-US" dirty="0" smtClean="0"/>
              <a:t>clock multiplication </a:t>
            </a:r>
            <a:r>
              <a:rPr lang="en-US" dirty="0"/>
              <a:t>and </a:t>
            </a:r>
            <a:r>
              <a:rPr lang="en-US" dirty="0" smtClean="0"/>
              <a:t>division</a:t>
            </a:r>
            <a:endParaRPr lang="en-US" dirty="0"/>
          </a:p>
        </p:txBody>
      </p:sp>
      <p:pic>
        <p:nvPicPr>
          <p:cNvPr id="148488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5632965"/>
            <a:ext cx="5105400" cy="7909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TextBox 13"/>
          <p:cNvSpPr txBox="1"/>
          <p:nvPr/>
        </p:nvSpPr>
        <p:spPr>
          <a:xfrm>
            <a:off x="7315200" y="5867400"/>
            <a:ext cx="114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Phase shift</a:t>
            </a:r>
          </a:p>
        </p:txBody>
      </p:sp>
      <p:pic>
        <p:nvPicPr>
          <p:cNvPr id="14848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3886200"/>
            <a:ext cx="6781800" cy="15197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34102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Old FPGAs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990600"/>
          </a:xfrm>
        </p:spPr>
        <p:txBody>
          <a:bodyPr>
            <a:normAutofit/>
          </a:bodyPr>
          <a:lstStyle/>
          <a:p>
            <a:r>
              <a:rPr lang="en-US" dirty="0"/>
              <a:t>Spartan-3</a:t>
            </a:r>
          </a:p>
          <a:p>
            <a:endParaRPr lang="en-US" dirty="0"/>
          </a:p>
        </p:txBody>
      </p:sp>
      <p:pic>
        <p:nvPicPr>
          <p:cNvPr id="14131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1000" y="2326351"/>
            <a:ext cx="8505825" cy="32004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</p:pic>
      <p:sp>
        <p:nvSpPr>
          <p:cNvPr id="7" name="Oval 6"/>
          <p:cNvSpPr/>
          <p:nvPr/>
        </p:nvSpPr>
        <p:spPr>
          <a:xfrm>
            <a:off x="381000" y="4343400"/>
            <a:ext cx="762000" cy="228600"/>
          </a:xfrm>
          <a:prstGeom prst="ellipse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457200" y="6553200"/>
            <a:ext cx="4572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sv-SE" sz="1200" dirty="0" smtClean="0"/>
              <a:t>Source: Spartan-3 Generation FPGA User Guide, Xilinx ug331 (v1.8)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419184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Logic cell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40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2133600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Logic cell: LUT + Flip-flop </a:t>
            </a:r>
          </a:p>
          <a:p>
            <a:r>
              <a:rPr lang="en-US" dirty="0" smtClean="0"/>
              <a:t> The additional features in a slice, such as the wide multiplexers, carry logic, and arithmetic gates, add to the capacity of a slice</a:t>
            </a:r>
          </a:p>
          <a:p>
            <a:pPr lvl="1"/>
            <a:r>
              <a:rPr lang="en-US" dirty="0" smtClean="0"/>
              <a:t>Implementing logic that would otherwise require additional LUTs</a:t>
            </a:r>
          </a:p>
          <a:p>
            <a:r>
              <a:rPr lang="en-US" dirty="0" smtClean="0"/>
              <a:t> Benchmarks show that the overall slice is equivalent to 2.25 simple logic cells</a:t>
            </a:r>
            <a:endParaRPr lang="en-US" dirty="0"/>
          </a:p>
        </p:txBody>
      </p:sp>
      <p:pic>
        <p:nvPicPr>
          <p:cNvPr id="14131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24000" y="3733800"/>
            <a:ext cx="6278108" cy="23622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</p:pic>
      <p:sp>
        <p:nvSpPr>
          <p:cNvPr id="7" name="Oval 6"/>
          <p:cNvSpPr/>
          <p:nvPr/>
        </p:nvSpPr>
        <p:spPr>
          <a:xfrm>
            <a:off x="2362200" y="3581400"/>
            <a:ext cx="838200" cy="2667000"/>
          </a:xfrm>
          <a:prstGeom prst="ellipse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457200" y="6553200"/>
            <a:ext cx="4572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sv-SE" sz="1200" dirty="0" smtClean="0"/>
              <a:t>Source: Spartan-3 Generation FPGA User Guide, Xilinx ug331 (v1.8)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236071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Modern Xilinx FPGAs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914400" y="3486150"/>
            <a:ext cx="7772400" cy="2533650"/>
          </a:xfrm>
        </p:spPr>
        <p:txBody>
          <a:bodyPr/>
          <a:lstStyle/>
          <a:p>
            <a:r>
              <a:rPr lang="en-US" dirty="0" err="1" smtClean="0"/>
              <a:t>Virtex</a:t>
            </a:r>
            <a:r>
              <a:rPr lang="en-US" dirty="0" smtClean="0"/>
              <a:t>: high capacity (up to 2M logic cells), high-performance</a:t>
            </a:r>
          </a:p>
          <a:p>
            <a:r>
              <a:rPr lang="en-US" dirty="0" err="1" smtClean="0"/>
              <a:t>Kintex</a:t>
            </a:r>
            <a:r>
              <a:rPr lang="en-US" dirty="0" smtClean="0"/>
              <a:t>: high performance, but smaller than </a:t>
            </a:r>
            <a:r>
              <a:rPr lang="en-US" dirty="0" err="1" smtClean="0"/>
              <a:t>Virtex</a:t>
            </a:r>
            <a:endParaRPr lang="en-US" dirty="0" smtClean="0"/>
          </a:p>
          <a:p>
            <a:r>
              <a:rPr lang="en-US" dirty="0" err="1" smtClean="0"/>
              <a:t>Artix</a:t>
            </a:r>
            <a:r>
              <a:rPr lang="en-US" dirty="0" smtClean="0"/>
              <a:t>: mid-range, low-cost and low-power</a:t>
            </a:r>
            <a:endParaRPr lang="fa-IR" dirty="0" smtClean="0"/>
          </a:p>
          <a:p>
            <a:r>
              <a:rPr lang="en-US" dirty="0" smtClean="0"/>
              <a:t>Spartan: low-end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718390"/>
            <a:ext cx="5821519" cy="1441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17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914400" y="228600"/>
            <a:ext cx="8077200" cy="1143000"/>
          </a:xfrm>
        </p:spPr>
        <p:txBody>
          <a:bodyPr tIns="45720" rIns="91440" bIns="45720"/>
          <a:lstStyle/>
          <a:p>
            <a:r>
              <a:rPr lang="en-US" dirty="0"/>
              <a:t>Modern Xilinx FPGAs</a:t>
            </a:r>
            <a:endParaRPr lang="en-US" dirty="0" smtClean="0"/>
          </a:p>
        </p:txBody>
      </p:sp>
      <p:sp>
        <p:nvSpPr>
          <p:cNvPr id="167" name="Content Placeholder 1158"/>
          <p:cNvSpPr txBox="1">
            <a:spLocks/>
          </p:cNvSpPr>
          <p:nvPr/>
        </p:nvSpPr>
        <p:spPr>
          <a:xfrm>
            <a:off x="457200" y="1600200"/>
            <a:ext cx="7243763" cy="4525963"/>
          </a:xfrm>
          <a:prstGeom prst="rect">
            <a:avLst/>
          </a:prstGeom>
        </p:spPr>
        <p:txBody>
          <a:bodyPr/>
          <a:lstStyle/>
          <a:p>
            <a:pPr marL="274320" indent="-274320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</a:pPr>
            <a:r>
              <a:rPr lang="en-US" sz="2600" dirty="0"/>
              <a:t>All 7 series families share the same basic building </a:t>
            </a:r>
            <a:r>
              <a:rPr lang="en-US" sz="2600" dirty="0" smtClean="0"/>
              <a:t>blocks</a:t>
            </a:r>
          </a:p>
          <a:p>
            <a:pPr marL="274320" indent="-274320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</a:pPr>
            <a:r>
              <a:rPr lang="en-US" sz="2600" dirty="0" smtClean="0"/>
              <a:t> </a:t>
            </a:r>
            <a:r>
              <a:rPr lang="en-US" sz="2600" dirty="0"/>
              <a:t>The mixture and number of these resources varies across </a:t>
            </a:r>
            <a:r>
              <a:rPr lang="en-US" sz="2600" dirty="0" smtClean="0"/>
              <a:t>families</a:t>
            </a:r>
            <a:endParaRPr lang="en-US" sz="2600" dirty="0"/>
          </a:p>
          <a:p>
            <a:pPr marL="274320" lvl="1" indent="-274320">
              <a:lnSpc>
                <a:spcPct val="110000"/>
              </a:lnSpc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  <a:defRPr/>
            </a:pPr>
            <a:endParaRPr lang="en-US" sz="2600" dirty="0">
              <a:sym typeface="Wingdings" pitchFamily="2" charset="2"/>
            </a:endParaRPr>
          </a:p>
          <a:p>
            <a:pPr marL="228600" indent="-228600" algn="l" eaLnBrk="0" hangingPunct="0">
              <a:lnSpc>
                <a:spcPct val="110000"/>
              </a:lnSpc>
              <a:spcBef>
                <a:spcPct val="20000"/>
              </a:spcBef>
              <a:buFont typeface="Wingdings" pitchFamily="2" charset="2"/>
              <a:buChar char="§"/>
              <a:defRPr/>
            </a:pPr>
            <a:endParaRPr lang="en-US" sz="2200" kern="0" dirty="0">
              <a:latin typeface="+mn-lt"/>
            </a:endParaRPr>
          </a:p>
          <a:p>
            <a:pPr marL="571500" lvl="1" indent="-228600" algn="l" eaLnBrk="0" hangingPunct="0">
              <a:lnSpc>
                <a:spcPct val="110000"/>
              </a:lnSpc>
              <a:spcBef>
                <a:spcPct val="20000"/>
              </a:spcBef>
              <a:buFontTx/>
              <a:buChar char="–"/>
              <a:defRPr/>
            </a:pPr>
            <a:endParaRPr lang="en-US" sz="2000" kern="0" dirty="0">
              <a:latin typeface="+mn-lt"/>
            </a:endParaRPr>
          </a:p>
          <a:p>
            <a:pPr marL="228600" indent="-228600" algn="l" eaLnBrk="0" hangingPunct="0">
              <a:lnSpc>
                <a:spcPct val="110000"/>
              </a:lnSpc>
              <a:spcBef>
                <a:spcPct val="20000"/>
              </a:spcBef>
              <a:buFont typeface="Wingdings" pitchFamily="2" charset="2"/>
              <a:buChar char="§"/>
              <a:defRPr/>
            </a:pPr>
            <a:endParaRPr lang="en-US" sz="2200" kern="0" dirty="0">
              <a:latin typeface="+mn-lt"/>
            </a:endParaRPr>
          </a:p>
        </p:txBody>
      </p:sp>
      <p:sp>
        <p:nvSpPr>
          <p:cNvPr id="168" name="Rectangle 3"/>
          <p:cNvSpPr>
            <a:spLocks noChangeArrowheads="1"/>
          </p:cNvSpPr>
          <p:nvPr/>
        </p:nvSpPr>
        <p:spPr bwMode="auto">
          <a:xfrm flipH="1">
            <a:off x="3603625" y="3705225"/>
            <a:ext cx="182563" cy="365125"/>
          </a:xfrm>
          <a:prstGeom prst="rect">
            <a:avLst/>
          </a:prstGeom>
          <a:solidFill>
            <a:schemeClr val="accent2"/>
          </a:solidFill>
          <a:ln w="12700" algn="ctr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>
            <a:spAutoFit/>
          </a:bodyPr>
          <a:lstStyle/>
          <a:p>
            <a:pPr algn="l">
              <a:defRPr/>
            </a:pPr>
            <a:endParaRPr lang="en-US" sz="1600" dirty="0"/>
          </a:p>
        </p:txBody>
      </p:sp>
      <p:sp>
        <p:nvSpPr>
          <p:cNvPr id="169" name="Text Box 8"/>
          <p:cNvSpPr txBox="1">
            <a:spLocks noChangeArrowheads="1"/>
          </p:cNvSpPr>
          <p:nvPr/>
        </p:nvSpPr>
        <p:spPr bwMode="auto">
          <a:xfrm>
            <a:off x="3777060" y="3657600"/>
            <a:ext cx="2273432" cy="46166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>
            <a:spAutoFit/>
          </a:bodyPr>
          <a:lstStyle/>
          <a:p>
            <a:pPr algn="l" eaLnBrk="0" hangingPunct="0">
              <a:defRPr/>
            </a:pPr>
            <a:r>
              <a:rPr lang="en-US" sz="1200" b="1" dirty="0">
                <a:solidFill>
                  <a:srgbClr val="000099"/>
                </a:solidFill>
              </a:rPr>
              <a:t>Precise, Low Jitter Clocking</a:t>
            </a:r>
          </a:p>
          <a:p>
            <a:pPr algn="l" eaLnBrk="0" hangingPunct="0">
              <a:defRPr/>
            </a:pPr>
            <a:r>
              <a:rPr lang="en-US" sz="1200" dirty="0"/>
              <a:t>MMCMs </a:t>
            </a:r>
          </a:p>
        </p:txBody>
      </p:sp>
      <p:sp>
        <p:nvSpPr>
          <p:cNvPr id="170" name="Text Box 6"/>
          <p:cNvSpPr txBox="1">
            <a:spLocks noChangeArrowheads="1"/>
          </p:cNvSpPr>
          <p:nvPr/>
        </p:nvSpPr>
        <p:spPr bwMode="auto">
          <a:xfrm>
            <a:off x="1557762" y="3657600"/>
            <a:ext cx="1219200" cy="46166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>
            <a:spAutoFit/>
          </a:bodyPr>
          <a:lstStyle/>
          <a:p>
            <a:pPr algn="l" eaLnBrk="0" hangingPunct="0">
              <a:defRPr/>
            </a:pPr>
            <a:r>
              <a:rPr lang="en-US" sz="1200" b="1" dirty="0">
                <a:solidFill>
                  <a:srgbClr val="000099"/>
                </a:solidFill>
              </a:rPr>
              <a:t>Logic Fabric</a:t>
            </a:r>
          </a:p>
          <a:p>
            <a:pPr algn="l" eaLnBrk="0" hangingPunct="0">
              <a:defRPr/>
            </a:pPr>
            <a:r>
              <a:rPr lang="en-US" sz="1200" dirty="0"/>
              <a:t>LUT-6 CLB </a:t>
            </a:r>
          </a:p>
        </p:txBody>
      </p:sp>
      <p:sp>
        <p:nvSpPr>
          <p:cNvPr id="171" name="Rectangle 9"/>
          <p:cNvSpPr>
            <a:spLocks noChangeArrowheads="1"/>
          </p:cNvSpPr>
          <p:nvPr/>
        </p:nvSpPr>
        <p:spPr bwMode="auto">
          <a:xfrm>
            <a:off x="1384300" y="3697288"/>
            <a:ext cx="182563" cy="366712"/>
          </a:xfrm>
          <a:prstGeom prst="rect">
            <a:avLst/>
          </a:prstGeom>
          <a:solidFill>
            <a:srgbClr val="EAEAEA"/>
          </a:solidFill>
          <a:ln w="12700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>
            <a:spAutoFit/>
          </a:bodyPr>
          <a:lstStyle/>
          <a:p>
            <a:pPr algn="l">
              <a:defRPr/>
            </a:pPr>
            <a:endParaRPr lang="en-US" sz="1600" dirty="0"/>
          </a:p>
        </p:txBody>
      </p:sp>
      <p:sp>
        <p:nvSpPr>
          <p:cNvPr id="172" name="Text Box 5"/>
          <p:cNvSpPr txBox="1">
            <a:spLocks noChangeArrowheads="1"/>
          </p:cNvSpPr>
          <p:nvPr/>
        </p:nvSpPr>
        <p:spPr bwMode="auto">
          <a:xfrm>
            <a:off x="1560354" y="5029200"/>
            <a:ext cx="1558925" cy="46166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>
            <a:spAutoFit/>
          </a:bodyPr>
          <a:lstStyle/>
          <a:p>
            <a:pPr algn="l" eaLnBrk="0" hangingPunct="0">
              <a:defRPr/>
            </a:pPr>
            <a:r>
              <a:rPr lang="en-US" sz="1200" b="1" dirty="0">
                <a:solidFill>
                  <a:srgbClr val="000099"/>
                </a:solidFill>
              </a:rPr>
              <a:t>DSP Engines</a:t>
            </a:r>
            <a:r>
              <a:rPr lang="en-US" sz="1200" dirty="0"/>
              <a:t> </a:t>
            </a:r>
          </a:p>
          <a:p>
            <a:pPr algn="l" eaLnBrk="0" hangingPunct="0">
              <a:defRPr/>
            </a:pPr>
            <a:r>
              <a:rPr lang="en-US" sz="1200" dirty="0"/>
              <a:t>DSP48E1 Slices</a:t>
            </a:r>
          </a:p>
        </p:txBody>
      </p:sp>
      <p:sp>
        <p:nvSpPr>
          <p:cNvPr id="173" name="Rectangle 10"/>
          <p:cNvSpPr>
            <a:spLocks noChangeArrowheads="1"/>
          </p:cNvSpPr>
          <p:nvPr/>
        </p:nvSpPr>
        <p:spPr bwMode="auto">
          <a:xfrm flipH="1">
            <a:off x="1384300" y="5073650"/>
            <a:ext cx="182563" cy="365125"/>
          </a:xfrm>
          <a:prstGeom prst="rect">
            <a:avLst/>
          </a:prstGeom>
          <a:solidFill>
            <a:srgbClr val="CC3300"/>
          </a:solidFill>
          <a:ln w="12700" algn="ctr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>
            <a:spAutoFit/>
          </a:bodyPr>
          <a:lstStyle/>
          <a:p>
            <a:pPr algn="l">
              <a:defRPr/>
            </a:pPr>
            <a:endParaRPr lang="en-US" sz="1600" dirty="0"/>
          </a:p>
        </p:txBody>
      </p:sp>
      <p:sp>
        <p:nvSpPr>
          <p:cNvPr id="174" name="Text Box 7"/>
          <p:cNvSpPr txBox="1">
            <a:spLocks noChangeArrowheads="1"/>
          </p:cNvSpPr>
          <p:nvPr/>
        </p:nvSpPr>
        <p:spPr bwMode="auto">
          <a:xfrm>
            <a:off x="1561571" y="4335568"/>
            <a:ext cx="1953922" cy="46166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>
            <a:spAutoFit/>
          </a:bodyPr>
          <a:lstStyle/>
          <a:p>
            <a:pPr algn="l" eaLnBrk="0" hangingPunct="0">
              <a:defRPr/>
            </a:pPr>
            <a:r>
              <a:rPr lang="en-US" sz="1200" b="1" dirty="0">
                <a:solidFill>
                  <a:srgbClr val="000099"/>
                </a:solidFill>
              </a:rPr>
              <a:t>On-Chip Memory</a:t>
            </a:r>
          </a:p>
          <a:p>
            <a:pPr algn="l" eaLnBrk="0" hangingPunct="0">
              <a:defRPr/>
            </a:pPr>
            <a:r>
              <a:rPr lang="en-US" sz="1200" dirty="0"/>
              <a:t>36Kbit/18Kbit Block RAM</a:t>
            </a:r>
          </a:p>
        </p:txBody>
      </p:sp>
      <p:sp>
        <p:nvSpPr>
          <p:cNvPr id="175" name="Rectangle 11"/>
          <p:cNvSpPr>
            <a:spLocks noChangeArrowheads="1"/>
          </p:cNvSpPr>
          <p:nvPr/>
        </p:nvSpPr>
        <p:spPr bwMode="auto">
          <a:xfrm flipH="1">
            <a:off x="1381125" y="4383088"/>
            <a:ext cx="184150" cy="365125"/>
          </a:xfrm>
          <a:prstGeom prst="rect">
            <a:avLst/>
          </a:prstGeom>
          <a:solidFill>
            <a:srgbClr val="009900"/>
          </a:solidFill>
          <a:ln w="12700" algn="ctr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>
            <a:spAutoFit/>
          </a:bodyPr>
          <a:lstStyle/>
          <a:p>
            <a:pPr algn="l">
              <a:defRPr/>
            </a:pPr>
            <a:endParaRPr lang="en-US" sz="1600" dirty="0"/>
          </a:p>
        </p:txBody>
      </p:sp>
      <p:sp>
        <p:nvSpPr>
          <p:cNvPr id="176" name="Text Box 106"/>
          <p:cNvSpPr txBox="1">
            <a:spLocks noChangeArrowheads="1"/>
          </p:cNvSpPr>
          <p:nvPr/>
        </p:nvSpPr>
        <p:spPr bwMode="auto">
          <a:xfrm>
            <a:off x="3774520" y="4343400"/>
            <a:ext cx="2197100" cy="46166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>
            <a:spAutoFit/>
          </a:bodyPr>
          <a:lstStyle/>
          <a:p>
            <a:pPr algn="l" eaLnBrk="0" hangingPunct="0">
              <a:defRPr/>
            </a:pPr>
            <a:r>
              <a:rPr lang="en-US" sz="1200" b="1" dirty="0">
                <a:solidFill>
                  <a:srgbClr val="000099"/>
                </a:solidFill>
              </a:rPr>
              <a:t>Enhanced Connectivity</a:t>
            </a:r>
          </a:p>
          <a:p>
            <a:pPr algn="l" eaLnBrk="0" hangingPunct="0">
              <a:defRPr/>
            </a:pPr>
            <a:r>
              <a:rPr lang="en-US" sz="1200" dirty="0"/>
              <a:t>PCIe</a:t>
            </a:r>
            <a:r>
              <a:rPr lang="en-US" sz="1200" baseline="30000" dirty="0"/>
              <a:t>® </a:t>
            </a:r>
            <a:r>
              <a:rPr lang="en-US" sz="1200" dirty="0"/>
              <a:t> Interface Blocks</a:t>
            </a:r>
          </a:p>
        </p:txBody>
      </p:sp>
      <p:sp>
        <p:nvSpPr>
          <p:cNvPr id="177" name="Rectangle 108"/>
          <p:cNvSpPr>
            <a:spLocks noChangeArrowheads="1"/>
          </p:cNvSpPr>
          <p:nvPr/>
        </p:nvSpPr>
        <p:spPr bwMode="auto">
          <a:xfrm flipH="1">
            <a:off x="3605213" y="4381500"/>
            <a:ext cx="182562" cy="365125"/>
          </a:xfrm>
          <a:prstGeom prst="rect">
            <a:avLst/>
          </a:prstGeom>
          <a:solidFill>
            <a:srgbClr val="003399"/>
          </a:solidFill>
          <a:ln w="12700" algn="ctr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>
            <a:spAutoFit/>
          </a:bodyPr>
          <a:lstStyle/>
          <a:p>
            <a:pPr algn="l">
              <a:defRPr/>
            </a:pPr>
            <a:endParaRPr lang="en-US" sz="1600" dirty="0"/>
          </a:p>
        </p:txBody>
      </p:sp>
      <p:sp>
        <p:nvSpPr>
          <p:cNvPr id="178" name="Rectangle 110"/>
          <p:cNvSpPr>
            <a:spLocks noChangeArrowheads="1"/>
          </p:cNvSpPr>
          <p:nvPr/>
        </p:nvSpPr>
        <p:spPr bwMode="auto">
          <a:xfrm flipH="1">
            <a:off x="3605213" y="5060950"/>
            <a:ext cx="184150" cy="365125"/>
          </a:xfrm>
          <a:prstGeom prst="rect">
            <a:avLst/>
          </a:prstGeom>
          <a:solidFill>
            <a:schemeClr val="hlink"/>
          </a:solidFill>
          <a:ln w="12700" algn="ctr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>
            <a:spAutoFit/>
          </a:bodyPr>
          <a:lstStyle/>
          <a:p>
            <a:pPr algn="l">
              <a:defRPr/>
            </a:pPr>
            <a:endParaRPr lang="en-US" sz="1600" dirty="0"/>
          </a:p>
        </p:txBody>
      </p:sp>
      <p:sp>
        <p:nvSpPr>
          <p:cNvPr id="179" name="Text Box 111"/>
          <p:cNvSpPr txBox="1">
            <a:spLocks noChangeArrowheads="1"/>
          </p:cNvSpPr>
          <p:nvPr/>
        </p:nvSpPr>
        <p:spPr bwMode="auto">
          <a:xfrm>
            <a:off x="3775816" y="5027560"/>
            <a:ext cx="2548784" cy="46166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>
            <a:spAutoFit/>
          </a:bodyPr>
          <a:lstStyle/>
          <a:p>
            <a:pPr algn="l" eaLnBrk="0" hangingPunct="0">
              <a:defRPr/>
            </a:pPr>
            <a:r>
              <a:rPr lang="en-US" sz="1200" b="1" dirty="0">
                <a:solidFill>
                  <a:srgbClr val="000099"/>
                </a:solidFill>
              </a:rPr>
              <a:t>Hi-perf. Parallel I/O Connectivity</a:t>
            </a:r>
          </a:p>
          <a:p>
            <a:pPr algn="l" eaLnBrk="0" hangingPunct="0">
              <a:defRPr/>
            </a:pPr>
            <a:r>
              <a:rPr lang="en-US" sz="1200" dirty="0"/>
              <a:t>SelectIO™ Technology</a:t>
            </a:r>
          </a:p>
        </p:txBody>
      </p:sp>
      <p:sp>
        <p:nvSpPr>
          <p:cNvPr id="10268" name="Text Box 13"/>
          <p:cNvSpPr txBox="1">
            <a:spLocks noChangeArrowheads="1"/>
          </p:cNvSpPr>
          <p:nvPr/>
        </p:nvSpPr>
        <p:spPr bwMode="auto">
          <a:xfrm>
            <a:off x="381000" y="5791200"/>
            <a:ext cx="8686800" cy="65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120000"/>
              </a:lnSpc>
            </a:pPr>
            <a:endParaRPr lang="en-US">
              <a:solidFill>
                <a:srgbClr val="C00000"/>
              </a:solidFill>
              <a:sym typeface="Wingdings" pitchFamily="2" charset="2"/>
            </a:endParaRPr>
          </a:p>
        </p:txBody>
      </p:sp>
      <p:pic>
        <p:nvPicPr>
          <p:cNvPr id="10269" name="Picture 3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3438" y="4359275"/>
            <a:ext cx="1900237" cy="203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0" name="Picture 2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6488" y="1379538"/>
            <a:ext cx="12954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1" name="Rectangle 182"/>
          <p:cNvSpPr>
            <a:spLocks noChangeArrowheads="1"/>
          </p:cNvSpPr>
          <p:nvPr/>
        </p:nvSpPr>
        <p:spPr bwMode="auto">
          <a:xfrm>
            <a:off x="7486650" y="2476500"/>
            <a:ext cx="1219200" cy="271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ts val="1400"/>
              </a:lnSpc>
            </a:pPr>
            <a:r>
              <a:rPr lang="en-US" sz="1100">
                <a:solidFill>
                  <a:srgbClr val="980210"/>
                </a:solidFill>
              </a:rPr>
              <a:t>Artix™-7 FPGA</a:t>
            </a:r>
            <a:endParaRPr lang="en-US" sz="1100"/>
          </a:p>
        </p:txBody>
      </p:sp>
      <p:sp>
        <p:nvSpPr>
          <p:cNvPr id="10272" name="Rectangle 183"/>
          <p:cNvSpPr>
            <a:spLocks noChangeArrowheads="1"/>
          </p:cNvSpPr>
          <p:nvPr/>
        </p:nvSpPr>
        <p:spPr bwMode="auto">
          <a:xfrm>
            <a:off x="7477125" y="4079875"/>
            <a:ext cx="1257300" cy="271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ts val="1400"/>
              </a:lnSpc>
            </a:pPr>
            <a:r>
              <a:rPr lang="en-US" sz="1100">
                <a:solidFill>
                  <a:srgbClr val="980210"/>
                </a:solidFill>
              </a:rPr>
              <a:t>Kintex™-7 FPGA</a:t>
            </a:r>
            <a:endParaRPr lang="en-US" sz="1100"/>
          </a:p>
        </p:txBody>
      </p:sp>
      <p:sp>
        <p:nvSpPr>
          <p:cNvPr id="10273" name="Rectangle 184"/>
          <p:cNvSpPr>
            <a:spLocks noChangeArrowheads="1"/>
          </p:cNvSpPr>
          <p:nvPr/>
        </p:nvSpPr>
        <p:spPr bwMode="auto">
          <a:xfrm>
            <a:off x="7216775" y="6240463"/>
            <a:ext cx="1752600" cy="271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ts val="1400"/>
              </a:lnSpc>
            </a:pPr>
            <a:r>
              <a:rPr lang="en-US" sz="1100">
                <a:solidFill>
                  <a:srgbClr val="980210"/>
                </a:solidFill>
              </a:rPr>
              <a:t>Virtex</a:t>
            </a:r>
            <a:r>
              <a:rPr lang="en-US" sz="1100" baseline="30000">
                <a:solidFill>
                  <a:srgbClr val="980210"/>
                </a:solidFill>
              </a:rPr>
              <a:t>®</a:t>
            </a:r>
            <a:r>
              <a:rPr lang="en-US" sz="1100">
                <a:solidFill>
                  <a:srgbClr val="980210"/>
                </a:solidFill>
              </a:rPr>
              <a:t>-7 FPGA</a:t>
            </a:r>
          </a:p>
        </p:txBody>
      </p:sp>
      <p:pic>
        <p:nvPicPr>
          <p:cNvPr id="10274" name="PPTShape_0"/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4588" y="2757488"/>
            <a:ext cx="1219200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5" name="TextBox 186"/>
          <p:cNvSpPr txBox="1">
            <a:spLocks noChangeArrowheads="1"/>
          </p:cNvSpPr>
          <p:nvPr/>
        </p:nvSpPr>
        <p:spPr bwMode="auto">
          <a:xfrm>
            <a:off x="7700963" y="2682875"/>
            <a:ext cx="822325" cy="920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188" name="PPTShape_1"/>
          <p:cNvSpPr>
            <a:spLocks noChangeArrowheads="1"/>
          </p:cNvSpPr>
          <p:nvPr/>
        </p:nvSpPr>
        <p:spPr bwMode="auto">
          <a:xfrm flipH="1">
            <a:off x="1381125" y="5672138"/>
            <a:ext cx="184150" cy="365125"/>
          </a:xfrm>
          <a:prstGeom prst="rect">
            <a:avLst/>
          </a:prstGeom>
          <a:solidFill>
            <a:schemeClr val="accent1"/>
          </a:solidFill>
          <a:ln w="12700" algn="ctr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>
            <a:spAutoFit/>
          </a:bodyPr>
          <a:lstStyle/>
          <a:p>
            <a:pPr algn="l">
              <a:defRPr/>
            </a:pPr>
            <a:endParaRPr lang="en-US" sz="1600" dirty="0"/>
          </a:p>
        </p:txBody>
      </p:sp>
      <p:sp>
        <p:nvSpPr>
          <p:cNvPr id="189" name="PPTShape_2"/>
          <p:cNvSpPr txBox="1">
            <a:spLocks noChangeArrowheads="1"/>
          </p:cNvSpPr>
          <p:nvPr/>
        </p:nvSpPr>
        <p:spPr bwMode="auto">
          <a:xfrm>
            <a:off x="1551967" y="5638800"/>
            <a:ext cx="3182725" cy="46166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>
            <a:spAutoFit/>
          </a:bodyPr>
          <a:lstStyle/>
          <a:p>
            <a:pPr algn="l" eaLnBrk="0" hangingPunct="0">
              <a:defRPr/>
            </a:pPr>
            <a:r>
              <a:rPr lang="en-US" sz="1200" b="1" dirty="0">
                <a:solidFill>
                  <a:srgbClr val="000099"/>
                </a:solidFill>
              </a:rPr>
              <a:t>Hi-performance Serial I//O Connectivity</a:t>
            </a:r>
          </a:p>
          <a:p>
            <a:pPr algn="l" eaLnBrk="0" hangingPunct="0">
              <a:defRPr/>
            </a:pPr>
            <a:r>
              <a:rPr lang="en-US" sz="1200" dirty="0"/>
              <a:t>Transceiver Technology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6131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43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3875"/>
            <a:ext cx="7380428" cy="5168334"/>
          </a:xfrm>
          <a:prstGeom prst="rect">
            <a:avLst/>
          </a:prstGeom>
        </p:spPr>
      </p:pic>
      <p:sp>
        <p:nvSpPr>
          <p:cNvPr id="4" name="Rectangle 6"/>
          <p:cNvSpPr txBox="1">
            <a:spLocks noChangeArrowheads="1"/>
          </p:cNvSpPr>
          <p:nvPr/>
        </p:nvSpPr>
        <p:spPr>
          <a:xfrm>
            <a:off x="914400" y="228600"/>
            <a:ext cx="8077200" cy="1143000"/>
          </a:xfrm>
          <a:prstGeom prst="rect">
            <a:avLst/>
          </a:prstGeom>
        </p:spPr>
        <p:txBody>
          <a:bodyPr tIns="45720" rIns="91440" bIns="45720" anchor="b" anchorCtr="0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Modern Xilinx FPGAs- DSP blocks </a:t>
            </a:r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1981200" y="1600200"/>
            <a:ext cx="2057400" cy="4572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flipV="1">
            <a:off x="7772400" y="4724400"/>
            <a:ext cx="488309" cy="17145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038600" y="1914393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~15 $</a:t>
            </a:r>
            <a:endParaRPr lang="en-US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7691324" y="4169265"/>
            <a:ext cx="11478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~20,000 $</a:t>
            </a:r>
            <a:endParaRPr lang="en-US" b="1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2153" y="1828800"/>
            <a:ext cx="1285875" cy="3581400"/>
          </a:xfrm>
          <a:prstGeom prst="rect">
            <a:avLst/>
          </a:prstGeom>
        </p:spPr>
      </p:pic>
      <p:cxnSp>
        <p:nvCxnSpPr>
          <p:cNvPr id="13" name="Straight Arrow Connector 12"/>
          <p:cNvCxnSpPr/>
          <p:nvPr/>
        </p:nvCxnSpPr>
        <p:spPr>
          <a:xfrm>
            <a:off x="2057400" y="2628920"/>
            <a:ext cx="2057400" cy="4572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147414" y="2901454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~35 $</a:t>
            </a:r>
            <a:endParaRPr lang="en-US" b="1" dirty="0"/>
          </a:p>
        </p:txBody>
      </p:sp>
      <p:cxnSp>
        <p:nvCxnSpPr>
          <p:cNvPr id="15" name="Straight Arrow Connector 14"/>
          <p:cNvCxnSpPr/>
          <p:nvPr/>
        </p:nvCxnSpPr>
        <p:spPr>
          <a:xfrm flipV="1">
            <a:off x="2356928" y="3958042"/>
            <a:ext cx="2401077" cy="572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892879" y="3703849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~180 $</a:t>
            </a:r>
            <a:endParaRPr lang="en-US" b="1" dirty="0"/>
          </a:p>
        </p:txBody>
      </p:sp>
      <p:sp>
        <p:nvSpPr>
          <p:cNvPr id="18" name="TextBox 17"/>
          <p:cNvSpPr txBox="1"/>
          <p:nvPr/>
        </p:nvSpPr>
        <p:spPr>
          <a:xfrm>
            <a:off x="1447799" y="6477000"/>
            <a:ext cx="44943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Source: Xilinx 7-series product guide, xmp101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41274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44</a:t>
            </a:fld>
            <a:endParaRPr lang="en-US"/>
          </a:p>
        </p:txBody>
      </p:sp>
      <p:sp>
        <p:nvSpPr>
          <p:cNvPr id="4" name="Rectangle 6"/>
          <p:cNvSpPr txBox="1">
            <a:spLocks noChangeArrowheads="1"/>
          </p:cNvSpPr>
          <p:nvPr/>
        </p:nvSpPr>
        <p:spPr>
          <a:xfrm>
            <a:off x="914400" y="228600"/>
            <a:ext cx="8077200" cy="1143000"/>
          </a:xfrm>
          <a:prstGeom prst="rect">
            <a:avLst/>
          </a:prstGeom>
        </p:spPr>
        <p:txBody>
          <a:bodyPr tIns="45720" rIns="91440" bIns="45720" anchor="b" anchorCtr="0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Modern Xilinx FPGAs- memory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1524000"/>
            <a:ext cx="7887012" cy="511051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905000"/>
            <a:ext cx="1285875" cy="358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1039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03" y="1371600"/>
            <a:ext cx="7498155" cy="5295900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45</a:t>
            </a:fld>
            <a:endParaRPr lang="en-US"/>
          </a:p>
        </p:txBody>
      </p:sp>
      <p:sp>
        <p:nvSpPr>
          <p:cNvPr id="4" name="Rectangle 6"/>
          <p:cNvSpPr txBox="1">
            <a:spLocks noChangeArrowheads="1"/>
          </p:cNvSpPr>
          <p:nvPr/>
        </p:nvSpPr>
        <p:spPr>
          <a:xfrm>
            <a:off x="914400" y="228600"/>
            <a:ext cx="8077200" cy="1143000"/>
          </a:xfrm>
          <a:prstGeom prst="rect">
            <a:avLst/>
          </a:prstGeom>
        </p:spPr>
        <p:txBody>
          <a:bodyPr tIns="45720" rIns="91440" bIns="45720" anchor="b" anchorCtr="0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Modern Xilinx FPGAs- IO pins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9525" y="1676400"/>
            <a:ext cx="1285875" cy="358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92711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a7364a81-b68f-4508-9f6d-91494da70376"/>
  <p:tag name="AUDIO_ID" val="376"/>
  <p:tag name="ELAPSEDTIME" val="37.2"/>
  <p:tag name="ARTICULATE_SLIDE_NAV" val="1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UBLISH_MODE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UBLISH_MODE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UBLISH_MODE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UBLISH_MODE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UBLISH_MODE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UBLISH_MODE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UBLISH_MODE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UBLISH_MODE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UBLISH_MODE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UBLISH_MODE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UBLISH_MODE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UBLISH_MODE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UBLISH_MODE" val="2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12bf06eb-cb5e-42b4-8329-3d8aa7db4fac"/>
  <p:tag name="AUDIO_ID" val="504"/>
  <p:tag name="ELAPSEDTIME" val="56.7"/>
  <p:tag name="ARTICULATE_SLIDE_NAV" val="5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UBLISH_MODE" val="2"/>
  <p:tag name="ARTICULATE_SOURCE_IMAGE" val="c:\temp\articulate\presenter\imgtemp\wH3iXcvl_files\slide0001_image001.png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UBLISH_MODE" val="2"/>
  <p:tag name="ARTICULATE_SOURCE_IMAGE" val="c:\temp\articulate\presenter\imgtemp\ut8F0QHl_files\slide0001_image001.png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UBLISH_MODE" val="2"/>
  <p:tag name="ARTICULATE_SOURCE_IMAGE" val="c:\temp\articulate\presenter\imgtemp\ClnvbI8N_files\slide0001_image001.png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ULLET_1" val="8226"/>
  <p:tag name="MARGIN_1" val="0"/>
  <p:tag name="MARGIN_2" val="36"/>
  <p:tag name="MARGIN_3" val="72"/>
  <p:tag name="MARGIN_4" val="108"/>
  <p:tag name="MARGIN_5" val="144"/>
  <p:tag name="FONT_SIZE" val="10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4333</TotalTime>
  <Words>1493</Words>
  <Application>Microsoft Office PowerPoint</Application>
  <PresentationFormat>On-screen Show (4:3)</PresentationFormat>
  <Paragraphs>319</Paragraphs>
  <Slides>45</Slides>
  <Notes>24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45</vt:i4>
      </vt:variant>
    </vt:vector>
  </HeadingPairs>
  <TitlesOfParts>
    <vt:vector size="56" baseType="lpstr">
      <vt:lpstr>Arial</vt:lpstr>
      <vt:lpstr>Arial Narrow</vt:lpstr>
      <vt:lpstr>Calibri</vt:lpstr>
      <vt:lpstr>Franklin Gothic Book</vt:lpstr>
      <vt:lpstr>Perpetua</vt:lpstr>
      <vt:lpstr>Times New Roman</vt:lpstr>
      <vt:lpstr>Wingdings</vt:lpstr>
      <vt:lpstr>Wingdings 2</vt:lpstr>
      <vt:lpstr>Equity</vt:lpstr>
      <vt:lpstr>Worksheet</vt:lpstr>
      <vt:lpstr>Visio</vt:lpstr>
      <vt:lpstr>FPGA components</vt:lpstr>
      <vt:lpstr>PowerPoint Presentation</vt:lpstr>
      <vt:lpstr>FPGA components</vt:lpstr>
      <vt:lpstr>CLB arithmetic logic</vt:lpstr>
      <vt:lpstr>Ripple carry adder</vt:lpstr>
      <vt:lpstr>CLB arithmetic logic</vt:lpstr>
      <vt:lpstr>Carry look-ahead adder</vt:lpstr>
      <vt:lpstr>Carry look-ahead adder in SPARTAN</vt:lpstr>
      <vt:lpstr>Adder by Spartan-3</vt:lpstr>
      <vt:lpstr>Carry Chain in Artix-7</vt:lpstr>
      <vt:lpstr>FPGA components</vt:lpstr>
      <vt:lpstr>Memories</vt:lpstr>
      <vt:lpstr>Distributed RAM</vt:lpstr>
      <vt:lpstr>Block RAM</vt:lpstr>
      <vt:lpstr>Block RAM organization</vt:lpstr>
      <vt:lpstr>FPGA components</vt:lpstr>
      <vt:lpstr>Multiplier</vt:lpstr>
      <vt:lpstr>PowerPoint Presentation</vt:lpstr>
      <vt:lpstr>FPGA components</vt:lpstr>
      <vt:lpstr>I/O resources</vt:lpstr>
      <vt:lpstr>Configurable I/O Standards</vt:lpstr>
      <vt:lpstr>Spartan-3  I/O- DDR</vt:lpstr>
      <vt:lpstr>Spartan-3  I/O- DDR</vt:lpstr>
      <vt:lpstr>PowerPoint Presentation</vt:lpstr>
      <vt:lpstr>PowerPoint Presentation</vt:lpstr>
      <vt:lpstr>PowerPoint Presentation</vt:lpstr>
      <vt:lpstr>I/O pins</vt:lpstr>
      <vt:lpstr>QFP</vt:lpstr>
      <vt:lpstr>BGA</vt:lpstr>
      <vt:lpstr>FPGA components</vt:lpstr>
      <vt:lpstr>Clock in FPGAs</vt:lpstr>
      <vt:lpstr>Clock in FPGAs</vt:lpstr>
      <vt:lpstr>Clocking in FPGAs- skew problem</vt:lpstr>
      <vt:lpstr>Skew solution</vt:lpstr>
      <vt:lpstr>Realistic H-trees</vt:lpstr>
      <vt:lpstr>FPGA clock tree</vt:lpstr>
      <vt:lpstr>Spartan-3 clock tree</vt:lpstr>
      <vt:lpstr>Digital Clock Manager (DCM)</vt:lpstr>
      <vt:lpstr>Old FPGAs</vt:lpstr>
      <vt:lpstr>Logic cell</vt:lpstr>
      <vt:lpstr>Modern Xilinx FPGAs</vt:lpstr>
      <vt:lpstr>Modern Xilinx FPGAs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Behavioral Statements in Verilog</dc:title>
  <dc:creator>mehdi</dc:creator>
  <cp:lastModifiedBy>User</cp:lastModifiedBy>
  <cp:revision>329</cp:revision>
  <cp:lastPrinted>2015-10-02T19:19:58Z</cp:lastPrinted>
  <dcterms:created xsi:type="dcterms:W3CDTF">2011-11-11T14:48:38Z</dcterms:created>
  <dcterms:modified xsi:type="dcterms:W3CDTF">2020-12-12T03:43:51Z</dcterms:modified>
</cp:coreProperties>
</file>