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67" r:id="rId2"/>
    <p:sldId id="269" r:id="rId3"/>
    <p:sldId id="272" r:id="rId4"/>
    <p:sldId id="273" r:id="rId5"/>
    <p:sldId id="271" r:id="rId6"/>
    <p:sldId id="274" r:id="rId7"/>
    <p:sldId id="275" r:id="rId8"/>
    <p:sldId id="276" r:id="rId9"/>
    <p:sldId id="277" r:id="rId10"/>
    <p:sldId id="278" r:id="rId11"/>
    <p:sldId id="279" r:id="rId12"/>
    <p:sldId id="281" r:id="rId13"/>
    <p:sldId id="284" r:id="rId14"/>
    <p:sldId id="282" r:id="rId15"/>
    <p:sldId id="28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C18981-EEB1-4932-9AC6-85149CA2396C}" type="datetimeFigureOut">
              <a:rPr lang="en-US" smtClean="0"/>
              <a:pPr/>
              <a:t>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E67EC-7E65-4C49-9A16-F37A27B22E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27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76FBE-58CA-438F-A6DB-3322263ECFD5}" type="datetime1">
              <a:rPr lang="en-US" smtClean="0"/>
              <a:pPr/>
              <a:t>1/10/2024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62B3-D0CE-4577-91B6-4E6EE48DB6CD}" type="datetime1">
              <a:rPr lang="en-US" smtClean="0"/>
              <a:pPr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324600"/>
            <a:ext cx="310896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388D0-B408-4B10-B37A-3F71A2746CB1}" type="datetime1">
              <a:rPr lang="en-US" smtClean="0"/>
              <a:pPr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764F-BEC2-4E6D-9906-EC31044D4B52}" type="datetime1">
              <a:rPr lang="en-US" smtClean="0"/>
              <a:pPr/>
              <a:t>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B97A-FC40-4EC6-8C5D-1DEE687F844F}" type="datetime1">
              <a:rPr lang="en-US" smtClean="0"/>
              <a:pPr/>
              <a:t>1/10/2024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D707-1E0D-41A5-A2A9-A1A72EF52D8D}" type="datetime1">
              <a:rPr lang="en-US" smtClean="0"/>
              <a:pPr/>
              <a:t>1/10/2024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627-038C-47A6-830E-A3BE5E6D3C39}" type="datetime1">
              <a:rPr lang="en-US" smtClean="0"/>
              <a:pPr/>
              <a:t>1/10/2024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D7382-7EFB-4D47-8682-F695F6A7A2DB}" type="datetime1">
              <a:rPr lang="en-US" smtClean="0"/>
              <a:pPr/>
              <a:t>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785C6-1897-4ADC-AFE2-C9D663CD1808}" type="datetime1">
              <a:rPr lang="en-US" smtClean="0"/>
              <a:pPr/>
              <a:t>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9164-FDFC-4B13-8026-D184F725BB3D}" type="datetime1">
              <a:rPr lang="en-US" smtClean="0"/>
              <a:pPr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CE4E-93C5-4D78-ADA8-970C294EB2A2}" type="datetime1">
              <a:rPr lang="en-US" smtClean="0"/>
              <a:pPr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2005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Verilog HDL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1BF37CF-C1C8-485B-B3E9-995A83C656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2005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Verilog HDL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14B2C562-0EC8-47AD-BBA0-DB27BFA301D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5B29CCD-B764-499B-ACDE-2C081D461DD3}" type="datetime1">
              <a:rPr lang="en-US" smtClean="0"/>
              <a:pPr/>
              <a:t>1/10/2024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10000"/>
            <a:ext cx="7162800" cy="1600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Mehdi Modarressi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Department of Electrical and Computer Engineering,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University of  Tehran</a:t>
            </a:r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Low-power HDL techniques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6200" y="990600"/>
            <a:ext cx="2819400" cy="38100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lvl="0" algn="ctr">
              <a:spcBef>
                <a:spcPts val="580"/>
              </a:spcBef>
              <a:buClr>
                <a:schemeClr val="accent1"/>
              </a:buClr>
              <a:buSzPct val="85000"/>
              <a:defRPr/>
            </a:pPr>
            <a:r>
              <a:rPr lang="en-US" sz="2200" dirty="0" smtClean="0">
                <a:solidFill>
                  <a:schemeClr val="tx2"/>
                </a:solidFill>
              </a:rPr>
              <a:t>ECE381(CAD), Lecture </a:t>
            </a:r>
            <a:r>
              <a:rPr lang="en-US" sz="2200" dirty="0" smtClean="0">
                <a:solidFill>
                  <a:schemeClr val="tx2"/>
                </a:solidFill>
              </a:rPr>
              <a:t>1</a:t>
            </a:r>
            <a:r>
              <a:rPr lang="fa-IR" sz="2200" dirty="0" smtClean="0">
                <a:solidFill>
                  <a:schemeClr val="tx2"/>
                </a:solidFill>
              </a:rPr>
              <a:t>2</a:t>
            </a:r>
            <a:r>
              <a:rPr lang="en-US" sz="2200" dirty="0" smtClean="0">
                <a:solidFill>
                  <a:schemeClr val="tx2"/>
                </a:solidFill>
              </a:rPr>
              <a:t>:</a:t>
            </a:r>
            <a:endParaRPr lang="en-US" sz="2200" dirty="0" smtClean="0">
              <a:solidFill>
                <a:schemeClr val="tx2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0"/>
            <a:ext cx="8229600" cy="658813"/>
          </a:xfrm>
        </p:spPr>
        <p:txBody>
          <a:bodyPr>
            <a:noAutofit/>
          </a:bodyPr>
          <a:lstStyle/>
          <a:p>
            <a:r>
              <a:rPr lang="en-US" dirty="0"/>
              <a:t>Why </a:t>
            </a:r>
            <a:r>
              <a:rPr lang="en-US" dirty="0" smtClean="0"/>
              <a:t>Low-power?</a:t>
            </a:r>
            <a:endParaRPr lang="en-US" dirty="0"/>
          </a:p>
        </p:txBody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41488"/>
            <a:ext cx="8229600" cy="4465637"/>
          </a:xfrm>
        </p:spPr>
        <p:txBody>
          <a:bodyPr/>
          <a:lstStyle/>
          <a:p>
            <a:r>
              <a:rPr lang="en-US" sz="3200" dirty="0" smtClean="0"/>
              <a:t>Battery powered systems</a:t>
            </a:r>
          </a:p>
          <a:p>
            <a:r>
              <a:rPr lang="en-US" sz="3200" dirty="0" smtClean="0"/>
              <a:t>Higher integration</a:t>
            </a:r>
          </a:p>
          <a:p>
            <a:r>
              <a:rPr lang="en-US" sz="3200" dirty="0" smtClean="0"/>
              <a:t>Cost of packaging and fans</a:t>
            </a:r>
          </a:p>
          <a:p>
            <a:r>
              <a:rPr lang="en-US" sz="3200" dirty="0" smtClean="0"/>
              <a:t>Reliability (component wear-out)</a:t>
            </a:r>
          </a:p>
          <a:p>
            <a:r>
              <a:rPr lang="en-US" sz="3200" dirty="0" smtClean="0"/>
              <a:t>Hot spots (thermal management)</a:t>
            </a:r>
          </a:p>
          <a:p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Components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Dynamic</a:t>
            </a:r>
          </a:p>
          <a:p>
            <a:pPr lvl="1"/>
            <a:r>
              <a:rPr lang="en-US" dirty="0" smtClean="0"/>
              <a:t>Switching Power: Caused by switching activity</a:t>
            </a:r>
          </a:p>
          <a:p>
            <a:r>
              <a:rPr lang="en-US" dirty="0" smtClean="0"/>
              <a:t>Static</a:t>
            </a:r>
          </a:p>
          <a:p>
            <a:pPr lvl="1"/>
            <a:r>
              <a:rPr lang="en-US" dirty="0" smtClean="0"/>
              <a:t>Consumed even when no computations are carried out</a:t>
            </a:r>
          </a:p>
          <a:p>
            <a:pPr lvl="2"/>
            <a:r>
              <a:rPr lang="en-US" dirty="0" smtClean="0"/>
              <a:t> Reverse Leakage Power</a:t>
            </a:r>
          </a:p>
          <a:p>
            <a:pPr lvl="2"/>
            <a:r>
              <a:rPr lang="en-US" dirty="0" smtClean="0"/>
              <a:t>Sub-threshold Leakage Power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Switching Power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914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Example: CMOS inverter </a:t>
            </a:r>
            <a:r>
              <a:rPr lang="en-US" dirty="0" smtClean="0">
                <a:sym typeface="Wingdings" pitchFamily="2" charset="2"/>
              </a:rPr>
              <a:t></a:t>
            </a:r>
            <a:endParaRPr lang="en-US" dirty="0" smtClean="0"/>
          </a:p>
          <a:p>
            <a:r>
              <a:rPr lang="en-US" dirty="0" smtClean="0"/>
              <a:t>Required to charge and discharge </a:t>
            </a:r>
            <a:r>
              <a:rPr lang="en-US" i="1" dirty="0" smtClean="0"/>
              <a:t>C</a:t>
            </a:r>
            <a:r>
              <a:rPr lang="en-US" i="1" baseline="-25000" dirty="0" smtClean="0"/>
              <a:t>L</a:t>
            </a:r>
          </a:p>
          <a:p>
            <a:endParaRPr 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605088"/>
            <a:ext cx="7326126" cy="402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00600" y="1371600"/>
            <a:ext cx="2657475" cy="58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Power Reduction Design Space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1676400"/>
            <a:ext cx="2500815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00600" y="3610064"/>
            <a:ext cx="2657475" cy="58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Glitch Reduction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724400"/>
          </a:xfrm>
        </p:spPr>
        <p:txBody>
          <a:bodyPr/>
          <a:lstStyle/>
          <a:p>
            <a:r>
              <a:rPr lang="en-US" dirty="0" smtClean="0"/>
              <a:t>Glitch is the unwanted transitions in the output before the stable state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How to reduce glitch?</a:t>
            </a:r>
          </a:p>
          <a:p>
            <a:pPr lvl="1"/>
            <a:r>
              <a:rPr lang="en-US" dirty="0" smtClean="0"/>
              <a:t>Inserting a register between the adder and parity checker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2514600"/>
            <a:ext cx="649605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Clock gating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One of the most well-known low-power techniques</a:t>
            </a:r>
          </a:p>
          <a:p>
            <a:r>
              <a:rPr lang="en-US" dirty="0" smtClean="0"/>
              <a:t>Disable transitions from propagating to parts of the clock path when the logic is inactive</a:t>
            </a:r>
          </a:p>
          <a:p>
            <a:r>
              <a:rPr lang="en-US" dirty="0" smtClean="0"/>
              <a:t>The savings are mainly due to the switching capacitance reduction in the clock network</a:t>
            </a:r>
          </a:p>
          <a:p>
            <a:r>
              <a:rPr lang="en-US" dirty="0" smtClean="0"/>
              <a:t>Clock-gating techniques have been successfully implemented in many microprocessors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Clock gating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Functional unit has several FFs and other storage elements synchronized by clock</a:t>
            </a:r>
          </a:p>
          <a:p>
            <a:r>
              <a:rPr lang="en-US" dirty="0" err="1" smtClean="0"/>
              <a:t>Fcg</a:t>
            </a:r>
            <a:r>
              <a:rPr lang="en-US" dirty="0" smtClean="0"/>
              <a:t>= the unit that calculates the gating conditions</a:t>
            </a:r>
          </a:p>
          <a:p>
            <a:r>
              <a:rPr lang="en-US" dirty="0" smtClean="0"/>
              <a:t>CG= the unit that gates the clock</a:t>
            </a:r>
          </a:p>
          <a:p>
            <a:r>
              <a:rPr lang="en-US" dirty="0" smtClean="0"/>
              <a:t>CLK= system clock</a:t>
            </a:r>
          </a:p>
          <a:p>
            <a:r>
              <a:rPr lang="en-US" dirty="0" smtClean="0"/>
              <a:t>CLKG= gated clock</a:t>
            </a:r>
          </a:p>
          <a:p>
            <a:endParaRPr 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06831" y="4191000"/>
            <a:ext cx="4908369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Clock gating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990600"/>
          </a:xfrm>
        </p:spPr>
        <p:txBody>
          <a:bodyPr/>
          <a:lstStyle/>
          <a:p>
            <a:r>
              <a:rPr lang="en-US" dirty="0" smtClean="0"/>
              <a:t>Is simply done by an AND gate</a:t>
            </a:r>
            <a:endParaRPr 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2133600"/>
            <a:ext cx="3285372" cy="170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67000" y="4876800"/>
            <a:ext cx="3979917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Clock gating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16002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810000"/>
            <a:ext cx="4034876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7185" y="1553570"/>
            <a:ext cx="4023815" cy="1797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91704" y="1676400"/>
            <a:ext cx="4952296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Clock gating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1371600"/>
          </a:xfrm>
        </p:spPr>
        <p:txBody>
          <a:bodyPr/>
          <a:lstStyle/>
          <a:p>
            <a:r>
              <a:rPr lang="en-US" dirty="0" smtClean="0"/>
              <a:t>Conditionally executed parts of the VHDL code can be identified and separated: clock gating can be applied for each part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2362200"/>
            <a:ext cx="4067175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38400" y="5562600"/>
            <a:ext cx="38862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Clock gating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Some issues must be addressed</a:t>
            </a:r>
          </a:p>
          <a:p>
            <a:pPr lvl="1"/>
            <a:r>
              <a:rPr lang="en-US" dirty="0" smtClean="0"/>
              <a:t>Avoiding clock skew</a:t>
            </a:r>
          </a:p>
          <a:p>
            <a:pPr lvl="1"/>
            <a:r>
              <a:rPr lang="en-US" dirty="0" smtClean="0"/>
              <a:t>Determining which flip-flops should be grouped for clock gating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Gated-clock FSM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28956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The basic idea of gated-clock FSM is that it is not useful to have switching activity in the next-state logic</a:t>
            </a:r>
          </a:p>
          <a:p>
            <a:r>
              <a:rPr lang="en-US" dirty="0" smtClean="0"/>
              <a:t>Example:</a:t>
            </a:r>
          </a:p>
          <a:p>
            <a:r>
              <a:rPr lang="en-US" dirty="0" smtClean="0"/>
              <a:t>Use the clock-gating techniques to freeze the clock and the input signals as long as the ZERO flag from the time-out counter is not raised</a:t>
            </a:r>
          </a:p>
          <a:p>
            <a:r>
              <a:rPr lang="en-US" dirty="0" smtClean="0"/>
              <a:t>gate the clock</a:t>
            </a:r>
          </a:p>
          <a:p>
            <a:r>
              <a:rPr lang="en-US" dirty="0" smtClean="0"/>
              <a:t>If FSM controls a </a:t>
            </a:r>
            <a:r>
              <a:rPr lang="en-US" dirty="0" err="1" smtClean="0"/>
              <a:t>datapath</a:t>
            </a:r>
            <a:r>
              <a:rPr lang="en-US" dirty="0" smtClean="0"/>
              <a:t>, gate the clock and mask the inputs of this </a:t>
            </a:r>
            <a:r>
              <a:rPr lang="en-US" dirty="0" err="1" smtClean="0"/>
              <a:t>datapath</a:t>
            </a:r>
            <a:r>
              <a:rPr lang="en-US" dirty="0" smtClean="0"/>
              <a:t> while we are in WAIT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4619434"/>
            <a:ext cx="4343400" cy="155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 encoding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Wide and long buses consume a large amount of power mainly due to large capacitance and a significant switching activity</a:t>
            </a:r>
          </a:p>
          <a:p>
            <a:r>
              <a:rPr lang="en-US" dirty="0" smtClean="0"/>
              <a:t>Bus inverting is a well-known method</a:t>
            </a:r>
          </a:p>
          <a:p>
            <a:pPr lvl="1"/>
            <a:r>
              <a:rPr lang="en-US" dirty="0" smtClean="0"/>
              <a:t>Before sending the data, the emitter compares its current value with the previous one and decides whether to send it or to send its inverted value along with a polarity signal.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 inverting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625" y="1524000"/>
            <a:ext cx="5362575" cy="501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19600" y="609600"/>
            <a:ext cx="4572000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</TotalTime>
  <Words>418</Words>
  <Application>Microsoft Office PowerPoint</Application>
  <PresentationFormat>On-screen Show (4:3)</PresentationFormat>
  <Paragraphs>91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Calibri</vt:lpstr>
      <vt:lpstr>Franklin Gothic Book</vt:lpstr>
      <vt:lpstr>Perpetua</vt:lpstr>
      <vt:lpstr>Times New Roman</vt:lpstr>
      <vt:lpstr>Wingdings</vt:lpstr>
      <vt:lpstr>Wingdings 2</vt:lpstr>
      <vt:lpstr>Equity</vt:lpstr>
      <vt:lpstr>Low-power HDL techniques</vt:lpstr>
      <vt:lpstr>Why Low-power?</vt:lpstr>
      <vt:lpstr>Power Components</vt:lpstr>
      <vt:lpstr>Switching Power</vt:lpstr>
      <vt:lpstr>Power Reduction Design Space</vt:lpstr>
      <vt:lpstr>Glitch Reduction </vt:lpstr>
      <vt:lpstr>Clock gating</vt:lpstr>
      <vt:lpstr>Clock gating</vt:lpstr>
      <vt:lpstr>Clock gating</vt:lpstr>
      <vt:lpstr>Clock gating</vt:lpstr>
      <vt:lpstr>Clock gating </vt:lpstr>
      <vt:lpstr>Clock gating </vt:lpstr>
      <vt:lpstr>Gated-clock FSM</vt:lpstr>
      <vt:lpstr>Bus encoding </vt:lpstr>
      <vt:lpstr>Bus inverting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Statements in Verilog</dc:title>
  <dc:creator>mehdi</dc:creator>
  <cp:lastModifiedBy>user</cp:lastModifiedBy>
  <cp:revision>46</cp:revision>
  <dcterms:created xsi:type="dcterms:W3CDTF">2011-11-11T14:48:38Z</dcterms:created>
  <dcterms:modified xsi:type="dcterms:W3CDTF">2024-01-10T08:22:11Z</dcterms:modified>
</cp:coreProperties>
</file>