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7" r:id="rId2"/>
    <p:sldId id="289" r:id="rId3"/>
    <p:sldId id="290" r:id="rId4"/>
    <p:sldId id="291" r:id="rId5"/>
    <p:sldId id="292" r:id="rId6"/>
    <p:sldId id="293" r:id="rId7"/>
    <p:sldId id="294" r:id="rId8"/>
    <p:sldId id="297" r:id="rId9"/>
    <p:sldId id="298" r:id="rId10"/>
    <p:sldId id="296" r:id="rId11"/>
    <p:sldId id="299" r:id="rId12"/>
    <p:sldId id="300" r:id="rId1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87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2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Verilog HDL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4B2C562-0EC8-47AD-BBA0-DB27BFA301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Mehdi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Modarressi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Department of Electrical and Computer Engineering,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University of  Tehran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Design Example- pipeline’s FSM and Datapath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ECE381(CAD), Lecture </a:t>
            </a:r>
            <a:r>
              <a:rPr lang="en-US" sz="2200" dirty="0" smtClean="0">
                <a:solidFill>
                  <a:schemeClr val="tx2"/>
                </a:solidFill>
              </a:rPr>
              <a:t>8.b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example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Calculation of e</a:t>
            </a:r>
            <a:r>
              <a:rPr lang="en-US" baseline="30000" dirty="0" smtClean="0"/>
              <a:t>x</a:t>
            </a:r>
            <a:r>
              <a:rPr lang="en-US" dirty="0" smtClean="0"/>
              <a:t>/y</a:t>
            </a:r>
          </a:p>
          <a:p>
            <a:r>
              <a:rPr lang="en-US" dirty="0" smtClean="0"/>
              <a:t>Hard to calculate directly</a:t>
            </a:r>
          </a:p>
          <a:p>
            <a:r>
              <a:rPr lang="en-US" dirty="0" smtClean="0"/>
              <a:t>Solution: Taylor </a:t>
            </a:r>
            <a:r>
              <a:rPr lang="en-GB" dirty="0"/>
              <a:t>series </a:t>
            </a:r>
            <a:endParaRPr lang="en-GB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is an approximation: More accurate values are obtained when  n increases</a:t>
            </a:r>
            <a:endParaRPr lang="en-GB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2933700"/>
            <a:ext cx="52482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37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example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N=3 gives a good fit: its accuracy is enough for many applications: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Sometimes we may need less accuracy (use n=2), sometimes more (n&gt;3)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667000"/>
            <a:ext cx="3657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795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example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Design an efficient implementation for </a:t>
            </a:r>
            <a:r>
              <a:rPr lang="en-US" dirty="0"/>
              <a:t>e</a:t>
            </a:r>
            <a:r>
              <a:rPr lang="en-US" baseline="30000" dirty="0"/>
              <a:t>x</a:t>
            </a:r>
            <a:r>
              <a:rPr lang="en-US" dirty="0"/>
              <a:t>/y</a:t>
            </a:r>
          </a:p>
          <a:p>
            <a:r>
              <a:rPr lang="en-US" dirty="0" smtClean="0"/>
              <a:t>With variable accuracy: user defines the right accuracy at run-time</a:t>
            </a:r>
          </a:p>
          <a:p>
            <a:endParaRPr lang="en-US" dirty="0"/>
          </a:p>
          <a:p>
            <a:r>
              <a:rPr lang="en-US" dirty="0" smtClean="0"/>
              <a:t>So we should design a hardware for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With some n (n=the maximum allowable accuracy) and then adjust accuracy (use smaller n) at runtime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186" y="3867150"/>
            <a:ext cx="50577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36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Polynomial entity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GB" dirty="0" smtClean="0"/>
              <a:t>ENTITY polynomial IS</a:t>
            </a:r>
            <a:endParaRPr lang="en-GB" dirty="0"/>
          </a:p>
          <a:p>
            <a:pPr marL="0" indent="0">
              <a:buNone/>
            </a:pPr>
            <a:r>
              <a:rPr lang="en-GB" dirty="0" smtClean="0"/>
              <a:t>        PORT( </a:t>
            </a:r>
            <a:r>
              <a:rPr lang="en-GB" dirty="0" err="1"/>
              <a:t>clk</a:t>
            </a:r>
            <a:r>
              <a:rPr lang="en-GB" dirty="0"/>
              <a:t>, </a:t>
            </a:r>
            <a:r>
              <a:rPr lang="en-GB" dirty="0" err="1" smtClean="0"/>
              <a:t>clr</a:t>
            </a:r>
            <a:r>
              <a:rPr lang="en-GB" dirty="0"/>
              <a:t>" </a:t>
            </a:r>
            <a:r>
              <a:rPr lang="en-GB" dirty="0" smtClean="0"/>
              <a:t>IN bit;</a:t>
            </a:r>
          </a:p>
          <a:p>
            <a:pPr marL="0" indent="0">
              <a:buNone/>
            </a:pPr>
            <a:r>
              <a:rPr lang="en-US" dirty="0" smtClean="0"/>
              <a:t>            N: </a:t>
            </a:r>
            <a:r>
              <a:rPr lang="en-US" smtClean="0"/>
              <a:t>IN Integer;//</a:t>
            </a:r>
            <a:endParaRPr lang="en-GB" dirty="0" smtClean="0"/>
          </a:p>
          <a:p>
            <a:pPr marL="0" indent="0">
              <a:buNone/>
            </a:pPr>
            <a:r>
              <a:rPr lang="en-US" dirty="0" smtClean="0"/>
              <a:t>            mode: IN </a:t>
            </a:r>
            <a:r>
              <a:rPr lang="en-US" dirty="0" err="1" smtClean="0"/>
              <a:t>bit_vector</a:t>
            </a:r>
            <a:r>
              <a:rPr lang="en-US" dirty="0" smtClean="0"/>
              <a:t> (1 </a:t>
            </a:r>
            <a:r>
              <a:rPr lang="en-US" dirty="0" err="1" smtClean="0"/>
              <a:t>downto</a:t>
            </a:r>
            <a:r>
              <a:rPr lang="en-US" dirty="0" smtClean="0"/>
              <a:t> 0);</a:t>
            </a:r>
            <a:endParaRPr lang="en-GB" dirty="0"/>
          </a:p>
          <a:p>
            <a:pPr marL="274320" lvl="1" indent="0">
              <a:buNone/>
            </a:pPr>
            <a:r>
              <a:rPr lang="en-GB" dirty="0" smtClean="0"/>
              <a:t>	X: IN </a:t>
            </a:r>
            <a:r>
              <a:rPr lang="en-GB" dirty="0" err="1"/>
              <a:t>bit_vector</a:t>
            </a:r>
            <a:r>
              <a:rPr lang="en-GB" dirty="0"/>
              <a:t>(15 </a:t>
            </a:r>
            <a:r>
              <a:rPr lang="en-GB" dirty="0" err="1"/>
              <a:t>downto</a:t>
            </a:r>
            <a:r>
              <a:rPr lang="en-GB" dirty="0"/>
              <a:t> 0</a:t>
            </a:r>
            <a:r>
              <a:rPr lang="en-GB" dirty="0" smtClean="0"/>
              <a:t>);</a:t>
            </a:r>
          </a:p>
          <a:p>
            <a:pPr marL="274320" lvl="1" indent="0">
              <a:buNone/>
            </a:pPr>
            <a:r>
              <a:rPr lang="en-US" dirty="0" smtClean="0"/>
              <a:t>          </a:t>
            </a:r>
            <a:r>
              <a:rPr lang="en-GB" dirty="0" smtClean="0"/>
              <a:t>Y: </a:t>
            </a:r>
            <a:r>
              <a:rPr lang="en-GB" dirty="0"/>
              <a:t>IN </a:t>
            </a:r>
            <a:r>
              <a:rPr lang="en-GB" dirty="0" err="1"/>
              <a:t>bit_vector</a:t>
            </a:r>
            <a:r>
              <a:rPr lang="en-GB" dirty="0"/>
              <a:t>(15 </a:t>
            </a:r>
            <a:r>
              <a:rPr lang="en-GB" dirty="0" err="1"/>
              <a:t>downto</a:t>
            </a:r>
            <a:r>
              <a:rPr lang="en-GB" dirty="0"/>
              <a:t> 0);</a:t>
            </a:r>
          </a:p>
          <a:p>
            <a:pPr marL="274320" lvl="1" indent="0">
              <a:buNone/>
            </a:pPr>
            <a:r>
              <a:rPr lang="en-US" dirty="0" smtClean="0"/>
              <a:t>         --</a:t>
            </a:r>
            <a:r>
              <a:rPr lang="en-US" dirty="0" err="1" smtClean="0"/>
              <a:t>Coeff_add</a:t>
            </a:r>
            <a:r>
              <a:rPr lang="en-US" dirty="0" smtClean="0"/>
              <a:t>: IN </a:t>
            </a:r>
            <a:r>
              <a:rPr lang="en-GB" dirty="0" err="1" smtClean="0"/>
              <a:t>bit_vector</a:t>
            </a:r>
            <a:r>
              <a:rPr lang="en-GB" dirty="0" smtClean="0"/>
              <a:t>(3 </a:t>
            </a:r>
            <a:r>
              <a:rPr lang="en-GB" dirty="0" err="1"/>
              <a:t>downto</a:t>
            </a:r>
            <a:r>
              <a:rPr lang="en-GB" dirty="0"/>
              <a:t> 0);</a:t>
            </a:r>
          </a:p>
          <a:p>
            <a:pPr marL="274320" lvl="1" indent="0">
              <a:buNone/>
            </a:pPr>
            <a:r>
              <a:rPr lang="en-GB" dirty="0" smtClean="0"/>
              <a:t>	P :OUT </a:t>
            </a:r>
            <a:r>
              <a:rPr lang="en-GB" dirty="0" err="1"/>
              <a:t>bit_vector</a:t>
            </a:r>
            <a:r>
              <a:rPr lang="en-GB" dirty="0"/>
              <a:t>(15 </a:t>
            </a:r>
            <a:r>
              <a:rPr lang="en-GB" dirty="0" err="1"/>
              <a:t>downto</a:t>
            </a:r>
            <a:r>
              <a:rPr lang="en-GB" dirty="0"/>
              <a:t> 0</a:t>
            </a:r>
            <a:r>
              <a:rPr lang="en-GB" dirty="0" smtClean="0"/>
              <a:t>);</a:t>
            </a:r>
          </a:p>
          <a:p>
            <a:pPr marL="274320" lvl="1" indent="0">
              <a:buNone/>
            </a:pPr>
            <a:r>
              <a:rPr lang="en-GB" dirty="0"/>
              <a:t> </a:t>
            </a:r>
            <a:r>
              <a:rPr lang="en-GB" dirty="0" smtClean="0"/>
              <a:t>   );</a:t>
            </a:r>
            <a:endParaRPr lang="en-GB" dirty="0"/>
          </a:p>
          <a:p>
            <a:pPr marL="0" indent="0">
              <a:buNone/>
            </a:pPr>
            <a:r>
              <a:rPr lang="en-GB" dirty="0" smtClean="0"/>
              <a:t>END polynomial</a:t>
            </a:r>
            <a:r>
              <a:rPr lang="en-GB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3723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entity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The mode input is used to load coefficient values into internal registers. </a:t>
            </a:r>
            <a:endParaRPr lang="en-GB" dirty="0" smtClean="0"/>
          </a:p>
          <a:p>
            <a:r>
              <a:rPr lang="en-GB" dirty="0" smtClean="0"/>
              <a:t>When </a:t>
            </a:r>
            <a:r>
              <a:rPr lang="en-GB" b="1" dirty="0" smtClean="0"/>
              <a:t>mode </a:t>
            </a:r>
            <a:r>
              <a:rPr lang="en-GB" dirty="0"/>
              <a:t>is '1', the value on the x input is loaded into the register selected by </a:t>
            </a:r>
            <a:r>
              <a:rPr lang="en-GB" dirty="0" smtClean="0"/>
              <a:t>the </a:t>
            </a:r>
            <a:r>
              <a:rPr lang="en-GB" b="1" dirty="0" err="1" smtClean="0"/>
              <a:t>coeff_addr</a:t>
            </a:r>
            <a:r>
              <a:rPr lang="en-GB" b="1" dirty="0" smtClean="0"/>
              <a:t> </a:t>
            </a:r>
            <a:r>
              <a:rPr lang="en-GB" dirty="0"/>
              <a:t>inputs. </a:t>
            </a:r>
            <a:endParaRPr lang="en-GB" dirty="0" smtClean="0"/>
          </a:p>
          <a:p>
            <a:r>
              <a:rPr lang="en-GB" dirty="0" smtClean="0"/>
              <a:t>When </a:t>
            </a:r>
            <a:r>
              <a:rPr lang="en-GB" dirty="0"/>
              <a:t>mode is '0', the x input is used as the next data value </a:t>
            </a:r>
            <a:r>
              <a:rPr lang="en-GB" dirty="0" smtClean="0"/>
              <a:t>for which </a:t>
            </a:r>
            <a:r>
              <a:rPr lang="en-GB" dirty="0"/>
              <a:t>the polynomial is to be calculated.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b="1" dirty="0" err="1"/>
              <a:t>clr</a:t>
            </a:r>
            <a:r>
              <a:rPr lang="en-GB" b="1" dirty="0"/>
              <a:t> </a:t>
            </a:r>
            <a:r>
              <a:rPr lang="en-GB" dirty="0"/>
              <a:t>input is used to clear the </a:t>
            </a:r>
            <a:r>
              <a:rPr lang="en-GB" dirty="0" smtClean="0"/>
              <a:t>internal pipeline </a:t>
            </a:r>
            <a:r>
              <a:rPr lang="en-GB" dirty="0"/>
              <a:t>registers.</a:t>
            </a:r>
          </a:p>
        </p:txBody>
      </p:sp>
    </p:spTree>
    <p:extLst>
      <p:ext uri="{BB962C8B-B14F-4D97-AF65-F5344CB8AC3E}">
        <p14:creationId xmlns:p14="http://schemas.microsoft.com/office/powerpoint/2010/main" val="374337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Pipelined design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A polynomial function of degree n </a:t>
            </a:r>
            <a:r>
              <a:rPr lang="en-GB" dirty="0" smtClean="0"/>
              <a:t>is</a:t>
            </a:r>
          </a:p>
          <a:p>
            <a:endParaRPr lang="en-US" dirty="0"/>
          </a:p>
          <a:p>
            <a:r>
              <a:rPr lang="en-GB" dirty="0" smtClean="0"/>
              <a:t>x </a:t>
            </a:r>
            <a:r>
              <a:rPr lang="en-GB" dirty="0"/>
              <a:t>is the input </a:t>
            </a:r>
            <a:r>
              <a:rPr lang="en-GB" dirty="0" smtClean="0"/>
              <a:t>variable</a:t>
            </a:r>
          </a:p>
          <a:p>
            <a:r>
              <a:rPr lang="en-GB" dirty="0" smtClean="0"/>
              <a:t>We </a:t>
            </a:r>
            <a:r>
              <a:rPr lang="en-GB" dirty="0"/>
              <a:t>can rewrite the polynomial </a:t>
            </a:r>
            <a:r>
              <a:rPr lang="en-GB" dirty="0" smtClean="0"/>
              <a:t>as</a:t>
            </a:r>
          </a:p>
          <a:p>
            <a:endParaRPr lang="en-US" dirty="0"/>
          </a:p>
          <a:p>
            <a:r>
              <a:rPr lang="en-US" dirty="0" smtClean="0"/>
              <a:t>An n-stage pipeline starting from the last term:</a:t>
            </a:r>
          </a:p>
          <a:p>
            <a:pPr lvl="1"/>
            <a:r>
              <a:rPr lang="en-GB" dirty="0" smtClean="0"/>
              <a:t>Each stage </a:t>
            </a:r>
            <a:r>
              <a:rPr lang="en-GB" dirty="0"/>
              <a:t>evaluates </a:t>
            </a:r>
            <a:r>
              <a:rPr lang="en-GB" i="1" dirty="0" smtClean="0"/>
              <a:t>a</a:t>
            </a:r>
            <a:r>
              <a:rPr lang="en-GB" i="1" baseline="-25000" dirty="0" smtClean="0"/>
              <a:t>n-1</a:t>
            </a:r>
            <a:r>
              <a:rPr lang="en-GB" i="1" dirty="0" smtClean="0"/>
              <a:t>+ </a:t>
            </a:r>
            <a:r>
              <a:rPr lang="en-GB" i="1" dirty="0" err="1" smtClean="0"/>
              <a:t>xa</a:t>
            </a:r>
            <a:r>
              <a:rPr lang="en-GB" i="1" baseline="-25000" dirty="0" err="1" smtClean="0"/>
              <a:t>n</a:t>
            </a:r>
            <a:r>
              <a:rPr lang="en-GB" i="1" dirty="0" smtClean="0"/>
              <a:t> </a:t>
            </a:r>
            <a:r>
              <a:rPr lang="en-GB" dirty="0"/>
              <a:t>and passes the result and the </a:t>
            </a:r>
            <a:r>
              <a:rPr lang="en-GB" dirty="0" smtClean="0"/>
              <a:t>value of </a:t>
            </a:r>
            <a:r>
              <a:rPr lang="en-GB" dirty="0"/>
              <a:t>x to the second </a:t>
            </a:r>
            <a:r>
              <a:rPr lang="en-GB" dirty="0" smtClean="0"/>
              <a:t>stage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91145"/>
            <a:ext cx="49149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382" y="3352800"/>
            <a:ext cx="658177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72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498"/>
          </a:xfrm>
        </p:spPr>
        <p:txBody>
          <a:bodyPr/>
          <a:lstStyle/>
          <a:p>
            <a:r>
              <a:rPr lang="en-US" dirty="0" smtClean="0"/>
              <a:t>Hardware design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143136"/>
            <a:ext cx="63055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95" y="2133600"/>
            <a:ext cx="6644986" cy="424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135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498"/>
          </a:xfrm>
        </p:spPr>
        <p:txBody>
          <a:bodyPr/>
          <a:lstStyle/>
          <a:p>
            <a:r>
              <a:rPr lang="en-US" dirty="0" smtClean="0"/>
              <a:t>Hardware design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143136"/>
            <a:ext cx="63055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95" y="2133600"/>
            <a:ext cx="6644986" cy="424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5638800" y="1295400"/>
            <a:ext cx="1371600" cy="609600"/>
          </a:xfrm>
          <a:prstGeom prst="ellipse">
            <a:avLst/>
          </a:prstGeom>
          <a:solidFill>
            <a:schemeClr val="accent2">
              <a:lumMod val="60000"/>
              <a:lumOff val="40000"/>
              <a:alpha val="3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 flipH="1">
            <a:off x="3352800" y="1600200"/>
            <a:ext cx="2286000" cy="838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76400" y="2209800"/>
            <a:ext cx="2819400" cy="1295400"/>
          </a:xfrm>
          <a:prstGeom prst="ellipse">
            <a:avLst/>
          </a:prstGeom>
          <a:solidFill>
            <a:schemeClr val="accent2">
              <a:lumMod val="60000"/>
              <a:lumOff val="40000"/>
              <a:alpha val="3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04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498"/>
          </a:xfrm>
        </p:spPr>
        <p:txBody>
          <a:bodyPr/>
          <a:lstStyle/>
          <a:p>
            <a:r>
              <a:rPr lang="en-US" dirty="0" smtClean="0"/>
              <a:t>Pipeline design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143136"/>
            <a:ext cx="63055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620000" cy="418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31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e</a:t>
            </a:r>
            <a:r>
              <a:rPr lang="en-US" baseline="30000" dirty="0" smtClean="0"/>
              <a:t>x</a:t>
            </a:r>
            <a:r>
              <a:rPr lang="en-US" dirty="0" smtClean="0"/>
              <a:t>/y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66950"/>
            <a:ext cx="8713787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219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Set output to 0, if y=0</a:t>
            </a:r>
          </a:p>
          <a:p>
            <a:r>
              <a:rPr lang="en-US" dirty="0" smtClean="0"/>
              <a:t>A controller determines the select line of mux and propagates the select bit with y down to the pipeline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22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 design 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Check the y to set the select </a:t>
            </a:r>
            <a:r>
              <a:rPr lang="en-US" dirty="0" smtClean="0"/>
              <a:t>line </a:t>
            </a:r>
          </a:p>
          <a:p>
            <a:r>
              <a:rPr lang="en-US" dirty="0" smtClean="0"/>
              <a:t>Check </a:t>
            </a:r>
            <a:r>
              <a:rPr lang="en-US" dirty="0" smtClean="0"/>
              <a:t>the mode </a:t>
            </a:r>
            <a:r>
              <a:rPr lang="en-US" dirty="0" smtClean="0"/>
              <a:t>(</a:t>
            </a:r>
            <a:r>
              <a:rPr lang="en-US" dirty="0" err="1" smtClean="0"/>
              <a:t>init</a:t>
            </a:r>
            <a:r>
              <a:rPr lang="en-US" dirty="0" smtClean="0"/>
              <a:t>, start, stop) and </a:t>
            </a:r>
            <a:r>
              <a:rPr lang="en-US" dirty="0" smtClean="0"/>
              <a:t>reset signals to control the start/stop of the </a:t>
            </a:r>
            <a:r>
              <a:rPr lang="en-US" smtClean="0"/>
              <a:t>process and to </a:t>
            </a:r>
            <a:r>
              <a:rPr lang="en-US" dirty="0"/>
              <a:t>see when to load coefficients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80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2152</TotalTime>
  <Words>361</Words>
  <Application>Microsoft Office PowerPoint</Application>
  <PresentationFormat>On-screen Show (4:3)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Franklin Gothic Book</vt:lpstr>
      <vt:lpstr>Perpetua</vt:lpstr>
      <vt:lpstr>Times New Roman</vt:lpstr>
      <vt:lpstr>Wingdings 2</vt:lpstr>
      <vt:lpstr>Equity</vt:lpstr>
      <vt:lpstr>Design Example- pipeline’s FSM and Datapath</vt:lpstr>
      <vt:lpstr>Design example</vt:lpstr>
      <vt:lpstr>Design example</vt:lpstr>
      <vt:lpstr>Design example</vt:lpstr>
      <vt:lpstr>Polynomial entity</vt:lpstr>
      <vt:lpstr>Polynomial entity</vt:lpstr>
      <vt:lpstr>Pipelined design</vt:lpstr>
      <vt:lpstr>Hardware design</vt:lpstr>
      <vt:lpstr>Hardware design</vt:lpstr>
      <vt:lpstr>Pipeline design</vt:lpstr>
      <vt:lpstr>Calculating ex/y</vt:lpstr>
      <vt:lpstr>Controller design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LENOVO TWIST</cp:lastModifiedBy>
  <cp:revision>91</cp:revision>
  <dcterms:created xsi:type="dcterms:W3CDTF">2011-11-11T14:48:38Z</dcterms:created>
  <dcterms:modified xsi:type="dcterms:W3CDTF">2023-10-30T04:41:32Z</dcterms:modified>
</cp:coreProperties>
</file>