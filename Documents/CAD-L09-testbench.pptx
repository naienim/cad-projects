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67" r:id="rId2"/>
    <p:sldId id="301" r:id="rId3"/>
    <p:sldId id="302" r:id="rId4"/>
    <p:sldId id="318" r:id="rId5"/>
    <p:sldId id="312" r:id="rId6"/>
    <p:sldId id="314" r:id="rId7"/>
    <p:sldId id="315" r:id="rId8"/>
    <p:sldId id="322" r:id="rId9"/>
    <p:sldId id="316" r:id="rId10"/>
    <p:sldId id="368" r:id="rId11"/>
    <p:sldId id="347" r:id="rId12"/>
    <p:sldId id="348" r:id="rId13"/>
    <p:sldId id="349" r:id="rId14"/>
    <p:sldId id="37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28" r:id="rId34"/>
    <p:sldId id="327" r:id="rId35"/>
    <p:sldId id="329" r:id="rId36"/>
    <p:sldId id="341" r:id="rId37"/>
    <p:sldId id="343" r:id="rId38"/>
    <p:sldId id="344" r:id="rId3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14865E-CE3B-4ECF-A91B-947F24CF06CE}">
          <p14:sldIdLst>
            <p14:sldId id="267"/>
            <p14:sldId id="301"/>
            <p14:sldId id="302"/>
            <p14:sldId id="318"/>
            <p14:sldId id="312"/>
            <p14:sldId id="314"/>
            <p14:sldId id="315"/>
            <p14:sldId id="322"/>
            <p14:sldId id="316"/>
            <p14:sldId id="368"/>
            <p14:sldId id="347"/>
            <p14:sldId id="348"/>
            <p14:sldId id="349"/>
            <p14:sldId id="37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28"/>
            <p14:sldId id="327"/>
            <p14:sldId id="329"/>
            <p14:sldId id="341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7" autoAdjust="0"/>
    <p:restoredTop sz="93950" autoAdjust="0"/>
  </p:normalViewPr>
  <p:slideViewPr>
    <p:cSldViewPr>
      <p:cViewPr varScale="1">
        <p:scale>
          <a:sx n="80" d="100"/>
          <a:sy n="80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8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24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FBF8DF-3830-4739-B831-2579717B32E3}" type="slidenum">
              <a:rPr lang="en-US"/>
              <a:pPr/>
              <a:t>2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Testing verifies that internal notes can be toggled</a:t>
            </a:r>
          </a:p>
          <a:p>
            <a:r>
              <a:rPr lang="en-US"/>
              <a:t>Thoroughness of testing depends on controllability and observability of internal nodes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D7D18D-F58F-4C22-93FC-EA73E5D4E6B2}" type="slidenum">
              <a:rPr lang="en-US"/>
              <a:pPr/>
              <a:t>3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Thoroughness of test depends on controllability and observability of internal nodes.</a:t>
            </a:r>
          </a:p>
          <a:p>
            <a:r>
              <a:rPr lang="en-US"/>
              <a:t>One method is scan.</a:t>
            </a:r>
          </a:p>
          <a:p>
            <a:r>
              <a:rPr lang="en-US"/>
              <a:t>	Linking all registers together into a chain.  This chain is accessible from the chip pins.  This way one can control and observe the internal nodes.</a:t>
            </a:r>
          </a:p>
          <a:p>
            <a:r>
              <a:rPr lang="en-US"/>
              <a:t>This puts restrictions into design.</a:t>
            </a:r>
          </a:p>
          <a:p>
            <a:r>
              <a:rPr lang="en-US"/>
              <a:t>It keeps down cost due to fabrication problems.</a:t>
            </a:r>
          </a:p>
          <a:p>
            <a:r>
              <a:rPr lang="en-US"/>
              <a:t>Janick’s book contains references for more info.</a:t>
            </a:r>
          </a:p>
          <a:p>
            <a:r>
              <a:rPr lang="en-US"/>
              <a:t>If restriction are imposed due to test, why shouldn’t some be imposed due to verification!!!!</a:t>
            </a:r>
          </a:p>
          <a:p>
            <a:r>
              <a:rPr lang="en-US"/>
              <a:t>Verification should be taken into consideration during architecture.  Architects should ask the following 2 questions:</a:t>
            </a:r>
          </a:p>
          <a:p>
            <a:r>
              <a:rPr lang="en-US"/>
              <a:t>	What is is supposed to do?</a:t>
            </a:r>
          </a:p>
          <a:p>
            <a:r>
              <a:rPr lang="en-US"/>
              <a:t>	How is it going to be verified?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3A04D351-ABA0-48E8-A425-62BBAB173F11}" type="slidenum">
              <a:rPr lang="en-US" smtClean="0"/>
              <a:pPr lvl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028" y="726321"/>
            <a:ext cx="4941147" cy="358897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4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C04EEC2-17ED-4760-8157-C0C7E3F6DFD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Verilog 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4B2C562-0EC8-47AD-BBA0-DB27BFA301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Mehdi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Modarressi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Department of Electrical and Computer Engineering,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University of  Tehran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Testbench and Random Number Generation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ECE381(CAD),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Lecture 9: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Verification VS. Test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often confused</a:t>
            </a:r>
          </a:p>
          <a:p>
            <a:r>
              <a:rPr lang="en-US" dirty="0"/>
              <a:t>Purpose of </a:t>
            </a:r>
            <a:r>
              <a:rPr lang="en-US" i="1" dirty="0"/>
              <a:t>test</a:t>
            </a:r>
            <a:r>
              <a:rPr lang="en-US" dirty="0"/>
              <a:t> is to verify that the design was manufactured properly</a:t>
            </a:r>
          </a:p>
          <a:p>
            <a:pPr lvl="1"/>
            <a:r>
              <a:rPr lang="en-US" dirty="0"/>
              <a:t>To ensure the chip is physically correct</a:t>
            </a:r>
          </a:p>
          <a:p>
            <a:pPr lvl="1"/>
            <a:r>
              <a:rPr lang="en-US" dirty="0"/>
              <a:t>Done after manufacturing</a:t>
            </a:r>
          </a:p>
          <a:p>
            <a:r>
              <a:rPr lang="en-US" dirty="0"/>
              <a:t>Purpose of </a:t>
            </a:r>
            <a:r>
              <a:rPr lang="en-US" i="1" dirty="0"/>
              <a:t>Verification</a:t>
            </a:r>
            <a:r>
              <a:rPr lang="en-US" dirty="0"/>
              <a:t> is to ensure that the design has the right functionality</a:t>
            </a:r>
            <a:endParaRPr lang="en-US" b="1" u="sng" dirty="0"/>
          </a:p>
          <a:p>
            <a:pPr lvl="1"/>
            <a:r>
              <a:rPr lang="en-US" sz="2600" dirty="0"/>
              <a:t>The code does exactly what it should do</a:t>
            </a:r>
          </a:p>
          <a:p>
            <a:pPr lvl="1"/>
            <a:r>
              <a:rPr lang="en-US" sz="2600" dirty="0"/>
              <a:t>Done in software before manufacturing</a:t>
            </a:r>
          </a:p>
        </p:txBody>
      </p:sp>
    </p:spTree>
    <p:extLst>
      <p:ext uri="{BB962C8B-B14F-4D97-AF65-F5344CB8AC3E}">
        <p14:creationId xmlns:p14="http://schemas.microsoft.com/office/powerpoint/2010/main" val="3213176422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Verification and Test </a:t>
            </a:r>
            <a:r>
              <a:rPr lang="en-US" dirty="0" err="1"/>
              <a:t>Reconvergence</a:t>
            </a:r>
            <a:r>
              <a:rPr lang="en-US" dirty="0"/>
              <a:t> Model</a:t>
            </a:r>
          </a:p>
        </p:txBody>
      </p:sp>
      <p:sp>
        <p:nvSpPr>
          <p:cNvPr id="161795" name="Oval 3"/>
          <p:cNvSpPr>
            <a:spLocks noChangeArrowheads="1"/>
          </p:cNvSpPr>
          <p:nvPr/>
        </p:nvSpPr>
        <p:spPr bwMode="auto">
          <a:xfrm>
            <a:off x="19050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1796" name="Oval 4"/>
          <p:cNvSpPr>
            <a:spLocks noChangeArrowheads="1"/>
          </p:cNvSpPr>
          <p:nvPr/>
        </p:nvSpPr>
        <p:spPr bwMode="auto">
          <a:xfrm>
            <a:off x="58674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1797" name="Freeform 5"/>
          <p:cNvSpPr>
            <a:spLocks/>
          </p:cNvSpPr>
          <p:nvPr/>
        </p:nvSpPr>
        <p:spPr bwMode="auto">
          <a:xfrm>
            <a:off x="1981200" y="2501900"/>
            <a:ext cx="1981200" cy="1079500"/>
          </a:xfrm>
          <a:custGeom>
            <a:avLst/>
            <a:gdLst>
              <a:gd name="T0" fmla="*/ 0 w 2448"/>
              <a:gd name="T1" fmla="*/ 680 h 680"/>
              <a:gd name="T2" fmla="*/ 1248 w 2448"/>
              <a:gd name="T3" fmla="*/ 8 h 680"/>
              <a:gd name="T4" fmla="*/ 2448 w 2448"/>
              <a:gd name="T5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48" h="680">
                <a:moveTo>
                  <a:pt x="0" y="680"/>
                </a:moveTo>
                <a:cubicBezTo>
                  <a:pt x="420" y="348"/>
                  <a:pt x="840" y="16"/>
                  <a:pt x="1248" y="8"/>
                </a:cubicBezTo>
                <a:cubicBezTo>
                  <a:pt x="1656" y="0"/>
                  <a:pt x="2052" y="316"/>
                  <a:pt x="244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457200" y="3048000"/>
            <a:ext cx="178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Specification</a:t>
            </a:r>
          </a:p>
        </p:txBody>
      </p:sp>
      <p:sp>
        <p:nvSpPr>
          <p:cNvPr id="161799" name="Text Box 7"/>
          <p:cNvSpPr txBox="1">
            <a:spLocks noChangeArrowheads="1"/>
          </p:cNvSpPr>
          <p:nvPr/>
        </p:nvSpPr>
        <p:spPr bwMode="auto">
          <a:xfrm>
            <a:off x="6156325" y="3317875"/>
            <a:ext cx="104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Silicon</a:t>
            </a:r>
          </a:p>
        </p:txBody>
      </p:sp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2209800" y="4724400"/>
            <a:ext cx="1654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Verification</a:t>
            </a:r>
          </a:p>
        </p:txBody>
      </p:sp>
      <p:sp>
        <p:nvSpPr>
          <p:cNvPr id="161801" name="Freeform 9"/>
          <p:cNvSpPr>
            <a:spLocks/>
          </p:cNvSpPr>
          <p:nvPr/>
        </p:nvSpPr>
        <p:spPr bwMode="auto">
          <a:xfrm>
            <a:off x="2057400" y="3733800"/>
            <a:ext cx="1905000" cy="990600"/>
          </a:xfrm>
          <a:custGeom>
            <a:avLst/>
            <a:gdLst>
              <a:gd name="T0" fmla="*/ 0 w 2400"/>
              <a:gd name="T1" fmla="*/ 0 h 624"/>
              <a:gd name="T2" fmla="*/ 1248 w 2400"/>
              <a:gd name="T3" fmla="*/ 624 h 624"/>
              <a:gd name="T4" fmla="*/ 2400 w 2400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0" h="624">
                <a:moveTo>
                  <a:pt x="0" y="0"/>
                </a:moveTo>
                <a:cubicBezTo>
                  <a:pt x="424" y="312"/>
                  <a:pt x="848" y="624"/>
                  <a:pt x="1248" y="624"/>
                </a:cubicBezTo>
                <a:cubicBezTo>
                  <a:pt x="1648" y="624"/>
                  <a:pt x="2024" y="312"/>
                  <a:pt x="24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61802" name="Oval 10"/>
          <p:cNvSpPr>
            <a:spLocks noChangeArrowheads="1"/>
          </p:cNvSpPr>
          <p:nvPr/>
        </p:nvSpPr>
        <p:spPr bwMode="auto">
          <a:xfrm>
            <a:off x="39624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1804" name="Text Box 12"/>
          <p:cNvSpPr txBox="1">
            <a:spLocks noChangeArrowheads="1"/>
          </p:cNvSpPr>
          <p:nvPr/>
        </p:nvSpPr>
        <p:spPr bwMode="auto">
          <a:xfrm>
            <a:off x="2133600" y="2057400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HW Design</a:t>
            </a:r>
          </a:p>
        </p:txBody>
      </p:sp>
      <p:sp>
        <p:nvSpPr>
          <p:cNvPr id="161805" name="Text Box 13"/>
          <p:cNvSpPr txBox="1">
            <a:spLocks noChangeArrowheads="1"/>
          </p:cNvSpPr>
          <p:nvPr/>
        </p:nvSpPr>
        <p:spPr bwMode="auto">
          <a:xfrm>
            <a:off x="2895600" y="3429000"/>
            <a:ext cx="1071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Net list</a:t>
            </a:r>
          </a:p>
        </p:txBody>
      </p:sp>
      <p:sp>
        <p:nvSpPr>
          <p:cNvPr id="161806" name="Oval 14"/>
          <p:cNvSpPr>
            <a:spLocks noChangeArrowheads="1"/>
          </p:cNvSpPr>
          <p:nvPr/>
        </p:nvSpPr>
        <p:spPr bwMode="auto">
          <a:xfrm>
            <a:off x="39624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1807" name="Freeform 15"/>
          <p:cNvSpPr>
            <a:spLocks/>
          </p:cNvSpPr>
          <p:nvPr/>
        </p:nvSpPr>
        <p:spPr bwMode="auto">
          <a:xfrm>
            <a:off x="4038600" y="2501900"/>
            <a:ext cx="1981200" cy="1079500"/>
          </a:xfrm>
          <a:custGeom>
            <a:avLst/>
            <a:gdLst>
              <a:gd name="T0" fmla="*/ 0 w 2448"/>
              <a:gd name="T1" fmla="*/ 680 h 680"/>
              <a:gd name="T2" fmla="*/ 1248 w 2448"/>
              <a:gd name="T3" fmla="*/ 8 h 680"/>
              <a:gd name="T4" fmla="*/ 2448 w 2448"/>
              <a:gd name="T5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48" h="680">
                <a:moveTo>
                  <a:pt x="0" y="680"/>
                </a:moveTo>
                <a:cubicBezTo>
                  <a:pt x="420" y="348"/>
                  <a:pt x="840" y="16"/>
                  <a:pt x="1248" y="8"/>
                </a:cubicBezTo>
                <a:cubicBezTo>
                  <a:pt x="1656" y="0"/>
                  <a:pt x="2052" y="316"/>
                  <a:pt x="2448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61808" name="Text Box 16"/>
          <p:cNvSpPr txBox="1">
            <a:spLocks noChangeArrowheads="1"/>
          </p:cNvSpPr>
          <p:nvPr/>
        </p:nvSpPr>
        <p:spPr bwMode="auto">
          <a:xfrm>
            <a:off x="4724400" y="4724400"/>
            <a:ext cx="70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Test</a:t>
            </a:r>
          </a:p>
        </p:txBody>
      </p:sp>
      <p:sp>
        <p:nvSpPr>
          <p:cNvPr id="161809" name="Freeform 17"/>
          <p:cNvSpPr>
            <a:spLocks/>
          </p:cNvSpPr>
          <p:nvPr/>
        </p:nvSpPr>
        <p:spPr bwMode="auto">
          <a:xfrm>
            <a:off x="4114800" y="3733800"/>
            <a:ext cx="1905000" cy="990600"/>
          </a:xfrm>
          <a:custGeom>
            <a:avLst/>
            <a:gdLst>
              <a:gd name="T0" fmla="*/ 0 w 2400"/>
              <a:gd name="T1" fmla="*/ 0 h 624"/>
              <a:gd name="T2" fmla="*/ 1248 w 2400"/>
              <a:gd name="T3" fmla="*/ 624 h 624"/>
              <a:gd name="T4" fmla="*/ 2400 w 2400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0" h="624">
                <a:moveTo>
                  <a:pt x="0" y="0"/>
                </a:moveTo>
                <a:cubicBezTo>
                  <a:pt x="424" y="312"/>
                  <a:pt x="848" y="624"/>
                  <a:pt x="1248" y="624"/>
                </a:cubicBezTo>
                <a:cubicBezTo>
                  <a:pt x="1648" y="624"/>
                  <a:pt x="2024" y="312"/>
                  <a:pt x="24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61811" name="Text Box 19"/>
          <p:cNvSpPr txBox="1">
            <a:spLocks noChangeArrowheads="1"/>
          </p:cNvSpPr>
          <p:nvPr/>
        </p:nvSpPr>
        <p:spPr bwMode="auto">
          <a:xfrm>
            <a:off x="4191000" y="2057400"/>
            <a:ext cx="1570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Fabrication</a:t>
            </a:r>
          </a:p>
        </p:txBody>
      </p:sp>
    </p:spTree>
    <p:extLst>
      <p:ext uri="{BB962C8B-B14F-4D97-AF65-F5344CB8AC3E}">
        <p14:creationId xmlns:p14="http://schemas.microsoft.com/office/powerpoint/2010/main" val="3559761206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>
                    <a:lumMod val="75000"/>
                  </a:schemeClr>
                </a:solidFill>
              </a:rPr>
              <a:t>TEST</a:t>
            </a:r>
          </a:p>
          <a:p>
            <a:r>
              <a:rPr lang="en-GB" sz="3200" dirty="0"/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28367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438400"/>
          </a:xfrm>
        </p:spPr>
        <p:txBody>
          <a:bodyPr>
            <a:normAutofit/>
          </a:bodyPr>
          <a:lstStyle/>
          <a:p>
            <a:r>
              <a:rPr lang="en-GB" dirty="0"/>
              <a:t>To make sure the code is actually does what it supposed to do</a:t>
            </a:r>
          </a:p>
          <a:p>
            <a:r>
              <a:rPr lang="en-GB" dirty="0"/>
              <a:t>Unlike test, here we don’t have circuit nodes to sensitize</a:t>
            </a:r>
          </a:p>
          <a:p>
            <a:pPr lvl="1"/>
            <a:r>
              <a:rPr lang="en-GB" dirty="0"/>
              <a:t>We should check the functionality of the design and find wrong code pieces</a:t>
            </a:r>
          </a:p>
          <a:p>
            <a:r>
              <a:rPr lang="en-GB" dirty="0"/>
              <a:t>Use </a:t>
            </a:r>
            <a:r>
              <a:rPr lang="en-GB" i="1" dirty="0"/>
              <a:t>testbench</a:t>
            </a:r>
            <a:r>
              <a:rPr lang="en-GB" dirty="0"/>
              <a:t> for verification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743200" y="3106832"/>
            <a:ext cx="2362200" cy="26843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81400" y="4287069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0040" lvl="1" indent="0">
              <a:buNone/>
            </a:pPr>
            <a:r>
              <a:rPr lang="en-GB" sz="2400" dirty="0"/>
              <a:t>PROCESS (</a:t>
            </a:r>
            <a:r>
              <a:rPr lang="en-GB" sz="2400" dirty="0" err="1"/>
              <a:t>a,b,s</a:t>
            </a:r>
            <a:r>
              <a:rPr lang="en-GB" sz="2400" dirty="0"/>
              <a:t>)</a:t>
            </a:r>
          </a:p>
          <a:p>
            <a:pPr marL="594360" lvl="2" indent="0">
              <a:buNone/>
            </a:pPr>
            <a:r>
              <a:rPr lang="en-GB" sz="2400" dirty="0"/>
              <a:t>IF(s=0)</a:t>
            </a:r>
          </a:p>
          <a:p>
            <a:pPr marL="594360" lvl="2" indent="0">
              <a:buNone/>
            </a:pPr>
            <a:r>
              <a:rPr lang="en-GB" sz="2400" dirty="0"/>
              <a:t>	D&lt;=a;</a:t>
            </a:r>
          </a:p>
          <a:p>
            <a:pPr marL="594360" lvl="2" indent="0">
              <a:buNone/>
            </a:pPr>
            <a:r>
              <a:rPr lang="en-GB" sz="2400" dirty="0"/>
              <a:t>ELSE</a:t>
            </a:r>
          </a:p>
          <a:p>
            <a:pPr marL="594360" lvl="2" indent="0">
              <a:buNone/>
            </a:pPr>
            <a:r>
              <a:rPr lang="en-GB" sz="2400" dirty="0"/>
              <a:t>    D&lt;=s;</a:t>
            </a:r>
          </a:p>
          <a:p>
            <a:pPr marL="320040" lvl="1" indent="0">
              <a:buNone/>
            </a:pPr>
            <a:r>
              <a:rPr lang="en-GB" sz="2400" dirty="0"/>
              <a:t>END PROCESS;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5256565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Wrong multiplexer code</a:t>
            </a:r>
          </a:p>
        </p:txBody>
      </p:sp>
    </p:spTree>
    <p:extLst>
      <p:ext uri="{BB962C8B-B14F-4D97-AF65-F5344CB8AC3E}">
        <p14:creationId xmlns:p14="http://schemas.microsoft.com/office/powerpoint/2010/main" val="263160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/>
              <a:t>A Test Bench?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Test Bench is a program that verifies the functional correctness of a hardware design (Design under Test= DUT).</a:t>
            </a:r>
          </a:p>
          <a:p>
            <a:pPr>
              <a:buNone/>
            </a:pPr>
            <a:endParaRPr lang="en-US" sz="3200" dirty="0"/>
          </a:p>
          <a:p>
            <a:r>
              <a:rPr lang="en-US" sz="3200" dirty="0"/>
              <a:t>The test bench program checks whether the hardware model does what it is supposed to do and is not doing what it is not supposed to do.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F114-B759-45B7-A8ED-A561F19BC30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5270/6270 by M. </a:t>
            </a:r>
            <a:r>
              <a:rPr lang="en-US" dirty="0" err="1"/>
              <a:t>Allani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4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Functions of a Test 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648199"/>
          </a:xfrm>
        </p:spPr>
        <p:txBody>
          <a:bodyPr>
            <a:normAutofit/>
          </a:bodyPr>
          <a:lstStyle/>
          <a:p>
            <a:r>
              <a:rPr lang="en-US" sz="2400" dirty="0"/>
              <a:t>Generate stimulus for testing the hardware block.</a:t>
            </a:r>
          </a:p>
          <a:p>
            <a:r>
              <a:rPr lang="en-US" sz="2400" dirty="0"/>
              <a:t>Apply the stimulus.</a:t>
            </a:r>
          </a:p>
          <a:p>
            <a:r>
              <a:rPr lang="en-US" sz="2400" dirty="0"/>
              <a:t>Compare the generated outputs against the expected outputs.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762000" y="5867400"/>
            <a:ext cx="2133600" cy="990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F114-B759-45B7-A8ED-A561F19BC30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5270/6270 e by M. </a:t>
            </a:r>
            <a:r>
              <a:rPr lang="en-US" dirty="0" err="1"/>
              <a:t>Allani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0"/>
            <a:ext cx="628650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42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Testbench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4" y="1447800"/>
            <a:ext cx="7696200" cy="495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81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Stimulus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Vectors can be generated within the test bench program or generated elsewhere and supplied to the test bench program as an input file.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Vectors can also be stored in a table within the test bench program.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F114-B759-45B7-A8ED-A561F19BC30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5270/6270 M. </a:t>
            </a:r>
            <a:r>
              <a:rPr lang="en-US" dirty="0" err="1"/>
              <a:t>Allani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1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data from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218" name="Picture 2" descr="Read from file in VHDL and generate test bench stimu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127997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64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093" y="304800"/>
            <a:ext cx="77724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Random numbers</a:t>
            </a:r>
          </a:p>
          <a:p>
            <a:pPr lvl="1"/>
            <a:r>
              <a:rPr lang="en-US" dirty="0"/>
              <a:t>Random number application: Monte Carlo simulation</a:t>
            </a:r>
          </a:p>
          <a:p>
            <a:pPr lvl="1"/>
            <a:r>
              <a:rPr lang="en-US" dirty="0"/>
              <a:t>LFSR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252663" y="3886200"/>
            <a:ext cx="4638675" cy="1956575"/>
            <a:chOff x="2252663" y="3886200"/>
            <a:chExt cx="4638675" cy="19565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2663" y="3886200"/>
              <a:ext cx="4638675" cy="1533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Group 5"/>
            <p:cNvGrpSpPr/>
            <p:nvPr/>
          </p:nvGrpSpPr>
          <p:grpSpPr>
            <a:xfrm>
              <a:off x="2743200" y="5638801"/>
              <a:ext cx="1893093" cy="203974"/>
              <a:chOff x="3252787" y="5130026"/>
              <a:chExt cx="2005013" cy="276999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7150" y="5162550"/>
                <a:ext cx="866775" cy="1714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3925" y="5210175"/>
                <a:ext cx="523875" cy="1238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252787" y="5130026"/>
                <a:ext cx="762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Source: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597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generation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Random generation is very useful in digital design</a:t>
            </a:r>
          </a:p>
          <a:p>
            <a:pPr lvl="1"/>
            <a:r>
              <a:rPr lang="en-US" dirty="0" err="1"/>
              <a:t>Testbench</a:t>
            </a:r>
            <a:endParaRPr lang="en-US" dirty="0"/>
          </a:p>
          <a:p>
            <a:pPr lvl="1"/>
            <a:r>
              <a:rPr lang="en-US" dirty="0"/>
              <a:t>Monte Carlo simulation</a:t>
            </a:r>
          </a:p>
          <a:p>
            <a:pPr lvl="1"/>
            <a:r>
              <a:rPr lang="en-US" dirty="0"/>
              <a:t>Simulation for performance evaluation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Sampling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It is often impractical to examine all possible cases, but a random sample will provide insight into what constitutes typical behavior</a:t>
            </a:r>
          </a:p>
          <a:p>
            <a:pPr lvl="1"/>
            <a:r>
              <a:rPr lang="en-US" dirty="0">
                <a:ea typeface="SimSun" pitchFamily="2" charset="-122"/>
              </a:rPr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31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random numbers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A good random number generation should satisfy: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Uniformity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Randomness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Independence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Portability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Efficiency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252663" y="4343400"/>
            <a:ext cx="4638675" cy="1956575"/>
            <a:chOff x="2252663" y="3886200"/>
            <a:chExt cx="4638675" cy="1956575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2663" y="3886200"/>
              <a:ext cx="4638675" cy="1533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2743200" y="5638801"/>
              <a:ext cx="1893093" cy="203974"/>
              <a:chOff x="3252787" y="5130026"/>
              <a:chExt cx="2005013" cy="276999"/>
            </a:xfrm>
          </p:grpSpPr>
          <p:pic>
            <p:nvPicPr>
              <p:cNvPr id="8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7150" y="5162550"/>
                <a:ext cx="866775" cy="1714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3925" y="5210175"/>
                <a:ext cx="523875" cy="1238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3252787" y="5130026"/>
                <a:ext cx="762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Source: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37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generation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By naturally occurring sources</a:t>
            </a:r>
          </a:p>
          <a:p>
            <a:pPr lvl="1"/>
            <a:r>
              <a:rPr lang="en-US" dirty="0"/>
              <a:t>Measure the source value and use as random</a:t>
            </a:r>
          </a:p>
          <a:p>
            <a:pPr lvl="1"/>
            <a:r>
              <a:rPr lang="en-US" dirty="0"/>
              <a:t>Time,  noise, …</a:t>
            </a:r>
          </a:p>
          <a:p>
            <a:r>
              <a:rPr lang="en-US" dirty="0"/>
              <a:t>By an algorithm</a:t>
            </a:r>
          </a:p>
          <a:p>
            <a:pPr lvl="1"/>
            <a:r>
              <a:rPr lang="en-US" dirty="0"/>
              <a:t>A computer algorithm generates the numbers</a:t>
            </a:r>
          </a:p>
          <a:p>
            <a:pPr lvl="1"/>
            <a:r>
              <a:rPr lang="en-US" dirty="0"/>
              <a:t>Example:  </a:t>
            </a:r>
            <a:r>
              <a:rPr lang="en-US" i="1" dirty="0"/>
              <a:t>X</a:t>
            </a:r>
            <a:r>
              <a:rPr lang="en-US" i="1" baseline="-25000" dirty="0"/>
              <a:t>n+1</a:t>
            </a:r>
            <a:r>
              <a:rPr lang="en-US" i="1" dirty="0"/>
              <a:t>=(</a:t>
            </a:r>
            <a:r>
              <a:rPr lang="en-US" i="1" dirty="0" err="1"/>
              <a:t>aX</a:t>
            </a:r>
            <a:r>
              <a:rPr lang="en-US" i="1" baseline="-25000" dirty="0" err="1"/>
              <a:t>n</a:t>
            </a:r>
            <a:r>
              <a:rPr lang="en-US" i="1" dirty="0" err="1"/>
              <a:t>+b</a:t>
            </a:r>
            <a:r>
              <a:rPr lang="en-US" i="1" dirty="0"/>
              <a:t>) </a:t>
            </a:r>
            <a:r>
              <a:rPr lang="en-US" dirty="0"/>
              <a:t>mod </a:t>
            </a:r>
            <a:r>
              <a:rPr lang="en-US" i="1" dirty="0"/>
              <a:t>m</a:t>
            </a:r>
          </a:p>
          <a:p>
            <a:pPr lvl="2"/>
            <a:r>
              <a:rPr lang="en-US" dirty="0"/>
              <a:t>The initial value of X (i.e. X</a:t>
            </a:r>
            <a:r>
              <a:rPr lang="en-US" baseline="-25000" dirty="0"/>
              <a:t>0</a:t>
            </a:r>
            <a:r>
              <a:rPr lang="en-US" dirty="0"/>
              <a:t>) can be the seeds of the random</a:t>
            </a:r>
          </a:p>
          <a:p>
            <a:pPr lvl="2"/>
            <a:r>
              <a:rPr lang="en-US" dirty="0"/>
              <a:t>Used in many programming languages (compiler runtime libraries)</a:t>
            </a:r>
          </a:p>
          <a:p>
            <a:pPr lvl="2"/>
            <a:r>
              <a:rPr lang="en-US" dirty="0"/>
              <a:t>Example: For MS Visual C++, a=214013  and b=2531011 and m=2</a:t>
            </a:r>
            <a:r>
              <a:rPr lang="en-US" baseline="30000" dirty="0"/>
              <a:t>32</a:t>
            </a:r>
          </a:p>
          <a:p>
            <a:r>
              <a:rPr lang="en-US" dirty="0"/>
              <a:t>LFSR is one the most common algorithmic random generators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7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429000"/>
            <a:ext cx="867405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generation in VHDL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Some functions and procedures are used to generate random numbers</a:t>
            </a:r>
          </a:p>
          <a:p>
            <a:r>
              <a:rPr lang="en-US" dirty="0"/>
              <a:t>Example: a function called "UNIFORM" which returns a pseudo-random number (of type REAL) in the range 0 to 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562600" y="3505200"/>
            <a:ext cx="3124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how to generate a random 12bit vector</a:t>
            </a:r>
          </a:p>
        </p:txBody>
      </p:sp>
    </p:spTree>
    <p:extLst>
      <p:ext uri="{BB962C8B-B14F-4D97-AF65-F5344CB8AC3E}">
        <p14:creationId xmlns:p14="http://schemas.microsoft.com/office/powerpoint/2010/main" val="3561113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addition to </a:t>
            </a:r>
            <a:r>
              <a:rPr lang="en-US" dirty="0" err="1"/>
              <a:t>testbench</a:t>
            </a:r>
            <a:r>
              <a:rPr lang="en-US" dirty="0"/>
              <a:t>, random number has many other applications</a:t>
            </a:r>
          </a:p>
          <a:p>
            <a:r>
              <a:rPr lang="en-US" dirty="0"/>
              <a:t>Monte Carlo simulation: a method to solve problems by random generation!</a:t>
            </a:r>
          </a:p>
          <a:p>
            <a:r>
              <a:rPr lang="en-US" dirty="0"/>
              <a:t>Very suitable for FPGA implementation to accelerate the algorithm</a:t>
            </a:r>
          </a:p>
        </p:txBody>
      </p:sp>
    </p:spTree>
    <p:extLst>
      <p:ext uri="{BB962C8B-B14F-4D97-AF65-F5344CB8AC3E}">
        <p14:creationId xmlns:p14="http://schemas.microsoft.com/office/powerpoint/2010/main" val="901313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/>
              <a:t>The expression "Monte Carlo method" is actually very general: a large and widely-used class of approaches</a:t>
            </a:r>
          </a:p>
          <a:p>
            <a:pPr lvl="1"/>
            <a:r>
              <a:rPr lang="en-US" dirty="0"/>
              <a:t>Used in everything from economics to nuclear physics to regulating the flow of traffic</a:t>
            </a:r>
          </a:p>
          <a:p>
            <a:pPr lvl="1"/>
            <a:r>
              <a:rPr lang="en-US" dirty="0"/>
              <a:t>A general approximate approach to solve difficult problems</a:t>
            </a:r>
          </a:p>
          <a:p>
            <a:pPr lvl="1"/>
            <a:r>
              <a:rPr lang="en-US" dirty="0"/>
              <a:t>Difficult problems: impossible to compute an exact result with a deterministic algorithm</a:t>
            </a:r>
          </a:p>
          <a:p>
            <a:r>
              <a:rPr lang="en-US" sz="2800" dirty="0"/>
              <a:t>Monte Carlo methods are based on the use of random numbers and probability statistics to investigate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36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simulation-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Monte Carlo Calculation of </a:t>
            </a:r>
            <a:r>
              <a:rPr lang="en-US" i="1" dirty="0"/>
              <a:t>Pi</a:t>
            </a:r>
            <a:r>
              <a:rPr lang="en-US" dirty="0"/>
              <a:t> (</a:t>
            </a:r>
            <a:r>
              <a:rPr lang="el-GR" dirty="0"/>
              <a:t>π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We use the unit circle circumscribed by a square</a:t>
            </a:r>
          </a:p>
          <a:p>
            <a:pPr lvl="1"/>
            <a:r>
              <a:rPr lang="en-US" dirty="0"/>
              <a:t>It is easier to just use one quadrant of the circle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3124200" y="3505200"/>
            <a:ext cx="2819160" cy="25145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371600" y="6488668"/>
            <a:ext cx="31190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Figure: The Monte Carlo Method, by J. Casey</a:t>
            </a:r>
          </a:p>
        </p:txBody>
      </p:sp>
    </p:spTree>
    <p:extLst>
      <p:ext uri="{BB962C8B-B14F-4D97-AF65-F5344CB8AC3E}">
        <p14:creationId xmlns:p14="http://schemas.microsoft.com/office/powerpoint/2010/main" val="361884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simulation-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Select random point in the square and examine whether or not they are inside the circle</a:t>
            </a:r>
          </a:p>
          <a:p>
            <a:pPr lvl="1"/>
            <a:r>
              <a:rPr lang="en-US" dirty="0"/>
              <a:t>Each iteration generates two numbers: x and y and examines if (</a:t>
            </a:r>
            <a:r>
              <a:rPr lang="en-US" dirty="0" err="1"/>
              <a:t>x,y</a:t>
            </a:r>
            <a:r>
              <a:rPr lang="en-US" dirty="0"/>
              <a:t>) is inside the circle</a:t>
            </a:r>
          </a:p>
          <a:p>
            <a:pPr lvl="1"/>
            <a:r>
              <a:rPr lang="en-US" dirty="0"/>
              <a:t>How? remember the unit circle equation</a:t>
            </a:r>
          </a:p>
          <a:p>
            <a:pPr lvl="0"/>
            <a:r>
              <a:rPr lang="en-US" sz="2800" dirty="0"/>
              <a:t>Do this thousands (or millions) of times to wind up with an estimate of the value of pi</a:t>
            </a:r>
          </a:p>
          <a:p>
            <a:pPr lvl="0"/>
            <a:endParaRPr lang="en-US" sz="280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4724400"/>
            <a:ext cx="45720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367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simulation-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more random generation is made, the more accurate solution is achieved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667000"/>
            <a:ext cx="243840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2557463"/>
            <a:ext cx="2471737" cy="239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48400" y="2514600"/>
            <a:ext cx="2657475" cy="256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371600" y="6488668"/>
            <a:ext cx="31190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Figure: The Monte Carlo Method, by J. Casey</a:t>
            </a:r>
          </a:p>
        </p:txBody>
      </p:sp>
    </p:spTree>
    <p:extLst>
      <p:ext uri="{BB962C8B-B14F-4D97-AF65-F5344CB8AC3E}">
        <p14:creationId xmlns:p14="http://schemas.microsoft.com/office/powerpoint/2010/main" val="23143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82945" tIns="41473" rIns="82945"/>
          <a:lstStyle/>
          <a:p>
            <a:r>
              <a:rPr lang="en-US" dirty="0"/>
              <a:t>Basic Monte Carlo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82945" tIns="41473" rIns="82945" bIns="41473"/>
          <a:lstStyle/>
          <a:p>
            <a:pPr>
              <a:buNone/>
            </a:pPr>
            <a:r>
              <a:rPr lang="en-US" dirty="0"/>
              <a:t>1. Draw a random number</a:t>
            </a:r>
          </a:p>
          <a:p>
            <a:pPr>
              <a:buNone/>
            </a:pPr>
            <a:r>
              <a:rPr lang="en-US" dirty="0"/>
              <a:t>2. Process this random number in some way, for  example plug it into an equation</a:t>
            </a:r>
          </a:p>
          <a:p>
            <a:pPr>
              <a:buNone/>
            </a:pPr>
            <a:r>
              <a:rPr lang="en-US" dirty="0"/>
              <a:t>3. Repeat steps 1 and 2 a large number of times</a:t>
            </a:r>
          </a:p>
          <a:p>
            <a:pPr>
              <a:buNone/>
            </a:pPr>
            <a:r>
              <a:rPr lang="en-US" dirty="0"/>
              <a:t>4. Analyze the cumulative results to find an estimation for a non random value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6488668"/>
            <a:ext cx="3148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Source: The Monte Carlo Method, by J. Casey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3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generation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By naturally occurring sources</a:t>
            </a:r>
          </a:p>
          <a:p>
            <a:pPr lvl="1"/>
            <a:r>
              <a:rPr lang="en-US" dirty="0"/>
              <a:t>Measure the source value and use as random</a:t>
            </a:r>
          </a:p>
          <a:p>
            <a:pPr lvl="1"/>
            <a:r>
              <a:rPr lang="en-US" dirty="0"/>
              <a:t>Time,  noise, …</a:t>
            </a:r>
          </a:p>
          <a:p>
            <a:r>
              <a:rPr lang="en-US" dirty="0"/>
              <a:t>By an algorithm</a:t>
            </a:r>
          </a:p>
          <a:p>
            <a:pPr lvl="1"/>
            <a:r>
              <a:rPr lang="en-US" dirty="0"/>
              <a:t>A computer algorithm generates the numbers</a:t>
            </a:r>
          </a:p>
          <a:p>
            <a:pPr lvl="1"/>
            <a:r>
              <a:rPr lang="en-US" dirty="0"/>
              <a:t>Example:  </a:t>
            </a:r>
            <a:r>
              <a:rPr lang="en-US" i="1" dirty="0"/>
              <a:t>X</a:t>
            </a:r>
            <a:r>
              <a:rPr lang="en-US" i="1" baseline="-25000" dirty="0"/>
              <a:t>n+1</a:t>
            </a:r>
            <a:r>
              <a:rPr lang="en-US" i="1" dirty="0"/>
              <a:t>=(</a:t>
            </a:r>
            <a:r>
              <a:rPr lang="en-US" i="1" dirty="0" err="1"/>
              <a:t>aX</a:t>
            </a:r>
            <a:r>
              <a:rPr lang="en-US" i="1" baseline="-25000" dirty="0" err="1"/>
              <a:t>n</a:t>
            </a:r>
            <a:r>
              <a:rPr lang="en-US" i="1" dirty="0" err="1"/>
              <a:t>+b</a:t>
            </a:r>
            <a:r>
              <a:rPr lang="en-US" i="1" dirty="0"/>
              <a:t>) </a:t>
            </a:r>
            <a:r>
              <a:rPr lang="en-US" dirty="0"/>
              <a:t>mod </a:t>
            </a:r>
            <a:r>
              <a:rPr lang="en-US" i="1" dirty="0"/>
              <a:t>m</a:t>
            </a:r>
          </a:p>
          <a:p>
            <a:pPr lvl="2"/>
            <a:r>
              <a:rPr lang="en-US" dirty="0"/>
              <a:t>The initial value of X (i.e. X</a:t>
            </a:r>
            <a:r>
              <a:rPr lang="en-US" baseline="-25000" dirty="0"/>
              <a:t>0</a:t>
            </a:r>
            <a:r>
              <a:rPr lang="en-US" dirty="0"/>
              <a:t>) can be the seeds of the random</a:t>
            </a:r>
          </a:p>
          <a:p>
            <a:pPr lvl="2"/>
            <a:r>
              <a:rPr lang="en-US" dirty="0"/>
              <a:t>Used in many programming languages (compiler runtime libraries)</a:t>
            </a:r>
          </a:p>
          <a:p>
            <a:pPr lvl="2"/>
            <a:r>
              <a:rPr lang="en-US" dirty="0"/>
              <a:t>Example: For MS Visual C++, a=214013  and b=2531011 and m=2</a:t>
            </a:r>
            <a:r>
              <a:rPr lang="en-US" baseline="30000" dirty="0"/>
              <a:t>32</a:t>
            </a:r>
          </a:p>
          <a:p>
            <a:r>
              <a:rPr lang="en-US" dirty="0"/>
              <a:t>LFSR is one the most common algorithmic random generators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59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random generation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LFSR: Linear-Feedback Shift Register</a:t>
            </a:r>
          </a:p>
          <a:p>
            <a:r>
              <a:rPr lang="en-US" dirty="0"/>
              <a:t>Fast random generation with simple hardware</a:t>
            </a:r>
          </a:p>
          <a:p>
            <a:r>
              <a:rPr lang="en-US" dirty="0"/>
              <a:t>Generates a sequence of numbers that approximates the properties of random numbers. </a:t>
            </a:r>
          </a:p>
          <a:p>
            <a:r>
              <a:rPr lang="en-US" dirty="0"/>
              <a:t>The sequence is fully deterministic, i.e., it can</a:t>
            </a:r>
          </a:p>
          <a:p>
            <a:pPr>
              <a:buFont typeface="Arial" pitchFamily="34" charset="0"/>
              <a:buNone/>
            </a:pPr>
            <a:r>
              <a:rPr lang="en-US" dirty="0"/>
              <a:t> 	be repeated based on an initial state.</a:t>
            </a:r>
          </a:p>
          <a:p>
            <a:r>
              <a:rPr lang="en-US" dirty="0"/>
              <a:t>The period of the sequence may be made very large (typically, 2</a:t>
            </a:r>
            <a:r>
              <a:rPr lang="en-US" baseline="30000" dirty="0"/>
              <a:t>n</a:t>
            </a:r>
            <a:r>
              <a:rPr lang="en-US" dirty="0"/>
              <a:t>-1, where n is an internal state size)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70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shift register is a chain of edge triggered flip-flops in which during each shift:</a:t>
            </a:r>
          </a:p>
          <a:p>
            <a:pPr lvl="1"/>
            <a:r>
              <a:rPr lang="en-US" dirty="0"/>
              <a:t>Each successor flip-flop takes the value of its predecessor</a:t>
            </a:r>
          </a:p>
          <a:p>
            <a:pPr lvl="1"/>
            <a:r>
              <a:rPr lang="en-US" dirty="0"/>
              <a:t>At the begin one bit is added and at the end one bit gets lost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0500" y="3886200"/>
            <a:ext cx="580292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882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linear feedback shift register (LFSR) is a shift register, in which in addition, the output value of the last bit is added modulo-2 to selected bit positions</a:t>
            </a:r>
          </a:p>
          <a:p>
            <a:r>
              <a:rPr lang="en-US" dirty="0"/>
              <a:t>A modulo-2 addition adds two bits without calculating the carry and is realized by an XOR gate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3987800"/>
            <a:ext cx="6197337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37516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LFSRs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Internal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External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Characteristic polynomial</a:t>
            </a:r>
          </a:p>
          <a:p>
            <a:pPr lvl="1"/>
            <a:r>
              <a:rPr lang="en-US" dirty="0"/>
              <a:t>defined by XOR positions</a:t>
            </a:r>
          </a:p>
          <a:p>
            <a:pPr lvl="1"/>
            <a:r>
              <a:rPr lang="en-US" i="1" dirty="0"/>
              <a:t>P(x) = x</a:t>
            </a:r>
            <a:r>
              <a:rPr lang="en-US" i="1" baseline="30000" dirty="0"/>
              <a:t>4</a:t>
            </a:r>
            <a:r>
              <a:rPr lang="en-US" i="1" dirty="0"/>
              <a:t> + x</a:t>
            </a:r>
            <a:r>
              <a:rPr lang="en-US" i="1" baseline="30000" dirty="0"/>
              <a:t>3</a:t>
            </a:r>
            <a:r>
              <a:rPr lang="en-US" i="1" dirty="0"/>
              <a:t> + x + 1 in both examples</a:t>
            </a:r>
            <a:endParaRPr lang="en-US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2971800"/>
            <a:ext cx="471727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1447800"/>
            <a:ext cx="4311191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295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447799"/>
            <a:ext cx="4648200" cy="5190411"/>
          </a:xfrm>
        </p:spPr>
        <p:txBody>
          <a:bodyPr>
            <a:normAutofit/>
          </a:bodyPr>
          <a:lstStyle/>
          <a:p>
            <a:r>
              <a:rPr lang="en-US" dirty="0"/>
              <a:t>Characteristic polynomial of LFSR</a:t>
            </a:r>
          </a:p>
          <a:p>
            <a:r>
              <a:rPr lang="en-US" i="1" dirty="0"/>
              <a:t>n = # of FFs = degree of polynomial</a:t>
            </a:r>
          </a:p>
          <a:p>
            <a:r>
              <a:rPr lang="en-US" dirty="0"/>
              <a:t>XOR feedback connection to FF </a:t>
            </a:r>
            <a:r>
              <a:rPr lang="en-US" i="1" baseline="-25000" dirty="0" err="1"/>
              <a:t>i</a:t>
            </a:r>
            <a:r>
              <a:rPr lang="en-US" i="1" dirty="0"/>
              <a:t> ⇔ coefficient of x</a:t>
            </a:r>
            <a:r>
              <a:rPr lang="en-US" i="1" baseline="30000" dirty="0"/>
              <a:t>i</a:t>
            </a:r>
          </a:p>
          <a:p>
            <a:pPr lvl="1"/>
            <a:r>
              <a:rPr lang="en-US" dirty="0"/>
              <a:t>coefficient = 0 if no connection</a:t>
            </a:r>
          </a:p>
          <a:p>
            <a:pPr lvl="1"/>
            <a:r>
              <a:rPr lang="en-US" dirty="0"/>
              <a:t>coefficient = 1 if connection</a:t>
            </a:r>
          </a:p>
          <a:p>
            <a:r>
              <a:rPr lang="en-US" dirty="0"/>
              <a:t>Two coefficients always included in characteristic polynomial:</a:t>
            </a:r>
          </a:p>
          <a:p>
            <a:pPr lvl="1"/>
            <a:r>
              <a:rPr lang="en-US" i="1" dirty="0" err="1"/>
              <a:t>x</a:t>
            </a:r>
            <a:r>
              <a:rPr lang="en-US" i="1" baseline="30000" dirty="0" err="1"/>
              <a:t>n</a:t>
            </a:r>
            <a:r>
              <a:rPr lang="en-US" i="1" dirty="0"/>
              <a:t> (degree of polynomial &amp; primary feedback)</a:t>
            </a:r>
          </a:p>
          <a:p>
            <a:pPr lvl="1"/>
            <a:r>
              <a:rPr lang="en-US" i="1" dirty="0"/>
              <a:t>x</a:t>
            </a:r>
            <a:r>
              <a:rPr lang="en-US" i="1" baseline="30000" dirty="0"/>
              <a:t>0</a:t>
            </a:r>
            <a:r>
              <a:rPr lang="en-US" i="1" dirty="0"/>
              <a:t> = 1 (principle input to shift register)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2575" y="4038599"/>
            <a:ext cx="3657600" cy="1105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71600"/>
            <a:ext cx="295275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4600"/>
            <a:ext cx="20097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43601" y="5410200"/>
            <a:ext cx="2724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P(x) = x</a:t>
            </a:r>
            <a:r>
              <a:rPr lang="en-US" sz="2400" i="1" baseline="30000" dirty="0"/>
              <a:t>4</a:t>
            </a:r>
            <a:r>
              <a:rPr lang="en-US" sz="2400" i="1" dirty="0"/>
              <a:t> + x</a:t>
            </a:r>
            <a:r>
              <a:rPr lang="en-US" sz="2400" i="1" baseline="30000" dirty="0"/>
              <a:t>3</a:t>
            </a:r>
            <a:r>
              <a:rPr lang="en-US" sz="2400" i="1" dirty="0"/>
              <a:t> + x + 1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5815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LFSR generates periodic sequence</a:t>
            </a:r>
          </a:p>
          <a:p>
            <a:pPr lvl="1"/>
            <a:r>
              <a:rPr lang="en-US" dirty="0"/>
              <a:t>must start in a non-zero state,</a:t>
            </a:r>
          </a:p>
          <a:p>
            <a:r>
              <a:rPr lang="en-US" dirty="0"/>
              <a:t> The maximum-length of an LFSR sequence is 2</a:t>
            </a:r>
            <a:r>
              <a:rPr lang="en-US" i="1" dirty="0"/>
              <a:t>n -1</a:t>
            </a:r>
          </a:p>
          <a:p>
            <a:pPr lvl="1"/>
            <a:r>
              <a:rPr lang="en-US" dirty="0"/>
              <a:t>does not generate all 0s pattern (gets stuck in that state)</a:t>
            </a:r>
          </a:p>
          <a:p>
            <a:r>
              <a:rPr lang="en-US" dirty="0"/>
              <a:t>The characteristic polynomial of an LFSR generating a maximum-length sequence is a </a:t>
            </a:r>
            <a:r>
              <a:rPr lang="en-US" b="1" i="1" dirty="0"/>
              <a:t>primitive polynomial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73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Example: Characteristic polynomial is </a:t>
            </a:r>
            <a:r>
              <a:rPr lang="en-US" i="1" dirty="0"/>
              <a:t>P(x) = x</a:t>
            </a:r>
            <a:r>
              <a:rPr lang="en-US" i="1" baseline="30000" dirty="0"/>
              <a:t>3</a:t>
            </a:r>
            <a:r>
              <a:rPr lang="en-US" i="1" dirty="0"/>
              <a:t> + x + 1</a:t>
            </a:r>
            <a:endParaRPr 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200400"/>
            <a:ext cx="353195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352800"/>
            <a:ext cx="297180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67140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Non-primitive polynomials produce sequences &lt; 2</a:t>
            </a:r>
            <a:r>
              <a:rPr lang="en-US" i="1" baseline="30000" dirty="0"/>
              <a:t>n</a:t>
            </a:r>
            <a:r>
              <a:rPr lang="en-US" i="1" dirty="0"/>
              <a:t>-1</a:t>
            </a:r>
          </a:p>
          <a:p>
            <a:r>
              <a:rPr lang="en-US" dirty="0"/>
              <a:t>Example of non-primitive polynomial: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2819400"/>
            <a:ext cx="35685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34764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LFSR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048000" cy="2667000"/>
          </a:xfrm>
        </p:spPr>
        <p:txBody>
          <a:bodyPr/>
          <a:lstStyle/>
          <a:p>
            <a:r>
              <a:rPr lang="en-US" dirty="0"/>
              <a:t>Primitive polynomials with minimum # of XORs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609600"/>
            <a:ext cx="49403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13499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/>
              <a:t>Example Modular LFSR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5029200"/>
            <a:ext cx="8001000" cy="990600"/>
          </a:xfrm>
        </p:spPr>
        <p:txBody>
          <a:bodyPr/>
          <a:lstStyle/>
          <a:p>
            <a:r>
              <a:rPr lang="en-US" b="1" i="1">
                <a:solidFill>
                  <a:schemeClr val="tx2"/>
                </a:solidFill>
              </a:rPr>
              <a:t>f</a:t>
            </a:r>
            <a:r>
              <a:rPr lang="en-US" b="1">
                <a:solidFill>
                  <a:schemeClr val="tx2"/>
                </a:solidFill>
              </a:rPr>
              <a:t> (</a:t>
            </a:r>
            <a:r>
              <a:rPr lang="en-US" b="1" i="1">
                <a:solidFill>
                  <a:schemeClr val="tx2"/>
                </a:solidFill>
              </a:rPr>
              <a:t>x</a:t>
            </a:r>
            <a:r>
              <a:rPr lang="en-US" b="1">
                <a:solidFill>
                  <a:schemeClr val="tx2"/>
                </a:solidFill>
              </a:rPr>
              <a:t>) = 1 + </a:t>
            </a:r>
            <a:r>
              <a:rPr lang="en-US" b="1" i="1">
                <a:solidFill>
                  <a:schemeClr val="tx2"/>
                </a:solidFill>
              </a:rPr>
              <a:t>x</a:t>
            </a:r>
            <a:r>
              <a:rPr lang="en-US" sz="2800" b="1" baseline="30000">
                <a:solidFill>
                  <a:schemeClr val="tx2"/>
                </a:solidFill>
              </a:rPr>
              <a:t>2</a:t>
            </a:r>
            <a:r>
              <a:rPr lang="en-US" b="1">
                <a:solidFill>
                  <a:schemeClr val="tx2"/>
                </a:solidFill>
              </a:rPr>
              <a:t> + </a:t>
            </a:r>
            <a:r>
              <a:rPr lang="en-US" b="1" i="1">
                <a:solidFill>
                  <a:schemeClr val="tx2"/>
                </a:solidFill>
              </a:rPr>
              <a:t>x</a:t>
            </a:r>
            <a:r>
              <a:rPr lang="en-US" sz="2800" b="1" baseline="30000">
                <a:solidFill>
                  <a:schemeClr val="tx2"/>
                </a:solidFill>
              </a:rPr>
              <a:t>7</a:t>
            </a:r>
            <a:r>
              <a:rPr lang="en-US" b="1">
                <a:solidFill>
                  <a:schemeClr val="tx2"/>
                </a:solidFill>
              </a:rPr>
              <a:t> + </a:t>
            </a:r>
            <a:r>
              <a:rPr lang="en-US" b="1" i="1">
                <a:solidFill>
                  <a:schemeClr val="tx2"/>
                </a:solidFill>
              </a:rPr>
              <a:t>x</a:t>
            </a:r>
            <a:r>
              <a:rPr lang="en-US" sz="2800" b="1" baseline="30000">
                <a:solidFill>
                  <a:schemeClr val="tx2"/>
                </a:solidFill>
              </a:rPr>
              <a:t>8</a:t>
            </a:r>
          </a:p>
          <a:p>
            <a:r>
              <a:rPr lang="en-US" b="1"/>
              <a:t>Read LFSR tap coefficients from left to right</a:t>
            </a:r>
          </a:p>
        </p:txBody>
      </p:sp>
      <p:pic>
        <p:nvPicPr>
          <p:cNvPr id="45060" name="Picture 4" descr="exammodckt"/>
          <p:cNvPicPr>
            <a:picLocks noChangeAspect="1" noChangeArrowheads="1"/>
          </p:cNvPicPr>
          <p:nvPr/>
        </p:nvPicPr>
        <p:blipFill>
          <a:blip r:embed="rId3"/>
          <a:srcRect l="1639" t="4567" r="5855" b="5479"/>
          <a:stretch>
            <a:fillRect/>
          </a:stretch>
        </p:blipFill>
        <p:spPr bwMode="auto">
          <a:xfrm>
            <a:off x="274638" y="2357438"/>
            <a:ext cx="85947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92048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Testbench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Testbench data may be read from file or generated randomly at runtime</a:t>
            </a:r>
          </a:p>
          <a:p>
            <a:r>
              <a:rPr lang="en-GB" dirty="0"/>
              <a:t>Runtime methods can use the VHDL random generation function (uniform) or using an LFSR</a:t>
            </a:r>
          </a:p>
          <a:p>
            <a:pPr lvl="1"/>
            <a:r>
              <a:rPr lang="en-GB" dirty="0"/>
              <a:t>See lecture 5</a:t>
            </a:r>
          </a:p>
          <a:p>
            <a:r>
              <a:rPr lang="en-GB" dirty="0"/>
              <a:t>A key question is how a good a benchmark is?</a:t>
            </a:r>
          </a:p>
          <a:p>
            <a:pPr lvl="1"/>
            <a:r>
              <a:rPr lang="en-GB" dirty="0"/>
              <a:t>How many parts of the design is tested by a set of test input?</a:t>
            </a:r>
          </a:p>
          <a:p>
            <a:r>
              <a:rPr lang="en-GB" dirty="0"/>
              <a:t>A good way is to calculate the </a:t>
            </a:r>
            <a:r>
              <a:rPr lang="en-GB" i="1" dirty="0"/>
              <a:t>code coverage </a:t>
            </a:r>
            <a:r>
              <a:rPr lang="en-GB" dirty="0"/>
              <a:t>of the testbench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786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coverage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Coverage referrers to the </a:t>
            </a:r>
            <a:r>
              <a:rPr lang="en-GB" dirty="0" err="1"/>
              <a:t>percent</a:t>
            </a:r>
            <a:r>
              <a:rPr lang="en-GB" dirty="0"/>
              <a:t> of the design that has been exercised by a testbench</a:t>
            </a:r>
          </a:p>
          <a:p>
            <a:r>
              <a:rPr lang="en-GB" dirty="0"/>
              <a:t> For simulation, a testbench applies data to a DUT, test data generated by the testbench reach certain parts of a circuit and may never create activities in other parts</a:t>
            </a:r>
          </a:p>
          <a:p>
            <a:r>
              <a:rPr lang="en-GB" dirty="0"/>
              <a:t> A good testbench uses a minimum set of data to cover testing of the largest possible portion of the circuit</a:t>
            </a:r>
          </a:p>
          <a:p>
            <a:r>
              <a:rPr lang="en-GB" dirty="0"/>
              <a:t>Several methods to calculate code coverage of a testbench</a:t>
            </a:r>
          </a:p>
        </p:txBody>
      </p:sp>
    </p:spTree>
    <p:extLst>
      <p:ext uri="{BB962C8B-B14F-4D97-AF65-F5344CB8AC3E}">
        <p14:creationId xmlns:p14="http://schemas.microsoft.com/office/powerpoint/2010/main" val="3944507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coverage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err="1"/>
              <a:t>ModelSim</a:t>
            </a:r>
            <a:r>
              <a:rPr lang="en-GB" dirty="0"/>
              <a:t> have a powerful integrated tool that calculates the code coverage</a:t>
            </a:r>
          </a:p>
          <a:p>
            <a:pPr lvl="1"/>
            <a:r>
              <a:rPr lang="en-GB" dirty="0"/>
              <a:t>Statement coverage</a:t>
            </a:r>
          </a:p>
          <a:p>
            <a:pPr lvl="1"/>
            <a:r>
              <a:rPr lang="en-GB" dirty="0"/>
              <a:t>Condition coverage</a:t>
            </a:r>
          </a:p>
          <a:p>
            <a:pPr lvl="1"/>
            <a:r>
              <a:rPr lang="en-GB" dirty="0"/>
              <a:t>Toggle coverage</a:t>
            </a:r>
          </a:p>
          <a:p>
            <a:pPr lvl="1"/>
            <a:r>
              <a:rPr lang="en-GB" dirty="0"/>
              <a:t>….</a:t>
            </a:r>
          </a:p>
          <a:p>
            <a:r>
              <a:rPr lang="en-GB" dirty="0"/>
              <a:t>See the </a:t>
            </a:r>
            <a:r>
              <a:rPr lang="en-GB" dirty="0" err="1"/>
              <a:t>ModelSim</a:t>
            </a:r>
            <a:r>
              <a:rPr lang="en-GB" dirty="0"/>
              <a:t> code coverage document on the course webpage</a:t>
            </a:r>
          </a:p>
        </p:txBody>
      </p:sp>
    </p:spTree>
    <p:extLst>
      <p:ext uri="{BB962C8B-B14F-4D97-AF65-F5344CB8AC3E}">
        <p14:creationId xmlns:p14="http://schemas.microsoft.com/office/powerpoint/2010/main" val="3773984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coverage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b="1" dirty="0"/>
              <a:t>Statement coverage</a:t>
            </a:r>
          </a:p>
          <a:p>
            <a:r>
              <a:rPr lang="en-GB" sz="2800" dirty="0"/>
              <a:t>Statement coverage is a measure of the number of executable statements within the model that have been executed during the simulation run.</a:t>
            </a:r>
          </a:p>
          <a:p>
            <a:endParaRPr lang="en-GB" sz="2800" dirty="0"/>
          </a:p>
          <a:p>
            <a:pPr marL="0" indent="0">
              <a:buNone/>
            </a:pPr>
            <a:r>
              <a:rPr lang="en-GB" sz="2800" b="1" dirty="0"/>
              <a:t>Toggle coverage</a:t>
            </a:r>
          </a:p>
          <a:p>
            <a:r>
              <a:rPr lang="en-GB" dirty="0"/>
              <a:t>Counts changes of state on specified nodes, in other words different values a signal takes</a:t>
            </a:r>
          </a:p>
          <a:p>
            <a:pPr lvl="1"/>
            <a:r>
              <a:rPr lang="en-GB" dirty="0"/>
              <a:t>Maybe a signal is activated  many times by a testbench, but always is assigned the same values</a:t>
            </a:r>
          </a:p>
          <a:p>
            <a:pPr lvl="1"/>
            <a:r>
              <a:rPr lang="en-GB" dirty="0"/>
              <a:t>A good testbench should assign many different values to verify</a:t>
            </a:r>
          </a:p>
        </p:txBody>
      </p:sp>
    </p:spTree>
    <p:extLst>
      <p:ext uri="{BB962C8B-B14F-4D97-AF65-F5344CB8AC3E}">
        <p14:creationId xmlns:p14="http://schemas.microsoft.com/office/powerpoint/2010/main" val="3288125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coverage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229600" cy="3886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b="1" dirty="0"/>
              <a:t>Branch coverage</a:t>
            </a:r>
          </a:p>
          <a:p>
            <a:r>
              <a:rPr lang="en-GB" sz="2800" dirty="0"/>
              <a:t>Branch coverage, sometimes referred to as decision coverage, counts the execution of different paths of conditional expressions and case statements</a:t>
            </a:r>
          </a:p>
          <a:p>
            <a:r>
              <a:rPr lang="en-GB" sz="2800" b="1" dirty="0"/>
              <a:t>Example: </a:t>
            </a:r>
            <a:r>
              <a:rPr lang="en-GB" sz="2800" dirty="0"/>
              <a:t>If the testbench forced address to always equal </a:t>
            </a:r>
            <a:r>
              <a:rPr lang="en-GB" sz="2800" i="1" dirty="0" err="1"/>
              <a:t>address_bus</a:t>
            </a:r>
            <a:r>
              <a:rPr lang="en-GB" sz="2800" dirty="0"/>
              <a:t>, the statement coverage for the below code  is 100%, since every statement would be executed. </a:t>
            </a:r>
          </a:p>
          <a:p>
            <a:r>
              <a:rPr lang="en-GB" sz="2800" dirty="0"/>
              <a:t>However, branch coverage would only be 50%, since the FALSE branch would not have been taken during simulation.</a:t>
            </a:r>
            <a:endParaRPr lang="en-GB" sz="2800" b="1" dirty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5257800"/>
            <a:ext cx="389466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6246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coverage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sz="2400" dirty="0"/>
              <a:t>Code coverage gives us a metric to decide how a testbench is good and comprehensive</a:t>
            </a:r>
          </a:p>
          <a:p>
            <a:r>
              <a:rPr lang="en-GB" sz="2400" dirty="0"/>
              <a:t>However, a good coverage does not guarantee that all possible errors can be found by the testbench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005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</TotalTime>
  <Words>1877</Words>
  <Application>Microsoft Office PowerPoint</Application>
  <PresentationFormat>On-screen Show (4:3)</PresentationFormat>
  <Paragraphs>286</Paragraphs>
  <Slides>38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SimSun</vt:lpstr>
      <vt:lpstr>Arial</vt:lpstr>
      <vt:lpstr>Calibri</vt:lpstr>
      <vt:lpstr>Franklin Gothic Book</vt:lpstr>
      <vt:lpstr>Perpetua</vt:lpstr>
      <vt:lpstr>Times New Roman</vt:lpstr>
      <vt:lpstr>Wingdings 2</vt:lpstr>
      <vt:lpstr>Equity</vt:lpstr>
      <vt:lpstr>Testbench and Random Number Generation</vt:lpstr>
      <vt:lpstr>Verification VS. Test</vt:lpstr>
      <vt:lpstr>Verification and Test Reconvergence Model</vt:lpstr>
      <vt:lpstr>PowerPoint Presentation</vt:lpstr>
      <vt:lpstr>Verification</vt:lpstr>
      <vt:lpstr>What is A Test Bench?</vt:lpstr>
      <vt:lpstr>Main Functions of a Test Bench</vt:lpstr>
      <vt:lpstr>Testbench data</vt:lpstr>
      <vt:lpstr>Generating Stimulus Vectors</vt:lpstr>
      <vt:lpstr>Test data from file</vt:lpstr>
      <vt:lpstr>Introduction</vt:lpstr>
      <vt:lpstr>Random generation</vt:lpstr>
      <vt:lpstr>Good random numbers</vt:lpstr>
      <vt:lpstr>Random generation</vt:lpstr>
      <vt:lpstr>Random generation in VHDL</vt:lpstr>
      <vt:lpstr>Monte Carlo simulation</vt:lpstr>
      <vt:lpstr>Monte Carlo simulation</vt:lpstr>
      <vt:lpstr>Monte Carlo simulation- Example</vt:lpstr>
      <vt:lpstr>Monte Carlo simulation- Example</vt:lpstr>
      <vt:lpstr>Monte Carlo simulation- Example</vt:lpstr>
      <vt:lpstr>Basic Monte Carlo approach</vt:lpstr>
      <vt:lpstr>Random generation</vt:lpstr>
      <vt:lpstr>Pseudo random generation</vt:lpstr>
      <vt:lpstr>Shift register</vt:lpstr>
      <vt:lpstr>LFSR</vt:lpstr>
      <vt:lpstr>Two types of LFSRs</vt:lpstr>
      <vt:lpstr>LFSR</vt:lpstr>
      <vt:lpstr>LFSR</vt:lpstr>
      <vt:lpstr>Primitive LFSR</vt:lpstr>
      <vt:lpstr>Primitive LFSR</vt:lpstr>
      <vt:lpstr>LFSR</vt:lpstr>
      <vt:lpstr>Example Modular LFSR</vt:lpstr>
      <vt:lpstr>Testbench</vt:lpstr>
      <vt:lpstr>Code coverage</vt:lpstr>
      <vt:lpstr>Code coverage</vt:lpstr>
      <vt:lpstr>Code coverage</vt:lpstr>
      <vt:lpstr>Code coverage</vt:lpstr>
      <vt:lpstr>Code coverage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108</cp:revision>
  <dcterms:created xsi:type="dcterms:W3CDTF">2011-11-11T14:48:38Z</dcterms:created>
  <dcterms:modified xsi:type="dcterms:W3CDTF">2025-01-12T08:00:40Z</dcterms:modified>
</cp:coreProperties>
</file>