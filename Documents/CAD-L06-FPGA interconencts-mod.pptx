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67" r:id="rId2"/>
    <p:sldId id="420" r:id="rId3"/>
    <p:sldId id="354" r:id="rId4"/>
    <p:sldId id="438" r:id="rId5"/>
    <p:sldId id="439" r:id="rId6"/>
    <p:sldId id="368" r:id="rId7"/>
    <p:sldId id="372" r:id="rId8"/>
    <p:sldId id="469" r:id="rId9"/>
    <p:sldId id="371" r:id="rId10"/>
    <p:sldId id="327" r:id="rId11"/>
    <p:sldId id="455" r:id="rId12"/>
    <p:sldId id="460" r:id="rId13"/>
    <p:sldId id="454" r:id="rId14"/>
    <p:sldId id="456" r:id="rId15"/>
    <p:sldId id="457" r:id="rId16"/>
    <p:sldId id="458" r:id="rId17"/>
    <p:sldId id="459" r:id="rId18"/>
    <p:sldId id="467" r:id="rId19"/>
    <p:sldId id="462" r:id="rId20"/>
    <p:sldId id="464" r:id="rId21"/>
    <p:sldId id="471" r:id="rId22"/>
    <p:sldId id="472" r:id="rId23"/>
    <p:sldId id="370" r:id="rId24"/>
    <p:sldId id="369" r:id="rId25"/>
    <p:sldId id="441" r:id="rId26"/>
    <p:sldId id="470" r:id="rId27"/>
    <p:sldId id="339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15" r:id="rId3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9833" autoAdjust="0"/>
  </p:normalViewPr>
  <p:slideViewPr>
    <p:cSldViewPr>
      <p:cViewPr varScale="1">
        <p:scale>
          <a:sx n="85" d="100"/>
          <a:sy n="85" d="100"/>
        </p:scale>
        <p:origin x="138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817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EC18981-EEB1-4932-9AC6-85149CA2396C}" type="datetimeFigureOut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FDE67EC-7E65-4C49-9A16-F37A27B22E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E9A322-84B2-4654-8FC3-D42638D2F90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65C953-0C4C-4312-86AE-CD3FFC18525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Routing decisions are made by the implementation tools, based upon the timing constraints that have been applied to the design.</a:t>
            </a:r>
          </a:p>
          <a:p>
            <a:r>
              <a:rPr lang="en-US"/>
              <a:t>The lengths of the vertical and diagonal routing resources has increased from the Virtex-6 family to improve vertical routing capabilities:</a:t>
            </a:r>
          </a:p>
          <a:p>
            <a:pPr>
              <a:buFontTx/>
              <a:buChar char="•"/>
            </a:pPr>
            <a:r>
              <a:rPr lang="en-US"/>
              <a:t>Quad lines have become Hex lines.</a:t>
            </a:r>
          </a:p>
          <a:p>
            <a:pPr>
              <a:buFontTx/>
              <a:buChar char="•"/>
            </a:pPr>
            <a:r>
              <a:rPr lang="en-US"/>
              <a:t>Long lines have increased from 16 to 18.</a:t>
            </a:r>
          </a:p>
          <a:p>
            <a:r>
              <a:rPr lang="en-US"/>
              <a:t>The changes in the routing lengths also contribute to substantially improved routability.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3908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1CC3C8-48C1-4BD6-A9FF-7135BE8DB35B}" type="slidenum">
              <a:rPr lang="en-US">
                <a:latin typeface="Times New Roman" pitchFamily="26" charset="0"/>
              </a:rPr>
              <a:pPr/>
              <a:t>32</a:t>
            </a:fld>
            <a:endParaRPr lang="en-US">
              <a:latin typeface="Times New Roman" pitchFamily="26" charset="0"/>
            </a:endParaRPr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3275"/>
            <a:ext cx="4256087" cy="3194050"/>
          </a:xfrm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1196" y="4358823"/>
            <a:ext cx="4875609" cy="4132035"/>
          </a:xfrm>
          <a:noFill/>
          <a:ln/>
        </p:spPr>
        <p:txBody>
          <a:bodyPr/>
          <a:lstStyle/>
          <a:p>
            <a:pPr eaLnBrk="1" hangingPunct="1"/>
            <a:endParaRPr lang="en-AU">
              <a:latin typeface="Times New Roman" pitchFamily="26" charset="0"/>
              <a:cs typeface="Tahoma" pitchFamily="42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76FBE-58CA-438F-A6DB-3322263ECFD5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62B3-D0CE-4577-91B6-4E6EE48DB6CD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388D0-B408-4B10-B37A-3F71A2746CB1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764F-BEC2-4E6D-9906-EC31044D4B52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B97A-FC40-4EC6-8C5D-1DEE687F844F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D707-1E0D-41A5-A2A9-A1A72EF52D8D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627-038C-47A6-830E-A3BE5E6D3C39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D7382-7EFB-4D47-8682-F695F6A7A2DB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785C6-1897-4ADC-AFE2-C9D663CD1808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164-FDFC-4B13-8026-D184F725BB3D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CE4E-93C5-4D78-ADA8-970C294EB2A2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Verilog HDL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1BF37CF-C1C8-485B-B3E9-995A83C656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olo, contenu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Fare clic per modificare gli stili del testo dello schema</a:t>
            </a:r>
          </a:p>
          <a:p>
            <a:pPr lvl="1"/>
            <a:r>
              <a:rPr lang="en-US"/>
              <a:t>Secondo livello</a:t>
            </a:r>
          </a:p>
          <a:p>
            <a:pPr lvl="2"/>
            <a:r>
              <a:rPr lang="en-US"/>
              <a:t>Terzo livello</a:t>
            </a:r>
          </a:p>
          <a:p>
            <a:pPr lvl="3"/>
            <a:r>
              <a:rPr lang="en-US"/>
              <a:t>Quarto livello</a:t>
            </a:r>
          </a:p>
          <a:p>
            <a:pPr lvl="4"/>
            <a:r>
              <a:rPr lang="en-US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Fare clic per modificare gli stili del testo dello schema</a:t>
            </a:r>
          </a:p>
          <a:p>
            <a:pPr lvl="1"/>
            <a:r>
              <a:rPr lang="en-US"/>
              <a:t>Secondo livello</a:t>
            </a:r>
          </a:p>
          <a:p>
            <a:pPr lvl="2"/>
            <a:r>
              <a:rPr lang="en-US"/>
              <a:t>Terzo livello</a:t>
            </a:r>
          </a:p>
          <a:p>
            <a:pPr lvl="3"/>
            <a:r>
              <a:rPr lang="en-US"/>
              <a:t>Quarto livello</a:t>
            </a:r>
          </a:p>
          <a:p>
            <a:pPr lvl="4"/>
            <a:r>
              <a:rPr lang="en-US"/>
              <a:t>Quinto livello</a:t>
            </a:r>
            <a:endParaRPr lang="it-IT"/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Fare clic per modificare gli stili del testo dello schema</a:t>
            </a:r>
          </a:p>
          <a:p>
            <a:pPr lvl="1"/>
            <a:r>
              <a:rPr lang="en-US"/>
              <a:t>Secondo livello</a:t>
            </a:r>
          </a:p>
          <a:p>
            <a:pPr lvl="2"/>
            <a:r>
              <a:rPr lang="en-US"/>
              <a:t>Terzo livello</a:t>
            </a:r>
          </a:p>
          <a:p>
            <a:pPr lvl="3"/>
            <a:r>
              <a:rPr lang="en-US"/>
              <a:t>Quarto livello</a:t>
            </a:r>
          </a:p>
          <a:p>
            <a:pPr lvl="4"/>
            <a:r>
              <a:rPr lang="en-US"/>
              <a:t>Quinto livello</a:t>
            </a:r>
            <a:endParaRPr lang="it-IT"/>
          </a:p>
        </p:txBody>
      </p:sp>
      <p:sp>
        <p:nvSpPr>
          <p:cNvPr id="6" name="Segnaposto data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l-GR"/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l-GR"/>
          </a:p>
        </p:txBody>
      </p:sp>
      <p:sp>
        <p:nvSpPr>
          <p:cNvPr id="8" name="Segnaposto numero diapositiva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BFDAFE0-A6AB-5940-BA23-35A44B17BE66}" type="slidenum">
              <a:rPr lang="el-GR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90255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B29CCD-B764-499B-ACDE-2C081D461DD3}" type="datetime1">
              <a:rPr lang="en-US" smtClean="0"/>
              <a:pPr/>
              <a:t>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3.emf"/><Relationship Id="rId7" Type="http://schemas.openxmlformats.org/officeDocument/2006/relationships/oleObject" Target="../embeddings/oleObject7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FPGAs – Part 2: Interconnects and hardwired resources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6200" y="990600"/>
            <a:ext cx="2819400" cy="381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CE233(CAD), Lecture </a:t>
            </a:r>
            <a:r>
              <a:rPr lang="en-US" sz="2200" noProof="0" dirty="0">
                <a:solidFill>
                  <a:schemeClr val="tx2"/>
                </a:solidFill>
              </a:rPr>
              <a:t>6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914400" y="3810000"/>
            <a:ext cx="7162800" cy="1600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Mehdi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Modarressi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Department of Electrical and Computer Engineering,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University of  Tehran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Reading:</a:t>
            </a:r>
          </a:p>
          <a:p>
            <a:pPr lvl="1"/>
            <a:r>
              <a:rPr lang="sv-SE" i="1" dirty="0"/>
              <a:t>Spartan-3 Generation FPGA User Guide, Xilinx ug331 (v1.8)</a:t>
            </a:r>
          </a:p>
          <a:p>
            <a:pPr lvl="1"/>
            <a:r>
              <a:rPr lang="en-US" dirty="0"/>
              <a:t>“FPGA Prototyping By VHDL Examples- Xilinx Spartan-3 Version”, Chapter 2</a:t>
            </a:r>
          </a:p>
          <a:p>
            <a:pPr lvl="1"/>
            <a:r>
              <a:rPr lang="en-US" dirty="0"/>
              <a:t>“The Design Warrior's Guide to FPGAs”, Chapter 4</a:t>
            </a:r>
          </a:p>
          <a:p>
            <a:pPr lvl="1"/>
            <a:endParaRPr lang="sv-SE" i="1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interconnects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00200"/>
            <a:ext cx="8054246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447800"/>
            <a:ext cx="7391400" cy="1790700"/>
          </a:xfrm>
          <a:noFill/>
        </p:spPr>
        <p:txBody>
          <a:bodyPr lIns="90488" tIns="44450" rIns="90488" bIns="44450">
            <a:normAutofit lnSpcReduction="10000"/>
          </a:bodyPr>
          <a:lstStyle/>
          <a:p>
            <a:pPr eaLnBrk="1" hangingPunct="1"/>
            <a:r>
              <a:rPr lang="en-US" altLang="en-US" sz="2800" b="0" dirty="0"/>
              <a:t>How to connect CLB to wires?</a:t>
            </a:r>
          </a:p>
          <a:p>
            <a:pPr eaLnBrk="1" hangingPunct="1"/>
            <a:r>
              <a:rPr lang="en-US" altLang="en-US" sz="2800" b="0" dirty="0"/>
              <a:t>Solution: connection box</a:t>
            </a:r>
          </a:p>
          <a:p>
            <a:pPr lvl="1" eaLnBrk="1" hangingPunct="1"/>
            <a:r>
              <a:rPr lang="en-US" altLang="en-US" sz="2400" b="0" dirty="0"/>
              <a:t>Device that allows inputs and outputs of CLB to connect to different wires</a:t>
            </a:r>
          </a:p>
          <a:p>
            <a:pPr eaLnBrk="1" hangingPunct="1"/>
            <a:endParaRPr lang="en-US" altLang="en-US" b="0" dirty="0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28600" y="3849688"/>
            <a:ext cx="1549400" cy="16240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/>
              <a:t>CLB</a:t>
            </a:r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2179637" y="3375025"/>
            <a:ext cx="0" cy="2522538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3063875" y="3848100"/>
            <a:ext cx="1549400" cy="16240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/>
              <a:t>CLB</a:t>
            </a:r>
          </a:p>
        </p:txBody>
      </p:sp>
      <p:sp>
        <p:nvSpPr>
          <p:cNvPr id="20" name="Line 11"/>
          <p:cNvSpPr>
            <a:spLocks noChangeShapeType="1"/>
          </p:cNvSpPr>
          <p:nvPr/>
        </p:nvSpPr>
        <p:spPr bwMode="auto">
          <a:xfrm>
            <a:off x="1781175" y="44450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>
            <a:off x="1781175" y="4597400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13"/>
          <p:cNvSpPr>
            <a:spLocks noChangeShapeType="1"/>
          </p:cNvSpPr>
          <p:nvPr/>
        </p:nvSpPr>
        <p:spPr bwMode="auto">
          <a:xfrm>
            <a:off x="1757362" y="4749800"/>
            <a:ext cx="2524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14"/>
          <p:cNvSpPr>
            <a:spLocks noChangeShapeType="1"/>
          </p:cNvSpPr>
          <p:nvPr/>
        </p:nvSpPr>
        <p:spPr bwMode="auto">
          <a:xfrm>
            <a:off x="2847975" y="4441825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>
            <a:off x="2847975" y="4594225"/>
            <a:ext cx="219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2824162" y="4746625"/>
            <a:ext cx="2524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18"/>
          <p:cNvSpPr>
            <a:spLocks noChangeShapeType="1"/>
          </p:cNvSpPr>
          <p:nvPr/>
        </p:nvSpPr>
        <p:spPr bwMode="auto">
          <a:xfrm>
            <a:off x="2344737" y="3375025"/>
            <a:ext cx="0" cy="2522538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19"/>
          <p:cNvSpPr>
            <a:spLocks noChangeShapeType="1"/>
          </p:cNvSpPr>
          <p:nvPr/>
        </p:nvSpPr>
        <p:spPr bwMode="auto">
          <a:xfrm>
            <a:off x="2509837" y="3375025"/>
            <a:ext cx="0" cy="2522538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22"/>
          <p:cNvSpPr>
            <a:spLocks noChangeShapeType="1"/>
          </p:cNvSpPr>
          <p:nvPr/>
        </p:nvSpPr>
        <p:spPr bwMode="auto">
          <a:xfrm>
            <a:off x="2674937" y="3375025"/>
            <a:ext cx="0" cy="2522538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2000250" y="4186238"/>
            <a:ext cx="830262" cy="830262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2824163" y="3035301"/>
            <a:ext cx="2158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i="1" dirty="0">
                <a:solidFill>
                  <a:srgbClr val="FF0000"/>
                </a:solidFill>
              </a:rPr>
              <a:t>Connection box</a:t>
            </a:r>
          </a:p>
        </p:txBody>
      </p:sp>
      <p:sp>
        <p:nvSpPr>
          <p:cNvPr id="44" name="Line 24"/>
          <p:cNvSpPr>
            <a:spLocks noChangeShapeType="1"/>
          </p:cNvSpPr>
          <p:nvPr/>
        </p:nvSpPr>
        <p:spPr bwMode="auto">
          <a:xfrm flipH="1">
            <a:off x="2606675" y="3386138"/>
            <a:ext cx="711200" cy="898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itle 1"/>
          <p:cNvSpPr txBox="1">
            <a:spLocks/>
          </p:cNvSpPr>
          <p:nvPr/>
        </p:nvSpPr>
        <p:spPr>
          <a:xfrm>
            <a:off x="914400" y="685800"/>
            <a:ext cx="8153400" cy="1143000"/>
          </a:xfrm>
          <a:prstGeom prst="rect">
            <a:avLst/>
          </a:prstGeom>
        </p:spPr>
        <p:txBody>
          <a:bodyPr/>
          <a:lstStyle/>
          <a:p>
            <a:pPr lvl="0">
              <a:spcBef>
                <a:spcPct val="0"/>
              </a:spcBef>
              <a:defRPr/>
            </a:pPr>
            <a:r>
              <a:rPr lang="en-US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FPGA interconnects- connection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box</a:t>
            </a:r>
          </a:p>
        </p:txBody>
      </p:sp>
      <p:pic>
        <p:nvPicPr>
          <p:cNvPr id="32" name="Picture 3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7812" y="3386139"/>
            <a:ext cx="3653042" cy="2328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0913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0"/>
    </mc:Choice>
    <mc:Fallback xmlns="">
      <p:transition spd="slow" advTm="265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315200" cy="1719447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b="0" dirty="0"/>
              <a:t>Connection box characteristics</a:t>
            </a:r>
          </a:p>
          <a:p>
            <a:pPr lvl="1" eaLnBrk="1" hangingPunct="1"/>
            <a:r>
              <a:rPr lang="en-US" altLang="en-US" b="0" dirty="0"/>
              <a:t>Topology</a:t>
            </a:r>
          </a:p>
          <a:p>
            <a:pPr lvl="2" eaLnBrk="1" hangingPunct="1"/>
            <a:r>
              <a:rPr lang="en-US" altLang="en-US" b="0" dirty="0"/>
              <a:t>Defines the specific wires each CLB I/O can connect to</a:t>
            </a:r>
          </a:p>
          <a:p>
            <a:pPr lvl="2" eaLnBrk="1" hangingPunct="1"/>
            <a:r>
              <a:rPr lang="en-US" altLang="en-US" b="0" dirty="0"/>
              <a:t>Examples: same flexibility, different topology</a:t>
            </a:r>
          </a:p>
          <a:p>
            <a:pPr eaLnBrk="1" hangingPunct="1"/>
            <a:endParaRPr lang="en-US" altLang="en-US" b="0" dirty="0"/>
          </a:p>
          <a:p>
            <a:pPr eaLnBrk="1" hangingPunct="1"/>
            <a:endParaRPr lang="en-US" altLang="en-US" b="0" dirty="0"/>
          </a:p>
        </p:txBody>
      </p: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352425" y="3815293"/>
            <a:ext cx="1066800" cy="1119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/>
              <a:t>CLB</a:t>
            </a: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3106738" y="3829580"/>
            <a:ext cx="1066800" cy="1117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/>
              <a:t>CLB</a:t>
            </a:r>
          </a:p>
        </p:txBody>
      </p:sp>
      <p:sp>
        <p:nvSpPr>
          <p:cNvPr id="50" name="Rectangle 6"/>
          <p:cNvSpPr>
            <a:spLocks noChangeArrowheads="1"/>
          </p:cNvSpPr>
          <p:nvPr/>
        </p:nvSpPr>
        <p:spPr bwMode="auto">
          <a:xfrm>
            <a:off x="1743075" y="3815293"/>
            <a:ext cx="1066800" cy="1119187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endParaRPr lang="en-US" altLang="en-US" sz="2000"/>
          </a:p>
        </p:txBody>
      </p:sp>
      <p:sp>
        <p:nvSpPr>
          <p:cNvPr id="51" name="Line 7"/>
          <p:cNvSpPr>
            <a:spLocks noChangeShapeType="1"/>
          </p:cNvSpPr>
          <p:nvPr/>
        </p:nvSpPr>
        <p:spPr bwMode="auto">
          <a:xfrm>
            <a:off x="1922463" y="3508905"/>
            <a:ext cx="0" cy="173672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8"/>
          <p:cNvSpPr>
            <a:spLocks noChangeShapeType="1"/>
          </p:cNvSpPr>
          <p:nvPr/>
        </p:nvSpPr>
        <p:spPr bwMode="auto">
          <a:xfrm>
            <a:off x="2163763" y="3508905"/>
            <a:ext cx="0" cy="173672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Line 9"/>
          <p:cNvSpPr>
            <a:spLocks noChangeShapeType="1"/>
          </p:cNvSpPr>
          <p:nvPr/>
        </p:nvSpPr>
        <p:spPr bwMode="auto">
          <a:xfrm>
            <a:off x="2403475" y="3508905"/>
            <a:ext cx="0" cy="173672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Line 10"/>
          <p:cNvSpPr>
            <a:spLocks noChangeShapeType="1"/>
          </p:cNvSpPr>
          <p:nvPr/>
        </p:nvSpPr>
        <p:spPr bwMode="auto">
          <a:xfrm>
            <a:off x="2643188" y="3508905"/>
            <a:ext cx="0" cy="173672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11"/>
          <p:cNvSpPr>
            <a:spLocks noChangeShapeType="1"/>
          </p:cNvSpPr>
          <p:nvPr/>
        </p:nvSpPr>
        <p:spPr bwMode="auto">
          <a:xfrm>
            <a:off x="1403350" y="4007380"/>
            <a:ext cx="741363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12"/>
          <p:cNvSpPr>
            <a:spLocks noChangeShapeType="1"/>
          </p:cNvSpPr>
          <p:nvPr/>
        </p:nvSpPr>
        <p:spPr bwMode="auto">
          <a:xfrm>
            <a:off x="1412875" y="4212168"/>
            <a:ext cx="1000125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13"/>
          <p:cNvSpPr>
            <a:spLocks noChangeShapeType="1"/>
          </p:cNvSpPr>
          <p:nvPr/>
        </p:nvSpPr>
        <p:spPr bwMode="auto">
          <a:xfrm>
            <a:off x="2139950" y="4440768"/>
            <a:ext cx="989013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Line 14"/>
          <p:cNvSpPr>
            <a:spLocks noChangeShapeType="1"/>
          </p:cNvSpPr>
          <p:nvPr/>
        </p:nvSpPr>
        <p:spPr bwMode="auto">
          <a:xfrm>
            <a:off x="2374900" y="4721755"/>
            <a:ext cx="766763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Oval 15"/>
          <p:cNvSpPr>
            <a:spLocks noChangeArrowheads="1"/>
          </p:cNvSpPr>
          <p:nvPr/>
        </p:nvSpPr>
        <p:spPr bwMode="auto">
          <a:xfrm>
            <a:off x="1866900" y="39502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0" name="Oval 16"/>
          <p:cNvSpPr>
            <a:spLocks noChangeArrowheads="1"/>
          </p:cNvSpPr>
          <p:nvPr/>
        </p:nvSpPr>
        <p:spPr bwMode="auto">
          <a:xfrm>
            <a:off x="2108200" y="39502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1" name="Oval 17"/>
          <p:cNvSpPr>
            <a:spLocks noChangeArrowheads="1"/>
          </p:cNvSpPr>
          <p:nvPr/>
        </p:nvSpPr>
        <p:spPr bwMode="auto">
          <a:xfrm>
            <a:off x="2108200" y="41534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2" name="Oval 18"/>
          <p:cNvSpPr>
            <a:spLocks noChangeArrowheads="1"/>
          </p:cNvSpPr>
          <p:nvPr/>
        </p:nvSpPr>
        <p:spPr bwMode="auto">
          <a:xfrm>
            <a:off x="2349500" y="41534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3" name="Oval 19"/>
          <p:cNvSpPr>
            <a:spLocks noChangeArrowheads="1"/>
          </p:cNvSpPr>
          <p:nvPr/>
        </p:nvSpPr>
        <p:spPr bwMode="auto">
          <a:xfrm>
            <a:off x="2108200" y="43820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4" name="Oval 20"/>
          <p:cNvSpPr>
            <a:spLocks noChangeArrowheads="1"/>
          </p:cNvSpPr>
          <p:nvPr/>
        </p:nvSpPr>
        <p:spPr bwMode="auto">
          <a:xfrm>
            <a:off x="2349500" y="43820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5" name="Oval 21"/>
          <p:cNvSpPr>
            <a:spLocks noChangeArrowheads="1"/>
          </p:cNvSpPr>
          <p:nvPr/>
        </p:nvSpPr>
        <p:spPr bwMode="auto">
          <a:xfrm>
            <a:off x="2336800" y="46487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6" name="Oval 22"/>
          <p:cNvSpPr>
            <a:spLocks noChangeArrowheads="1"/>
          </p:cNvSpPr>
          <p:nvPr/>
        </p:nvSpPr>
        <p:spPr bwMode="auto">
          <a:xfrm>
            <a:off x="2590800" y="46614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7" name="Rectangle 23"/>
          <p:cNvSpPr>
            <a:spLocks noChangeArrowheads="1"/>
          </p:cNvSpPr>
          <p:nvPr/>
        </p:nvSpPr>
        <p:spPr bwMode="auto">
          <a:xfrm>
            <a:off x="4733925" y="3840693"/>
            <a:ext cx="1066800" cy="1119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/>
              <a:t>CLB</a:t>
            </a:r>
          </a:p>
        </p:txBody>
      </p:sp>
      <p:sp>
        <p:nvSpPr>
          <p:cNvPr id="68" name="Rectangle 24"/>
          <p:cNvSpPr>
            <a:spLocks noChangeArrowheads="1"/>
          </p:cNvSpPr>
          <p:nvPr/>
        </p:nvSpPr>
        <p:spPr bwMode="auto">
          <a:xfrm>
            <a:off x="7488238" y="3854980"/>
            <a:ext cx="1066800" cy="1117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2000"/>
              <a:t>CLB</a:t>
            </a:r>
          </a:p>
        </p:txBody>
      </p:sp>
      <p:sp>
        <p:nvSpPr>
          <p:cNvPr id="69" name="Rectangle 25"/>
          <p:cNvSpPr>
            <a:spLocks noChangeArrowheads="1"/>
          </p:cNvSpPr>
          <p:nvPr/>
        </p:nvSpPr>
        <p:spPr bwMode="auto">
          <a:xfrm>
            <a:off x="6124575" y="3840693"/>
            <a:ext cx="1066800" cy="1119187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endParaRPr lang="en-US" altLang="en-US" sz="2000"/>
          </a:p>
        </p:txBody>
      </p:sp>
      <p:sp>
        <p:nvSpPr>
          <p:cNvPr id="70" name="Line 26"/>
          <p:cNvSpPr>
            <a:spLocks noChangeShapeType="1"/>
          </p:cNvSpPr>
          <p:nvPr/>
        </p:nvSpPr>
        <p:spPr bwMode="auto">
          <a:xfrm>
            <a:off x="6303963" y="3534305"/>
            <a:ext cx="0" cy="173672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" name="Line 27"/>
          <p:cNvSpPr>
            <a:spLocks noChangeShapeType="1"/>
          </p:cNvSpPr>
          <p:nvPr/>
        </p:nvSpPr>
        <p:spPr bwMode="auto">
          <a:xfrm>
            <a:off x="6545263" y="3534305"/>
            <a:ext cx="0" cy="173672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Line 28"/>
          <p:cNvSpPr>
            <a:spLocks noChangeShapeType="1"/>
          </p:cNvSpPr>
          <p:nvPr/>
        </p:nvSpPr>
        <p:spPr bwMode="auto">
          <a:xfrm>
            <a:off x="6784975" y="3534305"/>
            <a:ext cx="0" cy="173672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Line 29"/>
          <p:cNvSpPr>
            <a:spLocks noChangeShapeType="1"/>
          </p:cNvSpPr>
          <p:nvPr/>
        </p:nvSpPr>
        <p:spPr bwMode="auto">
          <a:xfrm>
            <a:off x="7024688" y="3534305"/>
            <a:ext cx="0" cy="1736725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Line 30"/>
          <p:cNvSpPr>
            <a:spLocks noChangeShapeType="1"/>
          </p:cNvSpPr>
          <p:nvPr/>
        </p:nvSpPr>
        <p:spPr bwMode="auto">
          <a:xfrm>
            <a:off x="5772150" y="4032780"/>
            <a:ext cx="995363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31"/>
          <p:cNvSpPr>
            <a:spLocks noChangeShapeType="1"/>
          </p:cNvSpPr>
          <p:nvPr/>
        </p:nvSpPr>
        <p:spPr bwMode="auto">
          <a:xfrm>
            <a:off x="5794375" y="4237568"/>
            <a:ext cx="1241425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Line 32"/>
          <p:cNvSpPr>
            <a:spLocks noChangeShapeType="1"/>
          </p:cNvSpPr>
          <p:nvPr/>
        </p:nvSpPr>
        <p:spPr bwMode="auto">
          <a:xfrm>
            <a:off x="6318250" y="4466168"/>
            <a:ext cx="1192213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Line 33"/>
          <p:cNvSpPr>
            <a:spLocks noChangeShapeType="1"/>
          </p:cNvSpPr>
          <p:nvPr/>
        </p:nvSpPr>
        <p:spPr bwMode="auto">
          <a:xfrm>
            <a:off x="6515100" y="4747155"/>
            <a:ext cx="1008063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" name="Oval 34"/>
          <p:cNvSpPr>
            <a:spLocks noChangeArrowheads="1"/>
          </p:cNvSpPr>
          <p:nvPr/>
        </p:nvSpPr>
        <p:spPr bwMode="auto">
          <a:xfrm>
            <a:off x="6248400" y="39756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9" name="Oval 35"/>
          <p:cNvSpPr>
            <a:spLocks noChangeArrowheads="1"/>
          </p:cNvSpPr>
          <p:nvPr/>
        </p:nvSpPr>
        <p:spPr bwMode="auto">
          <a:xfrm>
            <a:off x="6718300" y="39756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0" name="Oval 36"/>
          <p:cNvSpPr>
            <a:spLocks noChangeArrowheads="1"/>
          </p:cNvSpPr>
          <p:nvPr/>
        </p:nvSpPr>
        <p:spPr bwMode="auto">
          <a:xfrm>
            <a:off x="6489700" y="41788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1" name="Oval 37"/>
          <p:cNvSpPr>
            <a:spLocks noChangeArrowheads="1"/>
          </p:cNvSpPr>
          <p:nvPr/>
        </p:nvSpPr>
        <p:spPr bwMode="auto">
          <a:xfrm>
            <a:off x="6959600" y="41788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2" name="Oval 38"/>
          <p:cNvSpPr>
            <a:spLocks noChangeArrowheads="1"/>
          </p:cNvSpPr>
          <p:nvPr/>
        </p:nvSpPr>
        <p:spPr bwMode="auto">
          <a:xfrm>
            <a:off x="6235700" y="44074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3" name="Oval 39"/>
          <p:cNvSpPr>
            <a:spLocks noChangeArrowheads="1"/>
          </p:cNvSpPr>
          <p:nvPr/>
        </p:nvSpPr>
        <p:spPr bwMode="auto">
          <a:xfrm>
            <a:off x="6731000" y="44074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4" name="Oval 40"/>
          <p:cNvSpPr>
            <a:spLocks noChangeArrowheads="1"/>
          </p:cNvSpPr>
          <p:nvPr/>
        </p:nvSpPr>
        <p:spPr bwMode="auto">
          <a:xfrm>
            <a:off x="6489700" y="46868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5" name="Oval 41"/>
          <p:cNvSpPr>
            <a:spLocks noChangeArrowheads="1"/>
          </p:cNvSpPr>
          <p:nvPr/>
        </p:nvSpPr>
        <p:spPr bwMode="auto">
          <a:xfrm>
            <a:off x="6972300" y="4686830"/>
            <a:ext cx="114300" cy="1143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Connection box</a:t>
            </a:r>
          </a:p>
        </p:txBody>
      </p:sp>
    </p:spTree>
    <p:extLst>
      <p:ext uri="{BB962C8B-B14F-4D97-AF65-F5344CB8AC3E}">
        <p14:creationId xmlns:p14="http://schemas.microsoft.com/office/powerpoint/2010/main" val="396822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50"/>
    </mc:Choice>
    <mc:Fallback xmlns="">
      <p:transition spd="slow" advTm="265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interconnects- switch box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600201"/>
            <a:ext cx="3581400" cy="2134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2600" y="3733800"/>
            <a:ext cx="2057400" cy="2137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3886200"/>
            <a:ext cx="2057400" cy="204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1447800" y="5943600"/>
            <a:ext cx="29358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Fs = 3, the most common switch</a:t>
            </a:r>
          </a:p>
          <a:p>
            <a:r>
              <a:rPr lang="en-US" dirty="0"/>
              <a:t>Low flexibility, good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05400" y="6172200"/>
            <a:ext cx="3312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Fs = n-1=6: too big but very flexible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0" y="1447800"/>
            <a:ext cx="3733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/>
              <a:t>Switch Blocks connect horizontal and vertical channels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A trade-off between flexibility and switch 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447800"/>
            <a:ext cx="7620000" cy="4201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3429000" y="6096000"/>
            <a:ext cx="1524000" cy="4339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Fs=3, why?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65" name="Straight Arrow Connector 64"/>
          <p:cNvCxnSpPr>
            <a:stCxn id="63" idx="6"/>
          </p:cNvCxnSpPr>
          <p:nvPr/>
        </p:nvCxnSpPr>
        <p:spPr>
          <a:xfrm flipV="1">
            <a:off x="5867400" y="3962400"/>
            <a:ext cx="914400" cy="2286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itle 1"/>
          <p:cNvSpPr txBox="1">
            <a:spLocks/>
          </p:cNvSpPr>
          <p:nvPr/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XC4000 interconnects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6553200" y="2514600"/>
            <a:ext cx="1752600" cy="1647825"/>
            <a:chOff x="6096000" y="4829175"/>
            <a:chExt cx="1920875" cy="1800225"/>
          </a:xfrm>
        </p:grpSpPr>
        <p:sp>
          <p:nvSpPr>
            <p:cNvPr id="14" name="Oval 2"/>
            <p:cNvSpPr>
              <a:spLocks noChangeArrowheads="1"/>
            </p:cNvSpPr>
            <p:nvPr/>
          </p:nvSpPr>
          <p:spPr bwMode="auto">
            <a:xfrm>
              <a:off x="6172200" y="4876800"/>
              <a:ext cx="1752600" cy="1747837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h-TH"/>
            </a:p>
          </p:txBody>
        </p:sp>
        <p:grpSp>
          <p:nvGrpSpPr>
            <p:cNvPr id="15" name="Group 20"/>
            <p:cNvGrpSpPr>
              <a:grpSpLocks/>
            </p:cNvGrpSpPr>
            <p:nvPr/>
          </p:nvGrpSpPr>
          <p:grpSpPr bwMode="auto">
            <a:xfrm>
              <a:off x="6096000" y="4829175"/>
              <a:ext cx="1920875" cy="1800225"/>
              <a:chOff x="2638" y="2716"/>
              <a:chExt cx="1573" cy="1476"/>
            </a:xfrm>
          </p:grpSpPr>
          <p:sp>
            <p:nvSpPr>
              <p:cNvPr id="16" name="Line 21"/>
              <p:cNvSpPr>
                <a:spLocks noChangeShapeType="1"/>
              </p:cNvSpPr>
              <p:nvPr/>
            </p:nvSpPr>
            <p:spPr bwMode="auto">
              <a:xfrm>
                <a:off x="3436" y="2934"/>
                <a:ext cx="218" cy="2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22"/>
              <p:cNvSpPr>
                <a:spLocks noChangeShapeType="1"/>
              </p:cNvSpPr>
              <p:nvPr/>
            </p:nvSpPr>
            <p:spPr bwMode="auto">
              <a:xfrm flipH="1">
                <a:off x="3751" y="3200"/>
                <a:ext cx="48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Line 23"/>
              <p:cNvSpPr>
                <a:spLocks noChangeShapeType="1"/>
              </p:cNvSpPr>
              <p:nvPr/>
            </p:nvSpPr>
            <p:spPr bwMode="auto">
              <a:xfrm flipH="1">
                <a:off x="3654" y="3103"/>
                <a:ext cx="49" cy="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24"/>
              <p:cNvSpPr>
                <a:spLocks noChangeShapeType="1"/>
              </p:cNvSpPr>
              <p:nvPr/>
            </p:nvSpPr>
            <p:spPr bwMode="auto">
              <a:xfrm>
                <a:off x="3679" y="3079"/>
                <a:ext cx="145" cy="1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25"/>
              <p:cNvSpPr>
                <a:spLocks noChangeShapeType="1"/>
              </p:cNvSpPr>
              <p:nvPr/>
            </p:nvSpPr>
            <p:spPr bwMode="auto">
              <a:xfrm flipV="1">
                <a:off x="3751" y="3079"/>
                <a:ext cx="72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Line 26"/>
              <p:cNvSpPr>
                <a:spLocks noChangeShapeType="1"/>
              </p:cNvSpPr>
              <p:nvPr/>
            </p:nvSpPr>
            <p:spPr bwMode="auto">
              <a:xfrm>
                <a:off x="3749" y="3249"/>
                <a:ext cx="220" cy="2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Oval 27"/>
              <p:cNvSpPr>
                <a:spLocks noChangeArrowheads="1"/>
              </p:cNvSpPr>
              <p:nvPr/>
            </p:nvSpPr>
            <p:spPr bwMode="auto">
              <a:xfrm>
                <a:off x="3944" y="3443"/>
                <a:ext cx="49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3" name="Line 28"/>
              <p:cNvSpPr>
                <a:spLocks noChangeShapeType="1"/>
              </p:cNvSpPr>
              <p:nvPr/>
            </p:nvSpPr>
            <p:spPr bwMode="auto">
              <a:xfrm flipH="1">
                <a:off x="2638" y="3466"/>
                <a:ext cx="77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Oval 29"/>
              <p:cNvSpPr>
                <a:spLocks noChangeArrowheads="1"/>
              </p:cNvSpPr>
              <p:nvPr/>
            </p:nvSpPr>
            <p:spPr bwMode="auto">
              <a:xfrm>
                <a:off x="3412" y="3975"/>
                <a:ext cx="49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5" name="Line 30"/>
              <p:cNvSpPr>
                <a:spLocks noChangeShapeType="1"/>
              </p:cNvSpPr>
              <p:nvPr/>
            </p:nvSpPr>
            <p:spPr bwMode="auto">
              <a:xfrm flipH="1" flipV="1">
                <a:off x="3436" y="3442"/>
                <a:ext cx="0" cy="7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Oval 31"/>
              <p:cNvSpPr>
                <a:spLocks noChangeArrowheads="1"/>
              </p:cNvSpPr>
              <p:nvPr/>
            </p:nvSpPr>
            <p:spPr bwMode="auto">
              <a:xfrm>
                <a:off x="3412" y="2910"/>
                <a:ext cx="49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7" name="Oval 32"/>
              <p:cNvSpPr>
                <a:spLocks noChangeArrowheads="1"/>
              </p:cNvSpPr>
              <p:nvPr/>
            </p:nvSpPr>
            <p:spPr bwMode="auto">
              <a:xfrm>
                <a:off x="2880" y="3442"/>
                <a:ext cx="49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8" name="Line 33"/>
              <p:cNvSpPr>
                <a:spLocks noChangeShapeType="1"/>
              </p:cNvSpPr>
              <p:nvPr/>
            </p:nvSpPr>
            <p:spPr bwMode="auto">
              <a:xfrm rot="5400000" flipV="1">
                <a:off x="2904" y="3466"/>
                <a:ext cx="217" cy="2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34"/>
              <p:cNvSpPr>
                <a:spLocks noChangeShapeType="1"/>
              </p:cNvSpPr>
              <p:nvPr/>
            </p:nvSpPr>
            <p:spPr bwMode="auto">
              <a:xfrm rot="5400000" flipH="1" flipV="1">
                <a:off x="3170" y="3779"/>
                <a:ext cx="48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Line 35"/>
              <p:cNvSpPr>
                <a:spLocks noChangeShapeType="1"/>
              </p:cNvSpPr>
              <p:nvPr/>
            </p:nvSpPr>
            <p:spPr bwMode="auto">
              <a:xfrm rot="5400000" flipH="1" flipV="1">
                <a:off x="3073" y="3683"/>
                <a:ext cx="49" cy="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36"/>
              <p:cNvSpPr>
                <a:spLocks noChangeShapeType="1"/>
              </p:cNvSpPr>
              <p:nvPr/>
            </p:nvSpPr>
            <p:spPr bwMode="auto">
              <a:xfrm rot="5400000" flipV="1">
                <a:off x="3048" y="3708"/>
                <a:ext cx="145" cy="1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37"/>
              <p:cNvSpPr>
                <a:spLocks noChangeShapeType="1"/>
              </p:cNvSpPr>
              <p:nvPr/>
            </p:nvSpPr>
            <p:spPr bwMode="auto">
              <a:xfrm rot="5400000">
                <a:off x="3049" y="3779"/>
                <a:ext cx="72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38"/>
              <p:cNvSpPr>
                <a:spLocks noChangeShapeType="1"/>
              </p:cNvSpPr>
              <p:nvPr/>
            </p:nvSpPr>
            <p:spPr bwMode="auto">
              <a:xfrm rot="5400000" flipV="1">
                <a:off x="3217" y="3779"/>
                <a:ext cx="222" cy="2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39"/>
              <p:cNvSpPr>
                <a:spLocks noChangeShapeType="1"/>
              </p:cNvSpPr>
              <p:nvPr/>
            </p:nvSpPr>
            <p:spPr bwMode="auto">
              <a:xfrm flipV="1">
                <a:off x="3436" y="3781"/>
                <a:ext cx="217" cy="2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40"/>
              <p:cNvSpPr>
                <a:spLocks noChangeShapeType="1"/>
              </p:cNvSpPr>
              <p:nvPr/>
            </p:nvSpPr>
            <p:spPr bwMode="auto">
              <a:xfrm flipH="1" flipV="1">
                <a:off x="3750" y="3685"/>
                <a:ext cx="48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41"/>
              <p:cNvSpPr>
                <a:spLocks noChangeShapeType="1"/>
              </p:cNvSpPr>
              <p:nvPr/>
            </p:nvSpPr>
            <p:spPr bwMode="auto">
              <a:xfrm flipH="1" flipV="1">
                <a:off x="3653" y="3780"/>
                <a:ext cx="49" cy="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42"/>
              <p:cNvSpPr>
                <a:spLocks noChangeShapeType="1"/>
              </p:cNvSpPr>
              <p:nvPr/>
            </p:nvSpPr>
            <p:spPr bwMode="auto">
              <a:xfrm flipV="1">
                <a:off x="3678" y="3709"/>
                <a:ext cx="145" cy="1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Line 43"/>
              <p:cNvSpPr>
                <a:spLocks noChangeShapeType="1"/>
              </p:cNvSpPr>
              <p:nvPr/>
            </p:nvSpPr>
            <p:spPr bwMode="auto">
              <a:xfrm>
                <a:off x="3750" y="3781"/>
                <a:ext cx="72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44"/>
              <p:cNvSpPr>
                <a:spLocks noChangeShapeType="1"/>
              </p:cNvSpPr>
              <p:nvPr/>
            </p:nvSpPr>
            <p:spPr bwMode="auto">
              <a:xfrm flipV="1">
                <a:off x="3748" y="3466"/>
                <a:ext cx="221" cy="2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45"/>
              <p:cNvSpPr>
                <a:spLocks noChangeShapeType="1"/>
              </p:cNvSpPr>
              <p:nvPr/>
            </p:nvSpPr>
            <p:spPr bwMode="auto">
              <a:xfrm rot="-5400000">
                <a:off x="2904" y="3249"/>
                <a:ext cx="217" cy="2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46"/>
              <p:cNvSpPr>
                <a:spLocks noChangeShapeType="1"/>
              </p:cNvSpPr>
              <p:nvPr/>
            </p:nvSpPr>
            <p:spPr bwMode="auto">
              <a:xfrm rot="16200000" flipH="1">
                <a:off x="3170" y="3105"/>
                <a:ext cx="48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47"/>
              <p:cNvSpPr>
                <a:spLocks noChangeShapeType="1"/>
              </p:cNvSpPr>
              <p:nvPr/>
            </p:nvSpPr>
            <p:spPr bwMode="auto">
              <a:xfrm rot="16200000" flipH="1">
                <a:off x="3073" y="3200"/>
                <a:ext cx="49" cy="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48"/>
              <p:cNvSpPr>
                <a:spLocks noChangeShapeType="1"/>
              </p:cNvSpPr>
              <p:nvPr/>
            </p:nvSpPr>
            <p:spPr bwMode="auto">
              <a:xfrm rot="-5400000">
                <a:off x="3049" y="3079"/>
                <a:ext cx="145" cy="1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49"/>
              <p:cNvSpPr>
                <a:spLocks noChangeShapeType="1"/>
              </p:cNvSpPr>
              <p:nvPr/>
            </p:nvSpPr>
            <p:spPr bwMode="auto">
              <a:xfrm rot="16200000" flipV="1">
                <a:off x="3050" y="3080"/>
                <a:ext cx="72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Line 50"/>
              <p:cNvSpPr>
                <a:spLocks noChangeShapeType="1"/>
              </p:cNvSpPr>
              <p:nvPr/>
            </p:nvSpPr>
            <p:spPr bwMode="auto">
              <a:xfrm rot="-5400000">
                <a:off x="3217" y="2936"/>
                <a:ext cx="221" cy="2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6" name="Group 51"/>
              <p:cNvGrpSpPr>
                <a:grpSpLocks/>
              </p:cNvGrpSpPr>
              <p:nvPr/>
            </p:nvGrpSpPr>
            <p:grpSpPr bwMode="auto">
              <a:xfrm rot="-8100000">
                <a:off x="3242" y="3055"/>
                <a:ext cx="388" cy="386"/>
                <a:chOff x="3436" y="3080"/>
                <a:chExt cx="388" cy="386"/>
              </a:xfrm>
            </p:grpSpPr>
            <p:sp>
              <p:nvSpPr>
                <p:cNvPr id="56" name="Line 52"/>
                <p:cNvSpPr>
                  <a:spLocks noChangeShapeType="1"/>
                </p:cNvSpPr>
                <p:nvPr/>
              </p:nvSpPr>
              <p:spPr bwMode="auto">
                <a:xfrm>
                  <a:off x="3436" y="3080"/>
                  <a:ext cx="145" cy="1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3678" y="3273"/>
                  <a:ext cx="48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3581" y="3176"/>
                  <a:ext cx="49" cy="5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Line 55"/>
                <p:cNvSpPr>
                  <a:spLocks noChangeShapeType="1"/>
                </p:cNvSpPr>
                <p:nvPr/>
              </p:nvSpPr>
              <p:spPr bwMode="auto">
                <a:xfrm>
                  <a:off x="3606" y="3152"/>
                  <a:ext cx="145" cy="14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3678" y="3152"/>
                  <a:ext cx="72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" name="Line 57"/>
                <p:cNvSpPr>
                  <a:spLocks noChangeShapeType="1"/>
                </p:cNvSpPr>
                <p:nvPr/>
              </p:nvSpPr>
              <p:spPr bwMode="auto">
                <a:xfrm>
                  <a:off x="3676" y="3322"/>
                  <a:ext cx="148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7" name="Group 58"/>
              <p:cNvGrpSpPr>
                <a:grpSpLocks/>
              </p:cNvGrpSpPr>
              <p:nvPr/>
            </p:nvGrpSpPr>
            <p:grpSpPr bwMode="auto">
              <a:xfrm rot="2700000" flipV="1">
                <a:off x="3460" y="3273"/>
                <a:ext cx="388" cy="386"/>
                <a:chOff x="3436" y="3080"/>
                <a:chExt cx="388" cy="386"/>
              </a:xfrm>
            </p:grpSpPr>
            <p:sp>
              <p:nvSpPr>
                <p:cNvPr id="50" name="Line 59"/>
                <p:cNvSpPr>
                  <a:spLocks noChangeShapeType="1"/>
                </p:cNvSpPr>
                <p:nvPr/>
              </p:nvSpPr>
              <p:spPr bwMode="auto">
                <a:xfrm>
                  <a:off x="3436" y="3080"/>
                  <a:ext cx="145" cy="1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3678" y="3273"/>
                  <a:ext cx="48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3581" y="3176"/>
                  <a:ext cx="49" cy="5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Line 62"/>
                <p:cNvSpPr>
                  <a:spLocks noChangeShapeType="1"/>
                </p:cNvSpPr>
                <p:nvPr/>
              </p:nvSpPr>
              <p:spPr bwMode="auto">
                <a:xfrm>
                  <a:off x="3606" y="3152"/>
                  <a:ext cx="145" cy="14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3678" y="3152"/>
                  <a:ext cx="72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" name="Line 64"/>
                <p:cNvSpPr>
                  <a:spLocks noChangeShapeType="1"/>
                </p:cNvSpPr>
                <p:nvPr/>
              </p:nvSpPr>
              <p:spPr bwMode="auto">
                <a:xfrm>
                  <a:off x="3676" y="3322"/>
                  <a:ext cx="148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8" name="Line 65"/>
              <p:cNvSpPr>
                <a:spLocks noChangeShapeType="1"/>
              </p:cNvSpPr>
              <p:nvPr/>
            </p:nvSpPr>
            <p:spPr bwMode="auto">
              <a:xfrm flipH="1">
                <a:off x="3920" y="3466"/>
                <a:ext cx="2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Line 66"/>
              <p:cNvSpPr>
                <a:spLocks noChangeShapeType="1"/>
              </p:cNvSpPr>
              <p:nvPr/>
            </p:nvSpPr>
            <p:spPr bwMode="auto">
              <a:xfrm flipH="1" flipV="1">
                <a:off x="3436" y="2716"/>
                <a:ext cx="0" cy="2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63" name="Oval 62"/>
          <p:cNvSpPr/>
          <p:nvPr/>
        </p:nvSpPr>
        <p:spPr>
          <a:xfrm>
            <a:off x="5715000" y="4114800"/>
            <a:ext cx="152400" cy="152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/>
          <a:lstStyle/>
          <a:p>
            <a:r>
              <a:rPr lang="en-US" altLang="ja-JP" dirty="0">
                <a:ea typeface="MS PGothic" pitchFamily="34" charset="-128"/>
              </a:rPr>
              <a:t>Switch Matrix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475" y="4203776"/>
            <a:ext cx="6007025" cy="2501823"/>
          </a:xfrm>
        </p:spPr>
        <p:txBody>
          <a:bodyPr>
            <a:normAutofit/>
          </a:bodyPr>
          <a:lstStyle/>
          <a:p>
            <a:r>
              <a:rPr lang="en-US" dirty="0"/>
              <a:t>6 pass transistors per switch matrix interconnect point</a:t>
            </a:r>
          </a:p>
          <a:p>
            <a:r>
              <a:rPr lang="en-US" dirty="0"/>
              <a:t>Pass transistors act as programmable switches</a:t>
            </a:r>
          </a:p>
          <a:p>
            <a:r>
              <a:rPr lang="en-US" dirty="0"/>
              <a:t>Pass transistor gates are driven by configuration memory cells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59487" y="1371600"/>
            <a:ext cx="3084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algn="ctr" eaLnBrk="0" hangingPunct="0"/>
            <a:r>
              <a:rPr lang="en-US" altLang="ja-JP" sz="2400" dirty="0">
                <a:latin typeface="Times New Roman" pitchFamily="18" charset="0"/>
                <a:ea typeface="MS PGothic" pitchFamily="34" charset="-128"/>
                <a:cs typeface="Times New Roman" pitchFamily="18" charset="0"/>
              </a:rPr>
              <a:t>After Programming</a:t>
            </a: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3322637" y="2019300"/>
            <a:ext cx="2144713" cy="2209800"/>
            <a:chOff x="946" y="1086"/>
            <a:chExt cx="1351" cy="1392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149" y="1290"/>
              <a:ext cx="960" cy="100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100000"/>
                <a:buFont typeface="Wingdings" pitchFamily="2" charset="2"/>
                <a:buChar char="n"/>
              </a:pPr>
              <a:endParaRPr lang="en-US">
                <a:latin typeface="Comic Sans MS" pitchFamily="66" charset="0"/>
                <a:ea typeface="MS PGothic" pitchFamily="34" charset="-128"/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1197" y="1934"/>
              <a:ext cx="266" cy="296"/>
            </a:xfrm>
            <a:custGeom>
              <a:avLst/>
              <a:gdLst>
                <a:gd name="T0" fmla="*/ 50 w 288"/>
                <a:gd name="T1" fmla="*/ 0 h 296"/>
                <a:gd name="T2" fmla="*/ 94 w 288"/>
                <a:gd name="T3" fmla="*/ 144 h 296"/>
                <a:gd name="T4" fmla="*/ 48 w 288"/>
                <a:gd name="T5" fmla="*/ 296 h 296"/>
                <a:gd name="T6" fmla="*/ 0 w 288"/>
                <a:gd name="T7" fmla="*/ 152 h 296"/>
                <a:gd name="T8" fmla="*/ 50 w 288"/>
                <a:gd name="T9" fmla="*/ 0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296"/>
                <a:gd name="T17" fmla="*/ 288 w 288"/>
                <a:gd name="T18" fmla="*/ 296 h 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296">
                  <a:moveTo>
                    <a:pt x="152" y="0"/>
                  </a:moveTo>
                  <a:lnTo>
                    <a:pt x="288" y="144"/>
                  </a:lnTo>
                  <a:lnTo>
                    <a:pt x="144" y="296"/>
                  </a:lnTo>
                  <a:lnTo>
                    <a:pt x="0" y="152"/>
                  </a:lnTo>
                  <a:lnTo>
                    <a:pt x="152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100000"/>
                <a:buFont typeface="Wingdings" pitchFamily="2" charset="2"/>
                <a:buChar char="n"/>
              </a:pPr>
              <a:endParaRPr lang="en-US">
                <a:latin typeface="Comic Sans MS" pitchFamily="66" charset="0"/>
                <a:ea typeface="MS PGothic" pitchFamily="34" charset="-128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946" y="1486"/>
              <a:ext cx="135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953" y="1686"/>
              <a:ext cx="133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946" y="1886"/>
              <a:ext cx="134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960" y="2086"/>
              <a:ext cx="133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337" y="1086"/>
              <a:ext cx="1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529" y="1086"/>
              <a:ext cx="1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721" y="1086"/>
              <a:ext cx="1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1913" y="1086"/>
              <a:ext cx="1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1588" y="1542"/>
              <a:ext cx="266" cy="296"/>
            </a:xfrm>
            <a:custGeom>
              <a:avLst/>
              <a:gdLst>
                <a:gd name="T0" fmla="*/ 48 w 288"/>
                <a:gd name="T1" fmla="*/ 0 h 296"/>
                <a:gd name="T2" fmla="*/ 94 w 288"/>
                <a:gd name="T3" fmla="*/ 144 h 296"/>
                <a:gd name="T4" fmla="*/ 48 w 288"/>
                <a:gd name="T5" fmla="*/ 296 h 296"/>
                <a:gd name="T6" fmla="*/ 0 w 288"/>
                <a:gd name="T7" fmla="*/ 152 h 296"/>
                <a:gd name="T8" fmla="*/ 48 w 288"/>
                <a:gd name="T9" fmla="*/ 0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296"/>
                <a:gd name="T17" fmla="*/ 288 w 288"/>
                <a:gd name="T18" fmla="*/ 296 h 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296">
                  <a:moveTo>
                    <a:pt x="144" y="0"/>
                  </a:moveTo>
                  <a:lnTo>
                    <a:pt x="288" y="144"/>
                  </a:lnTo>
                  <a:lnTo>
                    <a:pt x="144" y="296"/>
                  </a:lnTo>
                  <a:lnTo>
                    <a:pt x="0" y="152"/>
                  </a:lnTo>
                  <a:lnTo>
                    <a:pt x="144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100000"/>
                <a:buFont typeface="Wingdings" pitchFamily="2" charset="2"/>
                <a:buChar char="n"/>
              </a:pPr>
              <a:endParaRPr lang="en-US">
                <a:latin typeface="Comic Sans MS" pitchFamily="66" charset="0"/>
                <a:ea typeface="MS PGothic" pitchFamily="34" charset="-128"/>
              </a:endParaRPr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1780" y="1334"/>
              <a:ext cx="266" cy="296"/>
            </a:xfrm>
            <a:custGeom>
              <a:avLst/>
              <a:gdLst>
                <a:gd name="T0" fmla="*/ 48 w 288"/>
                <a:gd name="T1" fmla="*/ 0 h 296"/>
                <a:gd name="T2" fmla="*/ 94 w 288"/>
                <a:gd name="T3" fmla="*/ 144 h 296"/>
                <a:gd name="T4" fmla="*/ 48 w 288"/>
                <a:gd name="T5" fmla="*/ 296 h 296"/>
                <a:gd name="T6" fmla="*/ 0 w 288"/>
                <a:gd name="T7" fmla="*/ 152 h 296"/>
                <a:gd name="T8" fmla="*/ 48 w 288"/>
                <a:gd name="T9" fmla="*/ 0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296"/>
                <a:gd name="T17" fmla="*/ 288 w 288"/>
                <a:gd name="T18" fmla="*/ 296 h 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296">
                  <a:moveTo>
                    <a:pt x="144" y="0"/>
                  </a:moveTo>
                  <a:lnTo>
                    <a:pt x="288" y="144"/>
                  </a:lnTo>
                  <a:lnTo>
                    <a:pt x="144" y="296"/>
                  </a:lnTo>
                  <a:lnTo>
                    <a:pt x="0" y="152"/>
                  </a:lnTo>
                  <a:lnTo>
                    <a:pt x="144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100000"/>
                <a:buFont typeface="Wingdings" pitchFamily="2" charset="2"/>
                <a:buChar char="n"/>
              </a:pPr>
              <a:endParaRPr lang="en-US">
                <a:latin typeface="Comic Sans MS" pitchFamily="66" charset="0"/>
                <a:ea typeface="MS PGothic" pitchFamily="34" charset="-128"/>
              </a:endParaRPr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1396" y="1726"/>
              <a:ext cx="266" cy="296"/>
            </a:xfrm>
            <a:custGeom>
              <a:avLst/>
              <a:gdLst>
                <a:gd name="T0" fmla="*/ 48 w 288"/>
                <a:gd name="T1" fmla="*/ 0 h 296"/>
                <a:gd name="T2" fmla="*/ 94 w 288"/>
                <a:gd name="T3" fmla="*/ 144 h 296"/>
                <a:gd name="T4" fmla="*/ 48 w 288"/>
                <a:gd name="T5" fmla="*/ 296 h 296"/>
                <a:gd name="T6" fmla="*/ 0 w 288"/>
                <a:gd name="T7" fmla="*/ 152 h 296"/>
                <a:gd name="T8" fmla="*/ 48 w 288"/>
                <a:gd name="T9" fmla="*/ 0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296"/>
                <a:gd name="T17" fmla="*/ 288 w 288"/>
                <a:gd name="T18" fmla="*/ 296 h 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296">
                  <a:moveTo>
                    <a:pt x="144" y="0"/>
                  </a:moveTo>
                  <a:lnTo>
                    <a:pt x="288" y="144"/>
                  </a:lnTo>
                  <a:lnTo>
                    <a:pt x="144" y="296"/>
                  </a:lnTo>
                  <a:lnTo>
                    <a:pt x="0" y="152"/>
                  </a:lnTo>
                  <a:lnTo>
                    <a:pt x="144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100000"/>
                <a:buFont typeface="Wingdings" pitchFamily="2" charset="2"/>
                <a:buChar char="n"/>
              </a:pPr>
              <a:endParaRPr lang="en-US">
                <a:latin typeface="Comic Sans MS" pitchFamily="66" charset="0"/>
                <a:ea typeface="MS PGothic" pitchFamily="34" charset="-128"/>
              </a:endParaRPr>
            </a:p>
          </p:txBody>
        </p:sp>
      </p:grpSp>
      <p:grpSp>
        <p:nvGrpSpPr>
          <p:cNvPr id="21" name="Group 97"/>
          <p:cNvGrpSpPr>
            <a:grpSpLocks/>
          </p:cNvGrpSpPr>
          <p:nvPr/>
        </p:nvGrpSpPr>
        <p:grpSpPr bwMode="auto">
          <a:xfrm>
            <a:off x="6346825" y="3890962"/>
            <a:ext cx="2041525" cy="2111375"/>
            <a:chOff x="2858" y="2499"/>
            <a:chExt cx="1286" cy="1330"/>
          </a:xfrm>
        </p:grpSpPr>
        <p:sp>
          <p:nvSpPr>
            <p:cNvPr id="22" name="Oval 2"/>
            <p:cNvSpPr>
              <a:spLocks noChangeArrowheads="1"/>
            </p:cNvSpPr>
            <p:nvPr/>
          </p:nvSpPr>
          <p:spPr bwMode="auto">
            <a:xfrm>
              <a:off x="2858" y="2499"/>
              <a:ext cx="1286" cy="133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100000"/>
                <a:buFont typeface="Wingdings" pitchFamily="2" charset="2"/>
                <a:buChar char="n"/>
              </a:pPr>
              <a:endParaRPr lang="en-US">
                <a:latin typeface="Comic Sans MS" pitchFamily="66" charset="0"/>
                <a:ea typeface="MS PGothic" pitchFamily="34" charset="-128"/>
              </a:endParaRPr>
            </a:p>
          </p:txBody>
        </p:sp>
        <p:grpSp>
          <p:nvGrpSpPr>
            <p:cNvPr id="23" name="Group 20"/>
            <p:cNvGrpSpPr>
              <a:grpSpLocks/>
            </p:cNvGrpSpPr>
            <p:nvPr/>
          </p:nvGrpSpPr>
          <p:grpSpPr bwMode="auto">
            <a:xfrm>
              <a:off x="2910" y="2595"/>
              <a:ext cx="1210" cy="1134"/>
              <a:chOff x="2638" y="2716"/>
              <a:chExt cx="1573" cy="1476"/>
            </a:xfrm>
          </p:grpSpPr>
          <p:sp>
            <p:nvSpPr>
              <p:cNvPr id="24" name="Line 21"/>
              <p:cNvSpPr>
                <a:spLocks noChangeShapeType="1"/>
              </p:cNvSpPr>
              <p:nvPr/>
            </p:nvSpPr>
            <p:spPr bwMode="auto">
              <a:xfrm>
                <a:off x="3436" y="2934"/>
                <a:ext cx="218" cy="2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Line 22"/>
              <p:cNvSpPr>
                <a:spLocks noChangeShapeType="1"/>
              </p:cNvSpPr>
              <p:nvPr/>
            </p:nvSpPr>
            <p:spPr bwMode="auto">
              <a:xfrm flipH="1">
                <a:off x="3751" y="3200"/>
                <a:ext cx="48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23"/>
              <p:cNvSpPr>
                <a:spLocks noChangeShapeType="1"/>
              </p:cNvSpPr>
              <p:nvPr/>
            </p:nvSpPr>
            <p:spPr bwMode="auto">
              <a:xfrm flipH="1">
                <a:off x="3654" y="3103"/>
                <a:ext cx="49" cy="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24"/>
              <p:cNvSpPr>
                <a:spLocks noChangeShapeType="1"/>
              </p:cNvSpPr>
              <p:nvPr/>
            </p:nvSpPr>
            <p:spPr bwMode="auto">
              <a:xfrm>
                <a:off x="3679" y="3079"/>
                <a:ext cx="145" cy="1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25"/>
              <p:cNvSpPr>
                <a:spLocks noChangeShapeType="1"/>
              </p:cNvSpPr>
              <p:nvPr/>
            </p:nvSpPr>
            <p:spPr bwMode="auto">
              <a:xfrm flipV="1">
                <a:off x="3751" y="3079"/>
                <a:ext cx="72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26"/>
              <p:cNvSpPr>
                <a:spLocks noChangeShapeType="1"/>
              </p:cNvSpPr>
              <p:nvPr/>
            </p:nvSpPr>
            <p:spPr bwMode="auto">
              <a:xfrm>
                <a:off x="3749" y="3249"/>
                <a:ext cx="220" cy="2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Oval 27"/>
              <p:cNvSpPr>
                <a:spLocks noChangeArrowheads="1"/>
              </p:cNvSpPr>
              <p:nvPr/>
            </p:nvSpPr>
            <p:spPr bwMode="auto">
              <a:xfrm>
                <a:off x="3944" y="3443"/>
                <a:ext cx="49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buSzPct val="100000"/>
                  <a:buFont typeface="Wingdings" pitchFamily="2" charset="2"/>
                  <a:buChar char="n"/>
                </a:pPr>
                <a:endParaRPr lang="en-US">
                  <a:latin typeface="Comic Sans MS" pitchFamily="66" charset="0"/>
                  <a:ea typeface="MS PGothic" pitchFamily="34" charset="-128"/>
                </a:endParaRPr>
              </a:p>
            </p:txBody>
          </p:sp>
          <p:sp>
            <p:nvSpPr>
              <p:cNvPr id="31" name="Line 28"/>
              <p:cNvSpPr>
                <a:spLocks noChangeShapeType="1"/>
              </p:cNvSpPr>
              <p:nvPr/>
            </p:nvSpPr>
            <p:spPr bwMode="auto">
              <a:xfrm flipH="1">
                <a:off x="2638" y="3466"/>
                <a:ext cx="77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Oval 29"/>
              <p:cNvSpPr>
                <a:spLocks noChangeArrowheads="1"/>
              </p:cNvSpPr>
              <p:nvPr/>
            </p:nvSpPr>
            <p:spPr bwMode="auto">
              <a:xfrm>
                <a:off x="3412" y="3975"/>
                <a:ext cx="49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buSzPct val="100000"/>
                  <a:buFont typeface="Wingdings" pitchFamily="2" charset="2"/>
                  <a:buChar char="n"/>
                </a:pPr>
                <a:endParaRPr lang="en-US">
                  <a:latin typeface="Comic Sans MS" pitchFamily="66" charset="0"/>
                  <a:ea typeface="MS PGothic" pitchFamily="34" charset="-128"/>
                </a:endParaRPr>
              </a:p>
            </p:txBody>
          </p:sp>
          <p:sp>
            <p:nvSpPr>
              <p:cNvPr id="33" name="Line 30"/>
              <p:cNvSpPr>
                <a:spLocks noChangeShapeType="1"/>
              </p:cNvSpPr>
              <p:nvPr/>
            </p:nvSpPr>
            <p:spPr bwMode="auto">
              <a:xfrm flipH="1" flipV="1">
                <a:off x="3436" y="3442"/>
                <a:ext cx="0" cy="7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Oval 31"/>
              <p:cNvSpPr>
                <a:spLocks noChangeArrowheads="1"/>
              </p:cNvSpPr>
              <p:nvPr/>
            </p:nvSpPr>
            <p:spPr bwMode="auto">
              <a:xfrm>
                <a:off x="3412" y="2910"/>
                <a:ext cx="49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buSzPct val="100000"/>
                  <a:buFont typeface="Wingdings" pitchFamily="2" charset="2"/>
                  <a:buChar char="n"/>
                </a:pPr>
                <a:endParaRPr lang="en-US">
                  <a:latin typeface="Comic Sans MS" pitchFamily="66" charset="0"/>
                  <a:ea typeface="MS PGothic" pitchFamily="34" charset="-128"/>
                </a:endParaRPr>
              </a:p>
            </p:txBody>
          </p:sp>
          <p:sp>
            <p:nvSpPr>
              <p:cNvPr id="35" name="Oval 32"/>
              <p:cNvSpPr>
                <a:spLocks noChangeArrowheads="1"/>
              </p:cNvSpPr>
              <p:nvPr/>
            </p:nvSpPr>
            <p:spPr bwMode="auto">
              <a:xfrm>
                <a:off x="2880" y="3442"/>
                <a:ext cx="49" cy="4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buSzPct val="100000"/>
                  <a:buFont typeface="Wingdings" pitchFamily="2" charset="2"/>
                  <a:buChar char="n"/>
                </a:pPr>
                <a:endParaRPr lang="en-US">
                  <a:latin typeface="Comic Sans MS" pitchFamily="66" charset="0"/>
                  <a:ea typeface="MS PGothic" pitchFamily="34" charset="-128"/>
                </a:endParaRPr>
              </a:p>
            </p:txBody>
          </p:sp>
          <p:sp>
            <p:nvSpPr>
              <p:cNvPr id="36" name="Line 33"/>
              <p:cNvSpPr>
                <a:spLocks noChangeShapeType="1"/>
              </p:cNvSpPr>
              <p:nvPr/>
            </p:nvSpPr>
            <p:spPr bwMode="auto">
              <a:xfrm rot="5400000" flipV="1">
                <a:off x="2904" y="3466"/>
                <a:ext cx="217" cy="2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Line 34"/>
              <p:cNvSpPr>
                <a:spLocks noChangeShapeType="1"/>
              </p:cNvSpPr>
              <p:nvPr/>
            </p:nvSpPr>
            <p:spPr bwMode="auto">
              <a:xfrm rot="5400000" flipH="1" flipV="1">
                <a:off x="3170" y="3779"/>
                <a:ext cx="48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Line 35"/>
              <p:cNvSpPr>
                <a:spLocks noChangeShapeType="1"/>
              </p:cNvSpPr>
              <p:nvPr/>
            </p:nvSpPr>
            <p:spPr bwMode="auto">
              <a:xfrm rot="5400000" flipH="1" flipV="1">
                <a:off x="3073" y="3683"/>
                <a:ext cx="49" cy="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36"/>
              <p:cNvSpPr>
                <a:spLocks noChangeShapeType="1"/>
              </p:cNvSpPr>
              <p:nvPr/>
            </p:nvSpPr>
            <p:spPr bwMode="auto">
              <a:xfrm rot="5400000" flipV="1">
                <a:off x="3048" y="3708"/>
                <a:ext cx="145" cy="1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37"/>
              <p:cNvSpPr>
                <a:spLocks noChangeShapeType="1"/>
              </p:cNvSpPr>
              <p:nvPr/>
            </p:nvSpPr>
            <p:spPr bwMode="auto">
              <a:xfrm rot="5400000">
                <a:off x="3049" y="3779"/>
                <a:ext cx="72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38"/>
              <p:cNvSpPr>
                <a:spLocks noChangeShapeType="1"/>
              </p:cNvSpPr>
              <p:nvPr/>
            </p:nvSpPr>
            <p:spPr bwMode="auto">
              <a:xfrm rot="5400000" flipV="1">
                <a:off x="3217" y="3779"/>
                <a:ext cx="222" cy="2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39"/>
              <p:cNvSpPr>
                <a:spLocks noChangeShapeType="1"/>
              </p:cNvSpPr>
              <p:nvPr/>
            </p:nvSpPr>
            <p:spPr bwMode="auto">
              <a:xfrm flipV="1">
                <a:off x="3436" y="3781"/>
                <a:ext cx="217" cy="2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40"/>
              <p:cNvSpPr>
                <a:spLocks noChangeShapeType="1"/>
              </p:cNvSpPr>
              <p:nvPr/>
            </p:nvSpPr>
            <p:spPr bwMode="auto">
              <a:xfrm flipH="1" flipV="1">
                <a:off x="3750" y="3685"/>
                <a:ext cx="48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41"/>
              <p:cNvSpPr>
                <a:spLocks noChangeShapeType="1"/>
              </p:cNvSpPr>
              <p:nvPr/>
            </p:nvSpPr>
            <p:spPr bwMode="auto">
              <a:xfrm flipH="1" flipV="1">
                <a:off x="3653" y="3780"/>
                <a:ext cx="49" cy="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Line 42"/>
              <p:cNvSpPr>
                <a:spLocks noChangeShapeType="1"/>
              </p:cNvSpPr>
              <p:nvPr/>
            </p:nvSpPr>
            <p:spPr bwMode="auto">
              <a:xfrm flipV="1">
                <a:off x="3678" y="3709"/>
                <a:ext cx="145" cy="1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43"/>
              <p:cNvSpPr>
                <a:spLocks noChangeShapeType="1"/>
              </p:cNvSpPr>
              <p:nvPr/>
            </p:nvSpPr>
            <p:spPr bwMode="auto">
              <a:xfrm>
                <a:off x="3750" y="3781"/>
                <a:ext cx="72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Line 44"/>
              <p:cNvSpPr>
                <a:spLocks noChangeShapeType="1"/>
              </p:cNvSpPr>
              <p:nvPr/>
            </p:nvSpPr>
            <p:spPr bwMode="auto">
              <a:xfrm flipV="1">
                <a:off x="3748" y="3466"/>
                <a:ext cx="221" cy="2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Line 45"/>
              <p:cNvSpPr>
                <a:spLocks noChangeShapeType="1"/>
              </p:cNvSpPr>
              <p:nvPr/>
            </p:nvSpPr>
            <p:spPr bwMode="auto">
              <a:xfrm rot="-5400000">
                <a:off x="2904" y="3249"/>
                <a:ext cx="217" cy="2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Line 46"/>
              <p:cNvSpPr>
                <a:spLocks noChangeShapeType="1"/>
              </p:cNvSpPr>
              <p:nvPr/>
            </p:nvSpPr>
            <p:spPr bwMode="auto">
              <a:xfrm rot="16200000" flipH="1">
                <a:off x="3170" y="3105"/>
                <a:ext cx="48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Line 47"/>
              <p:cNvSpPr>
                <a:spLocks noChangeShapeType="1"/>
              </p:cNvSpPr>
              <p:nvPr/>
            </p:nvSpPr>
            <p:spPr bwMode="auto">
              <a:xfrm rot="16200000" flipH="1">
                <a:off x="3073" y="3200"/>
                <a:ext cx="49" cy="5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Line 48"/>
              <p:cNvSpPr>
                <a:spLocks noChangeShapeType="1"/>
              </p:cNvSpPr>
              <p:nvPr/>
            </p:nvSpPr>
            <p:spPr bwMode="auto">
              <a:xfrm rot="-5400000">
                <a:off x="3049" y="3079"/>
                <a:ext cx="145" cy="1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Line 49"/>
              <p:cNvSpPr>
                <a:spLocks noChangeShapeType="1"/>
              </p:cNvSpPr>
              <p:nvPr/>
            </p:nvSpPr>
            <p:spPr bwMode="auto">
              <a:xfrm rot="16200000" flipV="1">
                <a:off x="3050" y="3080"/>
                <a:ext cx="72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Line 50"/>
              <p:cNvSpPr>
                <a:spLocks noChangeShapeType="1"/>
              </p:cNvSpPr>
              <p:nvPr/>
            </p:nvSpPr>
            <p:spPr bwMode="auto">
              <a:xfrm rot="-5400000">
                <a:off x="3217" y="2936"/>
                <a:ext cx="221" cy="2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4" name="Group 51"/>
              <p:cNvGrpSpPr>
                <a:grpSpLocks/>
              </p:cNvGrpSpPr>
              <p:nvPr/>
            </p:nvGrpSpPr>
            <p:grpSpPr bwMode="auto">
              <a:xfrm rot="-8100000">
                <a:off x="3242" y="3055"/>
                <a:ext cx="388" cy="386"/>
                <a:chOff x="3436" y="3080"/>
                <a:chExt cx="388" cy="386"/>
              </a:xfrm>
            </p:grpSpPr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3436" y="3080"/>
                  <a:ext cx="145" cy="1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3678" y="3273"/>
                  <a:ext cx="48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3581" y="3176"/>
                  <a:ext cx="49" cy="5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3606" y="3152"/>
                  <a:ext cx="145" cy="14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3678" y="3152"/>
                  <a:ext cx="72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" name="Line 57"/>
                <p:cNvSpPr>
                  <a:spLocks noChangeShapeType="1"/>
                </p:cNvSpPr>
                <p:nvPr/>
              </p:nvSpPr>
              <p:spPr bwMode="auto">
                <a:xfrm>
                  <a:off x="3676" y="3322"/>
                  <a:ext cx="148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5" name="Group 58"/>
              <p:cNvGrpSpPr>
                <a:grpSpLocks/>
              </p:cNvGrpSpPr>
              <p:nvPr/>
            </p:nvGrpSpPr>
            <p:grpSpPr bwMode="auto">
              <a:xfrm rot="2700000" flipV="1">
                <a:off x="3460" y="3273"/>
                <a:ext cx="388" cy="386"/>
                <a:chOff x="3436" y="3080"/>
                <a:chExt cx="388" cy="386"/>
              </a:xfrm>
            </p:grpSpPr>
            <p:sp>
              <p:nvSpPr>
                <p:cNvPr id="58" name="Line 59"/>
                <p:cNvSpPr>
                  <a:spLocks noChangeShapeType="1"/>
                </p:cNvSpPr>
                <p:nvPr/>
              </p:nvSpPr>
              <p:spPr bwMode="auto">
                <a:xfrm>
                  <a:off x="3436" y="3080"/>
                  <a:ext cx="145" cy="1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3678" y="3273"/>
                  <a:ext cx="48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3581" y="3176"/>
                  <a:ext cx="49" cy="5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" name="Line 62"/>
                <p:cNvSpPr>
                  <a:spLocks noChangeShapeType="1"/>
                </p:cNvSpPr>
                <p:nvPr/>
              </p:nvSpPr>
              <p:spPr bwMode="auto">
                <a:xfrm>
                  <a:off x="3606" y="3152"/>
                  <a:ext cx="145" cy="14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3678" y="3152"/>
                  <a:ext cx="72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" name="Line 64"/>
                <p:cNvSpPr>
                  <a:spLocks noChangeShapeType="1"/>
                </p:cNvSpPr>
                <p:nvPr/>
              </p:nvSpPr>
              <p:spPr bwMode="auto">
                <a:xfrm>
                  <a:off x="3676" y="3322"/>
                  <a:ext cx="148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" name="Line 65"/>
              <p:cNvSpPr>
                <a:spLocks noChangeShapeType="1"/>
              </p:cNvSpPr>
              <p:nvPr/>
            </p:nvSpPr>
            <p:spPr bwMode="auto">
              <a:xfrm flipH="1">
                <a:off x="3920" y="3466"/>
                <a:ext cx="29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Line 66"/>
              <p:cNvSpPr>
                <a:spLocks noChangeShapeType="1"/>
              </p:cNvSpPr>
              <p:nvPr/>
            </p:nvSpPr>
            <p:spPr bwMode="auto">
              <a:xfrm flipH="1" flipV="1">
                <a:off x="3436" y="2716"/>
                <a:ext cx="0" cy="2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0" name="Group 67"/>
          <p:cNvGrpSpPr>
            <a:grpSpLocks/>
          </p:cNvGrpSpPr>
          <p:nvPr/>
        </p:nvGrpSpPr>
        <p:grpSpPr bwMode="auto">
          <a:xfrm>
            <a:off x="6778625" y="1947862"/>
            <a:ext cx="1997075" cy="1958975"/>
            <a:chOff x="3412" y="1168"/>
            <a:chExt cx="1258" cy="1234"/>
          </a:xfrm>
        </p:grpSpPr>
        <p:sp>
          <p:nvSpPr>
            <p:cNvPr id="71" name="Rectangle 68"/>
            <p:cNvSpPr>
              <a:spLocks noChangeArrowheads="1"/>
            </p:cNvSpPr>
            <p:nvPr/>
          </p:nvSpPr>
          <p:spPr bwMode="auto">
            <a:xfrm>
              <a:off x="3542" y="1290"/>
              <a:ext cx="960" cy="100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100000"/>
                <a:buFont typeface="Wingdings" pitchFamily="2" charset="2"/>
                <a:buChar char="n"/>
              </a:pPr>
              <a:endParaRPr lang="en-US">
                <a:latin typeface="Comic Sans MS" pitchFamily="66" charset="0"/>
                <a:ea typeface="MS PGothic" pitchFamily="34" charset="-128"/>
              </a:endParaRPr>
            </a:p>
          </p:txBody>
        </p:sp>
        <p:sp>
          <p:nvSpPr>
            <p:cNvPr id="72" name="Line 69"/>
            <p:cNvSpPr>
              <a:spLocks noChangeShapeType="1"/>
            </p:cNvSpPr>
            <p:nvPr/>
          </p:nvSpPr>
          <p:spPr bwMode="auto">
            <a:xfrm>
              <a:off x="3412" y="1507"/>
              <a:ext cx="12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70"/>
            <p:cNvSpPr>
              <a:spLocks noChangeShapeType="1"/>
            </p:cNvSpPr>
            <p:nvPr/>
          </p:nvSpPr>
          <p:spPr bwMode="auto">
            <a:xfrm>
              <a:off x="3727" y="1168"/>
              <a:ext cx="0" cy="12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AutoShape 71"/>
            <p:cNvSpPr>
              <a:spLocks noChangeArrowheads="1"/>
            </p:cNvSpPr>
            <p:nvPr/>
          </p:nvSpPr>
          <p:spPr bwMode="auto">
            <a:xfrm>
              <a:off x="3969" y="1555"/>
              <a:ext cx="290" cy="290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100000"/>
                <a:buFont typeface="Wingdings" pitchFamily="2" charset="2"/>
                <a:buChar char="n"/>
              </a:pPr>
              <a:endParaRPr lang="en-US">
                <a:latin typeface="Comic Sans MS" pitchFamily="66" charset="0"/>
                <a:ea typeface="MS PGothic" pitchFamily="34" charset="-128"/>
              </a:endParaRPr>
            </a:p>
          </p:txBody>
        </p:sp>
        <p:sp>
          <p:nvSpPr>
            <p:cNvPr id="75" name="Line 72"/>
            <p:cNvSpPr>
              <a:spLocks noChangeShapeType="1"/>
            </p:cNvSpPr>
            <p:nvPr/>
          </p:nvSpPr>
          <p:spPr bwMode="auto">
            <a:xfrm>
              <a:off x="3412" y="1700"/>
              <a:ext cx="11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73"/>
            <p:cNvSpPr>
              <a:spLocks noChangeShapeType="1"/>
            </p:cNvSpPr>
            <p:nvPr/>
          </p:nvSpPr>
          <p:spPr bwMode="auto">
            <a:xfrm>
              <a:off x="3412" y="1894"/>
              <a:ext cx="12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74"/>
            <p:cNvSpPr>
              <a:spLocks noChangeShapeType="1"/>
            </p:cNvSpPr>
            <p:nvPr/>
          </p:nvSpPr>
          <p:spPr bwMode="auto">
            <a:xfrm>
              <a:off x="3412" y="2087"/>
              <a:ext cx="12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75"/>
            <p:cNvSpPr>
              <a:spLocks noChangeShapeType="1"/>
            </p:cNvSpPr>
            <p:nvPr/>
          </p:nvSpPr>
          <p:spPr bwMode="auto">
            <a:xfrm>
              <a:off x="3920" y="1168"/>
              <a:ext cx="0" cy="12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76"/>
            <p:cNvSpPr>
              <a:spLocks noChangeShapeType="1"/>
            </p:cNvSpPr>
            <p:nvPr/>
          </p:nvSpPr>
          <p:spPr bwMode="auto">
            <a:xfrm>
              <a:off x="4307" y="1168"/>
              <a:ext cx="0" cy="12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77"/>
            <p:cNvSpPr>
              <a:spLocks noChangeShapeType="1"/>
            </p:cNvSpPr>
            <p:nvPr/>
          </p:nvSpPr>
          <p:spPr bwMode="auto">
            <a:xfrm>
              <a:off x="4114" y="1168"/>
              <a:ext cx="0" cy="12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AutoShape 78"/>
            <p:cNvSpPr>
              <a:spLocks noChangeArrowheads="1"/>
            </p:cNvSpPr>
            <p:nvPr/>
          </p:nvSpPr>
          <p:spPr bwMode="auto">
            <a:xfrm>
              <a:off x="3775" y="1749"/>
              <a:ext cx="290" cy="290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100000"/>
                <a:buFont typeface="Wingdings" pitchFamily="2" charset="2"/>
                <a:buChar char="n"/>
              </a:pPr>
              <a:endParaRPr lang="en-US">
                <a:latin typeface="Comic Sans MS" pitchFamily="66" charset="0"/>
                <a:ea typeface="MS PGothic" pitchFamily="34" charset="-128"/>
              </a:endParaRPr>
            </a:p>
          </p:txBody>
        </p:sp>
        <p:sp>
          <p:nvSpPr>
            <p:cNvPr id="82" name="AutoShape 79"/>
            <p:cNvSpPr>
              <a:spLocks noChangeArrowheads="1"/>
            </p:cNvSpPr>
            <p:nvPr/>
          </p:nvSpPr>
          <p:spPr bwMode="auto">
            <a:xfrm>
              <a:off x="3582" y="1942"/>
              <a:ext cx="290" cy="290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100000"/>
                <a:buFont typeface="Wingdings" pitchFamily="2" charset="2"/>
                <a:buChar char="n"/>
              </a:pPr>
              <a:endParaRPr lang="en-US">
                <a:latin typeface="Comic Sans MS" pitchFamily="66" charset="0"/>
                <a:ea typeface="MS PGothic" pitchFamily="34" charset="-128"/>
              </a:endParaRPr>
            </a:p>
          </p:txBody>
        </p:sp>
        <p:sp>
          <p:nvSpPr>
            <p:cNvPr id="83" name="AutoShape 80"/>
            <p:cNvSpPr>
              <a:spLocks noChangeArrowheads="1"/>
            </p:cNvSpPr>
            <p:nvPr/>
          </p:nvSpPr>
          <p:spPr bwMode="auto">
            <a:xfrm>
              <a:off x="4162" y="1362"/>
              <a:ext cx="290" cy="290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100000"/>
                <a:buFont typeface="Wingdings" pitchFamily="2" charset="2"/>
                <a:buChar char="n"/>
              </a:pPr>
              <a:endParaRPr lang="en-US">
                <a:latin typeface="Comic Sans MS" pitchFamily="66" charset="0"/>
                <a:ea typeface="MS PGothic" pitchFamily="34" charset="-128"/>
              </a:endParaRPr>
            </a:p>
          </p:txBody>
        </p:sp>
        <p:sp>
          <p:nvSpPr>
            <p:cNvPr id="84" name="Line 81"/>
            <p:cNvSpPr>
              <a:spLocks noChangeShapeType="1"/>
            </p:cNvSpPr>
            <p:nvPr/>
          </p:nvSpPr>
          <p:spPr bwMode="auto">
            <a:xfrm flipH="1">
              <a:off x="3412" y="1700"/>
              <a:ext cx="55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82"/>
            <p:cNvSpPr>
              <a:spLocks noChangeShapeType="1"/>
            </p:cNvSpPr>
            <p:nvPr/>
          </p:nvSpPr>
          <p:spPr bwMode="auto">
            <a:xfrm>
              <a:off x="4114" y="1168"/>
              <a:ext cx="0" cy="3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83"/>
            <p:cNvSpPr>
              <a:spLocks noChangeShapeType="1"/>
            </p:cNvSpPr>
            <p:nvPr/>
          </p:nvSpPr>
          <p:spPr bwMode="auto">
            <a:xfrm flipV="1">
              <a:off x="3969" y="1555"/>
              <a:ext cx="145" cy="14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84"/>
            <p:cNvSpPr>
              <a:spLocks noChangeShapeType="1"/>
            </p:cNvSpPr>
            <p:nvPr/>
          </p:nvSpPr>
          <p:spPr bwMode="auto">
            <a:xfrm>
              <a:off x="3727" y="1168"/>
              <a:ext cx="0" cy="774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85"/>
            <p:cNvSpPr>
              <a:spLocks noChangeShapeType="1"/>
            </p:cNvSpPr>
            <p:nvPr/>
          </p:nvSpPr>
          <p:spPr bwMode="auto">
            <a:xfrm>
              <a:off x="3727" y="2233"/>
              <a:ext cx="0" cy="169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86"/>
            <p:cNvSpPr>
              <a:spLocks noChangeShapeType="1"/>
            </p:cNvSpPr>
            <p:nvPr/>
          </p:nvSpPr>
          <p:spPr bwMode="auto">
            <a:xfrm>
              <a:off x="3582" y="2087"/>
              <a:ext cx="145" cy="146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87"/>
            <p:cNvSpPr>
              <a:spLocks noChangeShapeType="1"/>
            </p:cNvSpPr>
            <p:nvPr/>
          </p:nvSpPr>
          <p:spPr bwMode="auto">
            <a:xfrm flipV="1">
              <a:off x="3582" y="1942"/>
              <a:ext cx="145" cy="145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88"/>
            <p:cNvSpPr>
              <a:spLocks noChangeShapeType="1"/>
            </p:cNvSpPr>
            <p:nvPr/>
          </p:nvSpPr>
          <p:spPr bwMode="auto">
            <a:xfrm>
              <a:off x="3412" y="2087"/>
              <a:ext cx="1258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89"/>
            <p:cNvSpPr>
              <a:spLocks noChangeShapeType="1"/>
            </p:cNvSpPr>
            <p:nvPr/>
          </p:nvSpPr>
          <p:spPr bwMode="auto">
            <a:xfrm>
              <a:off x="4259" y="1700"/>
              <a:ext cx="411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90"/>
            <p:cNvSpPr>
              <a:spLocks noChangeShapeType="1"/>
            </p:cNvSpPr>
            <p:nvPr/>
          </p:nvSpPr>
          <p:spPr bwMode="auto">
            <a:xfrm>
              <a:off x="4114" y="1845"/>
              <a:ext cx="0" cy="557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91"/>
            <p:cNvSpPr>
              <a:spLocks noChangeShapeType="1"/>
            </p:cNvSpPr>
            <p:nvPr/>
          </p:nvSpPr>
          <p:spPr bwMode="auto">
            <a:xfrm flipV="1">
              <a:off x="4114" y="1700"/>
              <a:ext cx="145" cy="14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92"/>
            <p:cNvSpPr>
              <a:spLocks noChangeShapeType="1"/>
            </p:cNvSpPr>
            <p:nvPr/>
          </p:nvSpPr>
          <p:spPr bwMode="auto">
            <a:xfrm flipH="1">
              <a:off x="4307" y="1168"/>
              <a:ext cx="0" cy="19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93"/>
            <p:cNvSpPr>
              <a:spLocks noChangeShapeType="1"/>
            </p:cNvSpPr>
            <p:nvPr/>
          </p:nvSpPr>
          <p:spPr bwMode="auto">
            <a:xfrm>
              <a:off x="4307" y="1362"/>
              <a:ext cx="146" cy="14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94"/>
            <p:cNvSpPr>
              <a:spLocks noChangeShapeType="1"/>
            </p:cNvSpPr>
            <p:nvPr/>
          </p:nvSpPr>
          <p:spPr bwMode="auto">
            <a:xfrm flipV="1">
              <a:off x="4453" y="1507"/>
              <a:ext cx="217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" name="Line 95"/>
          <p:cNvSpPr>
            <a:spLocks noChangeShapeType="1"/>
          </p:cNvSpPr>
          <p:nvPr/>
        </p:nvSpPr>
        <p:spPr bwMode="auto">
          <a:xfrm>
            <a:off x="4259262" y="3314700"/>
            <a:ext cx="2268538" cy="1150937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Rectangle 96"/>
          <p:cNvSpPr>
            <a:spLocks noChangeArrowheads="1"/>
          </p:cNvSpPr>
          <p:nvPr/>
        </p:nvSpPr>
        <p:spPr bwMode="auto">
          <a:xfrm>
            <a:off x="2565400" y="1371600"/>
            <a:ext cx="314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algn="ctr" eaLnBrk="0" hangingPunct="0"/>
            <a:r>
              <a:rPr lang="en-US" altLang="ja-JP" sz="2400" dirty="0">
                <a:latin typeface="Times New Roman" pitchFamily="18" charset="0"/>
                <a:ea typeface="MS PGothic" pitchFamily="34" charset="-128"/>
                <a:cs typeface="Times New Roman" pitchFamily="18" charset="0"/>
              </a:rPr>
              <a:t>Before Programming</a:t>
            </a:r>
          </a:p>
        </p:txBody>
      </p:sp>
    </p:spTree>
    <p:extLst>
      <p:ext uri="{BB962C8B-B14F-4D97-AF65-F5344CB8AC3E}">
        <p14:creationId xmlns:p14="http://schemas.microsoft.com/office/powerpoint/2010/main" val="2063439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interconnects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371600" y="5867400"/>
            <a:ext cx="7162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Connect Logic Blocks using wires and Programmable Switches</a:t>
            </a:r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1219200" y="1752600"/>
            <a:ext cx="6294437" cy="3962400"/>
            <a:chOff x="835" y="960"/>
            <a:chExt cx="4089" cy="2613"/>
          </a:xfrm>
        </p:grpSpPr>
        <p:grpSp>
          <p:nvGrpSpPr>
            <p:cNvPr id="10" name="Group 5"/>
            <p:cNvGrpSpPr>
              <a:grpSpLocks/>
            </p:cNvGrpSpPr>
            <p:nvPr/>
          </p:nvGrpSpPr>
          <p:grpSpPr bwMode="auto">
            <a:xfrm>
              <a:off x="864" y="960"/>
              <a:ext cx="4055" cy="2613"/>
              <a:chOff x="864" y="960"/>
              <a:chExt cx="4055" cy="2613"/>
            </a:xfrm>
          </p:grpSpPr>
          <p:sp>
            <p:nvSpPr>
              <p:cNvPr id="584" name="Line 6"/>
              <p:cNvSpPr>
                <a:spLocks noChangeShapeType="1"/>
              </p:cNvSpPr>
              <p:nvPr/>
            </p:nvSpPr>
            <p:spPr bwMode="auto">
              <a:xfrm>
                <a:off x="2053" y="2183"/>
                <a:ext cx="1" cy="2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AutoShape 7"/>
              <p:cNvSpPr>
                <a:spLocks noChangeArrowheads="1"/>
              </p:cNvSpPr>
              <p:nvPr/>
            </p:nvSpPr>
            <p:spPr bwMode="auto">
              <a:xfrm>
                <a:off x="2092" y="2231"/>
                <a:ext cx="267" cy="29"/>
              </a:xfrm>
              <a:custGeom>
                <a:avLst/>
                <a:gdLst>
                  <a:gd name="T0" fmla="*/ 0 w 267"/>
                  <a:gd name="T1" fmla="*/ 0 h 29"/>
                  <a:gd name="T2" fmla="*/ 0 w 267"/>
                  <a:gd name="T3" fmla="*/ 29 h 29"/>
                  <a:gd name="T4" fmla="*/ 267 w 267"/>
                  <a:gd name="T5" fmla="*/ 29 h 29"/>
                  <a:gd name="T6" fmla="*/ 0 60000 65536"/>
                  <a:gd name="T7" fmla="*/ 0 60000 65536"/>
                  <a:gd name="T8" fmla="*/ 0 60000 65536"/>
                  <a:gd name="T9" fmla="*/ 0 w 267"/>
                  <a:gd name="T10" fmla="*/ 0 h 29"/>
                  <a:gd name="T11" fmla="*/ 267 w 267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7" h="29">
                    <a:moveTo>
                      <a:pt x="0" y="0"/>
                    </a:moveTo>
                    <a:lnTo>
                      <a:pt x="0" y="29"/>
                    </a:lnTo>
                    <a:lnTo>
                      <a:pt x="267" y="29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6" name="AutoShape 8"/>
              <p:cNvSpPr>
                <a:spLocks noChangeArrowheads="1"/>
              </p:cNvSpPr>
              <p:nvPr/>
            </p:nvSpPr>
            <p:spPr bwMode="auto">
              <a:xfrm>
                <a:off x="1924" y="2231"/>
                <a:ext cx="91" cy="29"/>
              </a:xfrm>
              <a:custGeom>
                <a:avLst/>
                <a:gdLst>
                  <a:gd name="T0" fmla="*/ 0 w 91"/>
                  <a:gd name="T1" fmla="*/ 29 h 29"/>
                  <a:gd name="T2" fmla="*/ 91 w 91"/>
                  <a:gd name="T3" fmla="*/ 29 h 29"/>
                  <a:gd name="T4" fmla="*/ 91 w 91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91"/>
                  <a:gd name="T10" fmla="*/ 0 h 29"/>
                  <a:gd name="T11" fmla="*/ 91 w 91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1" h="29">
                    <a:moveTo>
                      <a:pt x="0" y="29"/>
                    </a:moveTo>
                    <a:lnTo>
                      <a:pt x="91" y="29"/>
                    </a:lnTo>
                    <a:lnTo>
                      <a:pt x="91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7" name="Line 9"/>
              <p:cNvSpPr>
                <a:spLocks noChangeShapeType="1"/>
              </p:cNvSpPr>
              <p:nvPr/>
            </p:nvSpPr>
            <p:spPr bwMode="auto">
              <a:xfrm>
                <a:off x="2006" y="2231"/>
                <a:ext cx="95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8" name="Line 10"/>
              <p:cNvSpPr>
                <a:spLocks noChangeShapeType="1"/>
              </p:cNvSpPr>
              <p:nvPr/>
            </p:nvSpPr>
            <p:spPr bwMode="auto">
              <a:xfrm>
                <a:off x="2029" y="2212"/>
                <a:ext cx="4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9" name="Line 11"/>
              <p:cNvSpPr>
                <a:spLocks noChangeShapeType="1"/>
              </p:cNvSpPr>
              <p:nvPr/>
            </p:nvSpPr>
            <p:spPr bwMode="auto">
              <a:xfrm flipH="1">
                <a:off x="2190" y="2355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0" name="AutoShape 12"/>
              <p:cNvSpPr>
                <a:spLocks noChangeArrowheads="1"/>
              </p:cNvSpPr>
              <p:nvPr/>
            </p:nvSpPr>
            <p:spPr bwMode="auto">
              <a:xfrm>
                <a:off x="2139" y="2389"/>
                <a:ext cx="34" cy="91"/>
              </a:xfrm>
              <a:custGeom>
                <a:avLst/>
                <a:gdLst>
                  <a:gd name="T0" fmla="*/ 34 w 34"/>
                  <a:gd name="T1" fmla="*/ 0 h 91"/>
                  <a:gd name="T2" fmla="*/ 0 w 34"/>
                  <a:gd name="T3" fmla="*/ 0 h 91"/>
                  <a:gd name="T4" fmla="*/ 0 w 34"/>
                  <a:gd name="T5" fmla="*/ 91 h 91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91"/>
                  <a:gd name="T11" fmla="*/ 34 w 34"/>
                  <a:gd name="T12" fmla="*/ 91 h 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91">
                    <a:moveTo>
                      <a:pt x="34" y="0"/>
                    </a:moveTo>
                    <a:lnTo>
                      <a:pt x="0" y="0"/>
                    </a:lnTo>
                    <a:lnTo>
                      <a:pt x="0" y="91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1" name="AutoShape 13"/>
              <p:cNvSpPr>
                <a:spLocks noChangeArrowheads="1"/>
              </p:cNvSpPr>
              <p:nvPr/>
            </p:nvSpPr>
            <p:spPr bwMode="auto">
              <a:xfrm>
                <a:off x="2139" y="2045"/>
                <a:ext cx="34" cy="272"/>
              </a:xfrm>
              <a:custGeom>
                <a:avLst/>
                <a:gdLst>
                  <a:gd name="T0" fmla="*/ 0 w 34"/>
                  <a:gd name="T1" fmla="*/ 0 h 272"/>
                  <a:gd name="T2" fmla="*/ 0 w 34"/>
                  <a:gd name="T3" fmla="*/ 272 h 272"/>
                  <a:gd name="T4" fmla="*/ 34 w 34"/>
                  <a:gd name="T5" fmla="*/ 272 h 272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272"/>
                  <a:gd name="T11" fmla="*/ 34 w 34"/>
                  <a:gd name="T12" fmla="*/ 272 h 2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272">
                    <a:moveTo>
                      <a:pt x="0" y="0"/>
                    </a:moveTo>
                    <a:lnTo>
                      <a:pt x="0" y="272"/>
                    </a:lnTo>
                    <a:lnTo>
                      <a:pt x="34" y="272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2" name="Line 14"/>
              <p:cNvSpPr>
                <a:spLocks noChangeShapeType="1"/>
              </p:cNvSpPr>
              <p:nvPr/>
            </p:nvSpPr>
            <p:spPr bwMode="auto">
              <a:xfrm>
                <a:off x="2173" y="2308"/>
                <a:ext cx="1" cy="9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Line 15"/>
              <p:cNvSpPr>
                <a:spLocks noChangeShapeType="1"/>
              </p:cNvSpPr>
              <p:nvPr/>
            </p:nvSpPr>
            <p:spPr bwMode="auto">
              <a:xfrm>
                <a:off x="2192" y="2331"/>
                <a:ext cx="1" cy="48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" name="Line 16"/>
              <p:cNvSpPr>
                <a:spLocks noChangeShapeType="1"/>
              </p:cNvSpPr>
              <p:nvPr/>
            </p:nvSpPr>
            <p:spPr bwMode="auto">
              <a:xfrm flipV="1">
                <a:off x="1996" y="2425"/>
                <a:ext cx="19" cy="23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5" name="AutoShape 17"/>
              <p:cNvSpPr>
                <a:spLocks noChangeArrowheads="1"/>
              </p:cNvSpPr>
              <p:nvPr/>
            </p:nvSpPr>
            <p:spPr bwMode="auto">
              <a:xfrm>
                <a:off x="1924" y="2260"/>
                <a:ext cx="101" cy="129"/>
              </a:xfrm>
              <a:custGeom>
                <a:avLst/>
                <a:gdLst>
                  <a:gd name="T0" fmla="*/ 82 w 101"/>
                  <a:gd name="T1" fmla="*/ 129 h 129"/>
                  <a:gd name="T2" fmla="*/ 101 w 101"/>
                  <a:gd name="T3" fmla="*/ 105 h 129"/>
                  <a:gd name="T4" fmla="*/ 0 w 101"/>
                  <a:gd name="T5" fmla="*/ 0 h 129"/>
                  <a:gd name="T6" fmla="*/ 0 60000 65536"/>
                  <a:gd name="T7" fmla="*/ 0 60000 65536"/>
                  <a:gd name="T8" fmla="*/ 0 60000 65536"/>
                  <a:gd name="T9" fmla="*/ 0 w 101"/>
                  <a:gd name="T10" fmla="*/ 0 h 129"/>
                  <a:gd name="T11" fmla="*/ 101 w 101"/>
                  <a:gd name="T12" fmla="*/ 129 h 1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1" h="129">
                    <a:moveTo>
                      <a:pt x="82" y="129"/>
                    </a:moveTo>
                    <a:lnTo>
                      <a:pt x="101" y="105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6" name="AutoShape 18"/>
              <p:cNvSpPr>
                <a:spLocks noChangeArrowheads="1"/>
              </p:cNvSpPr>
              <p:nvPr/>
            </p:nvSpPr>
            <p:spPr bwMode="auto">
              <a:xfrm>
                <a:off x="2058" y="2417"/>
                <a:ext cx="81" cy="63"/>
              </a:xfrm>
              <a:custGeom>
                <a:avLst/>
                <a:gdLst>
                  <a:gd name="T0" fmla="*/ 0 w 81"/>
                  <a:gd name="T1" fmla="*/ 20 h 63"/>
                  <a:gd name="T2" fmla="*/ 19 w 81"/>
                  <a:gd name="T3" fmla="*/ 0 h 63"/>
                  <a:gd name="T4" fmla="*/ 81 w 81"/>
                  <a:gd name="T5" fmla="*/ 63 h 63"/>
                  <a:gd name="T6" fmla="*/ 0 60000 65536"/>
                  <a:gd name="T7" fmla="*/ 0 60000 65536"/>
                  <a:gd name="T8" fmla="*/ 0 60000 65536"/>
                  <a:gd name="T9" fmla="*/ 0 w 81"/>
                  <a:gd name="T10" fmla="*/ 0 h 63"/>
                  <a:gd name="T11" fmla="*/ 81 w 81"/>
                  <a:gd name="T12" fmla="*/ 63 h 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" h="63">
                    <a:moveTo>
                      <a:pt x="0" y="20"/>
                    </a:moveTo>
                    <a:lnTo>
                      <a:pt x="19" y="0"/>
                    </a:lnTo>
                    <a:lnTo>
                      <a:pt x="81" y="6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7" name="Line 19"/>
              <p:cNvSpPr>
                <a:spLocks noChangeShapeType="1"/>
              </p:cNvSpPr>
              <p:nvPr/>
            </p:nvSpPr>
            <p:spPr bwMode="auto">
              <a:xfrm flipH="1" flipV="1">
                <a:off x="1994" y="2377"/>
                <a:ext cx="7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Line 20"/>
              <p:cNvSpPr>
                <a:spLocks noChangeShapeType="1"/>
              </p:cNvSpPr>
              <p:nvPr/>
            </p:nvSpPr>
            <p:spPr bwMode="auto">
              <a:xfrm flipH="1" flipV="1">
                <a:off x="1999" y="2406"/>
                <a:ext cx="37" cy="3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Line 21"/>
              <p:cNvSpPr>
                <a:spLocks noChangeShapeType="1"/>
              </p:cNvSpPr>
              <p:nvPr/>
            </p:nvSpPr>
            <p:spPr bwMode="auto">
              <a:xfrm flipH="1" flipV="1">
                <a:off x="2262" y="2425"/>
                <a:ext cx="23" cy="23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0" name="AutoShape 22"/>
              <p:cNvSpPr>
                <a:spLocks noChangeArrowheads="1"/>
              </p:cNvSpPr>
              <p:nvPr/>
            </p:nvSpPr>
            <p:spPr bwMode="auto">
              <a:xfrm>
                <a:off x="2254" y="2260"/>
                <a:ext cx="105" cy="129"/>
              </a:xfrm>
              <a:custGeom>
                <a:avLst/>
                <a:gdLst>
                  <a:gd name="T0" fmla="*/ 24 w 105"/>
                  <a:gd name="T1" fmla="*/ 129 h 129"/>
                  <a:gd name="T2" fmla="*/ 0 w 105"/>
                  <a:gd name="T3" fmla="*/ 105 h 129"/>
                  <a:gd name="T4" fmla="*/ 105 w 105"/>
                  <a:gd name="T5" fmla="*/ 0 h 129"/>
                  <a:gd name="T6" fmla="*/ 0 60000 65536"/>
                  <a:gd name="T7" fmla="*/ 0 60000 65536"/>
                  <a:gd name="T8" fmla="*/ 0 60000 65536"/>
                  <a:gd name="T9" fmla="*/ 0 w 105"/>
                  <a:gd name="T10" fmla="*/ 0 h 129"/>
                  <a:gd name="T11" fmla="*/ 105 w 105"/>
                  <a:gd name="T12" fmla="*/ 129 h 1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" h="129">
                    <a:moveTo>
                      <a:pt x="24" y="129"/>
                    </a:moveTo>
                    <a:lnTo>
                      <a:pt x="0" y="105"/>
                    </a:lnTo>
                    <a:lnTo>
                      <a:pt x="105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1" name="AutoShape 23"/>
              <p:cNvSpPr>
                <a:spLocks noChangeArrowheads="1"/>
              </p:cNvSpPr>
              <p:nvPr/>
            </p:nvSpPr>
            <p:spPr bwMode="auto">
              <a:xfrm>
                <a:off x="2139" y="2417"/>
                <a:ext cx="86" cy="63"/>
              </a:xfrm>
              <a:custGeom>
                <a:avLst/>
                <a:gdLst>
                  <a:gd name="T0" fmla="*/ 86 w 86"/>
                  <a:gd name="T1" fmla="*/ 20 h 63"/>
                  <a:gd name="T2" fmla="*/ 62 w 86"/>
                  <a:gd name="T3" fmla="*/ 0 h 63"/>
                  <a:gd name="T4" fmla="*/ 0 w 86"/>
                  <a:gd name="T5" fmla="*/ 63 h 63"/>
                  <a:gd name="T6" fmla="*/ 0 60000 65536"/>
                  <a:gd name="T7" fmla="*/ 0 60000 65536"/>
                  <a:gd name="T8" fmla="*/ 0 60000 65536"/>
                  <a:gd name="T9" fmla="*/ 0 w 86"/>
                  <a:gd name="T10" fmla="*/ 0 h 63"/>
                  <a:gd name="T11" fmla="*/ 86 w 86"/>
                  <a:gd name="T12" fmla="*/ 63 h 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6" h="63">
                    <a:moveTo>
                      <a:pt x="86" y="20"/>
                    </a:moveTo>
                    <a:lnTo>
                      <a:pt x="62" y="0"/>
                    </a:lnTo>
                    <a:lnTo>
                      <a:pt x="0" y="6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2" name="Line 24"/>
              <p:cNvSpPr>
                <a:spLocks noChangeShapeType="1"/>
              </p:cNvSpPr>
              <p:nvPr/>
            </p:nvSpPr>
            <p:spPr bwMode="auto">
              <a:xfrm flipV="1">
                <a:off x="2216" y="2377"/>
                <a:ext cx="67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Line 25"/>
              <p:cNvSpPr>
                <a:spLocks noChangeShapeType="1"/>
              </p:cNvSpPr>
              <p:nvPr/>
            </p:nvSpPr>
            <p:spPr bwMode="auto">
              <a:xfrm flipV="1">
                <a:off x="2249" y="2406"/>
                <a:ext cx="34" cy="3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Line 26"/>
              <p:cNvSpPr>
                <a:spLocks noChangeShapeType="1"/>
              </p:cNvSpPr>
              <p:nvPr/>
            </p:nvSpPr>
            <p:spPr bwMode="auto">
              <a:xfrm>
                <a:off x="1996" y="2078"/>
                <a:ext cx="19" cy="19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AutoShape 27"/>
              <p:cNvSpPr>
                <a:spLocks noChangeArrowheads="1"/>
              </p:cNvSpPr>
              <p:nvPr/>
            </p:nvSpPr>
            <p:spPr bwMode="auto">
              <a:xfrm>
                <a:off x="1924" y="2136"/>
                <a:ext cx="101" cy="124"/>
              </a:xfrm>
              <a:custGeom>
                <a:avLst/>
                <a:gdLst>
                  <a:gd name="T0" fmla="*/ 82 w 101"/>
                  <a:gd name="T1" fmla="*/ 0 h 124"/>
                  <a:gd name="T2" fmla="*/ 101 w 101"/>
                  <a:gd name="T3" fmla="*/ 23 h 124"/>
                  <a:gd name="T4" fmla="*/ 0 w 101"/>
                  <a:gd name="T5" fmla="*/ 124 h 124"/>
                  <a:gd name="T6" fmla="*/ 0 60000 65536"/>
                  <a:gd name="T7" fmla="*/ 0 60000 65536"/>
                  <a:gd name="T8" fmla="*/ 0 60000 65536"/>
                  <a:gd name="T9" fmla="*/ 0 w 101"/>
                  <a:gd name="T10" fmla="*/ 0 h 124"/>
                  <a:gd name="T11" fmla="*/ 101 w 101"/>
                  <a:gd name="T12" fmla="*/ 124 h 1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1" h="124">
                    <a:moveTo>
                      <a:pt x="82" y="0"/>
                    </a:moveTo>
                    <a:lnTo>
                      <a:pt x="101" y="23"/>
                    </a:lnTo>
                    <a:lnTo>
                      <a:pt x="0" y="124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6" name="AutoShape 28"/>
              <p:cNvSpPr>
                <a:spLocks noChangeArrowheads="1"/>
              </p:cNvSpPr>
              <p:nvPr/>
            </p:nvSpPr>
            <p:spPr bwMode="auto">
              <a:xfrm>
                <a:off x="2058" y="2045"/>
                <a:ext cx="81" cy="62"/>
              </a:xfrm>
              <a:custGeom>
                <a:avLst/>
                <a:gdLst>
                  <a:gd name="T0" fmla="*/ 0 w 81"/>
                  <a:gd name="T1" fmla="*/ 38 h 62"/>
                  <a:gd name="T2" fmla="*/ 19 w 81"/>
                  <a:gd name="T3" fmla="*/ 62 h 62"/>
                  <a:gd name="T4" fmla="*/ 81 w 81"/>
                  <a:gd name="T5" fmla="*/ 0 h 62"/>
                  <a:gd name="T6" fmla="*/ 0 60000 65536"/>
                  <a:gd name="T7" fmla="*/ 0 60000 65536"/>
                  <a:gd name="T8" fmla="*/ 0 60000 65536"/>
                  <a:gd name="T9" fmla="*/ 0 w 81"/>
                  <a:gd name="T10" fmla="*/ 0 h 62"/>
                  <a:gd name="T11" fmla="*/ 81 w 81"/>
                  <a:gd name="T12" fmla="*/ 62 h 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" h="62">
                    <a:moveTo>
                      <a:pt x="0" y="38"/>
                    </a:moveTo>
                    <a:lnTo>
                      <a:pt x="19" y="62"/>
                    </a:lnTo>
                    <a:lnTo>
                      <a:pt x="81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7" name="Line 29"/>
              <p:cNvSpPr>
                <a:spLocks noChangeShapeType="1"/>
              </p:cNvSpPr>
              <p:nvPr/>
            </p:nvSpPr>
            <p:spPr bwMode="auto">
              <a:xfrm flipH="1">
                <a:off x="1994" y="2073"/>
                <a:ext cx="71" cy="72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8" name="Line 30"/>
              <p:cNvSpPr>
                <a:spLocks noChangeShapeType="1"/>
              </p:cNvSpPr>
              <p:nvPr/>
            </p:nvSpPr>
            <p:spPr bwMode="auto">
              <a:xfrm flipH="1">
                <a:off x="1999" y="2078"/>
                <a:ext cx="37" cy="3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Line 31"/>
              <p:cNvSpPr>
                <a:spLocks noChangeShapeType="1"/>
              </p:cNvSpPr>
              <p:nvPr/>
            </p:nvSpPr>
            <p:spPr bwMode="auto">
              <a:xfrm>
                <a:off x="2359" y="2403"/>
                <a:ext cx="106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Line 32"/>
              <p:cNvSpPr>
                <a:spLocks noChangeShapeType="1"/>
              </p:cNvSpPr>
              <p:nvPr/>
            </p:nvSpPr>
            <p:spPr bwMode="auto">
              <a:xfrm>
                <a:off x="2359" y="2331"/>
                <a:ext cx="106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Line 33"/>
              <p:cNvSpPr>
                <a:spLocks noChangeShapeType="1"/>
              </p:cNvSpPr>
              <p:nvPr/>
            </p:nvSpPr>
            <p:spPr bwMode="auto">
              <a:xfrm>
                <a:off x="2359" y="2188"/>
                <a:ext cx="106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2" name="Line 34"/>
              <p:cNvSpPr>
                <a:spLocks noChangeShapeType="1"/>
              </p:cNvSpPr>
              <p:nvPr/>
            </p:nvSpPr>
            <p:spPr bwMode="auto">
              <a:xfrm>
                <a:off x="2359" y="2116"/>
                <a:ext cx="106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3" name="Line 35"/>
              <p:cNvSpPr>
                <a:spLocks noChangeShapeType="1"/>
              </p:cNvSpPr>
              <p:nvPr/>
            </p:nvSpPr>
            <p:spPr bwMode="auto">
              <a:xfrm>
                <a:off x="3855" y="2403"/>
                <a:ext cx="1065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" name="Line 36"/>
              <p:cNvSpPr>
                <a:spLocks noChangeShapeType="1"/>
              </p:cNvSpPr>
              <p:nvPr/>
            </p:nvSpPr>
            <p:spPr bwMode="auto">
              <a:xfrm>
                <a:off x="3855" y="2331"/>
                <a:ext cx="1065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Line 37"/>
              <p:cNvSpPr>
                <a:spLocks noChangeShapeType="1"/>
              </p:cNvSpPr>
              <p:nvPr/>
            </p:nvSpPr>
            <p:spPr bwMode="auto">
              <a:xfrm>
                <a:off x="4318" y="2260"/>
                <a:ext cx="60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Line 38"/>
              <p:cNvSpPr>
                <a:spLocks noChangeShapeType="1"/>
              </p:cNvSpPr>
              <p:nvPr/>
            </p:nvSpPr>
            <p:spPr bwMode="auto">
              <a:xfrm>
                <a:off x="3855" y="2188"/>
                <a:ext cx="1065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Line 39"/>
              <p:cNvSpPr>
                <a:spLocks noChangeShapeType="1"/>
              </p:cNvSpPr>
              <p:nvPr/>
            </p:nvSpPr>
            <p:spPr bwMode="auto">
              <a:xfrm>
                <a:off x="3855" y="2116"/>
                <a:ext cx="1065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" name="Line 40"/>
              <p:cNvSpPr>
                <a:spLocks noChangeShapeType="1"/>
              </p:cNvSpPr>
              <p:nvPr/>
            </p:nvSpPr>
            <p:spPr bwMode="auto">
              <a:xfrm>
                <a:off x="864" y="2403"/>
                <a:ext cx="106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" name="Line 41"/>
              <p:cNvSpPr>
                <a:spLocks noChangeShapeType="1"/>
              </p:cNvSpPr>
              <p:nvPr/>
            </p:nvSpPr>
            <p:spPr bwMode="auto">
              <a:xfrm>
                <a:off x="864" y="2331"/>
                <a:ext cx="106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" name="Line 42"/>
              <p:cNvSpPr>
                <a:spLocks noChangeShapeType="1"/>
              </p:cNvSpPr>
              <p:nvPr/>
            </p:nvSpPr>
            <p:spPr bwMode="auto">
              <a:xfrm>
                <a:off x="864" y="2260"/>
                <a:ext cx="106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Line 43"/>
              <p:cNvSpPr>
                <a:spLocks noChangeShapeType="1"/>
              </p:cNvSpPr>
              <p:nvPr/>
            </p:nvSpPr>
            <p:spPr bwMode="auto">
              <a:xfrm>
                <a:off x="864" y="2188"/>
                <a:ext cx="106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Line 44"/>
              <p:cNvSpPr>
                <a:spLocks noChangeShapeType="1"/>
              </p:cNvSpPr>
              <p:nvPr/>
            </p:nvSpPr>
            <p:spPr bwMode="auto">
              <a:xfrm>
                <a:off x="864" y="2116"/>
                <a:ext cx="106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Line 45"/>
              <p:cNvSpPr>
                <a:spLocks noChangeShapeType="1"/>
              </p:cNvSpPr>
              <p:nvPr/>
            </p:nvSpPr>
            <p:spPr bwMode="auto">
              <a:xfrm>
                <a:off x="1996" y="2480"/>
                <a:ext cx="1" cy="109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" name="Line 46"/>
              <p:cNvSpPr>
                <a:spLocks noChangeShapeType="1"/>
              </p:cNvSpPr>
              <p:nvPr/>
            </p:nvSpPr>
            <p:spPr bwMode="auto">
              <a:xfrm>
                <a:off x="2068" y="2480"/>
                <a:ext cx="1" cy="109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" name="Line 47"/>
              <p:cNvSpPr>
                <a:spLocks noChangeShapeType="1"/>
              </p:cNvSpPr>
              <p:nvPr/>
            </p:nvSpPr>
            <p:spPr bwMode="auto">
              <a:xfrm>
                <a:off x="2139" y="2480"/>
                <a:ext cx="1" cy="109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" name="Line 48"/>
              <p:cNvSpPr>
                <a:spLocks noChangeShapeType="1"/>
              </p:cNvSpPr>
              <p:nvPr/>
            </p:nvSpPr>
            <p:spPr bwMode="auto">
              <a:xfrm>
                <a:off x="2211" y="2480"/>
                <a:ext cx="1" cy="109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Line 49"/>
              <p:cNvSpPr>
                <a:spLocks noChangeShapeType="1"/>
              </p:cNvSpPr>
              <p:nvPr/>
            </p:nvSpPr>
            <p:spPr bwMode="auto">
              <a:xfrm>
                <a:off x="2283" y="2480"/>
                <a:ext cx="1" cy="109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Line 50"/>
              <p:cNvSpPr>
                <a:spLocks noChangeShapeType="1"/>
              </p:cNvSpPr>
              <p:nvPr/>
            </p:nvSpPr>
            <p:spPr bwMode="auto">
              <a:xfrm>
                <a:off x="3496" y="960"/>
                <a:ext cx="1" cy="10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Line 51"/>
              <p:cNvSpPr>
                <a:spLocks noChangeShapeType="1"/>
              </p:cNvSpPr>
              <p:nvPr/>
            </p:nvSpPr>
            <p:spPr bwMode="auto">
              <a:xfrm>
                <a:off x="3568" y="960"/>
                <a:ext cx="1" cy="10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" name="Line 52"/>
              <p:cNvSpPr>
                <a:spLocks noChangeShapeType="1"/>
              </p:cNvSpPr>
              <p:nvPr/>
            </p:nvSpPr>
            <p:spPr bwMode="auto">
              <a:xfrm>
                <a:off x="3640" y="960"/>
                <a:ext cx="1" cy="10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" name="Line 53"/>
              <p:cNvSpPr>
                <a:spLocks noChangeShapeType="1"/>
              </p:cNvSpPr>
              <p:nvPr/>
            </p:nvSpPr>
            <p:spPr bwMode="auto">
              <a:xfrm>
                <a:off x="3711" y="960"/>
                <a:ext cx="1" cy="10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" name="Line 54"/>
              <p:cNvSpPr>
                <a:spLocks noChangeShapeType="1"/>
              </p:cNvSpPr>
              <p:nvPr/>
            </p:nvSpPr>
            <p:spPr bwMode="auto">
              <a:xfrm>
                <a:off x="3783" y="960"/>
                <a:ext cx="1" cy="10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Line 55"/>
              <p:cNvSpPr>
                <a:spLocks noChangeShapeType="1"/>
              </p:cNvSpPr>
              <p:nvPr/>
            </p:nvSpPr>
            <p:spPr bwMode="auto">
              <a:xfrm flipH="1">
                <a:off x="2711" y="1132"/>
                <a:ext cx="429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Rectangle 56"/>
              <p:cNvSpPr>
                <a:spLocks noChangeArrowheads="1"/>
              </p:cNvSpPr>
              <p:nvPr/>
            </p:nvSpPr>
            <p:spPr bwMode="auto">
              <a:xfrm>
                <a:off x="2555" y="1165"/>
                <a:ext cx="669" cy="669"/>
              </a:xfrm>
              <a:prstGeom prst="rect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5" name="Line 57"/>
              <p:cNvSpPr>
                <a:spLocks noChangeShapeType="1"/>
              </p:cNvSpPr>
              <p:nvPr/>
            </p:nvSpPr>
            <p:spPr bwMode="auto">
              <a:xfrm>
                <a:off x="2923" y="1132"/>
                <a:ext cx="1" cy="86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" name="AutoShape 58"/>
              <p:cNvSpPr>
                <a:spLocks noChangeArrowheads="1"/>
              </p:cNvSpPr>
              <p:nvPr/>
            </p:nvSpPr>
            <p:spPr bwMode="auto">
              <a:xfrm>
                <a:off x="2889" y="1185"/>
                <a:ext cx="72" cy="119"/>
              </a:xfrm>
              <a:custGeom>
                <a:avLst/>
                <a:gdLst>
                  <a:gd name="T0" fmla="*/ 34 w 15"/>
                  <a:gd name="T1" fmla="*/ 24 h 25"/>
                  <a:gd name="T2" fmla="*/ 67 w 15"/>
                  <a:gd name="T3" fmla="*/ 0 h 25"/>
                  <a:gd name="T4" fmla="*/ 72 w 15"/>
                  <a:gd name="T5" fmla="*/ 0 h 25"/>
                  <a:gd name="T6" fmla="*/ 48 w 15"/>
                  <a:gd name="T7" fmla="*/ 57 h 25"/>
                  <a:gd name="T8" fmla="*/ 34 w 15"/>
                  <a:gd name="T9" fmla="*/ 119 h 25"/>
                  <a:gd name="T10" fmla="*/ 24 w 15"/>
                  <a:gd name="T11" fmla="*/ 57 h 25"/>
                  <a:gd name="T12" fmla="*/ 0 w 15"/>
                  <a:gd name="T13" fmla="*/ 0 h 25"/>
                  <a:gd name="T14" fmla="*/ 0 w 15"/>
                  <a:gd name="T15" fmla="*/ 0 h 25"/>
                  <a:gd name="T16" fmla="*/ 34 w 15"/>
                  <a:gd name="T17" fmla="*/ 24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"/>
                  <a:gd name="T28" fmla="*/ 0 h 25"/>
                  <a:gd name="T29" fmla="*/ 15 w 15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" h="25">
                    <a:moveTo>
                      <a:pt x="7" y="5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6"/>
                      <a:pt x="8" y="20"/>
                      <a:pt x="7" y="25"/>
                    </a:cubicBezTo>
                    <a:cubicBezTo>
                      <a:pt x="6" y="20"/>
                      <a:pt x="5" y="16"/>
                      <a:pt x="5" y="1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7" name="Line 59"/>
              <p:cNvSpPr>
                <a:spLocks noChangeShapeType="1"/>
              </p:cNvSpPr>
              <p:nvPr/>
            </p:nvSpPr>
            <p:spPr bwMode="auto">
              <a:xfrm>
                <a:off x="2522" y="1252"/>
                <a:ext cx="1" cy="42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" name="Line 60"/>
              <p:cNvSpPr>
                <a:spLocks noChangeShapeType="1"/>
              </p:cNvSpPr>
              <p:nvPr/>
            </p:nvSpPr>
            <p:spPr bwMode="auto">
              <a:xfrm>
                <a:off x="2522" y="1462"/>
                <a:ext cx="8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AutoShape 61"/>
              <p:cNvSpPr>
                <a:spLocks noChangeArrowheads="1"/>
              </p:cNvSpPr>
              <p:nvPr/>
            </p:nvSpPr>
            <p:spPr bwMode="auto">
              <a:xfrm>
                <a:off x="2579" y="1428"/>
                <a:ext cx="115" cy="72"/>
              </a:xfrm>
              <a:custGeom>
                <a:avLst/>
                <a:gdLst>
                  <a:gd name="T0" fmla="*/ 19 w 24"/>
                  <a:gd name="T1" fmla="*/ 34 h 15"/>
                  <a:gd name="T2" fmla="*/ 0 w 24"/>
                  <a:gd name="T3" fmla="*/ 0 h 15"/>
                  <a:gd name="T4" fmla="*/ 0 w 24"/>
                  <a:gd name="T5" fmla="*/ 0 h 15"/>
                  <a:gd name="T6" fmla="*/ 57 w 24"/>
                  <a:gd name="T7" fmla="*/ 24 h 15"/>
                  <a:gd name="T8" fmla="*/ 115 w 24"/>
                  <a:gd name="T9" fmla="*/ 34 h 15"/>
                  <a:gd name="T10" fmla="*/ 57 w 24"/>
                  <a:gd name="T11" fmla="*/ 48 h 15"/>
                  <a:gd name="T12" fmla="*/ 0 w 24"/>
                  <a:gd name="T13" fmla="*/ 72 h 15"/>
                  <a:gd name="T14" fmla="*/ 0 w 24"/>
                  <a:gd name="T15" fmla="*/ 72 h 15"/>
                  <a:gd name="T16" fmla="*/ 19 w 24"/>
                  <a:gd name="T17" fmla="*/ 34 h 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15"/>
                  <a:gd name="T29" fmla="*/ 24 w 24"/>
                  <a:gd name="T30" fmla="*/ 15 h 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15">
                    <a:moveTo>
                      <a:pt x="4" y="7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6" y="6"/>
                      <a:pt x="20" y="6"/>
                      <a:pt x="24" y="7"/>
                    </a:cubicBezTo>
                    <a:cubicBezTo>
                      <a:pt x="20" y="8"/>
                      <a:pt x="16" y="9"/>
                      <a:pt x="12" y="1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0" name="Line 62"/>
              <p:cNvSpPr>
                <a:spLocks noChangeShapeType="1"/>
              </p:cNvSpPr>
              <p:nvPr/>
            </p:nvSpPr>
            <p:spPr bwMode="auto">
              <a:xfrm flipH="1">
                <a:off x="2711" y="1863"/>
                <a:ext cx="429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Line 63"/>
              <p:cNvSpPr>
                <a:spLocks noChangeShapeType="1"/>
              </p:cNvSpPr>
              <p:nvPr/>
            </p:nvSpPr>
            <p:spPr bwMode="auto">
              <a:xfrm flipH="1">
                <a:off x="2758" y="1949"/>
                <a:ext cx="33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2" name="AutoShape 64"/>
              <p:cNvSpPr>
                <a:spLocks noChangeArrowheads="1"/>
              </p:cNvSpPr>
              <p:nvPr/>
            </p:nvSpPr>
            <p:spPr bwMode="auto">
              <a:xfrm>
                <a:off x="2713" y="1863"/>
                <a:ext cx="28" cy="53"/>
              </a:xfrm>
              <a:custGeom>
                <a:avLst/>
                <a:gdLst>
                  <a:gd name="T0" fmla="*/ 28 w 28"/>
                  <a:gd name="T1" fmla="*/ 53 h 53"/>
                  <a:gd name="T2" fmla="*/ 0 w 28"/>
                  <a:gd name="T3" fmla="*/ 53 h 53"/>
                  <a:gd name="T4" fmla="*/ 0 w 28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53"/>
                  <a:gd name="T11" fmla="*/ 28 w 28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53">
                    <a:moveTo>
                      <a:pt x="28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3" name="AutoShape 65"/>
              <p:cNvSpPr>
                <a:spLocks noChangeArrowheads="1"/>
              </p:cNvSpPr>
              <p:nvPr/>
            </p:nvSpPr>
            <p:spPr bwMode="auto">
              <a:xfrm>
                <a:off x="2713" y="1987"/>
                <a:ext cx="28" cy="129"/>
              </a:xfrm>
              <a:custGeom>
                <a:avLst/>
                <a:gdLst>
                  <a:gd name="T0" fmla="*/ 0 w 28"/>
                  <a:gd name="T1" fmla="*/ 129 h 129"/>
                  <a:gd name="T2" fmla="*/ 0 w 28"/>
                  <a:gd name="T3" fmla="*/ 0 h 129"/>
                  <a:gd name="T4" fmla="*/ 28 w 28"/>
                  <a:gd name="T5" fmla="*/ 0 h 129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129"/>
                  <a:gd name="T11" fmla="*/ 28 w 28"/>
                  <a:gd name="T12" fmla="*/ 129 h 1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129">
                    <a:moveTo>
                      <a:pt x="0" y="129"/>
                    </a:moveTo>
                    <a:lnTo>
                      <a:pt x="0" y="0"/>
                    </a:lnTo>
                    <a:lnTo>
                      <a:pt x="28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4" name="Line 66"/>
              <p:cNvSpPr>
                <a:spLocks noChangeShapeType="1"/>
              </p:cNvSpPr>
              <p:nvPr/>
            </p:nvSpPr>
            <p:spPr bwMode="auto">
              <a:xfrm flipV="1">
                <a:off x="2741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Line 67"/>
              <p:cNvSpPr>
                <a:spLocks noChangeShapeType="1"/>
              </p:cNvSpPr>
              <p:nvPr/>
            </p:nvSpPr>
            <p:spPr bwMode="auto">
              <a:xfrm flipV="1">
                <a:off x="2760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Line 68"/>
              <p:cNvSpPr>
                <a:spLocks noChangeShapeType="1"/>
              </p:cNvSpPr>
              <p:nvPr/>
            </p:nvSpPr>
            <p:spPr bwMode="auto">
              <a:xfrm flipH="1">
                <a:off x="2868" y="1949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AutoShape 69"/>
              <p:cNvSpPr>
                <a:spLocks noChangeArrowheads="1"/>
              </p:cNvSpPr>
              <p:nvPr/>
            </p:nvSpPr>
            <p:spPr bwMode="auto">
              <a:xfrm>
                <a:off x="2818" y="1863"/>
                <a:ext cx="33" cy="53"/>
              </a:xfrm>
              <a:custGeom>
                <a:avLst/>
                <a:gdLst>
                  <a:gd name="T0" fmla="*/ 33 w 33"/>
                  <a:gd name="T1" fmla="*/ 53 h 53"/>
                  <a:gd name="T2" fmla="*/ 0 w 33"/>
                  <a:gd name="T3" fmla="*/ 53 h 53"/>
                  <a:gd name="T4" fmla="*/ 0 w 33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33"/>
                  <a:gd name="T10" fmla="*/ 0 h 53"/>
                  <a:gd name="T11" fmla="*/ 33 w 33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" h="53">
                    <a:moveTo>
                      <a:pt x="33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8" name="AutoShape 70"/>
              <p:cNvSpPr>
                <a:spLocks noChangeArrowheads="1"/>
              </p:cNvSpPr>
              <p:nvPr/>
            </p:nvSpPr>
            <p:spPr bwMode="auto">
              <a:xfrm>
                <a:off x="2818" y="1987"/>
                <a:ext cx="33" cy="201"/>
              </a:xfrm>
              <a:custGeom>
                <a:avLst/>
                <a:gdLst>
                  <a:gd name="T0" fmla="*/ 0 w 33"/>
                  <a:gd name="T1" fmla="*/ 201 h 201"/>
                  <a:gd name="T2" fmla="*/ 0 w 33"/>
                  <a:gd name="T3" fmla="*/ 0 h 201"/>
                  <a:gd name="T4" fmla="*/ 33 w 33"/>
                  <a:gd name="T5" fmla="*/ 0 h 201"/>
                  <a:gd name="T6" fmla="*/ 0 60000 65536"/>
                  <a:gd name="T7" fmla="*/ 0 60000 65536"/>
                  <a:gd name="T8" fmla="*/ 0 60000 65536"/>
                  <a:gd name="T9" fmla="*/ 0 w 33"/>
                  <a:gd name="T10" fmla="*/ 0 h 201"/>
                  <a:gd name="T11" fmla="*/ 33 w 33"/>
                  <a:gd name="T12" fmla="*/ 201 h 2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" h="201">
                    <a:moveTo>
                      <a:pt x="0" y="201"/>
                    </a:moveTo>
                    <a:lnTo>
                      <a:pt x="0" y="0"/>
                    </a:lnTo>
                    <a:lnTo>
                      <a:pt x="33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49" name="Line 71"/>
              <p:cNvSpPr>
                <a:spLocks noChangeShapeType="1"/>
              </p:cNvSpPr>
              <p:nvPr/>
            </p:nvSpPr>
            <p:spPr bwMode="auto">
              <a:xfrm flipV="1">
                <a:off x="2851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0" name="Line 72"/>
              <p:cNvSpPr>
                <a:spLocks noChangeShapeType="1"/>
              </p:cNvSpPr>
              <p:nvPr/>
            </p:nvSpPr>
            <p:spPr bwMode="auto">
              <a:xfrm flipV="1">
                <a:off x="2870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Line 73"/>
              <p:cNvSpPr>
                <a:spLocks noChangeShapeType="1"/>
              </p:cNvSpPr>
              <p:nvPr/>
            </p:nvSpPr>
            <p:spPr bwMode="auto">
              <a:xfrm flipH="1">
                <a:off x="2973" y="1949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AutoShape 74"/>
              <p:cNvSpPr>
                <a:spLocks noChangeArrowheads="1"/>
              </p:cNvSpPr>
              <p:nvPr/>
            </p:nvSpPr>
            <p:spPr bwMode="auto">
              <a:xfrm>
                <a:off x="2923" y="1863"/>
                <a:ext cx="33" cy="53"/>
              </a:xfrm>
              <a:custGeom>
                <a:avLst/>
                <a:gdLst>
                  <a:gd name="T0" fmla="*/ 33 w 33"/>
                  <a:gd name="T1" fmla="*/ 53 h 53"/>
                  <a:gd name="T2" fmla="*/ 0 w 33"/>
                  <a:gd name="T3" fmla="*/ 53 h 53"/>
                  <a:gd name="T4" fmla="*/ 0 w 33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33"/>
                  <a:gd name="T10" fmla="*/ 0 h 53"/>
                  <a:gd name="T11" fmla="*/ 33 w 33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" h="53">
                    <a:moveTo>
                      <a:pt x="33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3" name="AutoShape 75"/>
              <p:cNvSpPr>
                <a:spLocks noChangeArrowheads="1"/>
              </p:cNvSpPr>
              <p:nvPr/>
            </p:nvSpPr>
            <p:spPr bwMode="auto">
              <a:xfrm>
                <a:off x="2923" y="1987"/>
                <a:ext cx="33" cy="273"/>
              </a:xfrm>
              <a:custGeom>
                <a:avLst/>
                <a:gdLst>
                  <a:gd name="T0" fmla="*/ 0 w 33"/>
                  <a:gd name="T1" fmla="*/ 273 h 273"/>
                  <a:gd name="T2" fmla="*/ 0 w 33"/>
                  <a:gd name="T3" fmla="*/ 0 h 273"/>
                  <a:gd name="T4" fmla="*/ 33 w 33"/>
                  <a:gd name="T5" fmla="*/ 0 h 273"/>
                  <a:gd name="T6" fmla="*/ 0 60000 65536"/>
                  <a:gd name="T7" fmla="*/ 0 60000 65536"/>
                  <a:gd name="T8" fmla="*/ 0 60000 65536"/>
                  <a:gd name="T9" fmla="*/ 0 w 33"/>
                  <a:gd name="T10" fmla="*/ 0 h 273"/>
                  <a:gd name="T11" fmla="*/ 33 w 33"/>
                  <a:gd name="T12" fmla="*/ 273 h 2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" h="273">
                    <a:moveTo>
                      <a:pt x="0" y="273"/>
                    </a:moveTo>
                    <a:lnTo>
                      <a:pt x="0" y="0"/>
                    </a:lnTo>
                    <a:lnTo>
                      <a:pt x="33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4" name="Line 76"/>
              <p:cNvSpPr>
                <a:spLocks noChangeShapeType="1"/>
              </p:cNvSpPr>
              <p:nvPr/>
            </p:nvSpPr>
            <p:spPr bwMode="auto">
              <a:xfrm flipV="1">
                <a:off x="2956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" name="Line 77"/>
              <p:cNvSpPr>
                <a:spLocks noChangeShapeType="1"/>
              </p:cNvSpPr>
              <p:nvPr/>
            </p:nvSpPr>
            <p:spPr bwMode="auto">
              <a:xfrm flipV="1">
                <a:off x="2975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6" name="Line 78"/>
              <p:cNvSpPr>
                <a:spLocks noChangeShapeType="1"/>
              </p:cNvSpPr>
              <p:nvPr/>
            </p:nvSpPr>
            <p:spPr bwMode="auto">
              <a:xfrm flipH="1">
                <a:off x="3079" y="1949"/>
                <a:ext cx="3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AutoShape 79"/>
              <p:cNvSpPr>
                <a:spLocks noChangeArrowheads="1"/>
              </p:cNvSpPr>
              <p:nvPr/>
            </p:nvSpPr>
            <p:spPr bwMode="auto">
              <a:xfrm>
                <a:off x="3033" y="1863"/>
                <a:ext cx="28" cy="53"/>
              </a:xfrm>
              <a:custGeom>
                <a:avLst/>
                <a:gdLst>
                  <a:gd name="T0" fmla="*/ 28 w 28"/>
                  <a:gd name="T1" fmla="*/ 53 h 53"/>
                  <a:gd name="T2" fmla="*/ 0 w 28"/>
                  <a:gd name="T3" fmla="*/ 53 h 53"/>
                  <a:gd name="T4" fmla="*/ 0 w 28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53"/>
                  <a:gd name="T11" fmla="*/ 28 w 28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53">
                    <a:moveTo>
                      <a:pt x="28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8" name="AutoShape 80"/>
              <p:cNvSpPr>
                <a:spLocks noChangeArrowheads="1"/>
              </p:cNvSpPr>
              <p:nvPr/>
            </p:nvSpPr>
            <p:spPr bwMode="auto">
              <a:xfrm>
                <a:off x="3033" y="1987"/>
                <a:ext cx="28" cy="344"/>
              </a:xfrm>
              <a:custGeom>
                <a:avLst/>
                <a:gdLst>
                  <a:gd name="T0" fmla="*/ 0 w 28"/>
                  <a:gd name="T1" fmla="*/ 344 h 344"/>
                  <a:gd name="T2" fmla="*/ 0 w 28"/>
                  <a:gd name="T3" fmla="*/ 0 h 344"/>
                  <a:gd name="T4" fmla="*/ 28 w 28"/>
                  <a:gd name="T5" fmla="*/ 0 h 344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344"/>
                  <a:gd name="T11" fmla="*/ 28 w 28"/>
                  <a:gd name="T12" fmla="*/ 344 h 3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344">
                    <a:moveTo>
                      <a:pt x="0" y="344"/>
                    </a:moveTo>
                    <a:lnTo>
                      <a:pt x="0" y="0"/>
                    </a:lnTo>
                    <a:lnTo>
                      <a:pt x="28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9" name="Line 81"/>
              <p:cNvSpPr>
                <a:spLocks noChangeShapeType="1"/>
              </p:cNvSpPr>
              <p:nvPr/>
            </p:nvSpPr>
            <p:spPr bwMode="auto">
              <a:xfrm flipV="1">
                <a:off x="3061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0" name="Line 82"/>
              <p:cNvSpPr>
                <a:spLocks noChangeShapeType="1"/>
              </p:cNvSpPr>
              <p:nvPr/>
            </p:nvSpPr>
            <p:spPr bwMode="auto">
              <a:xfrm flipV="1">
                <a:off x="3081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1" name="Line 83"/>
              <p:cNvSpPr>
                <a:spLocks noChangeShapeType="1"/>
              </p:cNvSpPr>
              <p:nvPr/>
            </p:nvSpPr>
            <p:spPr bwMode="auto">
              <a:xfrm flipH="1">
                <a:off x="3188" y="1949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2" name="AutoShape 84"/>
              <p:cNvSpPr>
                <a:spLocks noChangeArrowheads="1"/>
              </p:cNvSpPr>
              <p:nvPr/>
            </p:nvSpPr>
            <p:spPr bwMode="auto">
              <a:xfrm>
                <a:off x="3138" y="1863"/>
                <a:ext cx="29" cy="53"/>
              </a:xfrm>
              <a:custGeom>
                <a:avLst/>
                <a:gdLst>
                  <a:gd name="T0" fmla="*/ 29 w 29"/>
                  <a:gd name="T1" fmla="*/ 53 h 53"/>
                  <a:gd name="T2" fmla="*/ 0 w 29"/>
                  <a:gd name="T3" fmla="*/ 53 h 53"/>
                  <a:gd name="T4" fmla="*/ 0 w 29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53"/>
                  <a:gd name="T11" fmla="*/ 29 w 29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53">
                    <a:moveTo>
                      <a:pt x="29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3" name="AutoShape 85"/>
              <p:cNvSpPr>
                <a:spLocks noChangeArrowheads="1"/>
              </p:cNvSpPr>
              <p:nvPr/>
            </p:nvSpPr>
            <p:spPr bwMode="auto">
              <a:xfrm>
                <a:off x="3138" y="1987"/>
                <a:ext cx="29" cy="416"/>
              </a:xfrm>
              <a:custGeom>
                <a:avLst/>
                <a:gdLst>
                  <a:gd name="T0" fmla="*/ 0 w 29"/>
                  <a:gd name="T1" fmla="*/ 416 h 416"/>
                  <a:gd name="T2" fmla="*/ 0 w 29"/>
                  <a:gd name="T3" fmla="*/ 0 h 416"/>
                  <a:gd name="T4" fmla="*/ 29 w 29"/>
                  <a:gd name="T5" fmla="*/ 0 h 416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416"/>
                  <a:gd name="T11" fmla="*/ 29 w 29"/>
                  <a:gd name="T12" fmla="*/ 416 h 4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416">
                    <a:moveTo>
                      <a:pt x="0" y="416"/>
                    </a:moveTo>
                    <a:lnTo>
                      <a:pt x="0" y="0"/>
                    </a:lnTo>
                    <a:lnTo>
                      <a:pt x="29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4" name="Line 86"/>
              <p:cNvSpPr>
                <a:spLocks noChangeShapeType="1"/>
              </p:cNvSpPr>
              <p:nvPr/>
            </p:nvSpPr>
            <p:spPr bwMode="auto">
              <a:xfrm flipV="1">
                <a:off x="3167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Line 87"/>
              <p:cNvSpPr>
                <a:spLocks noChangeShapeType="1"/>
              </p:cNvSpPr>
              <p:nvPr/>
            </p:nvSpPr>
            <p:spPr bwMode="auto">
              <a:xfrm flipV="1">
                <a:off x="3186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" name="Line 88"/>
              <p:cNvSpPr>
                <a:spLocks noChangeShapeType="1"/>
              </p:cNvSpPr>
              <p:nvPr/>
            </p:nvSpPr>
            <p:spPr bwMode="auto">
              <a:xfrm flipV="1">
                <a:off x="2923" y="1780"/>
                <a:ext cx="1" cy="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7" name="AutoShape 89"/>
              <p:cNvSpPr>
                <a:spLocks noChangeArrowheads="1"/>
              </p:cNvSpPr>
              <p:nvPr/>
            </p:nvSpPr>
            <p:spPr bwMode="auto">
              <a:xfrm>
                <a:off x="2889" y="1696"/>
                <a:ext cx="72" cy="115"/>
              </a:xfrm>
              <a:custGeom>
                <a:avLst/>
                <a:gdLst>
                  <a:gd name="T0" fmla="*/ 34 w 15"/>
                  <a:gd name="T1" fmla="*/ 96 h 24"/>
                  <a:gd name="T2" fmla="*/ 67 w 15"/>
                  <a:gd name="T3" fmla="*/ 115 h 24"/>
                  <a:gd name="T4" fmla="*/ 72 w 15"/>
                  <a:gd name="T5" fmla="*/ 115 h 24"/>
                  <a:gd name="T6" fmla="*/ 48 w 15"/>
                  <a:gd name="T7" fmla="*/ 57 h 24"/>
                  <a:gd name="T8" fmla="*/ 34 w 15"/>
                  <a:gd name="T9" fmla="*/ 0 h 24"/>
                  <a:gd name="T10" fmla="*/ 24 w 15"/>
                  <a:gd name="T11" fmla="*/ 57 h 24"/>
                  <a:gd name="T12" fmla="*/ 0 w 15"/>
                  <a:gd name="T13" fmla="*/ 115 h 24"/>
                  <a:gd name="T14" fmla="*/ 0 w 15"/>
                  <a:gd name="T15" fmla="*/ 115 h 24"/>
                  <a:gd name="T16" fmla="*/ 34 w 15"/>
                  <a:gd name="T17" fmla="*/ 96 h 2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"/>
                  <a:gd name="T28" fmla="*/ 0 h 24"/>
                  <a:gd name="T29" fmla="*/ 15 w 15"/>
                  <a:gd name="T30" fmla="*/ 24 h 2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" h="24">
                    <a:moveTo>
                      <a:pt x="7" y="20"/>
                    </a:move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8"/>
                      <a:pt x="8" y="4"/>
                      <a:pt x="7" y="0"/>
                    </a:cubicBezTo>
                    <a:cubicBezTo>
                      <a:pt x="6" y="4"/>
                      <a:pt x="5" y="8"/>
                      <a:pt x="5" y="1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68" name="Line 90"/>
              <p:cNvSpPr>
                <a:spLocks noChangeShapeType="1"/>
              </p:cNvSpPr>
              <p:nvPr/>
            </p:nvSpPr>
            <p:spPr bwMode="auto">
              <a:xfrm flipV="1">
                <a:off x="3257" y="1316"/>
                <a:ext cx="1" cy="430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Line 91"/>
              <p:cNvSpPr>
                <a:spLocks noChangeShapeType="1"/>
              </p:cNvSpPr>
              <p:nvPr/>
            </p:nvSpPr>
            <p:spPr bwMode="auto">
              <a:xfrm flipV="1">
                <a:off x="3343" y="1369"/>
                <a:ext cx="1" cy="33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AutoShape 92"/>
              <p:cNvSpPr>
                <a:spLocks noChangeArrowheads="1"/>
              </p:cNvSpPr>
              <p:nvPr/>
            </p:nvSpPr>
            <p:spPr bwMode="auto">
              <a:xfrm>
                <a:off x="3257" y="1318"/>
                <a:ext cx="48" cy="34"/>
              </a:xfrm>
              <a:custGeom>
                <a:avLst/>
                <a:gdLst>
                  <a:gd name="T0" fmla="*/ 48 w 48"/>
                  <a:gd name="T1" fmla="*/ 34 h 34"/>
                  <a:gd name="T2" fmla="*/ 48 w 48"/>
                  <a:gd name="T3" fmla="*/ 0 h 34"/>
                  <a:gd name="T4" fmla="*/ 0 w 48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48" y="34"/>
                    </a:moveTo>
                    <a:lnTo>
                      <a:pt x="48" y="0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1" name="AutoShape 93"/>
              <p:cNvSpPr>
                <a:spLocks noChangeArrowheads="1"/>
              </p:cNvSpPr>
              <p:nvPr/>
            </p:nvSpPr>
            <p:spPr bwMode="auto">
              <a:xfrm>
                <a:off x="3377" y="1252"/>
                <a:ext cx="119" cy="100"/>
              </a:xfrm>
              <a:custGeom>
                <a:avLst/>
                <a:gdLst>
                  <a:gd name="T0" fmla="*/ 0 w 119"/>
                  <a:gd name="T1" fmla="*/ 100 h 100"/>
                  <a:gd name="T2" fmla="*/ 0 w 119"/>
                  <a:gd name="T3" fmla="*/ 66 h 100"/>
                  <a:gd name="T4" fmla="*/ 119 w 119"/>
                  <a:gd name="T5" fmla="*/ 66 h 100"/>
                  <a:gd name="T6" fmla="*/ 119 w 119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9"/>
                  <a:gd name="T13" fmla="*/ 0 h 100"/>
                  <a:gd name="T14" fmla="*/ 119 w 119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9" h="100">
                    <a:moveTo>
                      <a:pt x="0" y="100"/>
                    </a:moveTo>
                    <a:lnTo>
                      <a:pt x="0" y="66"/>
                    </a:lnTo>
                    <a:lnTo>
                      <a:pt x="119" y="66"/>
                    </a:lnTo>
                    <a:lnTo>
                      <a:pt x="119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2" name="Line 94"/>
              <p:cNvSpPr>
                <a:spLocks noChangeShapeType="1"/>
              </p:cNvSpPr>
              <p:nvPr/>
            </p:nvSpPr>
            <p:spPr bwMode="auto">
              <a:xfrm flipH="1">
                <a:off x="3303" y="1352"/>
                <a:ext cx="7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3" name="Line 95"/>
              <p:cNvSpPr>
                <a:spLocks noChangeShapeType="1"/>
              </p:cNvSpPr>
              <p:nvPr/>
            </p:nvSpPr>
            <p:spPr bwMode="auto">
              <a:xfrm flipH="1">
                <a:off x="3303" y="1371"/>
                <a:ext cx="7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4" name="Line 96"/>
              <p:cNvSpPr>
                <a:spLocks noChangeShapeType="1"/>
              </p:cNvSpPr>
              <p:nvPr/>
            </p:nvSpPr>
            <p:spPr bwMode="auto">
              <a:xfrm flipV="1">
                <a:off x="3343" y="1474"/>
                <a:ext cx="1" cy="33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AutoShape 97"/>
              <p:cNvSpPr>
                <a:spLocks noChangeArrowheads="1"/>
              </p:cNvSpPr>
              <p:nvPr/>
            </p:nvSpPr>
            <p:spPr bwMode="auto">
              <a:xfrm>
                <a:off x="3257" y="1428"/>
                <a:ext cx="48" cy="29"/>
              </a:xfrm>
              <a:custGeom>
                <a:avLst/>
                <a:gdLst>
                  <a:gd name="T0" fmla="*/ 48 w 48"/>
                  <a:gd name="T1" fmla="*/ 29 h 29"/>
                  <a:gd name="T2" fmla="*/ 48 w 48"/>
                  <a:gd name="T3" fmla="*/ 0 h 29"/>
                  <a:gd name="T4" fmla="*/ 0 w 48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29"/>
                  <a:gd name="T11" fmla="*/ 48 w 48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29">
                    <a:moveTo>
                      <a:pt x="48" y="29"/>
                    </a:moveTo>
                    <a:lnTo>
                      <a:pt x="48" y="0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6" name="AutoShape 98"/>
              <p:cNvSpPr>
                <a:spLocks noChangeArrowheads="1"/>
              </p:cNvSpPr>
              <p:nvPr/>
            </p:nvSpPr>
            <p:spPr bwMode="auto">
              <a:xfrm>
                <a:off x="3377" y="1357"/>
                <a:ext cx="191" cy="100"/>
              </a:xfrm>
              <a:custGeom>
                <a:avLst/>
                <a:gdLst>
                  <a:gd name="T0" fmla="*/ 0 w 191"/>
                  <a:gd name="T1" fmla="*/ 100 h 100"/>
                  <a:gd name="T2" fmla="*/ 0 w 191"/>
                  <a:gd name="T3" fmla="*/ 71 h 100"/>
                  <a:gd name="T4" fmla="*/ 191 w 191"/>
                  <a:gd name="T5" fmla="*/ 71 h 100"/>
                  <a:gd name="T6" fmla="*/ 191 w 191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100"/>
                  <a:gd name="T14" fmla="*/ 191 w 191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100">
                    <a:moveTo>
                      <a:pt x="0" y="100"/>
                    </a:moveTo>
                    <a:lnTo>
                      <a:pt x="0" y="71"/>
                    </a:lnTo>
                    <a:lnTo>
                      <a:pt x="191" y="71"/>
                    </a:lnTo>
                    <a:lnTo>
                      <a:pt x="191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77" name="Line 99"/>
              <p:cNvSpPr>
                <a:spLocks noChangeShapeType="1"/>
              </p:cNvSpPr>
              <p:nvPr/>
            </p:nvSpPr>
            <p:spPr bwMode="auto">
              <a:xfrm flipH="1">
                <a:off x="3303" y="1457"/>
                <a:ext cx="7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8" name="Line 100"/>
              <p:cNvSpPr>
                <a:spLocks noChangeShapeType="1"/>
              </p:cNvSpPr>
              <p:nvPr/>
            </p:nvSpPr>
            <p:spPr bwMode="auto">
              <a:xfrm flipH="1">
                <a:off x="3303" y="1476"/>
                <a:ext cx="7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9" name="Line 101"/>
              <p:cNvSpPr>
                <a:spLocks noChangeShapeType="1"/>
              </p:cNvSpPr>
              <p:nvPr/>
            </p:nvSpPr>
            <p:spPr bwMode="auto">
              <a:xfrm flipV="1">
                <a:off x="3343" y="1584"/>
                <a:ext cx="1" cy="28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0" name="AutoShape 102"/>
              <p:cNvSpPr>
                <a:spLocks noChangeArrowheads="1"/>
              </p:cNvSpPr>
              <p:nvPr/>
            </p:nvSpPr>
            <p:spPr bwMode="auto">
              <a:xfrm>
                <a:off x="3257" y="1533"/>
                <a:ext cx="48" cy="29"/>
              </a:xfrm>
              <a:custGeom>
                <a:avLst/>
                <a:gdLst>
                  <a:gd name="T0" fmla="*/ 48 w 48"/>
                  <a:gd name="T1" fmla="*/ 29 h 29"/>
                  <a:gd name="T2" fmla="*/ 48 w 48"/>
                  <a:gd name="T3" fmla="*/ 0 h 29"/>
                  <a:gd name="T4" fmla="*/ 0 w 48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29"/>
                  <a:gd name="T11" fmla="*/ 48 w 48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29">
                    <a:moveTo>
                      <a:pt x="48" y="29"/>
                    </a:moveTo>
                    <a:lnTo>
                      <a:pt x="48" y="0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1" name="AutoShape 103"/>
              <p:cNvSpPr>
                <a:spLocks noChangeArrowheads="1"/>
              </p:cNvSpPr>
              <p:nvPr/>
            </p:nvSpPr>
            <p:spPr bwMode="auto">
              <a:xfrm>
                <a:off x="3377" y="1462"/>
                <a:ext cx="263" cy="100"/>
              </a:xfrm>
              <a:custGeom>
                <a:avLst/>
                <a:gdLst>
                  <a:gd name="T0" fmla="*/ 0 w 263"/>
                  <a:gd name="T1" fmla="*/ 100 h 100"/>
                  <a:gd name="T2" fmla="*/ 0 w 263"/>
                  <a:gd name="T3" fmla="*/ 71 h 100"/>
                  <a:gd name="T4" fmla="*/ 263 w 263"/>
                  <a:gd name="T5" fmla="*/ 71 h 100"/>
                  <a:gd name="T6" fmla="*/ 263 w 263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3"/>
                  <a:gd name="T13" fmla="*/ 0 h 100"/>
                  <a:gd name="T14" fmla="*/ 263 w 263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3" h="100">
                    <a:moveTo>
                      <a:pt x="0" y="100"/>
                    </a:moveTo>
                    <a:lnTo>
                      <a:pt x="0" y="71"/>
                    </a:lnTo>
                    <a:lnTo>
                      <a:pt x="263" y="71"/>
                    </a:lnTo>
                    <a:lnTo>
                      <a:pt x="263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2" name="Line 104"/>
              <p:cNvSpPr>
                <a:spLocks noChangeShapeType="1"/>
              </p:cNvSpPr>
              <p:nvPr/>
            </p:nvSpPr>
            <p:spPr bwMode="auto">
              <a:xfrm flipH="1">
                <a:off x="3303" y="1562"/>
                <a:ext cx="7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3" name="Line 105"/>
              <p:cNvSpPr>
                <a:spLocks noChangeShapeType="1"/>
              </p:cNvSpPr>
              <p:nvPr/>
            </p:nvSpPr>
            <p:spPr bwMode="auto">
              <a:xfrm flipH="1">
                <a:off x="3303" y="1586"/>
                <a:ext cx="7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" name="Line 106"/>
              <p:cNvSpPr>
                <a:spLocks noChangeShapeType="1"/>
              </p:cNvSpPr>
              <p:nvPr/>
            </p:nvSpPr>
            <p:spPr bwMode="auto">
              <a:xfrm flipV="1">
                <a:off x="3343" y="1689"/>
                <a:ext cx="1" cy="28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5" name="AutoShape 107"/>
              <p:cNvSpPr>
                <a:spLocks noChangeArrowheads="1"/>
              </p:cNvSpPr>
              <p:nvPr/>
            </p:nvSpPr>
            <p:spPr bwMode="auto">
              <a:xfrm>
                <a:off x="3257" y="1639"/>
                <a:ext cx="48" cy="33"/>
              </a:xfrm>
              <a:custGeom>
                <a:avLst/>
                <a:gdLst>
                  <a:gd name="T0" fmla="*/ 48 w 48"/>
                  <a:gd name="T1" fmla="*/ 33 h 33"/>
                  <a:gd name="T2" fmla="*/ 48 w 48"/>
                  <a:gd name="T3" fmla="*/ 0 h 33"/>
                  <a:gd name="T4" fmla="*/ 0 w 48"/>
                  <a:gd name="T5" fmla="*/ 0 h 33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3"/>
                  <a:gd name="T11" fmla="*/ 48 w 48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3">
                    <a:moveTo>
                      <a:pt x="48" y="33"/>
                    </a:moveTo>
                    <a:lnTo>
                      <a:pt x="48" y="0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6" name="AutoShape 108"/>
              <p:cNvSpPr>
                <a:spLocks noChangeArrowheads="1"/>
              </p:cNvSpPr>
              <p:nvPr/>
            </p:nvSpPr>
            <p:spPr bwMode="auto">
              <a:xfrm>
                <a:off x="3377" y="1572"/>
                <a:ext cx="334" cy="100"/>
              </a:xfrm>
              <a:custGeom>
                <a:avLst/>
                <a:gdLst>
                  <a:gd name="T0" fmla="*/ 0 w 334"/>
                  <a:gd name="T1" fmla="*/ 100 h 100"/>
                  <a:gd name="T2" fmla="*/ 0 w 334"/>
                  <a:gd name="T3" fmla="*/ 67 h 100"/>
                  <a:gd name="T4" fmla="*/ 334 w 334"/>
                  <a:gd name="T5" fmla="*/ 67 h 100"/>
                  <a:gd name="T6" fmla="*/ 334 w 334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4"/>
                  <a:gd name="T13" fmla="*/ 0 h 100"/>
                  <a:gd name="T14" fmla="*/ 334 w 334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4" h="100">
                    <a:moveTo>
                      <a:pt x="0" y="100"/>
                    </a:moveTo>
                    <a:lnTo>
                      <a:pt x="0" y="67"/>
                    </a:lnTo>
                    <a:lnTo>
                      <a:pt x="334" y="67"/>
                    </a:lnTo>
                    <a:lnTo>
                      <a:pt x="334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87" name="Line 109"/>
              <p:cNvSpPr>
                <a:spLocks noChangeShapeType="1"/>
              </p:cNvSpPr>
              <p:nvPr/>
            </p:nvSpPr>
            <p:spPr bwMode="auto">
              <a:xfrm flipH="1">
                <a:off x="3303" y="1672"/>
                <a:ext cx="7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8" name="Line 110"/>
              <p:cNvSpPr>
                <a:spLocks noChangeShapeType="1"/>
              </p:cNvSpPr>
              <p:nvPr/>
            </p:nvSpPr>
            <p:spPr bwMode="auto">
              <a:xfrm flipH="1">
                <a:off x="3303" y="1691"/>
                <a:ext cx="7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9" name="Line 111"/>
              <p:cNvSpPr>
                <a:spLocks noChangeShapeType="1"/>
              </p:cNvSpPr>
              <p:nvPr/>
            </p:nvSpPr>
            <p:spPr bwMode="auto">
              <a:xfrm flipV="1">
                <a:off x="3343" y="1794"/>
                <a:ext cx="1" cy="33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0" name="AutoShape 112"/>
              <p:cNvSpPr>
                <a:spLocks noChangeArrowheads="1"/>
              </p:cNvSpPr>
              <p:nvPr/>
            </p:nvSpPr>
            <p:spPr bwMode="auto">
              <a:xfrm>
                <a:off x="3257" y="1744"/>
                <a:ext cx="48" cy="33"/>
              </a:xfrm>
              <a:custGeom>
                <a:avLst/>
                <a:gdLst>
                  <a:gd name="T0" fmla="*/ 48 w 48"/>
                  <a:gd name="T1" fmla="*/ 33 h 33"/>
                  <a:gd name="T2" fmla="*/ 48 w 48"/>
                  <a:gd name="T3" fmla="*/ 0 h 33"/>
                  <a:gd name="T4" fmla="*/ 0 w 48"/>
                  <a:gd name="T5" fmla="*/ 0 h 33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3"/>
                  <a:gd name="T11" fmla="*/ 48 w 48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3">
                    <a:moveTo>
                      <a:pt x="48" y="33"/>
                    </a:moveTo>
                    <a:lnTo>
                      <a:pt x="48" y="0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1" name="AutoShape 113"/>
              <p:cNvSpPr>
                <a:spLocks noChangeArrowheads="1"/>
              </p:cNvSpPr>
              <p:nvPr/>
            </p:nvSpPr>
            <p:spPr bwMode="auto">
              <a:xfrm>
                <a:off x="3377" y="1677"/>
                <a:ext cx="406" cy="100"/>
              </a:xfrm>
              <a:custGeom>
                <a:avLst/>
                <a:gdLst>
                  <a:gd name="T0" fmla="*/ 0 w 406"/>
                  <a:gd name="T1" fmla="*/ 100 h 100"/>
                  <a:gd name="T2" fmla="*/ 0 w 406"/>
                  <a:gd name="T3" fmla="*/ 67 h 100"/>
                  <a:gd name="T4" fmla="*/ 406 w 406"/>
                  <a:gd name="T5" fmla="*/ 67 h 100"/>
                  <a:gd name="T6" fmla="*/ 406 w 406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6"/>
                  <a:gd name="T13" fmla="*/ 0 h 100"/>
                  <a:gd name="T14" fmla="*/ 406 w 406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6" h="100">
                    <a:moveTo>
                      <a:pt x="0" y="100"/>
                    </a:moveTo>
                    <a:lnTo>
                      <a:pt x="0" y="67"/>
                    </a:lnTo>
                    <a:lnTo>
                      <a:pt x="406" y="67"/>
                    </a:lnTo>
                    <a:lnTo>
                      <a:pt x="406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2" name="Line 114"/>
              <p:cNvSpPr>
                <a:spLocks noChangeShapeType="1"/>
              </p:cNvSpPr>
              <p:nvPr/>
            </p:nvSpPr>
            <p:spPr bwMode="auto">
              <a:xfrm flipH="1">
                <a:off x="3303" y="1777"/>
                <a:ext cx="7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3" name="Line 115"/>
              <p:cNvSpPr>
                <a:spLocks noChangeShapeType="1"/>
              </p:cNvSpPr>
              <p:nvPr/>
            </p:nvSpPr>
            <p:spPr bwMode="auto">
              <a:xfrm flipH="1">
                <a:off x="3303" y="1796"/>
                <a:ext cx="7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" name="Line 116"/>
              <p:cNvSpPr>
                <a:spLocks noChangeShapeType="1"/>
              </p:cNvSpPr>
              <p:nvPr/>
            </p:nvSpPr>
            <p:spPr bwMode="auto">
              <a:xfrm flipH="1">
                <a:off x="3169" y="1533"/>
                <a:ext cx="9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" name="AutoShape 117"/>
              <p:cNvSpPr>
                <a:spLocks noChangeArrowheads="1"/>
              </p:cNvSpPr>
              <p:nvPr/>
            </p:nvSpPr>
            <p:spPr bwMode="auto">
              <a:xfrm>
                <a:off x="3085" y="1500"/>
                <a:ext cx="115" cy="67"/>
              </a:xfrm>
              <a:custGeom>
                <a:avLst/>
                <a:gdLst>
                  <a:gd name="T0" fmla="*/ 19 w 24"/>
                  <a:gd name="T1" fmla="*/ 34 h 14"/>
                  <a:gd name="T2" fmla="*/ 0 w 24"/>
                  <a:gd name="T3" fmla="*/ 67 h 14"/>
                  <a:gd name="T4" fmla="*/ 0 w 24"/>
                  <a:gd name="T5" fmla="*/ 67 h 14"/>
                  <a:gd name="T6" fmla="*/ 57 w 24"/>
                  <a:gd name="T7" fmla="*/ 48 h 14"/>
                  <a:gd name="T8" fmla="*/ 115 w 24"/>
                  <a:gd name="T9" fmla="*/ 34 h 14"/>
                  <a:gd name="T10" fmla="*/ 57 w 24"/>
                  <a:gd name="T11" fmla="*/ 19 h 14"/>
                  <a:gd name="T12" fmla="*/ 0 w 24"/>
                  <a:gd name="T13" fmla="*/ 0 h 14"/>
                  <a:gd name="T14" fmla="*/ 0 w 24"/>
                  <a:gd name="T15" fmla="*/ 0 h 14"/>
                  <a:gd name="T16" fmla="*/ 19 w 24"/>
                  <a:gd name="T17" fmla="*/ 34 h 1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14"/>
                  <a:gd name="T29" fmla="*/ 24 w 24"/>
                  <a:gd name="T30" fmla="*/ 14 h 1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14">
                    <a:moveTo>
                      <a:pt x="4" y="7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6" y="9"/>
                      <a:pt x="20" y="8"/>
                      <a:pt x="24" y="7"/>
                    </a:cubicBezTo>
                    <a:cubicBezTo>
                      <a:pt x="20" y="6"/>
                      <a:pt x="16" y="5"/>
                      <a:pt x="12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6" name="Line 118"/>
              <p:cNvSpPr>
                <a:spLocks noChangeShapeType="1"/>
              </p:cNvSpPr>
              <p:nvPr/>
            </p:nvSpPr>
            <p:spPr bwMode="auto">
              <a:xfrm flipH="1">
                <a:off x="1196" y="1132"/>
                <a:ext cx="429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7" name="Rectangle 119"/>
              <p:cNvSpPr>
                <a:spLocks noChangeArrowheads="1"/>
              </p:cNvSpPr>
              <p:nvPr/>
            </p:nvSpPr>
            <p:spPr bwMode="auto">
              <a:xfrm>
                <a:off x="1040" y="1165"/>
                <a:ext cx="669" cy="669"/>
              </a:xfrm>
              <a:prstGeom prst="rect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8" name="Line 120"/>
              <p:cNvSpPr>
                <a:spLocks noChangeShapeType="1"/>
              </p:cNvSpPr>
              <p:nvPr/>
            </p:nvSpPr>
            <p:spPr bwMode="auto">
              <a:xfrm flipH="1">
                <a:off x="1249" y="1046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9" name="AutoShape 121"/>
              <p:cNvSpPr>
                <a:spLocks noChangeArrowheads="1"/>
              </p:cNvSpPr>
              <p:nvPr/>
            </p:nvSpPr>
            <p:spPr bwMode="auto">
              <a:xfrm>
                <a:off x="1198" y="1079"/>
                <a:ext cx="29" cy="53"/>
              </a:xfrm>
              <a:custGeom>
                <a:avLst/>
                <a:gdLst>
                  <a:gd name="T0" fmla="*/ 29 w 29"/>
                  <a:gd name="T1" fmla="*/ 0 h 53"/>
                  <a:gd name="T2" fmla="*/ 0 w 29"/>
                  <a:gd name="T3" fmla="*/ 0 h 53"/>
                  <a:gd name="T4" fmla="*/ 0 w 29"/>
                  <a:gd name="T5" fmla="*/ 53 h 53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53"/>
                  <a:gd name="T11" fmla="*/ 29 w 29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53">
                    <a:moveTo>
                      <a:pt x="29" y="0"/>
                    </a:moveTo>
                    <a:lnTo>
                      <a:pt x="0" y="0"/>
                    </a:lnTo>
                    <a:lnTo>
                      <a:pt x="0" y="5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0" name="AutoShape 122"/>
              <p:cNvSpPr>
                <a:spLocks noChangeArrowheads="1"/>
              </p:cNvSpPr>
              <p:nvPr/>
            </p:nvSpPr>
            <p:spPr bwMode="auto">
              <a:xfrm>
                <a:off x="1198" y="960"/>
                <a:ext cx="29" cy="48"/>
              </a:xfrm>
              <a:custGeom>
                <a:avLst/>
                <a:gdLst>
                  <a:gd name="T0" fmla="*/ 0 w 29"/>
                  <a:gd name="T1" fmla="*/ 0 h 48"/>
                  <a:gd name="T2" fmla="*/ 0 w 29"/>
                  <a:gd name="T3" fmla="*/ 48 h 48"/>
                  <a:gd name="T4" fmla="*/ 29 w 29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48"/>
                  <a:gd name="T11" fmla="*/ 29 w 29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48">
                    <a:moveTo>
                      <a:pt x="0" y="0"/>
                    </a:moveTo>
                    <a:lnTo>
                      <a:pt x="0" y="48"/>
                    </a:lnTo>
                    <a:lnTo>
                      <a:pt x="29" y="48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1" name="Line 123"/>
              <p:cNvSpPr>
                <a:spLocks noChangeShapeType="1"/>
              </p:cNvSpPr>
              <p:nvPr/>
            </p:nvSpPr>
            <p:spPr bwMode="auto">
              <a:xfrm>
                <a:off x="1227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2" name="Line 124"/>
              <p:cNvSpPr>
                <a:spLocks noChangeShapeType="1"/>
              </p:cNvSpPr>
              <p:nvPr/>
            </p:nvSpPr>
            <p:spPr bwMode="auto">
              <a:xfrm>
                <a:off x="1246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3" name="Line 125"/>
              <p:cNvSpPr>
                <a:spLocks noChangeShapeType="1"/>
              </p:cNvSpPr>
              <p:nvPr/>
            </p:nvSpPr>
            <p:spPr bwMode="auto">
              <a:xfrm flipH="1">
                <a:off x="1354" y="1046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4" name="AutoShape 126"/>
              <p:cNvSpPr>
                <a:spLocks noChangeArrowheads="1"/>
              </p:cNvSpPr>
              <p:nvPr/>
            </p:nvSpPr>
            <p:spPr bwMode="auto">
              <a:xfrm>
                <a:off x="1303" y="1079"/>
                <a:ext cx="34" cy="53"/>
              </a:xfrm>
              <a:custGeom>
                <a:avLst/>
                <a:gdLst>
                  <a:gd name="T0" fmla="*/ 34 w 34"/>
                  <a:gd name="T1" fmla="*/ 0 h 53"/>
                  <a:gd name="T2" fmla="*/ 0 w 34"/>
                  <a:gd name="T3" fmla="*/ 0 h 53"/>
                  <a:gd name="T4" fmla="*/ 0 w 34"/>
                  <a:gd name="T5" fmla="*/ 53 h 5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53"/>
                  <a:gd name="T11" fmla="*/ 34 w 34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53">
                    <a:moveTo>
                      <a:pt x="34" y="0"/>
                    </a:moveTo>
                    <a:lnTo>
                      <a:pt x="0" y="0"/>
                    </a:lnTo>
                    <a:lnTo>
                      <a:pt x="0" y="5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5" name="AutoShape 127"/>
              <p:cNvSpPr>
                <a:spLocks noChangeArrowheads="1"/>
              </p:cNvSpPr>
              <p:nvPr/>
            </p:nvSpPr>
            <p:spPr bwMode="auto">
              <a:xfrm>
                <a:off x="1303" y="960"/>
                <a:ext cx="34" cy="48"/>
              </a:xfrm>
              <a:custGeom>
                <a:avLst/>
                <a:gdLst>
                  <a:gd name="T0" fmla="*/ 0 w 34"/>
                  <a:gd name="T1" fmla="*/ 0 h 48"/>
                  <a:gd name="T2" fmla="*/ 0 w 34"/>
                  <a:gd name="T3" fmla="*/ 48 h 48"/>
                  <a:gd name="T4" fmla="*/ 34 w 34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48"/>
                  <a:gd name="T11" fmla="*/ 34 w 34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48">
                    <a:moveTo>
                      <a:pt x="0" y="0"/>
                    </a:moveTo>
                    <a:lnTo>
                      <a:pt x="0" y="48"/>
                    </a:lnTo>
                    <a:lnTo>
                      <a:pt x="34" y="48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6" name="Line 128"/>
              <p:cNvSpPr>
                <a:spLocks noChangeShapeType="1"/>
              </p:cNvSpPr>
              <p:nvPr/>
            </p:nvSpPr>
            <p:spPr bwMode="auto">
              <a:xfrm>
                <a:off x="1337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" name="Line 129"/>
              <p:cNvSpPr>
                <a:spLocks noChangeShapeType="1"/>
              </p:cNvSpPr>
              <p:nvPr/>
            </p:nvSpPr>
            <p:spPr bwMode="auto">
              <a:xfrm>
                <a:off x="1356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8" name="Line 130"/>
              <p:cNvSpPr>
                <a:spLocks noChangeShapeType="1"/>
              </p:cNvSpPr>
              <p:nvPr/>
            </p:nvSpPr>
            <p:spPr bwMode="auto">
              <a:xfrm flipH="1">
                <a:off x="1459" y="1046"/>
                <a:ext cx="33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9" name="AutoShape 131"/>
              <p:cNvSpPr>
                <a:spLocks noChangeArrowheads="1"/>
              </p:cNvSpPr>
              <p:nvPr/>
            </p:nvSpPr>
            <p:spPr bwMode="auto">
              <a:xfrm>
                <a:off x="1408" y="1079"/>
                <a:ext cx="34" cy="53"/>
              </a:xfrm>
              <a:custGeom>
                <a:avLst/>
                <a:gdLst>
                  <a:gd name="T0" fmla="*/ 34 w 34"/>
                  <a:gd name="T1" fmla="*/ 0 h 53"/>
                  <a:gd name="T2" fmla="*/ 0 w 34"/>
                  <a:gd name="T3" fmla="*/ 0 h 53"/>
                  <a:gd name="T4" fmla="*/ 0 w 34"/>
                  <a:gd name="T5" fmla="*/ 53 h 5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53"/>
                  <a:gd name="T11" fmla="*/ 34 w 34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53">
                    <a:moveTo>
                      <a:pt x="34" y="0"/>
                    </a:moveTo>
                    <a:lnTo>
                      <a:pt x="0" y="0"/>
                    </a:lnTo>
                    <a:lnTo>
                      <a:pt x="0" y="5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0" name="AutoShape 132"/>
              <p:cNvSpPr>
                <a:spLocks noChangeArrowheads="1"/>
              </p:cNvSpPr>
              <p:nvPr/>
            </p:nvSpPr>
            <p:spPr bwMode="auto">
              <a:xfrm>
                <a:off x="1408" y="960"/>
                <a:ext cx="34" cy="48"/>
              </a:xfrm>
              <a:custGeom>
                <a:avLst/>
                <a:gdLst>
                  <a:gd name="T0" fmla="*/ 0 w 34"/>
                  <a:gd name="T1" fmla="*/ 0 h 48"/>
                  <a:gd name="T2" fmla="*/ 0 w 34"/>
                  <a:gd name="T3" fmla="*/ 48 h 48"/>
                  <a:gd name="T4" fmla="*/ 34 w 34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48"/>
                  <a:gd name="T11" fmla="*/ 34 w 34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48">
                    <a:moveTo>
                      <a:pt x="0" y="0"/>
                    </a:moveTo>
                    <a:lnTo>
                      <a:pt x="0" y="48"/>
                    </a:lnTo>
                    <a:lnTo>
                      <a:pt x="34" y="48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1" name="Line 133"/>
              <p:cNvSpPr>
                <a:spLocks noChangeShapeType="1"/>
              </p:cNvSpPr>
              <p:nvPr/>
            </p:nvSpPr>
            <p:spPr bwMode="auto">
              <a:xfrm>
                <a:off x="1442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2" name="Line 134"/>
              <p:cNvSpPr>
                <a:spLocks noChangeShapeType="1"/>
              </p:cNvSpPr>
              <p:nvPr/>
            </p:nvSpPr>
            <p:spPr bwMode="auto">
              <a:xfrm>
                <a:off x="1461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3" name="Line 135"/>
              <p:cNvSpPr>
                <a:spLocks noChangeShapeType="1"/>
              </p:cNvSpPr>
              <p:nvPr/>
            </p:nvSpPr>
            <p:spPr bwMode="auto">
              <a:xfrm flipH="1">
                <a:off x="1564" y="1046"/>
                <a:ext cx="33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AutoShape 136"/>
              <p:cNvSpPr>
                <a:spLocks noChangeArrowheads="1"/>
              </p:cNvSpPr>
              <p:nvPr/>
            </p:nvSpPr>
            <p:spPr bwMode="auto">
              <a:xfrm>
                <a:off x="1518" y="1079"/>
                <a:ext cx="29" cy="53"/>
              </a:xfrm>
              <a:custGeom>
                <a:avLst/>
                <a:gdLst>
                  <a:gd name="T0" fmla="*/ 29 w 29"/>
                  <a:gd name="T1" fmla="*/ 0 h 53"/>
                  <a:gd name="T2" fmla="*/ 0 w 29"/>
                  <a:gd name="T3" fmla="*/ 0 h 53"/>
                  <a:gd name="T4" fmla="*/ 0 w 29"/>
                  <a:gd name="T5" fmla="*/ 53 h 53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53"/>
                  <a:gd name="T11" fmla="*/ 29 w 29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53">
                    <a:moveTo>
                      <a:pt x="29" y="0"/>
                    </a:moveTo>
                    <a:lnTo>
                      <a:pt x="0" y="0"/>
                    </a:lnTo>
                    <a:lnTo>
                      <a:pt x="0" y="5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5" name="AutoShape 137"/>
              <p:cNvSpPr>
                <a:spLocks noChangeArrowheads="1"/>
              </p:cNvSpPr>
              <p:nvPr/>
            </p:nvSpPr>
            <p:spPr bwMode="auto">
              <a:xfrm>
                <a:off x="1518" y="960"/>
                <a:ext cx="29" cy="48"/>
              </a:xfrm>
              <a:custGeom>
                <a:avLst/>
                <a:gdLst>
                  <a:gd name="T0" fmla="*/ 0 w 29"/>
                  <a:gd name="T1" fmla="*/ 0 h 48"/>
                  <a:gd name="T2" fmla="*/ 0 w 29"/>
                  <a:gd name="T3" fmla="*/ 48 h 48"/>
                  <a:gd name="T4" fmla="*/ 29 w 29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48"/>
                  <a:gd name="T11" fmla="*/ 29 w 29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48">
                    <a:moveTo>
                      <a:pt x="0" y="0"/>
                    </a:moveTo>
                    <a:lnTo>
                      <a:pt x="0" y="48"/>
                    </a:lnTo>
                    <a:lnTo>
                      <a:pt x="29" y="48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6" name="Line 138"/>
              <p:cNvSpPr>
                <a:spLocks noChangeShapeType="1"/>
              </p:cNvSpPr>
              <p:nvPr/>
            </p:nvSpPr>
            <p:spPr bwMode="auto">
              <a:xfrm>
                <a:off x="1547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" name="Line 139"/>
              <p:cNvSpPr>
                <a:spLocks noChangeShapeType="1"/>
              </p:cNvSpPr>
              <p:nvPr/>
            </p:nvSpPr>
            <p:spPr bwMode="auto">
              <a:xfrm>
                <a:off x="1566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" name="Line 140"/>
              <p:cNvSpPr>
                <a:spLocks noChangeShapeType="1"/>
              </p:cNvSpPr>
              <p:nvPr/>
            </p:nvSpPr>
            <p:spPr bwMode="auto">
              <a:xfrm flipH="1">
                <a:off x="1674" y="1046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" name="AutoShape 141"/>
              <p:cNvSpPr>
                <a:spLocks noChangeArrowheads="1"/>
              </p:cNvSpPr>
              <p:nvPr/>
            </p:nvSpPr>
            <p:spPr bwMode="auto">
              <a:xfrm>
                <a:off x="1623" y="1079"/>
                <a:ext cx="34" cy="53"/>
              </a:xfrm>
              <a:custGeom>
                <a:avLst/>
                <a:gdLst>
                  <a:gd name="T0" fmla="*/ 34 w 34"/>
                  <a:gd name="T1" fmla="*/ 0 h 53"/>
                  <a:gd name="T2" fmla="*/ 0 w 34"/>
                  <a:gd name="T3" fmla="*/ 0 h 53"/>
                  <a:gd name="T4" fmla="*/ 0 w 34"/>
                  <a:gd name="T5" fmla="*/ 53 h 5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53"/>
                  <a:gd name="T11" fmla="*/ 34 w 34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53">
                    <a:moveTo>
                      <a:pt x="34" y="0"/>
                    </a:moveTo>
                    <a:lnTo>
                      <a:pt x="0" y="0"/>
                    </a:lnTo>
                    <a:lnTo>
                      <a:pt x="0" y="5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" name="AutoShape 142"/>
              <p:cNvSpPr>
                <a:spLocks noChangeArrowheads="1"/>
              </p:cNvSpPr>
              <p:nvPr/>
            </p:nvSpPr>
            <p:spPr bwMode="auto">
              <a:xfrm>
                <a:off x="1623" y="960"/>
                <a:ext cx="34" cy="48"/>
              </a:xfrm>
              <a:custGeom>
                <a:avLst/>
                <a:gdLst>
                  <a:gd name="T0" fmla="*/ 0 w 34"/>
                  <a:gd name="T1" fmla="*/ 0 h 48"/>
                  <a:gd name="T2" fmla="*/ 0 w 34"/>
                  <a:gd name="T3" fmla="*/ 48 h 48"/>
                  <a:gd name="T4" fmla="*/ 34 w 34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48"/>
                  <a:gd name="T11" fmla="*/ 34 w 34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48">
                    <a:moveTo>
                      <a:pt x="0" y="0"/>
                    </a:moveTo>
                    <a:lnTo>
                      <a:pt x="0" y="48"/>
                    </a:lnTo>
                    <a:lnTo>
                      <a:pt x="34" y="48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" name="Line 143"/>
              <p:cNvSpPr>
                <a:spLocks noChangeShapeType="1"/>
              </p:cNvSpPr>
              <p:nvPr/>
            </p:nvSpPr>
            <p:spPr bwMode="auto">
              <a:xfrm>
                <a:off x="1657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" name="Line 144"/>
              <p:cNvSpPr>
                <a:spLocks noChangeShapeType="1"/>
              </p:cNvSpPr>
              <p:nvPr/>
            </p:nvSpPr>
            <p:spPr bwMode="auto">
              <a:xfrm>
                <a:off x="1676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" name="Line 145"/>
              <p:cNvSpPr>
                <a:spLocks noChangeShapeType="1"/>
              </p:cNvSpPr>
              <p:nvPr/>
            </p:nvSpPr>
            <p:spPr bwMode="auto">
              <a:xfrm flipH="1">
                <a:off x="2758" y="1046"/>
                <a:ext cx="33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" name="AutoShape 146"/>
              <p:cNvSpPr>
                <a:spLocks noChangeArrowheads="1"/>
              </p:cNvSpPr>
              <p:nvPr/>
            </p:nvSpPr>
            <p:spPr bwMode="auto">
              <a:xfrm>
                <a:off x="2713" y="1079"/>
                <a:ext cx="28" cy="53"/>
              </a:xfrm>
              <a:custGeom>
                <a:avLst/>
                <a:gdLst>
                  <a:gd name="T0" fmla="*/ 28 w 28"/>
                  <a:gd name="T1" fmla="*/ 0 h 53"/>
                  <a:gd name="T2" fmla="*/ 0 w 28"/>
                  <a:gd name="T3" fmla="*/ 0 h 53"/>
                  <a:gd name="T4" fmla="*/ 0 w 28"/>
                  <a:gd name="T5" fmla="*/ 53 h 53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53"/>
                  <a:gd name="T11" fmla="*/ 28 w 28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53">
                    <a:moveTo>
                      <a:pt x="28" y="0"/>
                    </a:moveTo>
                    <a:lnTo>
                      <a:pt x="0" y="0"/>
                    </a:lnTo>
                    <a:lnTo>
                      <a:pt x="0" y="5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5" name="AutoShape 147"/>
              <p:cNvSpPr>
                <a:spLocks noChangeArrowheads="1"/>
              </p:cNvSpPr>
              <p:nvPr/>
            </p:nvSpPr>
            <p:spPr bwMode="auto">
              <a:xfrm>
                <a:off x="2713" y="960"/>
                <a:ext cx="28" cy="48"/>
              </a:xfrm>
              <a:custGeom>
                <a:avLst/>
                <a:gdLst>
                  <a:gd name="T0" fmla="*/ 0 w 28"/>
                  <a:gd name="T1" fmla="*/ 0 h 48"/>
                  <a:gd name="T2" fmla="*/ 0 w 28"/>
                  <a:gd name="T3" fmla="*/ 48 h 48"/>
                  <a:gd name="T4" fmla="*/ 28 w 28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48"/>
                  <a:gd name="T11" fmla="*/ 28 w 28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48">
                    <a:moveTo>
                      <a:pt x="0" y="0"/>
                    </a:moveTo>
                    <a:lnTo>
                      <a:pt x="0" y="48"/>
                    </a:lnTo>
                    <a:lnTo>
                      <a:pt x="28" y="48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6" name="Line 148"/>
              <p:cNvSpPr>
                <a:spLocks noChangeShapeType="1"/>
              </p:cNvSpPr>
              <p:nvPr/>
            </p:nvSpPr>
            <p:spPr bwMode="auto">
              <a:xfrm>
                <a:off x="2741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" name="Line 149"/>
              <p:cNvSpPr>
                <a:spLocks noChangeShapeType="1"/>
              </p:cNvSpPr>
              <p:nvPr/>
            </p:nvSpPr>
            <p:spPr bwMode="auto">
              <a:xfrm>
                <a:off x="2760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" name="Line 150"/>
              <p:cNvSpPr>
                <a:spLocks noChangeShapeType="1"/>
              </p:cNvSpPr>
              <p:nvPr/>
            </p:nvSpPr>
            <p:spPr bwMode="auto">
              <a:xfrm flipH="1">
                <a:off x="2868" y="1046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" name="AutoShape 151"/>
              <p:cNvSpPr>
                <a:spLocks noChangeArrowheads="1"/>
              </p:cNvSpPr>
              <p:nvPr/>
            </p:nvSpPr>
            <p:spPr bwMode="auto">
              <a:xfrm>
                <a:off x="2818" y="1079"/>
                <a:ext cx="33" cy="53"/>
              </a:xfrm>
              <a:custGeom>
                <a:avLst/>
                <a:gdLst>
                  <a:gd name="T0" fmla="*/ 33 w 33"/>
                  <a:gd name="T1" fmla="*/ 0 h 53"/>
                  <a:gd name="T2" fmla="*/ 0 w 33"/>
                  <a:gd name="T3" fmla="*/ 0 h 53"/>
                  <a:gd name="T4" fmla="*/ 0 w 33"/>
                  <a:gd name="T5" fmla="*/ 53 h 53"/>
                  <a:gd name="T6" fmla="*/ 0 60000 65536"/>
                  <a:gd name="T7" fmla="*/ 0 60000 65536"/>
                  <a:gd name="T8" fmla="*/ 0 60000 65536"/>
                  <a:gd name="T9" fmla="*/ 0 w 33"/>
                  <a:gd name="T10" fmla="*/ 0 h 53"/>
                  <a:gd name="T11" fmla="*/ 33 w 33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" h="53">
                    <a:moveTo>
                      <a:pt x="33" y="0"/>
                    </a:moveTo>
                    <a:lnTo>
                      <a:pt x="0" y="0"/>
                    </a:lnTo>
                    <a:lnTo>
                      <a:pt x="0" y="5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0" name="AutoShape 152"/>
              <p:cNvSpPr>
                <a:spLocks noChangeArrowheads="1"/>
              </p:cNvSpPr>
              <p:nvPr/>
            </p:nvSpPr>
            <p:spPr bwMode="auto">
              <a:xfrm>
                <a:off x="2818" y="960"/>
                <a:ext cx="33" cy="48"/>
              </a:xfrm>
              <a:custGeom>
                <a:avLst/>
                <a:gdLst>
                  <a:gd name="T0" fmla="*/ 0 w 33"/>
                  <a:gd name="T1" fmla="*/ 0 h 48"/>
                  <a:gd name="T2" fmla="*/ 0 w 33"/>
                  <a:gd name="T3" fmla="*/ 48 h 48"/>
                  <a:gd name="T4" fmla="*/ 33 w 33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33"/>
                  <a:gd name="T10" fmla="*/ 0 h 48"/>
                  <a:gd name="T11" fmla="*/ 33 w 33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" h="48">
                    <a:moveTo>
                      <a:pt x="0" y="0"/>
                    </a:moveTo>
                    <a:lnTo>
                      <a:pt x="0" y="48"/>
                    </a:lnTo>
                    <a:lnTo>
                      <a:pt x="33" y="48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1" name="Line 153"/>
              <p:cNvSpPr>
                <a:spLocks noChangeShapeType="1"/>
              </p:cNvSpPr>
              <p:nvPr/>
            </p:nvSpPr>
            <p:spPr bwMode="auto">
              <a:xfrm>
                <a:off x="2851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Line 154"/>
              <p:cNvSpPr>
                <a:spLocks noChangeShapeType="1"/>
              </p:cNvSpPr>
              <p:nvPr/>
            </p:nvSpPr>
            <p:spPr bwMode="auto">
              <a:xfrm>
                <a:off x="2870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" name="Line 155"/>
              <p:cNvSpPr>
                <a:spLocks noChangeShapeType="1"/>
              </p:cNvSpPr>
              <p:nvPr/>
            </p:nvSpPr>
            <p:spPr bwMode="auto">
              <a:xfrm flipH="1">
                <a:off x="2973" y="1046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" name="AutoShape 156"/>
              <p:cNvSpPr>
                <a:spLocks noChangeArrowheads="1"/>
              </p:cNvSpPr>
              <p:nvPr/>
            </p:nvSpPr>
            <p:spPr bwMode="auto">
              <a:xfrm>
                <a:off x="2923" y="1079"/>
                <a:ext cx="33" cy="53"/>
              </a:xfrm>
              <a:custGeom>
                <a:avLst/>
                <a:gdLst>
                  <a:gd name="T0" fmla="*/ 33 w 33"/>
                  <a:gd name="T1" fmla="*/ 0 h 53"/>
                  <a:gd name="T2" fmla="*/ 0 w 33"/>
                  <a:gd name="T3" fmla="*/ 0 h 53"/>
                  <a:gd name="T4" fmla="*/ 0 w 33"/>
                  <a:gd name="T5" fmla="*/ 53 h 53"/>
                  <a:gd name="T6" fmla="*/ 0 60000 65536"/>
                  <a:gd name="T7" fmla="*/ 0 60000 65536"/>
                  <a:gd name="T8" fmla="*/ 0 60000 65536"/>
                  <a:gd name="T9" fmla="*/ 0 w 33"/>
                  <a:gd name="T10" fmla="*/ 0 h 53"/>
                  <a:gd name="T11" fmla="*/ 33 w 33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" h="53">
                    <a:moveTo>
                      <a:pt x="33" y="0"/>
                    </a:moveTo>
                    <a:lnTo>
                      <a:pt x="0" y="0"/>
                    </a:lnTo>
                    <a:lnTo>
                      <a:pt x="0" y="5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5" name="AutoShape 157"/>
              <p:cNvSpPr>
                <a:spLocks noChangeArrowheads="1"/>
              </p:cNvSpPr>
              <p:nvPr/>
            </p:nvSpPr>
            <p:spPr bwMode="auto">
              <a:xfrm>
                <a:off x="2923" y="960"/>
                <a:ext cx="33" cy="48"/>
              </a:xfrm>
              <a:custGeom>
                <a:avLst/>
                <a:gdLst>
                  <a:gd name="T0" fmla="*/ 0 w 33"/>
                  <a:gd name="T1" fmla="*/ 0 h 48"/>
                  <a:gd name="T2" fmla="*/ 0 w 33"/>
                  <a:gd name="T3" fmla="*/ 48 h 48"/>
                  <a:gd name="T4" fmla="*/ 33 w 33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33"/>
                  <a:gd name="T10" fmla="*/ 0 h 48"/>
                  <a:gd name="T11" fmla="*/ 33 w 33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" h="48">
                    <a:moveTo>
                      <a:pt x="0" y="0"/>
                    </a:moveTo>
                    <a:lnTo>
                      <a:pt x="0" y="48"/>
                    </a:lnTo>
                    <a:lnTo>
                      <a:pt x="33" y="48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6" name="Line 158"/>
              <p:cNvSpPr>
                <a:spLocks noChangeShapeType="1"/>
              </p:cNvSpPr>
              <p:nvPr/>
            </p:nvSpPr>
            <p:spPr bwMode="auto">
              <a:xfrm>
                <a:off x="2956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7" name="Line 159"/>
              <p:cNvSpPr>
                <a:spLocks noChangeShapeType="1"/>
              </p:cNvSpPr>
              <p:nvPr/>
            </p:nvSpPr>
            <p:spPr bwMode="auto">
              <a:xfrm>
                <a:off x="2975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Line 160"/>
              <p:cNvSpPr>
                <a:spLocks noChangeShapeType="1"/>
              </p:cNvSpPr>
              <p:nvPr/>
            </p:nvSpPr>
            <p:spPr bwMode="auto">
              <a:xfrm flipH="1">
                <a:off x="3079" y="1046"/>
                <a:ext cx="3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" name="AutoShape 161"/>
              <p:cNvSpPr>
                <a:spLocks noChangeArrowheads="1"/>
              </p:cNvSpPr>
              <p:nvPr/>
            </p:nvSpPr>
            <p:spPr bwMode="auto">
              <a:xfrm>
                <a:off x="3033" y="1079"/>
                <a:ext cx="28" cy="53"/>
              </a:xfrm>
              <a:custGeom>
                <a:avLst/>
                <a:gdLst>
                  <a:gd name="T0" fmla="*/ 28 w 28"/>
                  <a:gd name="T1" fmla="*/ 0 h 53"/>
                  <a:gd name="T2" fmla="*/ 0 w 28"/>
                  <a:gd name="T3" fmla="*/ 0 h 53"/>
                  <a:gd name="T4" fmla="*/ 0 w 28"/>
                  <a:gd name="T5" fmla="*/ 53 h 53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53"/>
                  <a:gd name="T11" fmla="*/ 28 w 28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53">
                    <a:moveTo>
                      <a:pt x="28" y="0"/>
                    </a:moveTo>
                    <a:lnTo>
                      <a:pt x="0" y="0"/>
                    </a:lnTo>
                    <a:lnTo>
                      <a:pt x="0" y="5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0" name="AutoShape 162"/>
              <p:cNvSpPr>
                <a:spLocks noChangeArrowheads="1"/>
              </p:cNvSpPr>
              <p:nvPr/>
            </p:nvSpPr>
            <p:spPr bwMode="auto">
              <a:xfrm>
                <a:off x="3033" y="960"/>
                <a:ext cx="28" cy="48"/>
              </a:xfrm>
              <a:custGeom>
                <a:avLst/>
                <a:gdLst>
                  <a:gd name="T0" fmla="*/ 0 w 28"/>
                  <a:gd name="T1" fmla="*/ 0 h 48"/>
                  <a:gd name="T2" fmla="*/ 0 w 28"/>
                  <a:gd name="T3" fmla="*/ 48 h 48"/>
                  <a:gd name="T4" fmla="*/ 28 w 28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48"/>
                  <a:gd name="T11" fmla="*/ 28 w 28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48">
                    <a:moveTo>
                      <a:pt x="0" y="0"/>
                    </a:moveTo>
                    <a:lnTo>
                      <a:pt x="0" y="48"/>
                    </a:lnTo>
                    <a:lnTo>
                      <a:pt x="28" y="48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1" name="Line 163"/>
              <p:cNvSpPr>
                <a:spLocks noChangeShapeType="1"/>
              </p:cNvSpPr>
              <p:nvPr/>
            </p:nvSpPr>
            <p:spPr bwMode="auto">
              <a:xfrm>
                <a:off x="3061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Line 164"/>
              <p:cNvSpPr>
                <a:spLocks noChangeShapeType="1"/>
              </p:cNvSpPr>
              <p:nvPr/>
            </p:nvSpPr>
            <p:spPr bwMode="auto">
              <a:xfrm>
                <a:off x="3081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3" name="Line 165"/>
              <p:cNvSpPr>
                <a:spLocks noChangeShapeType="1"/>
              </p:cNvSpPr>
              <p:nvPr/>
            </p:nvSpPr>
            <p:spPr bwMode="auto">
              <a:xfrm flipH="1">
                <a:off x="3188" y="1046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AutoShape 166"/>
              <p:cNvSpPr>
                <a:spLocks noChangeArrowheads="1"/>
              </p:cNvSpPr>
              <p:nvPr/>
            </p:nvSpPr>
            <p:spPr bwMode="auto">
              <a:xfrm>
                <a:off x="3138" y="1079"/>
                <a:ext cx="29" cy="53"/>
              </a:xfrm>
              <a:custGeom>
                <a:avLst/>
                <a:gdLst>
                  <a:gd name="T0" fmla="*/ 29 w 29"/>
                  <a:gd name="T1" fmla="*/ 0 h 53"/>
                  <a:gd name="T2" fmla="*/ 0 w 29"/>
                  <a:gd name="T3" fmla="*/ 0 h 53"/>
                  <a:gd name="T4" fmla="*/ 0 w 29"/>
                  <a:gd name="T5" fmla="*/ 53 h 53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53"/>
                  <a:gd name="T11" fmla="*/ 29 w 29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53">
                    <a:moveTo>
                      <a:pt x="29" y="0"/>
                    </a:moveTo>
                    <a:lnTo>
                      <a:pt x="0" y="0"/>
                    </a:lnTo>
                    <a:lnTo>
                      <a:pt x="0" y="53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5" name="AutoShape 167"/>
              <p:cNvSpPr>
                <a:spLocks noChangeArrowheads="1"/>
              </p:cNvSpPr>
              <p:nvPr/>
            </p:nvSpPr>
            <p:spPr bwMode="auto">
              <a:xfrm>
                <a:off x="3138" y="960"/>
                <a:ext cx="29" cy="48"/>
              </a:xfrm>
              <a:custGeom>
                <a:avLst/>
                <a:gdLst>
                  <a:gd name="T0" fmla="*/ 0 w 29"/>
                  <a:gd name="T1" fmla="*/ 0 h 48"/>
                  <a:gd name="T2" fmla="*/ 0 w 29"/>
                  <a:gd name="T3" fmla="*/ 48 h 48"/>
                  <a:gd name="T4" fmla="*/ 29 w 29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48"/>
                  <a:gd name="T11" fmla="*/ 29 w 29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48">
                    <a:moveTo>
                      <a:pt x="0" y="0"/>
                    </a:moveTo>
                    <a:lnTo>
                      <a:pt x="0" y="48"/>
                    </a:lnTo>
                    <a:lnTo>
                      <a:pt x="29" y="48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6" name="Line 168"/>
              <p:cNvSpPr>
                <a:spLocks noChangeShapeType="1"/>
              </p:cNvSpPr>
              <p:nvPr/>
            </p:nvSpPr>
            <p:spPr bwMode="auto">
              <a:xfrm>
                <a:off x="3167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" name="Line 169"/>
              <p:cNvSpPr>
                <a:spLocks noChangeShapeType="1"/>
              </p:cNvSpPr>
              <p:nvPr/>
            </p:nvSpPr>
            <p:spPr bwMode="auto">
              <a:xfrm>
                <a:off x="3186" y="1008"/>
                <a:ext cx="1" cy="7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Line 170"/>
              <p:cNvSpPr>
                <a:spLocks noChangeShapeType="1"/>
              </p:cNvSpPr>
              <p:nvPr/>
            </p:nvSpPr>
            <p:spPr bwMode="auto">
              <a:xfrm>
                <a:off x="1408" y="1132"/>
                <a:ext cx="1" cy="86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" name="AutoShape 171"/>
              <p:cNvSpPr>
                <a:spLocks noChangeArrowheads="1"/>
              </p:cNvSpPr>
              <p:nvPr/>
            </p:nvSpPr>
            <p:spPr bwMode="auto">
              <a:xfrm>
                <a:off x="1375" y="1185"/>
                <a:ext cx="72" cy="119"/>
              </a:xfrm>
              <a:custGeom>
                <a:avLst/>
                <a:gdLst>
                  <a:gd name="T0" fmla="*/ 34 w 15"/>
                  <a:gd name="T1" fmla="*/ 24 h 25"/>
                  <a:gd name="T2" fmla="*/ 72 w 15"/>
                  <a:gd name="T3" fmla="*/ 0 h 25"/>
                  <a:gd name="T4" fmla="*/ 72 w 15"/>
                  <a:gd name="T5" fmla="*/ 0 h 25"/>
                  <a:gd name="T6" fmla="*/ 48 w 15"/>
                  <a:gd name="T7" fmla="*/ 57 h 25"/>
                  <a:gd name="T8" fmla="*/ 34 w 15"/>
                  <a:gd name="T9" fmla="*/ 119 h 25"/>
                  <a:gd name="T10" fmla="*/ 24 w 15"/>
                  <a:gd name="T11" fmla="*/ 57 h 25"/>
                  <a:gd name="T12" fmla="*/ 0 w 15"/>
                  <a:gd name="T13" fmla="*/ 0 h 25"/>
                  <a:gd name="T14" fmla="*/ 0 w 15"/>
                  <a:gd name="T15" fmla="*/ 0 h 25"/>
                  <a:gd name="T16" fmla="*/ 34 w 15"/>
                  <a:gd name="T17" fmla="*/ 24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"/>
                  <a:gd name="T28" fmla="*/ 0 h 25"/>
                  <a:gd name="T29" fmla="*/ 15 w 15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" h="25">
                    <a:moveTo>
                      <a:pt x="7" y="5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6"/>
                      <a:pt x="8" y="20"/>
                      <a:pt x="7" y="25"/>
                    </a:cubicBezTo>
                    <a:cubicBezTo>
                      <a:pt x="6" y="20"/>
                      <a:pt x="6" y="16"/>
                      <a:pt x="5" y="1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0" name="Line 172"/>
              <p:cNvSpPr>
                <a:spLocks noChangeShapeType="1"/>
              </p:cNvSpPr>
              <p:nvPr/>
            </p:nvSpPr>
            <p:spPr bwMode="auto">
              <a:xfrm>
                <a:off x="1007" y="1404"/>
                <a:ext cx="1" cy="426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" name="Line 173"/>
              <p:cNvSpPr>
                <a:spLocks noChangeShapeType="1"/>
              </p:cNvSpPr>
              <p:nvPr/>
            </p:nvSpPr>
            <p:spPr bwMode="auto">
              <a:xfrm>
                <a:off x="1007" y="1615"/>
                <a:ext cx="8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AutoShape 174"/>
              <p:cNvSpPr>
                <a:spLocks noChangeArrowheads="1"/>
              </p:cNvSpPr>
              <p:nvPr/>
            </p:nvSpPr>
            <p:spPr bwMode="auto">
              <a:xfrm>
                <a:off x="1064" y="1581"/>
                <a:ext cx="115" cy="72"/>
              </a:xfrm>
              <a:custGeom>
                <a:avLst/>
                <a:gdLst>
                  <a:gd name="T0" fmla="*/ 19 w 24"/>
                  <a:gd name="T1" fmla="*/ 34 h 15"/>
                  <a:gd name="T2" fmla="*/ 0 w 24"/>
                  <a:gd name="T3" fmla="*/ 0 h 15"/>
                  <a:gd name="T4" fmla="*/ 0 w 24"/>
                  <a:gd name="T5" fmla="*/ 0 h 15"/>
                  <a:gd name="T6" fmla="*/ 57 w 24"/>
                  <a:gd name="T7" fmla="*/ 24 h 15"/>
                  <a:gd name="T8" fmla="*/ 115 w 24"/>
                  <a:gd name="T9" fmla="*/ 34 h 15"/>
                  <a:gd name="T10" fmla="*/ 57 w 24"/>
                  <a:gd name="T11" fmla="*/ 48 h 15"/>
                  <a:gd name="T12" fmla="*/ 0 w 24"/>
                  <a:gd name="T13" fmla="*/ 72 h 15"/>
                  <a:gd name="T14" fmla="*/ 0 w 24"/>
                  <a:gd name="T15" fmla="*/ 72 h 15"/>
                  <a:gd name="T16" fmla="*/ 19 w 24"/>
                  <a:gd name="T17" fmla="*/ 34 h 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15"/>
                  <a:gd name="T29" fmla="*/ 24 w 24"/>
                  <a:gd name="T30" fmla="*/ 15 h 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15">
                    <a:moveTo>
                      <a:pt x="4" y="7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6" y="6"/>
                      <a:pt x="20" y="6"/>
                      <a:pt x="24" y="7"/>
                    </a:cubicBezTo>
                    <a:cubicBezTo>
                      <a:pt x="20" y="8"/>
                      <a:pt x="16" y="9"/>
                      <a:pt x="12" y="1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3" name="Line 175"/>
              <p:cNvSpPr>
                <a:spLocks noChangeShapeType="1"/>
              </p:cNvSpPr>
              <p:nvPr/>
            </p:nvSpPr>
            <p:spPr bwMode="auto">
              <a:xfrm flipH="1">
                <a:off x="1196" y="1863"/>
                <a:ext cx="429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Line 176"/>
              <p:cNvSpPr>
                <a:spLocks noChangeShapeType="1"/>
              </p:cNvSpPr>
              <p:nvPr/>
            </p:nvSpPr>
            <p:spPr bwMode="auto">
              <a:xfrm flipH="1">
                <a:off x="1249" y="1949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5" name="AutoShape 177"/>
              <p:cNvSpPr>
                <a:spLocks noChangeArrowheads="1"/>
              </p:cNvSpPr>
              <p:nvPr/>
            </p:nvSpPr>
            <p:spPr bwMode="auto">
              <a:xfrm>
                <a:off x="1198" y="1863"/>
                <a:ext cx="29" cy="53"/>
              </a:xfrm>
              <a:custGeom>
                <a:avLst/>
                <a:gdLst>
                  <a:gd name="T0" fmla="*/ 29 w 29"/>
                  <a:gd name="T1" fmla="*/ 53 h 53"/>
                  <a:gd name="T2" fmla="*/ 0 w 29"/>
                  <a:gd name="T3" fmla="*/ 53 h 53"/>
                  <a:gd name="T4" fmla="*/ 0 w 29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53"/>
                  <a:gd name="T11" fmla="*/ 29 w 29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53">
                    <a:moveTo>
                      <a:pt x="29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6" name="AutoShape 178"/>
              <p:cNvSpPr>
                <a:spLocks noChangeArrowheads="1"/>
              </p:cNvSpPr>
              <p:nvPr/>
            </p:nvSpPr>
            <p:spPr bwMode="auto">
              <a:xfrm>
                <a:off x="1198" y="1987"/>
                <a:ext cx="29" cy="129"/>
              </a:xfrm>
              <a:custGeom>
                <a:avLst/>
                <a:gdLst>
                  <a:gd name="T0" fmla="*/ 0 w 29"/>
                  <a:gd name="T1" fmla="*/ 129 h 129"/>
                  <a:gd name="T2" fmla="*/ 0 w 29"/>
                  <a:gd name="T3" fmla="*/ 0 h 129"/>
                  <a:gd name="T4" fmla="*/ 29 w 29"/>
                  <a:gd name="T5" fmla="*/ 0 h 129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129"/>
                  <a:gd name="T11" fmla="*/ 29 w 29"/>
                  <a:gd name="T12" fmla="*/ 129 h 1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129">
                    <a:moveTo>
                      <a:pt x="0" y="129"/>
                    </a:moveTo>
                    <a:lnTo>
                      <a:pt x="0" y="0"/>
                    </a:lnTo>
                    <a:lnTo>
                      <a:pt x="29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7" name="Line 179"/>
              <p:cNvSpPr>
                <a:spLocks noChangeShapeType="1"/>
              </p:cNvSpPr>
              <p:nvPr/>
            </p:nvSpPr>
            <p:spPr bwMode="auto">
              <a:xfrm flipV="1">
                <a:off x="1227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Line 180"/>
              <p:cNvSpPr>
                <a:spLocks noChangeShapeType="1"/>
              </p:cNvSpPr>
              <p:nvPr/>
            </p:nvSpPr>
            <p:spPr bwMode="auto">
              <a:xfrm flipV="1">
                <a:off x="1246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" name="Line 181"/>
              <p:cNvSpPr>
                <a:spLocks noChangeShapeType="1"/>
              </p:cNvSpPr>
              <p:nvPr/>
            </p:nvSpPr>
            <p:spPr bwMode="auto">
              <a:xfrm flipH="1">
                <a:off x="1354" y="1949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" name="AutoShape 182"/>
              <p:cNvSpPr>
                <a:spLocks noChangeArrowheads="1"/>
              </p:cNvSpPr>
              <p:nvPr/>
            </p:nvSpPr>
            <p:spPr bwMode="auto">
              <a:xfrm>
                <a:off x="1303" y="1863"/>
                <a:ext cx="34" cy="53"/>
              </a:xfrm>
              <a:custGeom>
                <a:avLst/>
                <a:gdLst>
                  <a:gd name="T0" fmla="*/ 34 w 34"/>
                  <a:gd name="T1" fmla="*/ 53 h 53"/>
                  <a:gd name="T2" fmla="*/ 0 w 34"/>
                  <a:gd name="T3" fmla="*/ 53 h 53"/>
                  <a:gd name="T4" fmla="*/ 0 w 34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53"/>
                  <a:gd name="T11" fmla="*/ 34 w 34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53">
                    <a:moveTo>
                      <a:pt x="34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" name="AutoShape 183"/>
              <p:cNvSpPr>
                <a:spLocks noChangeArrowheads="1"/>
              </p:cNvSpPr>
              <p:nvPr/>
            </p:nvSpPr>
            <p:spPr bwMode="auto">
              <a:xfrm>
                <a:off x="1303" y="1987"/>
                <a:ext cx="34" cy="201"/>
              </a:xfrm>
              <a:custGeom>
                <a:avLst/>
                <a:gdLst>
                  <a:gd name="T0" fmla="*/ 0 w 34"/>
                  <a:gd name="T1" fmla="*/ 201 h 201"/>
                  <a:gd name="T2" fmla="*/ 0 w 34"/>
                  <a:gd name="T3" fmla="*/ 0 h 201"/>
                  <a:gd name="T4" fmla="*/ 34 w 34"/>
                  <a:gd name="T5" fmla="*/ 0 h 201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201"/>
                  <a:gd name="T11" fmla="*/ 34 w 34"/>
                  <a:gd name="T12" fmla="*/ 201 h 2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201">
                    <a:moveTo>
                      <a:pt x="0" y="201"/>
                    </a:moveTo>
                    <a:lnTo>
                      <a:pt x="0" y="0"/>
                    </a:lnTo>
                    <a:lnTo>
                      <a:pt x="34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2" name="Line 184"/>
              <p:cNvSpPr>
                <a:spLocks noChangeShapeType="1"/>
              </p:cNvSpPr>
              <p:nvPr/>
            </p:nvSpPr>
            <p:spPr bwMode="auto">
              <a:xfrm flipV="1">
                <a:off x="1337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" name="Line 185"/>
              <p:cNvSpPr>
                <a:spLocks noChangeShapeType="1"/>
              </p:cNvSpPr>
              <p:nvPr/>
            </p:nvSpPr>
            <p:spPr bwMode="auto">
              <a:xfrm flipV="1">
                <a:off x="1356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Line 186"/>
              <p:cNvSpPr>
                <a:spLocks noChangeShapeType="1"/>
              </p:cNvSpPr>
              <p:nvPr/>
            </p:nvSpPr>
            <p:spPr bwMode="auto">
              <a:xfrm flipH="1">
                <a:off x="1459" y="1949"/>
                <a:ext cx="33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" name="AutoShape 187"/>
              <p:cNvSpPr>
                <a:spLocks noChangeArrowheads="1"/>
              </p:cNvSpPr>
              <p:nvPr/>
            </p:nvSpPr>
            <p:spPr bwMode="auto">
              <a:xfrm>
                <a:off x="1408" y="1863"/>
                <a:ext cx="34" cy="53"/>
              </a:xfrm>
              <a:custGeom>
                <a:avLst/>
                <a:gdLst>
                  <a:gd name="T0" fmla="*/ 34 w 34"/>
                  <a:gd name="T1" fmla="*/ 53 h 53"/>
                  <a:gd name="T2" fmla="*/ 0 w 34"/>
                  <a:gd name="T3" fmla="*/ 53 h 53"/>
                  <a:gd name="T4" fmla="*/ 0 w 34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53"/>
                  <a:gd name="T11" fmla="*/ 34 w 34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53">
                    <a:moveTo>
                      <a:pt x="34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6" name="AutoShape 188"/>
              <p:cNvSpPr>
                <a:spLocks noChangeArrowheads="1"/>
              </p:cNvSpPr>
              <p:nvPr/>
            </p:nvSpPr>
            <p:spPr bwMode="auto">
              <a:xfrm>
                <a:off x="1408" y="1987"/>
                <a:ext cx="34" cy="273"/>
              </a:xfrm>
              <a:custGeom>
                <a:avLst/>
                <a:gdLst>
                  <a:gd name="T0" fmla="*/ 0 w 34"/>
                  <a:gd name="T1" fmla="*/ 273 h 273"/>
                  <a:gd name="T2" fmla="*/ 0 w 34"/>
                  <a:gd name="T3" fmla="*/ 0 h 273"/>
                  <a:gd name="T4" fmla="*/ 34 w 34"/>
                  <a:gd name="T5" fmla="*/ 0 h 27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273"/>
                  <a:gd name="T11" fmla="*/ 34 w 34"/>
                  <a:gd name="T12" fmla="*/ 273 h 2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273">
                    <a:moveTo>
                      <a:pt x="0" y="273"/>
                    </a:moveTo>
                    <a:lnTo>
                      <a:pt x="0" y="0"/>
                    </a:lnTo>
                    <a:lnTo>
                      <a:pt x="34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7" name="Line 189"/>
              <p:cNvSpPr>
                <a:spLocks noChangeShapeType="1"/>
              </p:cNvSpPr>
              <p:nvPr/>
            </p:nvSpPr>
            <p:spPr bwMode="auto">
              <a:xfrm flipV="1">
                <a:off x="1442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Line 190"/>
              <p:cNvSpPr>
                <a:spLocks noChangeShapeType="1"/>
              </p:cNvSpPr>
              <p:nvPr/>
            </p:nvSpPr>
            <p:spPr bwMode="auto">
              <a:xfrm flipV="1">
                <a:off x="1461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Line 191"/>
              <p:cNvSpPr>
                <a:spLocks noChangeShapeType="1"/>
              </p:cNvSpPr>
              <p:nvPr/>
            </p:nvSpPr>
            <p:spPr bwMode="auto">
              <a:xfrm flipH="1">
                <a:off x="1564" y="1949"/>
                <a:ext cx="33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AutoShape 192"/>
              <p:cNvSpPr>
                <a:spLocks noChangeArrowheads="1"/>
              </p:cNvSpPr>
              <p:nvPr/>
            </p:nvSpPr>
            <p:spPr bwMode="auto">
              <a:xfrm>
                <a:off x="1518" y="1863"/>
                <a:ext cx="29" cy="53"/>
              </a:xfrm>
              <a:custGeom>
                <a:avLst/>
                <a:gdLst>
                  <a:gd name="T0" fmla="*/ 29 w 29"/>
                  <a:gd name="T1" fmla="*/ 53 h 53"/>
                  <a:gd name="T2" fmla="*/ 0 w 29"/>
                  <a:gd name="T3" fmla="*/ 53 h 53"/>
                  <a:gd name="T4" fmla="*/ 0 w 29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53"/>
                  <a:gd name="T11" fmla="*/ 29 w 29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53">
                    <a:moveTo>
                      <a:pt x="29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1" name="AutoShape 193"/>
              <p:cNvSpPr>
                <a:spLocks noChangeArrowheads="1"/>
              </p:cNvSpPr>
              <p:nvPr/>
            </p:nvSpPr>
            <p:spPr bwMode="auto">
              <a:xfrm>
                <a:off x="1518" y="1987"/>
                <a:ext cx="29" cy="344"/>
              </a:xfrm>
              <a:custGeom>
                <a:avLst/>
                <a:gdLst>
                  <a:gd name="T0" fmla="*/ 0 w 29"/>
                  <a:gd name="T1" fmla="*/ 344 h 344"/>
                  <a:gd name="T2" fmla="*/ 0 w 29"/>
                  <a:gd name="T3" fmla="*/ 0 h 344"/>
                  <a:gd name="T4" fmla="*/ 29 w 29"/>
                  <a:gd name="T5" fmla="*/ 0 h 344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344"/>
                  <a:gd name="T11" fmla="*/ 29 w 29"/>
                  <a:gd name="T12" fmla="*/ 344 h 3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344">
                    <a:moveTo>
                      <a:pt x="0" y="344"/>
                    </a:moveTo>
                    <a:lnTo>
                      <a:pt x="0" y="0"/>
                    </a:lnTo>
                    <a:lnTo>
                      <a:pt x="29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2" name="Line 194"/>
              <p:cNvSpPr>
                <a:spLocks noChangeShapeType="1"/>
              </p:cNvSpPr>
              <p:nvPr/>
            </p:nvSpPr>
            <p:spPr bwMode="auto">
              <a:xfrm flipV="1">
                <a:off x="1547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3" name="Line 195"/>
              <p:cNvSpPr>
                <a:spLocks noChangeShapeType="1"/>
              </p:cNvSpPr>
              <p:nvPr/>
            </p:nvSpPr>
            <p:spPr bwMode="auto">
              <a:xfrm flipV="1">
                <a:off x="1566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Line 196"/>
              <p:cNvSpPr>
                <a:spLocks noChangeShapeType="1"/>
              </p:cNvSpPr>
              <p:nvPr/>
            </p:nvSpPr>
            <p:spPr bwMode="auto">
              <a:xfrm flipH="1">
                <a:off x="1674" y="1949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AutoShape 197"/>
              <p:cNvSpPr>
                <a:spLocks noChangeArrowheads="1"/>
              </p:cNvSpPr>
              <p:nvPr/>
            </p:nvSpPr>
            <p:spPr bwMode="auto">
              <a:xfrm>
                <a:off x="1623" y="1863"/>
                <a:ext cx="34" cy="53"/>
              </a:xfrm>
              <a:custGeom>
                <a:avLst/>
                <a:gdLst>
                  <a:gd name="T0" fmla="*/ 34 w 34"/>
                  <a:gd name="T1" fmla="*/ 53 h 53"/>
                  <a:gd name="T2" fmla="*/ 0 w 34"/>
                  <a:gd name="T3" fmla="*/ 53 h 53"/>
                  <a:gd name="T4" fmla="*/ 0 w 34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53"/>
                  <a:gd name="T11" fmla="*/ 34 w 34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53">
                    <a:moveTo>
                      <a:pt x="34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6" name="AutoShape 198"/>
              <p:cNvSpPr>
                <a:spLocks noChangeArrowheads="1"/>
              </p:cNvSpPr>
              <p:nvPr/>
            </p:nvSpPr>
            <p:spPr bwMode="auto">
              <a:xfrm>
                <a:off x="1623" y="1987"/>
                <a:ext cx="34" cy="416"/>
              </a:xfrm>
              <a:custGeom>
                <a:avLst/>
                <a:gdLst>
                  <a:gd name="T0" fmla="*/ 0 w 34"/>
                  <a:gd name="T1" fmla="*/ 416 h 416"/>
                  <a:gd name="T2" fmla="*/ 0 w 34"/>
                  <a:gd name="T3" fmla="*/ 0 h 416"/>
                  <a:gd name="T4" fmla="*/ 34 w 34"/>
                  <a:gd name="T5" fmla="*/ 0 h 416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416"/>
                  <a:gd name="T11" fmla="*/ 34 w 34"/>
                  <a:gd name="T12" fmla="*/ 416 h 4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416">
                    <a:moveTo>
                      <a:pt x="0" y="416"/>
                    </a:moveTo>
                    <a:lnTo>
                      <a:pt x="0" y="0"/>
                    </a:lnTo>
                    <a:lnTo>
                      <a:pt x="34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7" name="Line 199"/>
              <p:cNvSpPr>
                <a:spLocks noChangeShapeType="1"/>
              </p:cNvSpPr>
              <p:nvPr/>
            </p:nvSpPr>
            <p:spPr bwMode="auto">
              <a:xfrm flipV="1">
                <a:off x="1657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Line 200"/>
              <p:cNvSpPr>
                <a:spLocks noChangeShapeType="1"/>
              </p:cNvSpPr>
              <p:nvPr/>
            </p:nvSpPr>
            <p:spPr bwMode="auto">
              <a:xfrm flipV="1">
                <a:off x="1676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Line 201"/>
              <p:cNvSpPr>
                <a:spLocks noChangeShapeType="1"/>
              </p:cNvSpPr>
              <p:nvPr/>
            </p:nvSpPr>
            <p:spPr bwMode="auto">
              <a:xfrm flipV="1">
                <a:off x="1408" y="1780"/>
                <a:ext cx="1" cy="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AutoShape 202"/>
              <p:cNvSpPr>
                <a:spLocks noChangeArrowheads="1"/>
              </p:cNvSpPr>
              <p:nvPr/>
            </p:nvSpPr>
            <p:spPr bwMode="auto">
              <a:xfrm>
                <a:off x="1375" y="1696"/>
                <a:ext cx="72" cy="115"/>
              </a:xfrm>
              <a:custGeom>
                <a:avLst/>
                <a:gdLst>
                  <a:gd name="T0" fmla="*/ 34 w 15"/>
                  <a:gd name="T1" fmla="*/ 96 h 24"/>
                  <a:gd name="T2" fmla="*/ 72 w 15"/>
                  <a:gd name="T3" fmla="*/ 115 h 24"/>
                  <a:gd name="T4" fmla="*/ 72 w 15"/>
                  <a:gd name="T5" fmla="*/ 115 h 24"/>
                  <a:gd name="T6" fmla="*/ 48 w 15"/>
                  <a:gd name="T7" fmla="*/ 57 h 24"/>
                  <a:gd name="T8" fmla="*/ 34 w 15"/>
                  <a:gd name="T9" fmla="*/ 0 h 24"/>
                  <a:gd name="T10" fmla="*/ 24 w 15"/>
                  <a:gd name="T11" fmla="*/ 57 h 24"/>
                  <a:gd name="T12" fmla="*/ 0 w 15"/>
                  <a:gd name="T13" fmla="*/ 115 h 24"/>
                  <a:gd name="T14" fmla="*/ 0 w 15"/>
                  <a:gd name="T15" fmla="*/ 115 h 24"/>
                  <a:gd name="T16" fmla="*/ 34 w 15"/>
                  <a:gd name="T17" fmla="*/ 96 h 2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"/>
                  <a:gd name="T28" fmla="*/ 0 h 24"/>
                  <a:gd name="T29" fmla="*/ 15 w 15"/>
                  <a:gd name="T30" fmla="*/ 24 h 2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" h="24">
                    <a:moveTo>
                      <a:pt x="7" y="20"/>
                    </a:move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8"/>
                      <a:pt x="8" y="4"/>
                      <a:pt x="7" y="0"/>
                    </a:cubicBezTo>
                    <a:cubicBezTo>
                      <a:pt x="6" y="4"/>
                      <a:pt x="6" y="8"/>
                      <a:pt x="5" y="1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1" name="Line 203"/>
              <p:cNvSpPr>
                <a:spLocks noChangeShapeType="1"/>
              </p:cNvSpPr>
              <p:nvPr/>
            </p:nvSpPr>
            <p:spPr bwMode="auto">
              <a:xfrm flipV="1">
                <a:off x="1743" y="1316"/>
                <a:ext cx="1" cy="430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Line 204"/>
              <p:cNvSpPr>
                <a:spLocks noChangeShapeType="1"/>
              </p:cNvSpPr>
              <p:nvPr/>
            </p:nvSpPr>
            <p:spPr bwMode="auto">
              <a:xfrm flipH="1">
                <a:off x="4206" y="1132"/>
                <a:ext cx="429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3" name="Rectangle 205"/>
              <p:cNvSpPr>
                <a:spLocks noChangeArrowheads="1"/>
              </p:cNvSpPr>
              <p:nvPr/>
            </p:nvSpPr>
            <p:spPr bwMode="auto">
              <a:xfrm>
                <a:off x="4050" y="1165"/>
                <a:ext cx="669" cy="669"/>
              </a:xfrm>
              <a:prstGeom prst="rect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206"/>
            <p:cNvGrpSpPr>
              <a:grpSpLocks/>
            </p:cNvGrpSpPr>
            <p:nvPr/>
          </p:nvGrpSpPr>
          <p:grpSpPr bwMode="auto">
            <a:xfrm>
              <a:off x="1021" y="960"/>
              <a:ext cx="3732" cy="2613"/>
              <a:chOff x="1021" y="960"/>
              <a:chExt cx="3732" cy="2613"/>
            </a:xfrm>
          </p:grpSpPr>
          <p:sp>
            <p:nvSpPr>
              <p:cNvPr id="384" name="Line 207"/>
              <p:cNvSpPr>
                <a:spLocks noChangeShapeType="1"/>
              </p:cNvSpPr>
              <p:nvPr/>
            </p:nvSpPr>
            <p:spPr bwMode="auto">
              <a:xfrm>
                <a:off x="4418" y="1132"/>
                <a:ext cx="1" cy="86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AutoShape 208"/>
              <p:cNvSpPr>
                <a:spLocks noChangeArrowheads="1"/>
              </p:cNvSpPr>
              <p:nvPr/>
            </p:nvSpPr>
            <p:spPr bwMode="auto">
              <a:xfrm>
                <a:off x="4385" y="1185"/>
                <a:ext cx="72" cy="119"/>
              </a:xfrm>
              <a:custGeom>
                <a:avLst/>
                <a:gdLst>
                  <a:gd name="T0" fmla="*/ 34 w 15"/>
                  <a:gd name="T1" fmla="*/ 24 h 25"/>
                  <a:gd name="T2" fmla="*/ 67 w 15"/>
                  <a:gd name="T3" fmla="*/ 0 h 25"/>
                  <a:gd name="T4" fmla="*/ 72 w 15"/>
                  <a:gd name="T5" fmla="*/ 0 h 25"/>
                  <a:gd name="T6" fmla="*/ 48 w 15"/>
                  <a:gd name="T7" fmla="*/ 57 h 25"/>
                  <a:gd name="T8" fmla="*/ 34 w 15"/>
                  <a:gd name="T9" fmla="*/ 119 h 25"/>
                  <a:gd name="T10" fmla="*/ 24 w 15"/>
                  <a:gd name="T11" fmla="*/ 57 h 25"/>
                  <a:gd name="T12" fmla="*/ 0 w 15"/>
                  <a:gd name="T13" fmla="*/ 0 h 25"/>
                  <a:gd name="T14" fmla="*/ 0 w 15"/>
                  <a:gd name="T15" fmla="*/ 0 h 25"/>
                  <a:gd name="T16" fmla="*/ 34 w 15"/>
                  <a:gd name="T17" fmla="*/ 24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"/>
                  <a:gd name="T28" fmla="*/ 0 h 25"/>
                  <a:gd name="T29" fmla="*/ 15 w 15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" h="25">
                    <a:moveTo>
                      <a:pt x="7" y="5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6"/>
                      <a:pt x="8" y="20"/>
                      <a:pt x="7" y="25"/>
                    </a:cubicBezTo>
                    <a:cubicBezTo>
                      <a:pt x="6" y="20"/>
                      <a:pt x="5" y="16"/>
                      <a:pt x="5" y="1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7" y="5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6" name="Line 209"/>
              <p:cNvSpPr>
                <a:spLocks noChangeShapeType="1"/>
              </p:cNvSpPr>
              <p:nvPr/>
            </p:nvSpPr>
            <p:spPr bwMode="auto">
              <a:xfrm>
                <a:off x="4017" y="1252"/>
                <a:ext cx="1" cy="42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" name="Line 210"/>
              <p:cNvSpPr>
                <a:spLocks noChangeShapeType="1"/>
              </p:cNvSpPr>
              <p:nvPr/>
            </p:nvSpPr>
            <p:spPr bwMode="auto">
              <a:xfrm>
                <a:off x="3931" y="1600"/>
                <a:ext cx="1" cy="2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" name="AutoShape 211"/>
              <p:cNvSpPr>
                <a:spLocks noChangeArrowheads="1"/>
              </p:cNvSpPr>
              <p:nvPr/>
            </p:nvSpPr>
            <p:spPr bwMode="auto">
              <a:xfrm>
                <a:off x="3969" y="1643"/>
                <a:ext cx="48" cy="34"/>
              </a:xfrm>
              <a:custGeom>
                <a:avLst/>
                <a:gdLst>
                  <a:gd name="T0" fmla="*/ 0 w 48"/>
                  <a:gd name="T1" fmla="*/ 0 h 34"/>
                  <a:gd name="T2" fmla="*/ 0 w 48"/>
                  <a:gd name="T3" fmla="*/ 34 h 34"/>
                  <a:gd name="T4" fmla="*/ 48 w 48"/>
                  <a:gd name="T5" fmla="*/ 34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0" y="0"/>
                    </a:moveTo>
                    <a:lnTo>
                      <a:pt x="0" y="34"/>
                    </a:lnTo>
                    <a:lnTo>
                      <a:pt x="48" y="34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9" name="AutoShape 212"/>
              <p:cNvSpPr>
                <a:spLocks noChangeArrowheads="1"/>
              </p:cNvSpPr>
              <p:nvPr/>
            </p:nvSpPr>
            <p:spPr bwMode="auto">
              <a:xfrm>
                <a:off x="3783" y="1643"/>
                <a:ext cx="115" cy="34"/>
              </a:xfrm>
              <a:custGeom>
                <a:avLst/>
                <a:gdLst>
                  <a:gd name="T0" fmla="*/ 0 w 115"/>
                  <a:gd name="T1" fmla="*/ 34 h 34"/>
                  <a:gd name="T2" fmla="*/ 115 w 115"/>
                  <a:gd name="T3" fmla="*/ 34 h 34"/>
                  <a:gd name="T4" fmla="*/ 115 w 115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115"/>
                  <a:gd name="T10" fmla="*/ 0 h 34"/>
                  <a:gd name="T11" fmla="*/ 115 w 115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5" h="34">
                    <a:moveTo>
                      <a:pt x="0" y="34"/>
                    </a:moveTo>
                    <a:lnTo>
                      <a:pt x="115" y="34"/>
                    </a:lnTo>
                    <a:lnTo>
                      <a:pt x="115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" name="Line 213"/>
              <p:cNvSpPr>
                <a:spLocks noChangeShapeType="1"/>
              </p:cNvSpPr>
              <p:nvPr/>
            </p:nvSpPr>
            <p:spPr bwMode="auto">
              <a:xfrm>
                <a:off x="3898" y="1643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Line 214"/>
              <p:cNvSpPr>
                <a:spLocks noChangeShapeType="1"/>
              </p:cNvSpPr>
              <p:nvPr/>
            </p:nvSpPr>
            <p:spPr bwMode="auto">
              <a:xfrm>
                <a:off x="3898" y="1624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Line 215"/>
              <p:cNvSpPr>
                <a:spLocks noChangeShapeType="1"/>
              </p:cNvSpPr>
              <p:nvPr/>
            </p:nvSpPr>
            <p:spPr bwMode="auto">
              <a:xfrm>
                <a:off x="3931" y="1490"/>
                <a:ext cx="1" cy="29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" name="AutoShape 216"/>
              <p:cNvSpPr>
                <a:spLocks noChangeArrowheads="1"/>
              </p:cNvSpPr>
              <p:nvPr/>
            </p:nvSpPr>
            <p:spPr bwMode="auto">
              <a:xfrm>
                <a:off x="3969" y="1538"/>
                <a:ext cx="48" cy="34"/>
              </a:xfrm>
              <a:custGeom>
                <a:avLst/>
                <a:gdLst>
                  <a:gd name="T0" fmla="*/ 0 w 48"/>
                  <a:gd name="T1" fmla="*/ 0 h 34"/>
                  <a:gd name="T2" fmla="*/ 0 w 48"/>
                  <a:gd name="T3" fmla="*/ 34 h 34"/>
                  <a:gd name="T4" fmla="*/ 48 w 48"/>
                  <a:gd name="T5" fmla="*/ 34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0" y="0"/>
                    </a:moveTo>
                    <a:lnTo>
                      <a:pt x="0" y="34"/>
                    </a:lnTo>
                    <a:lnTo>
                      <a:pt x="48" y="34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4" name="AutoShape 217"/>
              <p:cNvSpPr>
                <a:spLocks noChangeArrowheads="1"/>
              </p:cNvSpPr>
              <p:nvPr/>
            </p:nvSpPr>
            <p:spPr bwMode="auto">
              <a:xfrm>
                <a:off x="3711" y="1538"/>
                <a:ext cx="187" cy="34"/>
              </a:xfrm>
              <a:custGeom>
                <a:avLst/>
                <a:gdLst>
                  <a:gd name="T0" fmla="*/ 0 w 187"/>
                  <a:gd name="T1" fmla="*/ 34 h 34"/>
                  <a:gd name="T2" fmla="*/ 187 w 187"/>
                  <a:gd name="T3" fmla="*/ 34 h 34"/>
                  <a:gd name="T4" fmla="*/ 187 w 187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187"/>
                  <a:gd name="T10" fmla="*/ 0 h 34"/>
                  <a:gd name="T11" fmla="*/ 187 w 187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7" h="34">
                    <a:moveTo>
                      <a:pt x="0" y="34"/>
                    </a:moveTo>
                    <a:lnTo>
                      <a:pt x="187" y="34"/>
                    </a:lnTo>
                    <a:lnTo>
                      <a:pt x="187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5" name="Line 218"/>
              <p:cNvSpPr>
                <a:spLocks noChangeShapeType="1"/>
              </p:cNvSpPr>
              <p:nvPr/>
            </p:nvSpPr>
            <p:spPr bwMode="auto">
              <a:xfrm>
                <a:off x="3898" y="1538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Line 219"/>
              <p:cNvSpPr>
                <a:spLocks noChangeShapeType="1"/>
              </p:cNvSpPr>
              <p:nvPr/>
            </p:nvSpPr>
            <p:spPr bwMode="auto">
              <a:xfrm>
                <a:off x="3898" y="1519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Line 220"/>
              <p:cNvSpPr>
                <a:spLocks noChangeShapeType="1"/>
              </p:cNvSpPr>
              <p:nvPr/>
            </p:nvSpPr>
            <p:spPr bwMode="auto">
              <a:xfrm>
                <a:off x="3931" y="1385"/>
                <a:ext cx="1" cy="29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AutoShape 221"/>
              <p:cNvSpPr>
                <a:spLocks noChangeArrowheads="1"/>
              </p:cNvSpPr>
              <p:nvPr/>
            </p:nvSpPr>
            <p:spPr bwMode="auto">
              <a:xfrm>
                <a:off x="3969" y="1433"/>
                <a:ext cx="48" cy="29"/>
              </a:xfrm>
              <a:custGeom>
                <a:avLst/>
                <a:gdLst>
                  <a:gd name="T0" fmla="*/ 0 w 48"/>
                  <a:gd name="T1" fmla="*/ 0 h 29"/>
                  <a:gd name="T2" fmla="*/ 0 w 48"/>
                  <a:gd name="T3" fmla="*/ 29 h 29"/>
                  <a:gd name="T4" fmla="*/ 48 w 48"/>
                  <a:gd name="T5" fmla="*/ 29 h 29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29"/>
                  <a:gd name="T11" fmla="*/ 48 w 48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29">
                    <a:moveTo>
                      <a:pt x="0" y="0"/>
                    </a:moveTo>
                    <a:lnTo>
                      <a:pt x="0" y="29"/>
                    </a:lnTo>
                    <a:lnTo>
                      <a:pt x="48" y="29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" name="AutoShape 222"/>
              <p:cNvSpPr>
                <a:spLocks noChangeArrowheads="1"/>
              </p:cNvSpPr>
              <p:nvPr/>
            </p:nvSpPr>
            <p:spPr bwMode="auto">
              <a:xfrm>
                <a:off x="3640" y="1433"/>
                <a:ext cx="258" cy="29"/>
              </a:xfrm>
              <a:custGeom>
                <a:avLst/>
                <a:gdLst>
                  <a:gd name="T0" fmla="*/ 0 w 258"/>
                  <a:gd name="T1" fmla="*/ 29 h 29"/>
                  <a:gd name="T2" fmla="*/ 258 w 258"/>
                  <a:gd name="T3" fmla="*/ 29 h 29"/>
                  <a:gd name="T4" fmla="*/ 258 w 258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258"/>
                  <a:gd name="T10" fmla="*/ 0 h 29"/>
                  <a:gd name="T11" fmla="*/ 258 w 258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8" h="29">
                    <a:moveTo>
                      <a:pt x="0" y="29"/>
                    </a:moveTo>
                    <a:lnTo>
                      <a:pt x="258" y="29"/>
                    </a:lnTo>
                    <a:lnTo>
                      <a:pt x="258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" name="Line 223"/>
              <p:cNvSpPr>
                <a:spLocks noChangeShapeType="1"/>
              </p:cNvSpPr>
              <p:nvPr/>
            </p:nvSpPr>
            <p:spPr bwMode="auto">
              <a:xfrm>
                <a:off x="3898" y="1433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1" name="Line 224"/>
              <p:cNvSpPr>
                <a:spLocks noChangeShapeType="1"/>
              </p:cNvSpPr>
              <p:nvPr/>
            </p:nvSpPr>
            <p:spPr bwMode="auto">
              <a:xfrm>
                <a:off x="3898" y="1414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Line 225"/>
              <p:cNvSpPr>
                <a:spLocks noChangeShapeType="1"/>
              </p:cNvSpPr>
              <p:nvPr/>
            </p:nvSpPr>
            <p:spPr bwMode="auto">
              <a:xfrm>
                <a:off x="3931" y="1280"/>
                <a:ext cx="1" cy="2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AutoShape 226"/>
              <p:cNvSpPr>
                <a:spLocks noChangeArrowheads="1"/>
              </p:cNvSpPr>
              <p:nvPr/>
            </p:nvSpPr>
            <p:spPr bwMode="auto">
              <a:xfrm>
                <a:off x="3969" y="1323"/>
                <a:ext cx="48" cy="34"/>
              </a:xfrm>
              <a:custGeom>
                <a:avLst/>
                <a:gdLst>
                  <a:gd name="T0" fmla="*/ 0 w 48"/>
                  <a:gd name="T1" fmla="*/ 0 h 34"/>
                  <a:gd name="T2" fmla="*/ 0 w 48"/>
                  <a:gd name="T3" fmla="*/ 34 h 34"/>
                  <a:gd name="T4" fmla="*/ 48 w 48"/>
                  <a:gd name="T5" fmla="*/ 34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0" y="0"/>
                    </a:moveTo>
                    <a:lnTo>
                      <a:pt x="0" y="34"/>
                    </a:lnTo>
                    <a:lnTo>
                      <a:pt x="48" y="34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4" name="AutoShape 227"/>
              <p:cNvSpPr>
                <a:spLocks noChangeArrowheads="1"/>
              </p:cNvSpPr>
              <p:nvPr/>
            </p:nvSpPr>
            <p:spPr bwMode="auto">
              <a:xfrm>
                <a:off x="3568" y="1323"/>
                <a:ext cx="330" cy="34"/>
              </a:xfrm>
              <a:custGeom>
                <a:avLst/>
                <a:gdLst>
                  <a:gd name="T0" fmla="*/ 0 w 330"/>
                  <a:gd name="T1" fmla="*/ 34 h 34"/>
                  <a:gd name="T2" fmla="*/ 330 w 330"/>
                  <a:gd name="T3" fmla="*/ 34 h 34"/>
                  <a:gd name="T4" fmla="*/ 330 w 330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34"/>
                  <a:gd name="T11" fmla="*/ 330 w 330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34">
                    <a:moveTo>
                      <a:pt x="0" y="34"/>
                    </a:moveTo>
                    <a:lnTo>
                      <a:pt x="330" y="34"/>
                    </a:lnTo>
                    <a:lnTo>
                      <a:pt x="33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5" name="Line 228"/>
              <p:cNvSpPr>
                <a:spLocks noChangeShapeType="1"/>
              </p:cNvSpPr>
              <p:nvPr/>
            </p:nvSpPr>
            <p:spPr bwMode="auto">
              <a:xfrm>
                <a:off x="3898" y="1323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" name="Line 229"/>
              <p:cNvSpPr>
                <a:spLocks noChangeShapeType="1"/>
              </p:cNvSpPr>
              <p:nvPr/>
            </p:nvSpPr>
            <p:spPr bwMode="auto">
              <a:xfrm>
                <a:off x="3898" y="1304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" name="Line 230"/>
              <p:cNvSpPr>
                <a:spLocks noChangeShapeType="1"/>
              </p:cNvSpPr>
              <p:nvPr/>
            </p:nvSpPr>
            <p:spPr bwMode="auto">
              <a:xfrm>
                <a:off x="3931" y="1175"/>
                <a:ext cx="1" cy="2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AutoShape 231"/>
              <p:cNvSpPr>
                <a:spLocks noChangeArrowheads="1"/>
              </p:cNvSpPr>
              <p:nvPr/>
            </p:nvSpPr>
            <p:spPr bwMode="auto">
              <a:xfrm>
                <a:off x="3969" y="1218"/>
                <a:ext cx="48" cy="34"/>
              </a:xfrm>
              <a:custGeom>
                <a:avLst/>
                <a:gdLst>
                  <a:gd name="T0" fmla="*/ 0 w 48"/>
                  <a:gd name="T1" fmla="*/ 0 h 34"/>
                  <a:gd name="T2" fmla="*/ 0 w 48"/>
                  <a:gd name="T3" fmla="*/ 34 h 34"/>
                  <a:gd name="T4" fmla="*/ 48 w 48"/>
                  <a:gd name="T5" fmla="*/ 34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0" y="0"/>
                    </a:moveTo>
                    <a:lnTo>
                      <a:pt x="0" y="34"/>
                    </a:lnTo>
                    <a:lnTo>
                      <a:pt x="48" y="34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9" name="AutoShape 232"/>
              <p:cNvSpPr>
                <a:spLocks noChangeArrowheads="1"/>
              </p:cNvSpPr>
              <p:nvPr/>
            </p:nvSpPr>
            <p:spPr bwMode="auto">
              <a:xfrm>
                <a:off x="3496" y="1218"/>
                <a:ext cx="402" cy="34"/>
              </a:xfrm>
              <a:custGeom>
                <a:avLst/>
                <a:gdLst>
                  <a:gd name="T0" fmla="*/ 0 w 402"/>
                  <a:gd name="T1" fmla="*/ 34 h 34"/>
                  <a:gd name="T2" fmla="*/ 402 w 402"/>
                  <a:gd name="T3" fmla="*/ 34 h 34"/>
                  <a:gd name="T4" fmla="*/ 402 w 402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402"/>
                  <a:gd name="T10" fmla="*/ 0 h 34"/>
                  <a:gd name="T11" fmla="*/ 402 w 402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2" h="34">
                    <a:moveTo>
                      <a:pt x="0" y="34"/>
                    </a:moveTo>
                    <a:lnTo>
                      <a:pt x="402" y="34"/>
                    </a:lnTo>
                    <a:lnTo>
                      <a:pt x="402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" name="Line 233"/>
              <p:cNvSpPr>
                <a:spLocks noChangeShapeType="1"/>
              </p:cNvSpPr>
              <p:nvPr/>
            </p:nvSpPr>
            <p:spPr bwMode="auto">
              <a:xfrm>
                <a:off x="3898" y="1218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" name="Line 234"/>
              <p:cNvSpPr>
                <a:spLocks noChangeShapeType="1"/>
              </p:cNvSpPr>
              <p:nvPr/>
            </p:nvSpPr>
            <p:spPr bwMode="auto">
              <a:xfrm>
                <a:off x="3898" y="1199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" name="Line 235"/>
              <p:cNvSpPr>
                <a:spLocks noChangeShapeType="1"/>
              </p:cNvSpPr>
              <p:nvPr/>
            </p:nvSpPr>
            <p:spPr bwMode="auto">
              <a:xfrm>
                <a:off x="4017" y="1462"/>
                <a:ext cx="8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" name="AutoShape 236"/>
              <p:cNvSpPr>
                <a:spLocks noChangeArrowheads="1"/>
              </p:cNvSpPr>
              <p:nvPr/>
            </p:nvSpPr>
            <p:spPr bwMode="auto">
              <a:xfrm>
                <a:off x="4074" y="1428"/>
                <a:ext cx="115" cy="72"/>
              </a:xfrm>
              <a:custGeom>
                <a:avLst/>
                <a:gdLst>
                  <a:gd name="T0" fmla="*/ 19 w 24"/>
                  <a:gd name="T1" fmla="*/ 34 h 15"/>
                  <a:gd name="T2" fmla="*/ 0 w 24"/>
                  <a:gd name="T3" fmla="*/ 0 h 15"/>
                  <a:gd name="T4" fmla="*/ 0 w 24"/>
                  <a:gd name="T5" fmla="*/ 0 h 15"/>
                  <a:gd name="T6" fmla="*/ 57 w 24"/>
                  <a:gd name="T7" fmla="*/ 24 h 15"/>
                  <a:gd name="T8" fmla="*/ 115 w 24"/>
                  <a:gd name="T9" fmla="*/ 34 h 15"/>
                  <a:gd name="T10" fmla="*/ 57 w 24"/>
                  <a:gd name="T11" fmla="*/ 48 h 15"/>
                  <a:gd name="T12" fmla="*/ 0 w 24"/>
                  <a:gd name="T13" fmla="*/ 72 h 15"/>
                  <a:gd name="T14" fmla="*/ 0 w 24"/>
                  <a:gd name="T15" fmla="*/ 72 h 15"/>
                  <a:gd name="T16" fmla="*/ 19 w 24"/>
                  <a:gd name="T17" fmla="*/ 34 h 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15"/>
                  <a:gd name="T29" fmla="*/ 24 w 24"/>
                  <a:gd name="T30" fmla="*/ 15 h 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15">
                    <a:moveTo>
                      <a:pt x="4" y="7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6" y="6"/>
                      <a:pt x="20" y="6"/>
                      <a:pt x="24" y="7"/>
                    </a:cubicBezTo>
                    <a:cubicBezTo>
                      <a:pt x="20" y="8"/>
                      <a:pt x="16" y="9"/>
                      <a:pt x="12" y="1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4" name="Line 237"/>
              <p:cNvSpPr>
                <a:spLocks noChangeShapeType="1"/>
              </p:cNvSpPr>
              <p:nvPr/>
            </p:nvSpPr>
            <p:spPr bwMode="auto">
              <a:xfrm flipH="1">
                <a:off x="4206" y="1863"/>
                <a:ext cx="429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Line 238"/>
              <p:cNvSpPr>
                <a:spLocks noChangeShapeType="1"/>
              </p:cNvSpPr>
              <p:nvPr/>
            </p:nvSpPr>
            <p:spPr bwMode="auto">
              <a:xfrm flipH="1">
                <a:off x="4254" y="1949"/>
                <a:ext cx="33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AutoShape 239"/>
              <p:cNvSpPr>
                <a:spLocks noChangeArrowheads="1"/>
              </p:cNvSpPr>
              <p:nvPr/>
            </p:nvSpPr>
            <p:spPr bwMode="auto">
              <a:xfrm>
                <a:off x="4208" y="1863"/>
                <a:ext cx="29" cy="53"/>
              </a:xfrm>
              <a:custGeom>
                <a:avLst/>
                <a:gdLst>
                  <a:gd name="T0" fmla="*/ 29 w 29"/>
                  <a:gd name="T1" fmla="*/ 53 h 53"/>
                  <a:gd name="T2" fmla="*/ 0 w 29"/>
                  <a:gd name="T3" fmla="*/ 53 h 53"/>
                  <a:gd name="T4" fmla="*/ 0 w 29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53"/>
                  <a:gd name="T11" fmla="*/ 29 w 29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53">
                    <a:moveTo>
                      <a:pt x="29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7" name="AutoShape 240"/>
              <p:cNvSpPr>
                <a:spLocks noChangeArrowheads="1"/>
              </p:cNvSpPr>
              <p:nvPr/>
            </p:nvSpPr>
            <p:spPr bwMode="auto">
              <a:xfrm>
                <a:off x="4208" y="1987"/>
                <a:ext cx="29" cy="129"/>
              </a:xfrm>
              <a:custGeom>
                <a:avLst/>
                <a:gdLst>
                  <a:gd name="T0" fmla="*/ 0 w 29"/>
                  <a:gd name="T1" fmla="*/ 129 h 129"/>
                  <a:gd name="T2" fmla="*/ 0 w 29"/>
                  <a:gd name="T3" fmla="*/ 0 h 129"/>
                  <a:gd name="T4" fmla="*/ 29 w 29"/>
                  <a:gd name="T5" fmla="*/ 0 h 129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129"/>
                  <a:gd name="T11" fmla="*/ 29 w 29"/>
                  <a:gd name="T12" fmla="*/ 129 h 1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129">
                    <a:moveTo>
                      <a:pt x="0" y="129"/>
                    </a:moveTo>
                    <a:lnTo>
                      <a:pt x="0" y="0"/>
                    </a:lnTo>
                    <a:lnTo>
                      <a:pt x="29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8" name="Line 241"/>
              <p:cNvSpPr>
                <a:spLocks noChangeShapeType="1"/>
              </p:cNvSpPr>
              <p:nvPr/>
            </p:nvSpPr>
            <p:spPr bwMode="auto">
              <a:xfrm flipV="1">
                <a:off x="4237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" name="Line 242"/>
              <p:cNvSpPr>
                <a:spLocks noChangeShapeType="1"/>
              </p:cNvSpPr>
              <p:nvPr/>
            </p:nvSpPr>
            <p:spPr bwMode="auto">
              <a:xfrm flipV="1">
                <a:off x="4256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Line 243"/>
              <p:cNvSpPr>
                <a:spLocks noChangeShapeType="1"/>
              </p:cNvSpPr>
              <p:nvPr/>
            </p:nvSpPr>
            <p:spPr bwMode="auto">
              <a:xfrm flipH="1">
                <a:off x="4364" y="1949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AutoShape 244"/>
              <p:cNvSpPr>
                <a:spLocks noChangeArrowheads="1"/>
              </p:cNvSpPr>
              <p:nvPr/>
            </p:nvSpPr>
            <p:spPr bwMode="auto">
              <a:xfrm>
                <a:off x="4313" y="1863"/>
                <a:ext cx="34" cy="53"/>
              </a:xfrm>
              <a:custGeom>
                <a:avLst/>
                <a:gdLst>
                  <a:gd name="T0" fmla="*/ 34 w 34"/>
                  <a:gd name="T1" fmla="*/ 53 h 53"/>
                  <a:gd name="T2" fmla="*/ 0 w 34"/>
                  <a:gd name="T3" fmla="*/ 53 h 53"/>
                  <a:gd name="T4" fmla="*/ 0 w 34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53"/>
                  <a:gd name="T11" fmla="*/ 34 w 34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53">
                    <a:moveTo>
                      <a:pt x="34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2" name="AutoShape 245"/>
              <p:cNvSpPr>
                <a:spLocks noChangeArrowheads="1"/>
              </p:cNvSpPr>
              <p:nvPr/>
            </p:nvSpPr>
            <p:spPr bwMode="auto">
              <a:xfrm>
                <a:off x="4313" y="1987"/>
                <a:ext cx="34" cy="201"/>
              </a:xfrm>
              <a:custGeom>
                <a:avLst/>
                <a:gdLst>
                  <a:gd name="T0" fmla="*/ 0 w 34"/>
                  <a:gd name="T1" fmla="*/ 201 h 201"/>
                  <a:gd name="T2" fmla="*/ 0 w 34"/>
                  <a:gd name="T3" fmla="*/ 0 h 201"/>
                  <a:gd name="T4" fmla="*/ 34 w 34"/>
                  <a:gd name="T5" fmla="*/ 0 h 201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201"/>
                  <a:gd name="T11" fmla="*/ 34 w 34"/>
                  <a:gd name="T12" fmla="*/ 201 h 2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201">
                    <a:moveTo>
                      <a:pt x="0" y="201"/>
                    </a:moveTo>
                    <a:lnTo>
                      <a:pt x="0" y="0"/>
                    </a:lnTo>
                    <a:lnTo>
                      <a:pt x="34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3" name="Line 246"/>
              <p:cNvSpPr>
                <a:spLocks noChangeShapeType="1"/>
              </p:cNvSpPr>
              <p:nvPr/>
            </p:nvSpPr>
            <p:spPr bwMode="auto">
              <a:xfrm flipV="1">
                <a:off x="4347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" name="Line 247"/>
              <p:cNvSpPr>
                <a:spLocks noChangeShapeType="1"/>
              </p:cNvSpPr>
              <p:nvPr/>
            </p:nvSpPr>
            <p:spPr bwMode="auto">
              <a:xfrm flipV="1">
                <a:off x="4366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" name="Line 248"/>
              <p:cNvSpPr>
                <a:spLocks noChangeShapeType="1"/>
              </p:cNvSpPr>
              <p:nvPr/>
            </p:nvSpPr>
            <p:spPr bwMode="auto">
              <a:xfrm flipH="1">
                <a:off x="4469" y="1949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AutoShape 249"/>
              <p:cNvSpPr>
                <a:spLocks noChangeArrowheads="1"/>
              </p:cNvSpPr>
              <p:nvPr/>
            </p:nvSpPr>
            <p:spPr bwMode="auto">
              <a:xfrm>
                <a:off x="4418" y="1863"/>
                <a:ext cx="34" cy="53"/>
              </a:xfrm>
              <a:custGeom>
                <a:avLst/>
                <a:gdLst>
                  <a:gd name="T0" fmla="*/ 34 w 34"/>
                  <a:gd name="T1" fmla="*/ 53 h 53"/>
                  <a:gd name="T2" fmla="*/ 0 w 34"/>
                  <a:gd name="T3" fmla="*/ 53 h 53"/>
                  <a:gd name="T4" fmla="*/ 0 w 34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53"/>
                  <a:gd name="T11" fmla="*/ 34 w 34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53">
                    <a:moveTo>
                      <a:pt x="34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7" name="AutoShape 250"/>
              <p:cNvSpPr>
                <a:spLocks noChangeArrowheads="1"/>
              </p:cNvSpPr>
              <p:nvPr/>
            </p:nvSpPr>
            <p:spPr bwMode="auto">
              <a:xfrm>
                <a:off x="4418" y="1987"/>
                <a:ext cx="34" cy="273"/>
              </a:xfrm>
              <a:custGeom>
                <a:avLst/>
                <a:gdLst>
                  <a:gd name="T0" fmla="*/ 0 w 34"/>
                  <a:gd name="T1" fmla="*/ 273 h 273"/>
                  <a:gd name="T2" fmla="*/ 0 w 34"/>
                  <a:gd name="T3" fmla="*/ 0 h 273"/>
                  <a:gd name="T4" fmla="*/ 34 w 34"/>
                  <a:gd name="T5" fmla="*/ 0 h 273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273"/>
                  <a:gd name="T11" fmla="*/ 34 w 34"/>
                  <a:gd name="T12" fmla="*/ 273 h 2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273">
                    <a:moveTo>
                      <a:pt x="0" y="273"/>
                    </a:moveTo>
                    <a:lnTo>
                      <a:pt x="0" y="0"/>
                    </a:lnTo>
                    <a:lnTo>
                      <a:pt x="34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8" name="Line 251"/>
              <p:cNvSpPr>
                <a:spLocks noChangeShapeType="1"/>
              </p:cNvSpPr>
              <p:nvPr/>
            </p:nvSpPr>
            <p:spPr bwMode="auto">
              <a:xfrm flipV="1">
                <a:off x="4452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9" name="Line 252"/>
              <p:cNvSpPr>
                <a:spLocks noChangeShapeType="1"/>
              </p:cNvSpPr>
              <p:nvPr/>
            </p:nvSpPr>
            <p:spPr bwMode="auto">
              <a:xfrm flipV="1">
                <a:off x="4471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" name="Line 253"/>
              <p:cNvSpPr>
                <a:spLocks noChangeShapeType="1"/>
              </p:cNvSpPr>
              <p:nvPr/>
            </p:nvSpPr>
            <p:spPr bwMode="auto">
              <a:xfrm flipH="1">
                <a:off x="4574" y="1949"/>
                <a:ext cx="33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" name="AutoShape 254"/>
              <p:cNvSpPr>
                <a:spLocks noChangeArrowheads="1"/>
              </p:cNvSpPr>
              <p:nvPr/>
            </p:nvSpPr>
            <p:spPr bwMode="auto">
              <a:xfrm>
                <a:off x="4528" y="1863"/>
                <a:ext cx="29" cy="53"/>
              </a:xfrm>
              <a:custGeom>
                <a:avLst/>
                <a:gdLst>
                  <a:gd name="T0" fmla="*/ 29 w 29"/>
                  <a:gd name="T1" fmla="*/ 53 h 53"/>
                  <a:gd name="T2" fmla="*/ 0 w 29"/>
                  <a:gd name="T3" fmla="*/ 53 h 53"/>
                  <a:gd name="T4" fmla="*/ 0 w 29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53"/>
                  <a:gd name="T11" fmla="*/ 29 w 29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53">
                    <a:moveTo>
                      <a:pt x="29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2" name="AutoShape 255"/>
              <p:cNvSpPr>
                <a:spLocks noChangeArrowheads="1"/>
              </p:cNvSpPr>
              <p:nvPr/>
            </p:nvSpPr>
            <p:spPr bwMode="auto">
              <a:xfrm>
                <a:off x="4528" y="1987"/>
                <a:ext cx="29" cy="344"/>
              </a:xfrm>
              <a:custGeom>
                <a:avLst/>
                <a:gdLst>
                  <a:gd name="T0" fmla="*/ 0 w 29"/>
                  <a:gd name="T1" fmla="*/ 344 h 344"/>
                  <a:gd name="T2" fmla="*/ 0 w 29"/>
                  <a:gd name="T3" fmla="*/ 0 h 344"/>
                  <a:gd name="T4" fmla="*/ 29 w 29"/>
                  <a:gd name="T5" fmla="*/ 0 h 344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344"/>
                  <a:gd name="T11" fmla="*/ 29 w 29"/>
                  <a:gd name="T12" fmla="*/ 344 h 3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344">
                    <a:moveTo>
                      <a:pt x="0" y="344"/>
                    </a:moveTo>
                    <a:lnTo>
                      <a:pt x="0" y="0"/>
                    </a:lnTo>
                    <a:lnTo>
                      <a:pt x="29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3" name="Line 256"/>
              <p:cNvSpPr>
                <a:spLocks noChangeShapeType="1"/>
              </p:cNvSpPr>
              <p:nvPr/>
            </p:nvSpPr>
            <p:spPr bwMode="auto">
              <a:xfrm flipV="1">
                <a:off x="4557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Line 257"/>
              <p:cNvSpPr>
                <a:spLocks noChangeShapeType="1"/>
              </p:cNvSpPr>
              <p:nvPr/>
            </p:nvSpPr>
            <p:spPr bwMode="auto">
              <a:xfrm flipV="1">
                <a:off x="4576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" name="Line 258"/>
              <p:cNvSpPr>
                <a:spLocks noChangeShapeType="1"/>
              </p:cNvSpPr>
              <p:nvPr/>
            </p:nvSpPr>
            <p:spPr bwMode="auto">
              <a:xfrm flipH="1">
                <a:off x="4684" y="1949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" name="AutoShape 259"/>
              <p:cNvSpPr>
                <a:spLocks noChangeArrowheads="1"/>
              </p:cNvSpPr>
              <p:nvPr/>
            </p:nvSpPr>
            <p:spPr bwMode="auto">
              <a:xfrm>
                <a:off x="4633" y="1863"/>
                <a:ext cx="29" cy="53"/>
              </a:xfrm>
              <a:custGeom>
                <a:avLst/>
                <a:gdLst>
                  <a:gd name="T0" fmla="*/ 29 w 29"/>
                  <a:gd name="T1" fmla="*/ 53 h 53"/>
                  <a:gd name="T2" fmla="*/ 0 w 29"/>
                  <a:gd name="T3" fmla="*/ 53 h 53"/>
                  <a:gd name="T4" fmla="*/ 0 w 29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53"/>
                  <a:gd name="T11" fmla="*/ 29 w 29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53">
                    <a:moveTo>
                      <a:pt x="29" y="53"/>
                    </a:move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7" name="AutoShape 260"/>
              <p:cNvSpPr>
                <a:spLocks noChangeArrowheads="1"/>
              </p:cNvSpPr>
              <p:nvPr/>
            </p:nvSpPr>
            <p:spPr bwMode="auto">
              <a:xfrm>
                <a:off x="4633" y="1987"/>
                <a:ext cx="29" cy="416"/>
              </a:xfrm>
              <a:custGeom>
                <a:avLst/>
                <a:gdLst>
                  <a:gd name="T0" fmla="*/ 0 w 29"/>
                  <a:gd name="T1" fmla="*/ 416 h 416"/>
                  <a:gd name="T2" fmla="*/ 0 w 29"/>
                  <a:gd name="T3" fmla="*/ 0 h 416"/>
                  <a:gd name="T4" fmla="*/ 29 w 29"/>
                  <a:gd name="T5" fmla="*/ 0 h 416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416"/>
                  <a:gd name="T11" fmla="*/ 29 w 29"/>
                  <a:gd name="T12" fmla="*/ 416 h 4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416">
                    <a:moveTo>
                      <a:pt x="0" y="416"/>
                    </a:moveTo>
                    <a:lnTo>
                      <a:pt x="0" y="0"/>
                    </a:lnTo>
                    <a:lnTo>
                      <a:pt x="29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8" name="Line 261"/>
              <p:cNvSpPr>
                <a:spLocks noChangeShapeType="1"/>
              </p:cNvSpPr>
              <p:nvPr/>
            </p:nvSpPr>
            <p:spPr bwMode="auto">
              <a:xfrm flipV="1">
                <a:off x="4662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Line 262"/>
              <p:cNvSpPr>
                <a:spLocks noChangeShapeType="1"/>
              </p:cNvSpPr>
              <p:nvPr/>
            </p:nvSpPr>
            <p:spPr bwMode="auto">
              <a:xfrm flipV="1">
                <a:off x="4681" y="1914"/>
                <a:ext cx="1" cy="7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Line 263"/>
              <p:cNvSpPr>
                <a:spLocks noChangeShapeType="1"/>
              </p:cNvSpPr>
              <p:nvPr/>
            </p:nvSpPr>
            <p:spPr bwMode="auto">
              <a:xfrm flipV="1">
                <a:off x="4418" y="1780"/>
                <a:ext cx="1" cy="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" name="AutoShape 264"/>
              <p:cNvSpPr>
                <a:spLocks noChangeArrowheads="1"/>
              </p:cNvSpPr>
              <p:nvPr/>
            </p:nvSpPr>
            <p:spPr bwMode="auto">
              <a:xfrm>
                <a:off x="4385" y="1696"/>
                <a:ext cx="72" cy="115"/>
              </a:xfrm>
              <a:custGeom>
                <a:avLst/>
                <a:gdLst>
                  <a:gd name="T0" fmla="*/ 34 w 15"/>
                  <a:gd name="T1" fmla="*/ 96 h 24"/>
                  <a:gd name="T2" fmla="*/ 67 w 15"/>
                  <a:gd name="T3" fmla="*/ 115 h 24"/>
                  <a:gd name="T4" fmla="*/ 72 w 15"/>
                  <a:gd name="T5" fmla="*/ 115 h 24"/>
                  <a:gd name="T6" fmla="*/ 48 w 15"/>
                  <a:gd name="T7" fmla="*/ 57 h 24"/>
                  <a:gd name="T8" fmla="*/ 34 w 15"/>
                  <a:gd name="T9" fmla="*/ 0 h 24"/>
                  <a:gd name="T10" fmla="*/ 24 w 15"/>
                  <a:gd name="T11" fmla="*/ 57 h 24"/>
                  <a:gd name="T12" fmla="*/ 0 w 15"/>
                  <a:gd name="T13" fmla="*/ 115 h 24"/>
                  <a:gd name="T14" fmla="*/ 0 w 15"/>
                  <a:gd name="T15" fmla="*/ 115 h 24"/>
                  <a:gd name="T16" fmla="*/ 34 w 15"/>
                  <a:gd name="T17" fmla="*/ 96 h 2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"/>
                  <a:gd name="T28" fmla="*/ 0 h 24"/>
                  <a:gd name="T29" fmla="*/ 15 w 15"/>
                  <a:gd name="T30" fmla="*/ 24 h 2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" h="24">
                    <a:moveTo>
                      <a:pt x="7" y="20"/>
                    </a:move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8"/>
                      <a:pt x="8" y="4"/>
                      <a:pt x="7" y="0"/>
                    </a:cubicBezTo>
                    <a:cubicBezTo>
                      <a:pt x="6" y="4"/>
                      <a:pt x="5" y="8"/>
                      <a:pt x="5" y="1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2" name="Line 265"/>
              <p:cNvSpPr>
                <a:spLocks noChangeShapeType="1"/>
              </p:cNvSpPr>
              <p:nvPr/>
            </p:nvSpPr>
            <p:spPr bwMode="auto">
              <a:xfrm flipV="1">
                <a:off x="4753" y="1316"/>
                <a:ext cx="1" cy="430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" name="Line 266"/>
              <p:cNvSpPr>
                <a:spLocks noChangeShapeType="1"/>
              </p:cNvSpPr>
              <p:nvPr/>
            </p:nvSpPr>
            <p:spPr bwMode="auto">
              <a:xfrm flipH="1">
                <a:off x="4665" y="1533"/>
                <a:ext cx="9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AutoShape 267"/>
              <p:cNvSpPr>
                <a:spLocks noChangeArrowheads="1"/>
              </p:cNvSpPr>
              <p:nvPr/>
            </p:nvSpPr>
            <p:spPr bwMode="auto">
              <a:xfrm>
                <a:off x="4581" y="1500"/>
                <a:ext cx="114" cy="67"/>
              </a:xfrm>
              <a:custGeom>
                <a:avLst/>
                <a:gdLst>
                  <a:gd name="T0" fmla="*/ 19 w 24"/>
                  <a:gd name="T1" fmla="*/ 34 h 14"/>
                  <a:gd name="T2" fmla="*/ 0 w 24"/>
                  <a:gd name="T3" fmla="*/ 67 h 14"/>
                  <a:gd name="T4" fmla="*/ 0 w 24"/>
                  <a:gd name="T5" fmla="*/ 67 h 14"/>
                  <a:gd name="T6" fmla="*/ 57 w 24"/>
                  <a:gd name="T7" fmla="*/ 48 h 14"/>
                  <a:gd name="T8" fmla="*/ 114 w 24"/>
                  <a:gd name="T9" fmla="*/ 34 h 14"/>
                  <a:gd name="T10" fmla="*/ 57 w 24"/>
                  <a:gd name="T11" fmla="*/ 19 h 14"/>
                  <a:gd name="T12" fmla="*/ 0 w 24"/>
                  <a:gd name="T13" fmla="*/ 0 h 14"/>
                  <a:gd name="T14" fmla="*/ 0 w 24"/>
                  <a:gd name="T15" fmla="*/ 0 h 14"/>
                  <a:gd name="T16" fmla="*/ 19 w 24"/>
                  <a:gd name="T17" fmla="*/ 34 h 1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14"/>
                  <a:gd name="T29" fmla="*/ 24 w 24"/>
                  <a:gd name="T30" fmla="*/ 14 h 1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14">
                    <a:moveTo>
                      <a:pt x="4" y="7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6" y="9"/>
                      <a:pt x="20" y="8"/>
                      <a:pt x="24" y="7"/>
                    </a:cubicBezTo>
                    <a:cubicBezTo>
                      <a:pt x="20" y="6"/>
                      <a:pt x="16" y="5"/>
                      <a:pt x="12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5" name="Line 268"/>
              <p:cNvSpPr>
                <a:spLocks noChangeShapeType="1"/>
              </p:cNvSpPr>
              <p:nvPr/>
            </p:nvSpPr>
            <p:spPr bwMode="auto">
              <a:xfrm>
                <a:off x="1996" y="960"/>
                <a:ext cx="1" cy="10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Line 269"/>
              <p:cNvSpPr>
                <a:spLocks noChangeShapeType="1"/>
              </p:cNvSpPr>
              <p:nvPr/>
            </p:nvSpPr>
            <p:spPr bwMode="auto">
              <a:xfrm>
                <a:off x="2068" y="960"/>
                <a:ext cx="1" cy="10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7" name="Line 270"/>
              <p:cNvSpPr>
                <a:spLocks noChangeShapeType="1"/>
              </p:cNvSpPr>
              <p:nvPr/>
            </p:nvSpPr>
            <p:spPr bwMode="auto">
              <a:xfrm>
                <a:off x="2139" y="960"/>
                <a:ext cx="1" cy="573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" name="Line 271"/>
              <p:cNvSpPr>
                <a:spLocks noChangeShapeType="1"/>
              </p:cNvSpPr>
              <p:nvPr/>
            </p:nvSpPr>
            <p:spPr bwMode="auto">
              <a:xfrm>
                <a:off x="2211" y="960"/>
                <a:ext cx="1" cy="10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9" name="Line 272"/>
              <p:cNvSpPr>
                <a:spLocks noChangeShapeType="1"/>
              </p:cNvSpPr>
              <p:nvPr/>
            </p:nvSpPr>
            <p:spPr bwMode="auto">
              <a:xfrm>
                <a:off x="2283" y="960"/>
                <a:ext cx="1" cy="108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Line 273"/>
              <p:cNvSpPr>
                <a:spLocks noChangeShapeType="1"/>
              </p:cNvSpPr>
              <p:nvPr/>
            </p:nvSpPr>
            <p:spPr bwMode="auto">
              <a:xfrm flipV="1">
                <a:off x="1829" y="1474"/>
                <a:ext cx="1" cy="33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AutoShape 274"/>
              <p:cNvSpPr>
                <a:spLocks noChangeArrowheads="1"/>
              </p:cNvSpPr>
              <p:nvPr/>
            </p:nvSpPr>
            <p:spPr bwMode="auto">
              <a:xfrm>
                <a:off x="1743" y="1428"/>
                <a:ext cx="48" cy="29"/>
              </a:xfrm>
              <a:custGeom>
                <a:avLst/>
                <a:gdLst>
                  <a:gd name="T0" fmla="*/ 48 w 48"/>
                  <a:gd name="T1" fmla="*/ 29 h 29"/>
                  <a:gd name="T2" fmla="*/ 48 w 48"/>
                  <a:gd name="T3" fmla="*/ 0 h 29"/>
                  <a:gd name="T4" fmla="*/ 0 w 48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29"/>
                  <a:gd name="T11" fmla="*/ 48 w 48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29">
                    <a:moveTo>
                      <a:pt x="48" y="29"/>
                    </a:moveTo>
                    <a:lnTo>
                      <a:pt x="48" y="0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2" name="AutoShape 275"/>
              <p:cNvSpPr>
                <a:spLocks noChangeArrowheads="1"/>
              </p:cNvSpPr>
              <p:nvPr/>
            </p:nvSpPr>
            <p:spPr bwMode="auto">
              <a:xfrm>
                <a:off x="1867" y="1357"/>
                <a:ext cx="201" cy="100"/>
              </a:xfrm>
              <a:custGeom>
                <a:avLst/>
                <a:gdLst>
                  <a:gd name="T0" fmla="*/ 0 w 201"/>
                  <a:gd name="T1" fmla="*/ 100 h 100"/>
                  <a:gd name="T2" fmla="*/ 0 w 201"/>
                  <a:gd name="T3" fmla="*/ 71 h 100"/>
                  <a:gd name="T4" fmla="*/ 201 w 201"/>
                  <a:gd name="T5" fmla="*/ 71 h 100"/>
                  <a:gd name="T6" fmla="*/ 201 w 201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1"/>
                  <a:gd name="T13" fmla="*/ 0 h 100"/>
                  <a:gd name="T14" fmla="*/ 201 w 201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1" h="100">
                    <a:moveTo>
                      <a:pt x="0" y="100"/>
                    </a:moveTo>
                    <a:lnTo>
                      <a:pt x="0" y="71"/>
                    </a:lnTo>
                    <a:lnTo>
                      <a:pt x="201" y="71"/>
                    </a:lnTo>
                    <a:lnTo>
                      <a:pt x="201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3" name="Line 276"/>
              <p:cNvSpPr>
                <a:spLocks noChangeShapeType="1"/>
              </p:cNvSpPr>
              <p:nvPr/>
            </p:nvSpPr>
            <p:spPr bwMode="auto">
              <a:xfrm flipH="1">
                <a:off x="1789" y="1457"/>
                <a:ext cx="8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" name="Line 277"/>
              <p:cNvSpPr>
                <a:spLocks noChangeShapeType="1"/>
              </p:cNvSpPr>
              <p:nvPr/>
            </p:nvSpPr>
            <p:spPr bwMode="auto">
              <a:xfrm flipH="1">
                <a:off x="1789" y="1476"/>
                <a:ext cx="8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5" name="Line 278"/>
              <p:cNvSpPr>
                <a:spLocks noChangeShapeType="1"/>
              </p:cNvSpPr>
              <p:nvPr/>
            </p:nvSpPr>
            <p:spPr bwMode="auto">
              <a:xfrm flipV="1">
                <a:off x="1829" y="1689"/>
                <a:ext cx="1" cy="28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6" name="AutoShape 279"/>
              <p:cNvSpPr>
                <a:spLocks noChangeArrowheads="1"/>
              </p:cNvSpPr>
              <p:nvPr/>
            </p:nvSpPr>
            <p:spPr bwMode="auto">
              <a:xfrm>
                <a:off x="1743" y="1639"/>
                <a:ext cx="48" cy="33"/>
              </a:xfrm>
              <a:custGeom>
                <a:avLst/>
                <a:gdLst>
                  <a:gd name="T0" fmla="*/ 48 w 48"/>
                  <a:gd name="T1" fmla="*/ 33 h 33"/>
                  <a:gd name="T2" fmla="*/ 48 w 48"/>
                  <a:gd name="T3" fmla="*/ 0 h 33"/>
                  <a:gd name="T4" fmla="*/ 0 w 48"/>
                  <a:gd name="T5" fmla="*/ 0 h 33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3"/>
                  <a:gd name="T11" fmla="*/ 48 w 48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3">
                    <a:moveTo>
                      <a:pt x="48" y="33"/>
                    </a:moveTo>
                    <a:lnTo>
                      <a:pt x="48" y="0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7" name="AutoShape 280"/>
              <p:cNvSpPr>
                <a:spLocks noChangeArrowheads="1"/>
              </p:cNvSpPr>
              <p:nvPr/>
            </p:nvSpPr>
            <p:spPr bwMode="auto">
              <a:xfrm>
                <a:off x="1867" y="1572"/>
                <a:ext cx="344" cy="100"/>
              </a:xfrm>
              <a:custGeom>
                <a:avLst/>
                <a:gdLst>
                  <a:gd name="T0" fmla="*/ 0 w 344"/>
                  <a:gd name="T1" fmla="*/ 100 h 100"/>
                  <a:gd name="T2" fmla="*/ 0 w 344"/>
                  <a:gd name="T3" fmla="*/ 67 h 100"/>
                  <a:gd name="T4" fmla="*/ 344 w 344"/>
                  <a:gd name="T5" fmla="*/ 67 h 100"/>
                  <a:gd name="T6" fmla="*/ 344 w 344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4"/>
                  <a:gd name="T13" fmla="*/ 0 h 100"/>
                  <a:gd name="T14" fmla="*/ 344 w 344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4" h="100">
                    <a:moveTo>
                      <a:pt x="0" y="100"/>
                    </a:moveTo>
                    <a:lnTo>
                      <a:pt x="0" y="67"/>
                    </a:lnTo>
                    <a:lnTo>
                      <a:pt x="344" y="67"/>
                    </a:lnTo>
                    <a:lnTo>
                      <a:pt x="344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8" name="Line 281"/>
              <p:cNvSpPr>
                <a:spLocks noChangeShapeType="1"/>
              </p:cNvSpPr>
              <p:nvPr/>
            </p:nvSpPr>
            <p:spPr bwMode="auto">
              <a:xfrm flipH="1">
                <a:off x="1789" y="1672"/>
                <a:ext cx="8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9" name="Line 282"/>
              <p:cNvSpPr>
                <a:spLocks noChangeShapeType="1"/>
              </p:cNvSpPr>
              <p:nvPr/>
            </p:nvSpPr>
            <p:spPr bwMode="auto">
              <a:xfrm flipH="1">
                <a:off x="1789" y="1691"/>
                <a:ext cx="8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0" name="Line 283"/>
              <p:cNvSpPr>
                <a:spLocks noChangeShapeType="1"/>
              </p:cNvSpPr>
              <p:nvPr/>
            </p:nvSpPr>
            <p:spPr bwMode="auto">
              <a:xfrm flipV="1">
                <a:off x="1829" y="1794"/>
                <a:ext cx="1" cy="33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1" name="AutoShape 284"/>
              <p:cNvSpPr>
                <a:spLocks noChangeArrowheads="1"/>
              </p:cNvSpPr>
              <p:nvPr/>
            </p:nvSpPr>
            <p:spPr bwMode="auto">
              <a:xfrm>
                <a:off x="1743" y="1744"/>
                <a:ext cx="48" cy="33"/>
              </a:xfrm>
              <a:custGeom>
                <a:avLst/>
                <a:gdLst>
                  <a:gd name="T0" fmla="*/ 48 w 48"/>
                  <a:gd name="T1" fmla="*/ 33 h 33"/>
                  <a:gd name="T2" fmla="*/ 48 w 48"/>
                  <a:gd name="T3" fmla="*/ 0 h 33"/>
                  <a:gd name="T4" fmla="*/ 0 w 48"/>
                  <a:gd name="T5" fmla="*/ 0 h 33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3"/>
                  <a:gd name="T11" fmla="*/ 48 w 48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3">
                    <a:moveTo>
                      <a:pt x="48" y="33"/>
                    </a:moveTo>
                    <a:lnTo>
                      <a:pt x="48" y="0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2" name="AutoShape 285"/>
              <p:cNvSpPr>
                <a:spLocks noChangeArrowheads="1"/>
              </p:cNvSpPr>
              <p:nvPr/>
            </p:nvSpPr>
            <p:spPr bwMode="auto">
              <a:xfrm>
                <a:off x="1867" y="1677"/>
                <a:ext cx="416" cy="100"/>
              </a:xfrm>
              <a:custGeom>
                <a:avLst/>
                <a:gdLst>
                  <a:gd name="T0" fmla="*/ 0 w 416"/>
                  <a:gd name="T1" fmla="*/ 100 h 100"/>
                  <a:gd name="T2" fmla="*/ 0 w 416"/>
                  <a:gd name="T3" fmla="*/ 67 h 100"/>
                  <a:gd name="T4" fmla="*/ 416 w 416"/>
                  <a:gd name="T5" fmla="*/ 67 h 100"/>
                  <a:gd name="T6" fmla="*/ 416 w 416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6"/>
                  <a:gd name="T13" fmla="*/ 0 h 100"/>
                  <a:gd name="T14" fmla="*/ 416 w 416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6" h="100">
                    <a:moveTo>
                      <a:pt x="0" y="100"/>
                    </a:moveTo>
                    <a:lnTo>
                      <a:pt x="0" y="67"/>
                    </a:lnTo>
                    <a:lnTo>
                      <a:pt x="416" y="67"/>
                    </a:lnTo>
                    <a:lnTo>
                      <a:pt x="416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3" name="Line 286"/>
              <p:cNvSpPr>
                <a:spLocks noChangeShapeType="1"/>
              </p:cNvSpPr>
              <p:nvPr/>
            </p:nvSpPr>
            <p:spPr bwMode="auto">
              <a:xfrm flipH="1">
                <a:off x="1789" y="1777"/>
                <a:ext cx="8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" name="Line 287"/>
              <p:cNvSpPr>
                <a:spLocks noChangeShapeType="1"/>
              </p:cNvSpPr>
              <p:nvPr/>
            </p:nvSpPr>
            <p:spPr bwMode="auto">
              <a:xfrm flipH="1">
                <a:off x="1789" y="1796"/>
                <a:ext cx="8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5" name="Line 288"/>
              <p:cNvSpPr>
                <a:spLocks noChangeShapeType="1"/>
              </p:cNvSpPr>
              <p:nvPr/>
            </p:nvSpPr>
            <p:spPr bwMode="auto">
              <a:xfrm flipV="1">
                <a:off x="1829" y="1369"/>
                <a:ext cx="1" cy="33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6" name="AutoShape 289"/>
              <p:cNvSpPr>
                <a:spLocks noChangeArrowheads="1"/>
              </p:cNvSpPr>
              <p:nvPr/>
            </p:nvSpPr>
            <p:spPr bwMode="auto">
              <a:xfrm>
                <a:off x="1743" y="1318"/>
                <a:ext cx="48" cy="34"/>
              </a:xfrm>
              <a:custGeom>
                <a:avLst/>
                <a:gdLst>
                  <a:gd name="T0" fmla="*/ 48 w 48"/>
                  <a:gd name="T1" fmla="*/ 34 h 34"/>
                  <a:gd name="T2" fmla="*/ 48 w 48"/>
                  <a:gd name="T3" fmla="*/ 0 h 34"/>
                  <a:gd name="T4" fmla="*/ 0 w 48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48" y="34"/>
                    </a:moveTo>
                    <a:lnTo>
                      <a:pt x="48" y="0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7" name="AutoShape 290"/>
              <p:cNvSpPr>
                <a:spLocks noChangeArrowheads="1"/>
              </p:cNvSpPr>
              <p:nvPr/>
            </p:nvSpPr>
            <p:spPr bwMode="auto">
              <a:xfrm>
                <a:off x="1867" y="1252"/>
                <a:ext cx="129" cy="100"/>
              </a:xfrm>
              <a:custGeom>
                <a:avLst/>
                <a:gdLst>
                  <a:gd name="T0" fmla="*/ 0 w 129"/>
                  <a:gd name="T1" fmla="*/ 100 h 100"/>
                  <a:gd name="T2" fmla="*/ 0 w 129"/>
                  <a:gd name="T3" fmla="*/ 66 h 100"/>
                  <a:gd name="T4" fmla="*/ 129 w 129"/>
                  <a:gd name="T5" fmla="*/ 66 h 100"/>
                  <a:gd name="T6" fmla="*/ 129 w 129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100"/>
                  <a:gd name="T14" fmla="*/ 129 w 129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100">
                    <a:moveTo>
                      <a:pt x="0" y="100"/>
                    </a:moveTo>
                    <a:lnTo>
                      <a:pt x="0" y="66"/>
                    </a:lnTo>
                    <a:lnTo>
                      <a:pt x="129" y="66"/>
                    </a:lnTo>
                    <a:lnTo>
                      <a:pt x="129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8" name="Line 291"/>
              <p:cNvSpPr>
                <a:spLocks noChangeShapeType="1"/>
              </p:cNvSpPr>
              <p:nvPr/>
            </p:nvSpPr>
            <p:spPr bwMode="auto">
              <a:xfrm flipH="1">
                <a:off x="1789" y="1352"/>
                <a:ext cx="8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9" name="Line 292"/>
              <p:cNvSpPr>
                <a:spLocks noChangeShapeType="1"/>
              </p:cNvSpPr>
              <p:nvPr/>
            </p:nvSpPr>
            <p:spPr bwMode="auto">
              <a:xfrm flipH="1">
                <a:off x="1789" y="1371"/>
                <a:ext cx="8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" name="Rectangle 293"/>
              <p:cNvSpPr>
                <a:spLocks noChangeArrowheads="1"/>
              </p:cNvSpPr>
              <p:nvPr/>
            </p:nvSpPr>
            <p:spPr bwMode="auto">
              <a:xfrm>
                <a:off x="2555" y="2690"/>
                <a:ext cx="669" cy="669"/>
              </a:xfrm>
              <a:prstGeom prst="rect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" name="Line 294"/>
              <p:cNvSpPr>
                <a:spLocks noChangeShapeType="1"/>
              </p:cNvSpPr>
              <p:nvPr/>
            </p:nvSpPr>
            <p:spPr bwMode="auto">
              <a:xfrm flipV="1">
                <a:off x="2522" y="2869"/>
                <a:ext cx="1" cy="430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2" name="Line 295"/>
              <p:cNvSpPr>
                <a:spLocks noChangeShapeType="1"/>
              </p:cNvSpPr>
              <p:nvPr/>
            </p:nvSpPr>
            <p:spPr bwMode="auto">
              <a:xfrm>
                <a:off x="2522" y="3082"/>
                <a:ext cx="8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3" name="AutoShape 296"/>
              <p:cNvSpPr>
                <a:spLocks noChangeArrowheads="1"/>
              </p:cNvSpPr>
              <p:nvPr/>
            </p:nvSpPr>
            <p:spPr bwMode="auto">
              <a:xfrm>
                <a:off x="2579" y="3048"/>
                <a:ext cx="115" cy="72"/>
              </a:xfrm>
              <a:custGeom>
                <a:avLst/>
                <a:gdLst>
                  <a:gd name="T0" fmla="*/ 19 w 24"/>
                  <a:gd name="T1" fmla="*/ 34 h 15"/>
                  <a:gd name="T2" fmla="*/ 0 w 24"/>
                  <a:gd name="T3" fmla="*/ 72 h 15"/>
                  <a:gd name="T4" fmla="*/ 0 w 24"/>
                  <a:gd name="T5" fmla="*/ 72 h 15"/>
                  <a:gd name="T6" fmla="*/ 57 w 24"/>
                  <a:gd name="T7" fmla="*/ 48 h 15"/>
                  <a:gd name="T8" fmla="*/ 115 w 24"/>
                  <a:gd name="T9" fmla="*/ 34 h 15"/>
                  <a:gd name="T10" fmla="*/ 57 w 24"/>
                  <a:gd name="T11" fmla="*/ 24 h 15"/>
                  <a:gd name="T12" fmla="*/ 0 w 24"/>
                  <a:gd name="T13" fmla="*/ 0 h 15"/>
                  <a:gd name="T14" fmla="*/ 0 w 24"/>
                  <a:gd name="T15" fmla="*/ 0 h 15"/>
                  <a:gd name="T16" fmla="*/ 19 w 24"/>
                  <a:gd name="T17" fmla="*/ 34 h 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15"/>
                  <a:gd name="T29" fmla="*/ 24 w 24"/>
                  <a:gd name="T30" fmla="*/ 15 h 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15">
                    <a:moveTo>
                      <a:pt x="4" y="7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6" y="9"/>
                      <a:pt x="20" y="8"/>
                      <a:pt x="24" y="7"/>
                    </a:cubicBezTo>
                    <a:cubicBezTo>
                      <a:pt x="20" y="6"/>
                      <a:pt x="16" y="6"/>
                      <a:pt x="12" y="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" y="7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4" name="Line 297"/>
              <p:cNvSpPr>
                <a:spLocks noChangeShapeType="1"/>
              </p:cNvSpPr>
              <p:nvPr/>
            </p:nvSpPr>
            <p:spPr bwMode="auto">
              <a:xfrm flipV="1">
                <a:off x="2436" y="2922"/>
                <a:ext cx="1" cy="28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5" name="AutoShape 298"/>
              <p:cNvSpPr>
                <a:spLocks noChangeArrowheads="1"/>
              </p:cNvSpPr>
              <p:nvPr/>
            </p:nvSpPr>
            <p:spPr bwMode="auto">
              <a:xfrm>
                <a:off x="2474" y="2871"/>
                <a:ext cx="48" cy="29"/>
              </a:xfrm>
              <a:custGeom>
                <a:avLst/>
                <a:gdLst>
                  <a:gd name="T0" fmla="*/ 0 w 48"/>
                  <a:gd name="T1" fmla="*/ 29 h 29"/>
                  <a:gd name="T2" fmla="*/ 0 w 48"/>
                  <a:gd name="T3" fmla="*/ 0 h 29"/>
                  <a:gd name="T4" fmla="*/ 48 w 48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29"/>
                  <a:gd name="T11" fmla="*/ 48 w 48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29">
                    <a:moveTo>
                      <a:pt x="0" y="29"/>
                    </a:move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6" name="AutoShape 299"/>
              <p:cNvSpPr>
                <a:spLocks noChangeArrowheads="1"/>
              </p:cNvSpPr>
              <p:nvPr/>
            </p:nvSpPr>
            <p:spPr bwMode="auto">
              <a:xfrm>
                <a:off x="2283" y="2766"/>
                <a:ext cx="119" cy="134"/>
              </a:xfrm>
              <a:custGeom>
                <a:avLst/>
                <a:gdLst>
                  <a:gd name="T0" fmla="*/ 119 w 119"/>
                  <a:gd name="T1" fmla="*/ 134 h 134"/>
                  <a:gd name="T2" fmla="*/ 119 w 119"/>
                  <a:gd name="T3" fmla="*/ 105 h 134"/>
                  <a:gd name="T4" fmla="*/ 0 w 119"/>
                  <a:gd name="T5" fmla="*/ 105 h 134"/>
                  <a:gd name="T6" fmla="*/ 0 w 119"/>
                  <a:gd name="T7" fmla="*/ 0 h 13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9"/>
                  <a:gd name="T13" fmla="*/ 0 h 134"/>
                  <a:gd name="T14" fmla="*/ 119 w 119"/>
                  <a:gd name="T15" fmla="*/ 134 h 13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9" h="134">
                    <a:moveTo>
                      <a:pt x="119" y="134"/>
                    </a:moveTo>
                    <a:lnTo>
                      <a:pt x="119" y="105"/>
                    </a:lnTo>
                    <a:lnTo>
                      <a:pt x="0" y="105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7" name="Line 300"/>
              <p:cNvSpPr>
                <a:spLocks noChangeShapeType="1"/>
              </p:cNvSpPr>
              <p:nvPr/>
            </p:nvSpPr>
            <p:spPr bwMode="auto">
              <a:xfrm>
                <a:off x="2402" y="2900"/>
                <a:ext cx="7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8" name="Line 301"/>
              <p:cNvSpPr>
                <a:spLocks noChangeShapeType="1"/>
              </p:cNvSpPr>
              <p:nvPr/>
            </p:nvSpPr>
            <p:spPr bwMode="auto">
              <a:xfrm>
                <a:off x="2402" y="2919"/>
                <a:ext cx="7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9" name="Line 302"/>
              <p:cNvSpPr>
                <a:spLocks noChangeShapeType="1"/>
              </p:cNvSpPr>
              <p:nvPr/>
            </p:nvSpPr>
            <p:spPr bwMode="auto">
              <a:xfrm flipV="1">
                <a:off x="2436" y="3027"/>
                <a:ext cx="1" cy="28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0" name="AutoShape 303"/>
              <p:cNvSpPr>
                <a:spLocks noChangeArrowheads="1"/>
              </p:cNvSpPr>
              <p:nvPr/>
            </p:nvSpPr>
            <p:spPr bwMode="auto">
              <a:xfrm>
                <a:off x="2474" y="2977"/>
                <a:ext cx="48" cy="33"/>
              </a:xfrm>
              <a:custGeom>
                <a:avLst/>
                <a:gdLst>
                  <a:gd name="T0" fmla="*/ 0 w 48"/>
                  <a:gd name="T1" fmla="*/ 33 h 33"/>
                  <a:gd name="T2" fmla="*/ 0 w 48"/>
                  <a:gd name="T3" fmla="*/ 0 h 33"/>
                  <a:gd name="T4" fmla="*/ 48 w 48"/>
                  <a:gd name="T5" fmla="*/ 0 h 33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3"/>
                  <a:gd name="T11" fmla="*/ 48 w 48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3">
                    <a:moveTo>
                      <a:pt x="0" y="33"/>
                    </a:move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1" name="AutoShape 304"/>
              <p:cNvSpPr>
                <a:spLocks noChangeArrowheads="1"/>
              </p:cNvSpPr>
              <p:nvPr/>
            </p:nvSpPr>
            <p:spPr bwMode="auto">
              <a:xfrm>
                <a:off x="2211" y="2871"/>
                <a:ext cx="191" cy="139"/>
              </a:xfrm>
              <a:custGeom>
                <a:avLst/>
                <a:gdLst>
                  <a:gd name="T0" fmla="*/ 191 w 191"/>
                  <a:gd name="T1" fmla="*/ 139 h 139"/>
                  <a:gd name="T2" fmla="*/ 191 w 191"/>
                  <a:gd name="T3" fmla="*/ 106 h 139"/>
                  <a:gd name="T4" fmla="*/ 0 w 191"/>
                  <a:gd name="T5" fmla="*/ 106 h 139"/>
                  <a:gd name="T6" fmla="*/ 0 w 191"/>
                  <a:gd name="T7" fmla="*/ 0 h 1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139"/>
                  <a:gd name="T14" fmla="*/ 191 w 191"/>
                  <a:gd name="T15" fmla="*/ 139 h 1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139">
                    <a:moveTo>
                      <a:pt x="191" y="139"/>
                    </a:moveTo>
                    <a:lnTo>
                      <a:pt x="191" y="106"/>
                    </a:lnTo>
                    <a:lnTo>
                      <a:pt x="0" y="106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2" name="Line 305"/>
              <p:cNvSpPr>
                <a:spLocks noChangeShapeType="1"/>
              </p:cNvSpPr>
              <p:nvPr/>
            </p:nvSpPr>
            <p:spPr bwMode="auto">
              <a:xfrm>
                <a:off x="2402" y="3010"/>
                <a:ext cx="7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" name="Line 306"/>
              <p:cNvSpPr>
                <a:spLocks noChangeShapeType="1"/>
              </p:cNvSpPr>
              <p:nvPr/>
            </p:nvSpPr>
            <p:spPr bwMode="auto">
              <a:xfrm>
                <a:off x="2402" y="3029"/>
                <a:ext cx="7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4" name="Line 307"/>
              <p:cNvSpPr>
                <a:spLocks noChangeShapeType="1"/>
              </p:cNvSpPr>
              <p:nvPr/>
            </p:nvSpPr>
            <p:spPr bwMode="auto">
              <a:xfrm flipV="1">
                <a:off x="2436" y="3132"/>
                <a:ext cx="1" cy="33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5" name="AutoShape 308"/>
              <p:cNvSpPr>
                <a:spLocks noChangeArrowheads="1"/>
              </p:cNvSpPr>
              <p:nvPr/>
            </p:nvSpPr>
            <p:spPr bwMode="auto">
              <a:xfrm>
                <a:off x="2474" y="3082"/>
                <a:ext cx="48" cy="33"/>
              </a:xfrm>
              <a:custGeom>
                <a:avLst/>
                <a:gdLst>
                  <a:gd name="T0" fmla="*/ 0 w 48"/>
                  <a:gd name="T1" fmla="*/ 33 h 33"/>
                  <a:gd name="T2" fmla="*/ 0 w 48"/>
                  <a:gd name="T3" fmla="*/ 0 h 33"/>
                  <a:gd name="T4" fmla="*/ 48 w 48"/>
                  <a:gd name="T5" fmla="*/ 0 h 33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3"/>
                  <a:gd name="T11" fmla="*/ 48 w 48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3">
                    <a:moveTo>
                      <a:pt x="0" y="33"/>
                    </a:move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6" name="AutoShape 309"/>
              <p:cNvSpPr>
                <a:spLocks noChangeArrowheads="1"/>
              </p:cNvSpPr>
              <p:nvPr/>
            </p:nvSpPr>
            <p:spPr bwMode="auto">
              <a:xfrm>
                <a:off x="2139" y="2977"/>
                <a:ext cx="263" cy="138"/>
              </a:xfrm>
              <a:custGeom>
                <a:avLst/>
                <a:gdLst>
                  <a:gd name="T0" fmla="*/ 263 w 263"/>
                  <a:gd name="T1" fmla="*/ 138 h 138"/>
                  <a:gd name="T2" fmla="*/ 263 w 263"/>
                  <a:gd name="T3" fmla="*/ 105 h 138"/>
                  <a:gd name="T4" fmla="*/ 0 w 263"/>
                  <a:gd name="T5" fmla="*/ 105 h 138"/>
                  <a:gd name="T6" fmla="*/ 0 w 263"/>
                  <a:gd name="T7" fmla="*/ 0 h 1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3"/>
                  <a:gd name="T13" fmla="*/ 0 h 138"/>
                  <a:gd name="T14" fmla="*/ 263 w 263"/>
                  <a:gd name="T15" fmla="*/ 138 h 1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3" h="138">
                    <a:moveTo>
                      <a:pt x="263" y="138"/>
                    </a:moveTo>
                    <a:lnTo>
                      <a:pt x="263" y="105"/>
                    </a:lnTo>
                    <a:lnTo>
                      <a:pt x="0" y="105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7" name="Line 310"/>
              <p:cNvSpPr>
                <a:spLocks noChangeShapeType="1"/>
              </p:cNvSpPr>
              <p:nvPr/>
            </p:nvSpPr>
            <p:spPr bwMode="auto">
              <a:xfrm>
                <a:off x="2402" y="3115"/>
                <a:ext cx="7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8" name="Line 311"/>
              <p:cNvSpPr>
                <a:spLocks noChangeShapeType="1"/>
              </p:cNvSpPr>
              <p:nvPr/>
            </p:nvSpPr>
            <p:spPr bwMode="auto">
              <a:xfrm>
                <a:off x="2402" y="3134"/>
                <a:ext cx="7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Line 312"/>
              <p:cNvSpPr>
                <a:spLocks noChangeShapeType="1"/>
              </p:cNvSpPr>
              <p:nvPr/>
            </p:nvSpPr>
            <p:spPr bwMode="auto">
              <a:xfrm flipV="1">
                <a:off x="2436" y="3237"/>
                <a:ext cx="1" cy="33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AutoShape 313"/>
              <p:cNvSpPr>
                <a:spLocks noChangeArrowheads="1"/>
              </p:cNvSpPr>
              <p:nvPr/>
            </p:nvSpPr>
            <p:spPr bwMode="auto">
              <a:xfrm>
                <a:off x="2474" y="3192"/>
                <a:ext cx="48" cy="28"/>
              </a:xfrm>
              <a:custGeom>
                <a:avLst/>
                <a:gdLst>
                  <a:gd name="T0" fmla="*/ 0 w 48"/>
                  <a:gd name="T1" fmla="*/ 28 h 28"/>
                  <a:gd name="T2" fmla="*/ 0 w 48"/>
                  <a:gd name="T3" fmla="*/ 0 h 28"/>
                  <a:gd name="T4" fmla="*/ 48 w 48"/>
                  <a:gd name="T5" fmla="*/ 0 h 28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28"/>
                  <a:gd name="T11" fmla="*/ 48 w 48"/>
                  <a:gd name="T12" fmla="*/ 28 h 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28">
                    <a:moveTo>
                      <a:pt x="0" y="28"/>
                    </a:move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1" name="AutoShape 314"/>
              <p:cNvSpPr>
                <a:spLocks noChangeArrowheads="1"/>
              </p:cNvSpPr>
              <p:nvPr/>
            </p:nvSpPr>
            <p:spPr bwMode="auto">
              <a:xfrm>
                <a:off x="2068" y="3086"/>
                <a:ext cx="334" cy="134"/>
              </a:xfrm>
              <a:custGeom>
                <a:avLst/>
                <a:gdLst>
                  <a:gd name="T0" fmla="*/ 334 w 334"/>
                  <a:gd name="T1" fmla="*/ 134 h 134"/>
                  <a:gd name="T2" fmla="*/ 334 w 334"/>
                  <a:gd name="T3" fmla="*/ 106 h 134"/>
                  <a:gd name="T4" fmla="*/ 0 w 334"/>
                  <a:gd name="T5" fmla="*/ 106 h 134"/>
                  <a:gd name="T6" fmla="*/ 0 w 334"/>
                  <a:gd name="T7" fmla="*/ 0 h 13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4"/>
                  <a:gd name="T13" fmla="*/ 0 h 134"/>
                  <a:gd name="T14" fmla="*/ 334 w 334"/>
                  <a:gd name="T15" fmla="*/ 134 h 13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4" h="134">
                    <a:moveTo>
                      <a:pt x="334" y="134"/>
                    </a:moveTo>
                    <a:lnTo>
                      <a:pt x="334" y="106"/>
                    </a:lnTo>
                    <a:lnTo>
                      <a:pt x="0" y="106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2" name="Line 315"/>
              <p:cNvSpPr>
                <a:spLocks noChangeShapeType="1"/>
              </p:cNvSpPr>
              <p:nvPr/>
            </p:nvSpPr>
            <p:spPr bwMode="auto">
              <a:xfrm>
                <a:off x="2402" y="3220"/>
                <a:ext cx="7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" name="Line 316"/>
              <p:cNvSpPr>
                <a:spLocks noChangeShapeType="1"/>
              </p:cNvSpPr>
              <p:nvPr/>
            </p:nvSpPr>
            <p:spPr bwMode="auto">
              <a:xfrm>
                <a:off x="2402" y="3239"/>
                <a:ext cx="7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" name="Line 317"/>
              <p:cNvSpPr>
                <a:spLocks noChangeShapeType="1"/>
              </p:cNvSpPr>
              <p:nvPr/>
            </p:nvSpPr>
            <p:spPr bwMode="auto">
              <a:xfrm flipV="1">
                <a:off x="2436" y="3347"/>
                <a:ext cx="1" cy="28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AutoShape 318"/>
              <p:cNvSpPr>
                <a:spLocks noChangeArrowheads="1"/>
              </p:cNvSpPr>
              <p:nvPr/>
            </p:nvSpPr>
            <p:spPr bwMode="auto">
              <a:xfrm>
                <a:off x="2474" y="3297"/>
                <a:ext cx="48" cy="33"/>
              </a:xfrm>
              <a:custGeom>
                <a:avLst/>
                <a:gdLst>
                  <a:gd name="T0" fmla="*/ 0 w 48"/>
                  <a:gd name="T1" fmla="*/ 33 h 33"/>
                  <a:gd name="T2" fmla="*/ 0 w 48"/>
                  <a:gd name="T3" fmla="*/ 0 h 33"/>
                  <a:gd name="T4" fmla="*/ 48 w 48"/>
                  <a:gd name="T5" fmla="*/ 0 h 33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3"/>
                  <a:gd name="T11" fmla="*/ 48 w 48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3">
                    <a:moveTo>
                      <a:pt x="0" y="33"/>
                    </a:moveTo>
                    <a:lnTo>
                      <a:pt x="0" y="0"/>
                    </a:lnTo>
                    <a:lnTo>
                      <a:pt x="48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6" name="AutoShape 319"/>
              <p:cNvSpPr>
                <a:spLocks noChangeArrowheads="1"/>
              </p:cNvSpPr>
              <p:nvPr/>
            </p:nvSpPr>
            <p:spPr bwMode="auto">
              <a:xfrm>
                <a:off x="1996" y="3192"/>
                <a:ext cx="406" cy="138"/>
              </a:xfrm>
              <a:custGeom>
                <a:avLst/>
                <a:gdLst>
                  <a:gd name="T0" fmla="*/ 406 w 406"/>
                  <a:gd name="T1" fmla="*/ 138 h 138"/>
                  <a:gd name="T2" fmla="*/ 406 w 406"/>
                  <a:gd name="T3" fmla="*/ 105 h 138"/>
                  <a:gd name="T4" fmla="*/ 354 w 406"/>
                  <a:gd name="T5" fmla="*/ 105 h 138"/>
                  <a:gd name="T6" fmla="*/ 0 w 406"/>
                  <a:gd name="T7" fmla="*/ 105 h 138"/>
                  <a:gd name="T8" fmla="*/ 0 w 406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6"/>
                  <a:gd name="T16" fmla="*/ 0 h 138"/>
                  <a:gd name="T17" fmla="*/ 406 w 406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6" h="138">
                    <a:moveTo>
                      <a:pt x="406" y="138"/>
                    </a:moveTo>
                    <a:lnTo>
                      <a:pt x="406" y="105"/>
                    </a:lnTo>
                    <a:lnTo>
                      <a:pt x="354" y="105"/>
                    </a:lnTo>
                    <a:lnTo>
                      <a:pt x="0" y="105"/>
                    </a:lnTo>
                    <a:lnTo>
                      <a:pt x="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7" name="Line 320"/>
              <p:cNvSpPr>
                <a:spLocks noChangeShapeType="1"/>
              </p:cNvSpPr>
              <p:nvPr/>
            </p:nvSpPr>
            <p:spPr bwMode="auto">
              <a:xfrm>
                <a:off x="2402" y="3330"/>
                <a:ext cx="7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8" name="Line 321"/>
              <p:cNvSpPr>
                <a:spLocks noChangeShapeType="1"/>
              </p:cNvSpPr>
              <p:nvPr/>
            </p:nvSpPr>
            <p:spPr bwMode="auto">
              <a:xfrm>
                <a:off x="2402" y="3349"/>
                <a:ext cx="72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Line 322"/>
              <p:cNvSpPr>
                <a:spLocks noChangeShapeType="1"/>
              </p:cNvSpPr>
              <p:nvPr/>
            </p:nvSpPr>
            <p:spPr bwMode="auto">
              <a:xfrm>
                <a:off x="3496" y="2480"/>
                <a:ext cx="1" cy="109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" name="Line 323"/>
              <p:cNvSpPr>
                <a:spLocks noChangeShapeType="1"/>
              </p:cNvSpPr>
              <p:nvPr/>
            </p:nvSpPr>
            <p:spPr bwMode="auto">
              <a:xfrm>
                <a:off x="3568" y="2480"/>
                <a:ext cx="1" cy="109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Line 324"/>
              <p:cNvSpPr>
                <a:spLocks noChangeShapeType="1"/>
              </p:cNvSpPr>
              <p:nvPr/>
            </p:nvSpPr>
            <p:spPr bwMode="auto">
              <a:xfrm>
                <a:off x="3640" y="2480"/>
                <a:ext cx="1" cy="109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Line 325"/>
              <p:cNvSpPr>
                <a:spLocks noChangeShapeType="1"/>
              </p:cNvSpPr>
              <p:nvPr/>
            </p:nvSpPr>
            <p:spPr bwMode="auto">
              <a:xfrm>
                <a:off x="3711" y="2480"/>
                <a:ext cx="1" cy="109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Line 326"/>
              <p:cNvSpPr>
                <a:spLocks noChangeShapeType="1"/>
              </p:cNvSpPr>
              <p:nvPr/>
            </p:nvSpPr>
            <p:spPr bwMode="auto">
              <a:xfrm>
                <a:off x="3783" y="2480"/>
                <a:ext cx="1" cy="109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4" name="Line 327"/>
              <p:cNvSpPr>
                <a:spLocks noChangeShapeType="1"/>
              </p:cNvSpPr>
              <p:nvPr/>
            </p:nvSpPr>
            <p:spPr bwMode="auto">
              <a:xfrm>
                <a:off x="4108" y="2656"/>
                <a:ext cx="425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" name="Rectangle 328"/>
              <p:cNvSpPr>
                <a:spLocks noChangeArrowheads="1"/>
              </p:cNvSpPr>
              <p:nvPr/>
            </p:nvSpPr>
            <p:spPr bwMode="auto">
              <a:xfrm>
                <a:off x="4050" y="2690"/>
                <a:ext cx="669" cy="669"/>
              </a:xfrm>
              <a:prstGeom prst="rect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6" name="Line 329"/>
              <p:cNvSpPr>
                <a:spLocks noChangeShapeType="1"/>
              </p:cNvSpPr>
              <p:nvPr/>
            </p:nvSpPr>
            <p:spPr bwMode="auto">
              <a:xfrm>
                <a:off x="4457" y="2570"/>
                <a:ext cx="23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AutoShape 330"/>
              <p:cNvSpPr>
                <a:spLocks noChangeArrowheads="1"/>
              </p:cNvSpPr>
              <p:nvPr/>
            </p:nvSpPr>
            <p:spPr bwMode="auto">
              <a:xfrm>
                <a:off x="4500" y="2609"/>
                <a:ext cx="33" cy="47"/>
              </a:xfrm>
              <a:custGeom>
                <a:avLst/>
                <a:gdLst>
                  <a:gd name="T0" fmla="*/ 0 w 33"/>
                  <a:gd name="T1" fmla="*/ 0 h 47"/>
                  <a:gd name="T2" fmla="*/ 33 w 33"/>
                  <a:gd name="T3" fmla="*/ 0 h 47"/>
                  <a:gd name="T4" fmla="*/ 33 w 33"/>
                  <a:gd name="T5" fmla="*/ 47 h 47"/>
                  <a:gd name="T6" fmla="*/ 0 60000 65536"/>
                  <a:gd name="T7" fmla="*/ 0 60000 65536"/>
                  <a:gd name="T8" fmla="*/ 0 60000 65536"/>
                  <a:gd name="T9" fmla="*/ 0 w 33"/>
                  <a:gd name="T10" fmla="*/ 0 h 47"/>
                  <a:gd name="T11" fmla="*/ 33 w 33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" h="47">
                    <a:moveTo>
                      <a:pt x="0" y="0"/>
                    </a:moveTo>
                    <a:lnTo>
                      <a:pt x="33" y="0"/>
                    </a:lnTo>
                    <a:lnTo>
                      <a:pt x="33" y="47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8" name="AutoShape 331"/>
              <p:cNvSpPr>
                <a:spLocks noChangeArrowheads="1"/>
              </p:cNvSpPr>
              <p:nvPr/>
            </p:nvSpPr>
            <p:spPr bwMode="auto">
              <a:xfrm>
                <a:off x="4500" y="2403"/>
                <a:ext cx="33" cy="129"/>
              </a:xfrm>
              <a:custGeom>
                <a:avLst/>
                <a:gdLst>
                  <a:gd name="T0" fmla="*/ 33 w 33"/>
                  <a:gd name="T1" fmla="*/ 0 h 129"/>
                  <a:gd name="T2" fmla="*/ 33 w 33"/>
                  <a:gd name="T3" fmla="*/ 129 h 129"/>
                  <a:gd name="T4" fmla="*/ 0 w 33"/>
                  <a:gd name="T5" fmla="*/ 129 h 129"/>
                  <a:gd name="T6" fmla="*/ 0 60000 65536"/>
                  <a:gd name="T7" fmla="*/ 0 60000 65536"/>
                  <a:gd name="T8" fmla="*/ 0 60000 65536"/>
                  <a:gd name="T9" fmla="*/ 0 w 33"/>
                  <a:gd name="T10" fmla="*/ 0 h 129"/>
                  <a:gd name="T11" fmla="*/ 33 w 33"/>
                  <a:gd name="T12" fmla="*/ 129 h 1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" h="129">
                    <a:moveTo>
                      <a:pt x="33" y="0"/>
                    </a:moveTo>
                    <a:lnTo>
                      <a:pt x="33" y="129"/>
                    </a:lnTo>
                    <a:lnTo>
                      <a:pt x="0" y="129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9" name="Line 332"/>
              <p:cNvSpPr>
                <a:spLocks noChangeShapeType="1"/>
              </p:cNvSpPr>
              <p:nvPr/>
            </p:nvSpPr>
            <p:spPr bwMode="auto">
              <a:xfrm>
                <a:off x="4500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0" name="Line 333"/>
              <p:cNvSpPr>
                <a:spLocks noChangeShapeType="1"/>
              </p:cNvSpPr>
              <p:nvPr/>
            </p:nvSpPr>
            <p:spPr bwMode="auto">
              <a:xfrm>
                <a:off x="4480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1" name="Line 334"/>
              <p:cNvSpPr>
                <a:spLocks noChangeShapeType="1"/>
              </p:cNvSpPr>
              <p:nvPr/>
            </p:nvSpPr>
            <p:spPr bwMode="auto">
              <a:xfrm>
                <a:off x="4347" y="2570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" name="AutoShape 335"/>
              <p:cNvSpPr>
                <a:spLocks noChangeArrowheads="1"/>
              </p:cNvSpPr>
              <p:nvPr/>
            </p:nvSpPr>
            <p:spPr bwMode="auto">
              <a:xfrm>
                <a:off x="4394" y="2609"/>
                <a:ext cx="34" cy="47"/>
              </a:xfrm>
              <a:custGeom>
                <a:avLst/>
                <a:gdLst>
                  <a:gd name="T0" fmla="*/ 0 w 34"/>
                  <a:gd name="T1" fmla="*/ 0 h 47"/>
                  <a:gd name="T2" fmla="*/ 34 w 34"/>
                  <a:gd name="T3" fmla="*/ 0 h 47"/>
                  <a:gd name="T4" fmla="*/ 34 w 34"/>
                  <a:gd name="T5" fmla="*/ 47 h 47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47"/>
                  <a:gd name="T11" fmla="*/ 34 w 34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47">
                    <a:moveTo>
                      <a:pt x="0" y="0"/>
                    </a:moveTo>
                    <a:lnTo>
                      <a:pt x="34" y="0"/>
                    </a:lnTo>
                    <a:lnTo>
                      <a:pt x="34" y="47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3" name="AutoShape 336"/>
              <p:cNvSpPr>
                <a:spLocks noChangeArrowheads="1"/>
              </p:cNvSpPr>
              <p:nvPr/>
            </p:nvSpPr>
            <p:spPr bwMode="auto">
              <a:xfrm>
                <a:off x="4394" y="2331"/>
                <a:ext cx="34" cy="201"/>
              </a:xfrm>
              <a:custGeom>
                <a:avLst/>
                <a:gdLst>
                  <a:gd name="T0" fmla="*/ 34 w 34"/>
                  <a:gd name="T1" fmla="*/ 0 h 201"/>
                  <a:gd name="T2" fmla="*/ 34 w 34"/>
                  <a:gd name="T3" fmla="*/ 201 h 201"/>
                  <a:gd name="T4" fmla="*/ 0 w 34"/>
                  <a:gd name="T5" fmla="*/ 201 h 201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201"/>
                  <a:gd name="T11" fmla="*/ 34 w 34"/>
                  <a:gd name="T12" fmla="*/ 201 h 2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201">
                    <a:moveTo>
                      <a:pt x="34" y="0"/>
                    </a:moveTo>
                    <a:lnTo>
                      <a:pt x="34" y="201"/>
                    </a:lnTo>
                    <a:lnTo>
                      <a:pt x="0" y="201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4" name="Line 337"/>
              <p:cNvSpPr>
                <a:spLocks noChangeShapeType="1"/>
              </p:cNvSpPr>
              <p:nvPr/>
            </p:nvSpPr>
            <p:spPr bwMode="auto">
              <a:xfrm>
                <a:off x="4394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Line 338"/>
              <p:cNvSpPr>
                <a:spLocks noChangeShapeType="1"/>
              </p:cNvSpPr>
              <p:nvPr/>
            </p:nvSpPr>
            <p:spPr bwMode="auto">
              <a:xfrm>
                <a:off x="4375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Line 339"/>
              <p:cNvSpPr>
                <a:spLocks noChangeShapeType="1"/>
              </p:cNvSpPr>
              <p:nvPr/>
            </p:nvSpPr>
            <p:spPr bwMode="auto">
              <a:xfrm>
                <a:off x="4136" y="2570"/>
                <a:ext cx="24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AutoShape 340"/>
              <p:cNvSpPr>
                <a:spLocks noChangeArrowheads="1"/>
              </p:cNvSpPr>
              <p:nvPr/>
            </p:nvSpPr>
            <p:spPr bwMode="auto">
              <a:xfrm>
                <a:off x="4179" y="2609"/>
                <a:ext cx="34" cy="47"/>
              </a:xfrm>
              <a:custGeom>
                <a:avLst/>
                <a:gdLst>
                  <a:gd name="T0" fmla="*/ 0 w 34"/>
                  <a:gd name="T1" fmla="*/ 0 h 47"/>
                  <a:gd name="T2" fmla="*/ 34 w 34"/>
                  <a:gd name="T3" fmla="*/ 0 h 47"/>
                  <a:gd name="T4" fmla="*/ 34 w 34"/>
                  <a:gd name="T5" fmla="*/ 47 h 47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47"/>
                  <a:gd name="T11" fmla="*/ 34 w 34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47">
                    <a:moveTo>
                      <a:pt x="0" y="0"/>
                    </a:moveTo>
                    <a:lnTo>
                      <a:pt x="34" y="0"/>
                    </a:lnTo>
                    <a:lnTo>
                      <a:pt x="34" y="47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" name="AutoShape 341"/>
              <p:cNvSpPr>
                <a:spLocks noChangeArrowheads="1"/>
              </p:cNvSpPr>
              <p:nvPr/>
            </p:nvSpPr>
            <p:spPr bwMode="auto">
              <a:xfrm>
                <a:off x="4179" y="2188"/>
                <a:ext cx="34" cy="344"/>
              </a:xfrm>
              <a:custGeom>
                <a:avLst/>
                <a:gdLst>
                  <a:gd name="T0" fmla="*/ 34 w 34"/>
                  <a:gd name="T1" fmla="*/ 0 h 344"/>
                  <a:gd name="T2" fmla="*/ 34 w 34"/>
                  <a:gd name="T3" fmla="*/ 344 h 344"/>
                  <a:gd name="T4" fmla="*/ 0 w 34"/>
                  <a:gd name="T5" fmla="*/ 344 h 344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344"/>
                  <a:gd name="T11" fmla="*/ 34 w 34"/>
                  <a:gd name="T12" fmla="*/ 344 h 3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344">
                    <a:moveTo>
                      <a:pt x="34" y="0"/>
                    </a:moveTo>
                    <a:lnTo>
                      <a:pt x="34" y="344"/>
                    </a:lnTo>
                    <a:lnTo>
                      <a:pt x="0" y="344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9" name="Line 342"/>
              <p:cNvSpPr>
                <a:spLocks noChangeShapeType="1"/>
              </p:cNvSpPr>
              <p:nvPr/>
            </p:nvSpPr>
            <p:spPr bwMode="auto">
              <a:xfrm>
                <a:off x="4179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Line 343"/>
              <p:cNvSpPr>
                <a:spLocks noChangeShapeType="1"/>
              </p:cNvSpPr>
              <p:nvPr/>
            </p:nvSpPr>
            <p:spPr bwMode="auto">
              <a:xfrm>
                <a:off x="4160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Line 344"/>
              <p:cNvSpPr>
                <a:spLocks noChangeShapeType="1"/>
              </p:cNvSpPr>
              <p:nvPr/>
            </p:nvSpPr>
            <p:spPr bwMode="auto">
              <a:xfrm>
                <a:off x="4031" y="2570"/>
                <a:ext cx="24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" name="AutoShape 345"/>
              <p:cNvSpPr>
                <a:spLocks noChangeArrowheads="1"/>
              </p:cNvSpPr>
              <p:nvPr/>
            </p:nvSpPr>
            <p:spPr bwMode="auto">
              <a:xfrm>
                <a:off x="4074" y="2609"/>
                <a:ext cx="34" cy="47"/>
              </a:xfrm>
              <a:custGeom>
                <a:avLst/>
                <a:gdLst>
                  <a:gd name="T0" fmla="*/ 0 w 34"/>
                  <a:gd name="T1" fmla="*/ 0 h 47"/>
                  <a:gd name="T2" fmla="*/ 34 w 34"/>
                  <a:gd name="T3" fmla="*/ 0 h 47"/>
                  <a:gd name="T4" fmla="*/ 34 w 34"/>
                  <a:gd name="T5" fmla="*/ 47 h 47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47"/>
                  <a:gd name="T11" fmla="*/ 34 w 34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47">
                    <a:moveTo>
                      <a:pt x="0" y="0"/>
                    </a:moveTo>
                    <a:lnTo>
                      <a:pt x="34" y="0"/>
                    </a:lnTo>
                    <a:lnTo>
                      <a:pt x="34" y="47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3" name="AutoShape 346"/>
              <p:cNvSpPr>
                <a:spLocks noChangeArrowheads="1"/>
              </p:cNvSpPr>
              <p:nvPr/>
            </p:nvSpPr>
            <p:spPr bwMode="auto">
              <a:xfrm>
                <a:off x="4074" y="2116"/>
                <a:ext cx="34" cy="416"/>
              </a:xfrm>
              <a:custGeom>
                <a:avLst/>
                <a:gdLst>
                  <a:gd name="T0" fmla="*/ 34 w 34"/>
                  <a:gd name="T1" fmla="*/ 0 h 416"/>
                  <a:gd name="T2" fmla="*/ 34 w 34"/>
                  <a:gd name="T3" fmla="*/ 416 h 416"/>
                  <a:gd name="T4" fmla="*/ 0 w 34"/>
                  <a:gd name="T5" fmla="*/ 416 h 416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416"/>
                  <a:gd name="T11" fmla="*/ 34 w 34"/>
                  <a:gd name="T12" fmla="*/ 416 h 4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416">
                    <a:moveTo>
                      <a:pt x="34" y="0"/>
                    </a:moveTo>
                    <a:lnTo>
                      <a:pt x="34" y="416"/>
                    </a:lnTo>
                    <a:lnTo>
                      <a:pt x="0" y="416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4" name="Line 347"/>
              <p:cNvSpPr>
                <a:spLocks noChangeShapeType="1"/>
              </p:cNvSpPr>
              <p:nvPr/>
            </p:nvSpPr>
            <p:spPr bwMode="auto">
              <a:xfrm>
                <a:off x="4074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Line 348"/>
              <p:cNvSpPr>
                <a:spLocks noChangeShapeType="1"/>
              </p:cNvSpPr>
              <p:nvPr/>
            </p:nvSpPr>
            <p:spPr bwMode="auto">
              <a:xfrm>
                <a:off x="4055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Line 349"/>
              <p:cNvSpPr>
                <a:spLocks noChangeShapeType="1"/>
              </p:cNvSpPr>
              <p:nvPr/>
            </p:nvSpPr>
            <p:spPr bwMode="auto">
              <a:xfrm>
                <a:off x="4017" y="2695"/>
                <a:ext cx="1" cy="425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Line 350"/>
              <p:cNvSpPr>
                <a:spLocks noChangeShapeType="1"/>
              </p:cNvSpPr>
              <p:nvPr/>
            </p:nvSpPr>
            <p:spPr bwMode="auto">
              <a:xfrm>
                <a:off x="3931" y="3043"/>
                <a:ext cx="1" cy="2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AutoShape 351"/>
              <p:cNvSpPr>
                <a:spLocks noChangeArrowheads="1"/>
              </p:cNvSpPr>
              <p:nvPr/>
            </p:nvSpPr>
            <p:spPr bwMode="auto">
              <a:xfrm>
                <a:off x="3969" y="3086"/>
                <a:ext cx="48" cy="34"/>
              </a:xfrm>
              <a:custGeom>
                <a:avLst/>
                <a:gdLst>
                  <a:gd name="T0" fmla="*/ 0 w 48"/>
                  <a:gd name="T1" fmla="*/ 0 h 34"/>
                  <a:gd name="T2" fmla="*/ 0 w 48"/>
                  <a:gd name="T3" fmla="*/ 34 h 34"/>
                  <a:gd name="T4" fmla="*/ 48 w 48"/>
                  <a:gd name="T5" fmla="*/ 34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0" y="0"/>
                    </a:moveTo>
                    <a:lnTo>
                      <a:pt x="0" y="34"/>
                    </a:lnTo>
                    <a:lnTo>
                      <a:pt x="48" y="34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9" name="AutoShape 352"/>
              <p:cNvSpPr>
                <a:spLocks noChangeArrowheads="1"/>
              </p:cNvSpPr>
              <p:nvPr/>
            </p:nvSpPr>
            <p:spPr bwMode="auto">
              <a:xfrm>
                <a:off x="3783" y="3086"/>
                <a:ext cx="115" cy="34"/>
              </a:xfrm>
              <a:custGeom>
                <a:avLst/>
                <a:gdLst>
                  <a:gd name="T0" fmla="*/ 0 w 115"/>
                  <a:gd name="T1" fmla="*/ 34 h 34"/>
                  <a:gd name="T2" fmla="*/ 115 w 115"/>
                  <a:gd name="T3" fmla="*/ 34 h 34"/>
                  <a:gd name="T4" fmla="*/ 115 w 115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115"/>
                  <a:gd name="T10" fmla="*/ 0 h 34"/>
                  <a:gd name="T11" fmla="*/ 115 w 115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5" h="34">
                    <a:moveTo>
                      <a:pt x="0" y="34"/>
                    </a:moveTo>
                    <a:lnTo>
                      <a:pt x="115" y="34"/>
                    </a:lnTo>
                    <a:lnTo>
                      <a:pt x="115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0" name="Line 353"/>
              <p:cNvSpPr>
                <a:spLocks noChangeShapeType="1"/>
              </p:cNvSpPr>
              <p:nvPr/>
            </p:nvSpPr>
            <p:spPr bwMode="auto">
              <a:xfrm>
                <a:off x="3898" y="3086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Line 354"/>
              <p:cNvSpPr>
                <a:spLocks noChangeShapeType="1"/>
              </p:cNvSpPr>
              <p:nvPr/>
            </p:nvSpPr>
            <p:spPr bwMode="auto">
              <a:xfrm>
                <a:off x="3898" y="3067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Line 355"/>
              <p:cNvSpPr>
                <a:spLocks noChangeShapeType="1"/>
              </p:cNvSpPr>
              <p:nvPr/>
            </p:nvSpPr>
            <p:spPr bwMode="auto">
              <a:xfrm>
                <a:off x="3931" y="2938"/>
                <a:ext cx="1" cy="2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AutoShape 356"/>
              <p:cNvSpPr>
                <a:spLocks noChangeArrowheads="1"/>
              </p:cNvSpPr>
              <p:nvPr/>
            </p:nvSpPr>
            <p:spPr bwMode="auto">
              <a:xfrm>
                <a:off x="3969" y="2981"/>
                <a:ext cx="48" cy="34"/>
              </a:xfrm>
              <a:custGeom>
                <a:avLst/>
                <a:gdLst>
                  <a:gd name="T0" fmla="*/ 0 w 48"/>
                  <a:gd name="T1" fmla="*/ 0 h 34"/>
                  <a:gd name="T2" fmla="*/ 0 w 48"/>
                  <a:gd name="T3" fmla="*/ 34 h 34"/>
                  <a:gd name="T4" fmla="*/ 48 w 48"/>
                  <a:gd name="T5" fmla="*/ 34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0" y="0"/>
                    </a:moveTo>
                    <a:lnTo>
                      <a:pt x="0" y="34"/>
                    </a:lnTo>
                    <a:lnTo>
                      <a:pt x="48" y="34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4" name="AutoShape 357"/>
              <p:cNvSpPr>
                <a:spLocks noChangeArrowheads="1"/>
              </p:cNvSpPr>
              <p:nvPr/>
            </p:nvSpPr>
            <p:spPr bwMode="auto">
              <a:xfrm>
                <a:off x="3711" y="2981"/>
                <a:ext cx="187" cy="34"/>
              </a:xfrm>
              <a:custGeom>
                <a:avLst/>
                <a:gdLst>
                  <a:gd name="T0" fmla="*/ 0 w 187"/>
                  <a:gd name="T1" fmla="*/ 34 h 34"/>
                  <a:gd name="T2" fmla="*/ 187 w 187"/>
                  <a:gd name="T3" fmla="*/ 34 h 34"/>
                  <a:gd name="T4" fmla="*/ 187 w 187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187"/>
                  <a:gd name="T10" fmla="*/ 0 h 34"/>
                  <a:gd name="T11" fmla="*/ 187 w 187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7" h="34">
                    <a:moveTo>
                      <a:pt x="0" y="34"/>
                    </a:moveTo>
                    <a:lnTo>
                      <a:pt x="187" y="34"/>
                    </a:lnTo>
                    <a:lnTo>
                      <a:pt x="187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5" name="Line 358"/>
              <p:cNvSpPr>
                <a:spLocks noChangeShapeType="1"/>
              </p:cNvSpPr>
              <p:nvPr/>
            </p:nvSpPr>
            <p:spPr bwMode="auto">
              <a:xfrm>
                <a:off x="3898" y="2981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" name="Line 359"/>
              <p:cNvSpPr>
                <a:spLocks noChangeShapeType="1"/>
              </p:cNvSpPr>
              <p:nvPr/>
            </p:nvSpPr>
            <p:spPr bwMode="auto">
              <a:xfrm>
                <a:off x="3898" y="2962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Line 360"/>
              <p:cNvSpPr>
                <a:spLocks noChangeShapeType="1"/>
              </p:cNvSpPr>
              <p:nvPr/>
            </p:nvSpPr>
            <p:spPr bwMode="auto">
              <a:xfrm>
                <a:off x="3931" y="2828"/>
                <a:ext cx="1" cy="29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AutoShape 361"/>
              <p:cNvSpPr>
                <a:spLocks noChangeArrowheads="1"/>
              </p:cNvSpPr>
              <p:nvPr/>
            </p:nvSpPr>
            <p:spPr bwMode="auto">
              <a:xfrm>
                <a:off x="3969" y="2876"/>
                <a:ext cx="48" cy="34"/>
              </a:xfrm>
              <a:custGeom>
                <a:avLst/>
                <a:gdLst>
                  <a:gd name="T0" fmla="*/ 0 w 48"/>
                  <a:gd name="T1" fmla="*/ 0 h 34"/>
                  <a:gd name="T2" fmla="*/ 0 w 48"/>
                  <a:gd name="T3" fmla="*/ 34 h 34"/>
                  <a:gd name="T4" fmla="*/ 48 w 48"/>
                  <a:gd name="T5" fmla="*/ 34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0" y="0"/>
                    </a:moveTo>
                    <a:lnTo>
                      <a:pt x="0" y="34"/>
                    </a:lnTo>
                    <a:lnTo>
                      <a:pt x="48" y="34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9" name="AutoShape 362"/>
              <p:cNvSpPr>
                <a:spLocks noChangeArrowheads="1"/>
              </p:cNvSpPr>
              <p:nvPr/>
            </p:nvSpPr>
            <p:spPr bwMode="auto">
              <a:xfrm>
                <a:off x="3640" y="2876"/>
                <a:ext cx="258" cy="34"/>
              </a:xfrm>
              <a:custGeom>
                <a:avLst/>
                <a:gdLst>
                  <a:gd name="T0" fmla="*/ 0 w 258"/>
                  <a:gd name="T1" fmla="*/ 34 h 34"/>
                  <a:gd name="T2" fmla="*/ 258 w 258"/>
                  <a:gd name="T3" fmla="*/ 34 h 34"/>
                  <a:gd name="T4" fmla="*/ 258 w 258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258"/>
                  <a:gd name="T10" fmla="*/ 0 h 34"/>
                  <a:gd name="T11" fmla="*/ 258 w 25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8" h="34">
                    <a:moveTo>
                      <a:pt x="0" y="34"/>
                    </a:moveTo>
                    <a:lnTo>
                      <a:pt x="258" y="34"/>
                    </a:lnTo>
                    <a:lnTo>
                      <a:pt x="258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0" name="Line 363"/>
              <p:cNvSpPr>
                <a:spLocks noChangeShapeType="1"/>
              </p:cNvSpPr>
              <p:nvPr/>
            </p:nvSpPr>
            <p:spPr bwMode="auto">
              <a:xfrm>
                <a:off x="3898" y="2876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" name="Line 364"/>
              <p:cNvSpPr>
                <a:spLocks noChangeShapeType="1"/>
              </p:cNvSpPr>
              <p:nvPr/>
            </p:nvSpPr>
            <p:spPr bwMode="auto">
              <a:xfrm>
                <a:off x="3898" y="2857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" name="Line 365"/>
              <p:cNvSpPr>
                <a:spLocks noChangeShapeType="1"/>
              </p:cNvSpPr>
              <p:nvPr/>
            </p:nvSpPr>
            <p:spPr bwMode="auto">
              <a:xfrm>
                <a:off x="3931" y="2723"/>
                <a:ext cx="1" cy="2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AutoShape 366"/>
              <p:cNvSpPr>
                <a:spLocks noChangeArrowheads="1"/>
              </p:cNvSpPr>
              <p:nvPr/>
            </p:nvSpPr>
            <p:spPr bwMode="auto">
              <a:xfrm>
                <a:off x="3969" y="2771"/>
                <a:ext cx="48" cy="29"/>
              </a:xfrm>
              <a:custGeom>
                <a:avLst/>
                <a:gdLst>
                  <a:gd name="T0" fmla="*/ 0 w 48"/>
                  <a:gd name="T1" fmla="*/ 0 h 29"/>
                  <a:gd name="T2" fmla="*/ 0 w 48"/>
                  <a:gd name="T3" fmla="*/ 29 h 29"/>
                  <a:gd name="T4" fmla="*/ 48 w 48"/>
                  <a:gd name="T5" fmla="*/ 29 h 29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29"/>
                  <a:gd name="T11" fmla="*/ 48 w 48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29">
                    <a:moveTo>
                      <a:pt x="0" y="0"/>
                    </a:moveTo>
                    <a:lnTo>
                      <a:pt x="0" y="29"/>
                    </a:lnTo>
                    <a:lnTo>
                      <a:pt x="48" y="29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4" name="AutoShape 367"/>
              <p:cNvSpPr>
                <a:spLocks noChangeArrowheads="1"/>
              </p:cNvSpPr>
              <p:nvPr/>
            </p:nvSpPr>
            <p:spPr bwMode="auto">
              <a:xfrm>
                <a:off x="3568" y="2771"/>
                <a:ext cx="330" cy="29"/>
              </a:xfrm>
              <a:custGeom>
                <a:avLst/>
                <a:gdLst>
                  <a:gd name="T0" fmla="*/ 0 w 330"/>
                  <a:gd name="T1" fmla="*/ 29 h 29"/>
                  <a:gd name="T2" fmla="*/ 330 w 330"/>
                  <a:gd name="T3" fmla="*/ 29 h 29"/>
                  <a:gd name="T4" fmla="*/ 330 w 330"/>
                  <a:gd name="T5" fmla="*/ 0 h 29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29"/>
                  <a:gd name="T11" fmla="*/ 330 w 330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29">
                    <a:moveTo>
                      <a:pt x="0" y="29"/>
                    </a:moveTo>
                    <a:lnTo>
                      <a:pt x="330" y="29"/>
                    </a:lnTo>
                    <a:lnTo>
                      <a:pt x="330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5" name="Line 368"/>
              <p:cNvSpPr>
                <a:spLocks noChangeShapeType="1"/>
              </p:cNvSpPr>
              <p:nvPr/>
            </p:nvSpPr>
            <p:spPr bwMode="auto">
              <a:xfrm>
                <a:off x="3898" y="2771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6" name="Line 369"/>
              <p:cNvSpPr>
                <a:spLocks noChangeShapeType="1"/>
              </p:cNvSpPr>
              <p:nvPr/>
            </p:nvSpPr>
            <p:spPr bwMode="auto">
              <a:xfrm>
                <a:off x="3898" y="2752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7" name="Line 370"/>
              <p:cNvSpPr>
                <a:spLocks noChangeShapeType="1"/>
              </p:cNvSpPr>
              <p:nvPr/>
            </p:nvSpPr>
            <p:spPr bwMode="auto">
              <a:xfrm>
                <a:off x="3931" y="2618"/>
                <a:ext cx="1" cy="24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8" name="AutoShape 371"/>
              <p:cNvSpPr>
                <a:spLocks noChangeArrowheads="1"/>
              </p:cNvSpPr>
              <p:nvPr/>
            </p:nvSpPr>
            <p:spPr bwMode="auto">
              <a:xfrm>
                <a:off x="3969" y="2661"/>
                <a:ext cx="48" cy="34"/>
              </a:xfrm>
              <a:custGeom>
                <a:avLst/>
                <a:gdLst>
                  <a:gd name="T0" fmla="*/ 0 w 48"/>
                  <a:gd name="T1" fmla="*/ 0 h 34"/>
                  <a:gd name="T2" fmla="*/ 0 w 48"/>
                  <a:gd name="T3" fmla="*/ 34 h 34"/>
                  <a:gd name="T4" fmla="*/ 48 w 48"/>
                  <a:gd name="T5" fmla="*/ 34 h 34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34"/>
                  <a:gd name="T11" fmla="*/ 48 w 48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34">
                    <a:moveTo>
                      <a:pt x="0" y="0"/>
                    </a:moveTo>
                    <a:lnTo>
                      <a:pt x="0" y="34"/>
                    </a:lnTo>
                    <a:lnTo>
                      <a:pt x="48" y="34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9" name="AutoShape 372"/>
              <p:cNvSpPr>
                <a:spLocks noChangeArrowheads="1"/>
              </p:cNvSpPr>
              <p:nvPr/>
            </p:nvSpPr>
            <p:spPr bwMode="auto">
              <a:xfrm>
                <a:off x="3496" y="2661"/>
                <a:ext cx="402" cy="34"/>
              </a:xfrm>
              <a:custGeom>
                <a:avLst/>
                <a:gdLst>
                  <a:gd name="T0" fmla="*/ 0 w 402"/>
                  <a:gd name="T1" fmla="*/ 34 h 34"/>
                  <a:gd name="T2" fmla="*/ 402 w 402"/>
                  <a:gd name="T3" fmla="*/ 34 h 34"/>
                  <a:gd name="T4" fmla="*/ 402 w 402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402"/>
                  <a:gd name="T10" fmla="*/ 0 h 34"/>
                  <a:gd name="T11" fmla="*/ 402 w 402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2" h="34">
                    <a:moveTo>
                      <a:pt x="0" y="34"/>
                    </a:moveTo>
                    <a:lnTo>
                      <a:pt x="402" y="34"/>
                    </a:lnTo>
                    <a:lnTo>
                      <a:pt x="402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0" name="Line 373"/>
              <p:cNvSpPr>
                <a:spLocks noChangeShapeType="1"/>
              </p:cNvSpPr>
              <p:nvPr/>
            </p:nvSpPr>
            <p:spPr bwMode="auto">
              <a:xfrm>
                <a:off x="3898" y="2661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Line 374"/>
              <p:cNvSpPr>
                <a:spLocks noChangeShapeType="1"/>
              </p:cNvSpPr>
              <p:nvPr/>
            </p:nvSpPr>
            <p:spPr bwMode="auto">
              <a:xfrm>
                <a:off x="3898" y="2642"/>
                <a:ext cx="71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" name="Line 375"/>
              <p:cNvSpPr>
                <a:spLocks noChangeShapeType="1"/>
              </p:cNvSpPr>
              <p:nvPr/>
            </p:nvSpPr>
            <p:spPr bwMode="auto">
              <a:xfrm>
                <a:off x="4017" y="2910"/>
                <a:ext cx="86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" name="AutoShape 376"/>
              <p:cNvSpPr>
                <a:spLocks noChangeArrowheads="1"/>
              </p:cNvSpPr>
              <p:nvPr/>
            </p:nvSpPr>
            <p:spPr bwMode="auto">
              <a:xfrm>
                <a:off x="4074" y="2871"/>
                <a:ext cx="115" cy="72"/>
              </a:xfrm>
              <a:custGeom>
                <a:avLst/>
                <a:gdLst>
                  <a:gd name="T0" fmla="*/ 19 w 24"/>
                  <a:gd name="T1" fmla="*/ 38 h 15"/>
                  <a:gd name="T2" fmla="*/ 0 w 24"/>
                  <a:gd name="T3" fmla="*/ 0 h 15"/>
                  <a:gd name="T4" fmla="*/ 0 w 24"/>
                  <a:gd name="T5" fmla="*/ 0 h 15"/>
                  <a:gd name="T6" fmla="*/ 57 w 24"/>
                  <a:gd name="T7" fmla="*/ 24 h 15"/>
                  <a:gd name="T8" fmla="*/ 115 w 24"/>
                  <a:gd name="T9" fmla="*/ 38 h 15"/>
                  <a:gd name="T10" fmla="*/ 57 w 24"/>
                  <a:gd name="T11" fmla="*/ 48 h 15"/>
                  <a:gd name="T12" fmla="*/ 0 w 24"/>
                  <a:gd name="T13" fmla="*/ 72 h 15"/>
                  <a:gd name="T14" fmla="*/ 0 w 24"/>
                  <a:gd name="T15" fmla="*/ 72 h 15"/>
                  <a:gd name="T16" fmla="*/ 19 w 24"/>
                  <a:gd name="T17" fmla="*/ 38 h 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15"/>
                  <a:gd name="T29" fmla="*/ 24 w 24"/>
                  <a:gd name="T30" fmla="*/ 15 h 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15">
                    <a:moveTo>
                      <a:pt x="4" y="8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6" y="6"/>
                      <a:pt x="20" y="7"/>
                      <a:pt x="24" y="8"/>
                    </a:cubicBezTo>
                    <a:cubicBezTo>
                      <a:pt x="20" y="8"/>
                      <a:pt x="16" y="9"/>
                      <a:pt x="12" y="1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4" y="8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4" name="Line 377"/>
              <p:cNvSpPr>
                <a:spLocks noChangeShapeType="1"/>
              </p:cNvSpPr>
              <p:nvPr/>
            </p:nvSpPr>
            <p:spPr bwMode="auto">
              <a:xfrm flipH="1">
                <a:off x="4101" y="3392"/>
                <a:ext cx="429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Line 378"/>
              <p:cNvSpPr>
                <a:spLocks noChangeShapeType="1"/>
              </p:cNvSpPr>
              <p:nvPr/>
            </p:nvSpPr>
            <p:spPr bwMode="auto">
              <a:xfrm flipV="1">
                <a:off x="4313" y="3304"/>
                <a:ext cx="1" cy="90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AutoShape 379"/>
              <p:cNvSpPr>
                <a:spLocks noChangeArrowheads="1"/>
              </p:cNvSpPr>
              <p:nvPr/>
            </p:nvSpPr>
            <p:spPr bwMode="auto">
              <a:xfrm>
                <a:off x="4280" y="3220"/>
                <a:ext cx="71" cy="115"/>
              </a:xfrm>
              <a:custGeom>
                <a:avLst/>
                <a:gdLst>
                  <a:gd name="T0" fmla="*/ 33 w 15"/>
                  <a:gd name="T1" fmla="*/ 96 h 24"/>
                  <a:gd name="T2" fmla="*/ 71 w 15"/>
                  <a:gd name="T3" fmla="*/ 115 h 24"/>
                  <a:gd name="T4" fmla="*/ 71 w 15"/>
                  <a:gd name="T5" fmla="*/ 115 h 24"/>
                  <a:gd name="T6" fmla="*/ 47 w 15"/>
                  <a:gd name="T7" fmla="*/ 57 h 24"/>
                  <a:gd name="T8" fmla="*/ 33 w 15"/>
                  <a:gd name="T9" fmla="*/ 0 h 24"/>
                  <a:gd name="T10" fmla="*/ 24 w 15"/>
                  <a:gd name="T11" fmla="*/ 57 h 24"/>
                  <a:gd name="T12" fmla="*/ 0 w 15"/>
                  <a:gd name="T13" fmla="*/ 115 h 24"/>
                  <a:gd name="T14" fmla="*/ 0 w 15"/>
                  <a:gd name="T15" fmla="*/ 115 h 24"/>
                  <a:gd name="T16" fmla="*/ 33 w 15"/>
                  <a:gd name="T17" fmla="*/ 96 h 2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5"/>
                  <a:gd name="T28" fmla="*/ 0 h 24"/>
                  <a:gd name="T29" fmla="*/ 15 w 15"/>
                  <a:gd name="T30" fmla="*/ 24 h 2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5" h="24">
                    <a:moveTo>
                      <a:pt x="7" y="20"/>
                    </a:moveTo>
                    <a:cubicBezTo>
                      <a:pt x="15" y="24"/>
                      <a:pt x="15" y="24"/>
                      <a:pt x="15" y="24"/>
                    </a:cubicBezTo>
                    <a:cubicBezTo>
                      <a:pt x="15" y="24"/>
                      <a:pt x="15" y="24"/>
                      <a:pt x="15" y="24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8"/>
                      <a:pt x="8" y="4"/>
                      <a:pt x="7" y="0"/>
                    </a:cubicBezTo>
                    <a:cubicBezTo>
                      <a:pt x="6" y="4"/>
                      <a:pt x="6" y="8"/>
                      <a:pt x="5" y="1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7" y="20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7" name="Line 380"/>
              <p:cNvSpPr>
                <a:spLocks noChangeShapeType="1"/>
              </p:cNvSpPr>
              <p:nvPr/>
            </p:nvSpPr>
            <p:spPr bwMode="auto">
              <a:xfrm flipV="1">
                <a:off x="4753" y="2764"/>
                <a:ext cx="1" cy="430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8" name="Line 381"/>
              <p:cNvSpPr>
                <a:spLocks noChangeShapeType="1"/>
              </p:cNvSpPr>
              <p:nvPr/>
            </p:nvSpPr>
            <p:spPr bwMode="auto">
              <a:xfrm flipH="1">
                <a:off x="4665" y="2981"/>
                <a:ext cx="90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9" name="AutoShape 382"/>
              <p:cNvSpPr>
                <a:spLocks noChangeArrowheads="1"/>
              </p:cNvSpPr>
              <p:nvPr/>
            </p:nvSpPr>
            <p:spPr bwMode="auto">
              <a:xfrm>
                <a:off x="4581" y="2943"/>
                <a:ext cx="114" cy="72"/>
              </a:xfrm>
              <a:custGeom>
                <a:avLst/>
                <a:gdLst>
                  <a:gd name="T0" fmla="*/ 19 w 24"/>
                  <a:gd name="T1" fmla="*/ 38 h 15"/>
                  <a:gd name="T2" fmla="*/ 0 w 24"/>
                  <a:gd name="T3" fmla="*/ 72 h 15"/>
                  <a:gd name="T4" fmla="*/ 0 w 24"/>
                  <a:gd name="T5" fmla="*/ 72 h 15"/>
                  <a:gd name="T6" fmla="*/ 57 w 24"/>
                  <a:gd name="T7" fmla="*/ 53 h 15"/>
                  <a:gd name="T8" fmla="*/ 114 w 24"/>
                  <a:gd name="T9" fmla="*/ 38 h 15"/>
                  <a:gd name="T10" fmla="*/ 57 w 24"/>
                  <a:gd name="T11" fmla="*/ 24 h 15"/>
                  <a:gd name="T12" fmla="*/ 0 w 24"/>
                  <a:gd name="T13" fmla="*/ 0 h 15"/>
                  <a:gd name="T14" fmla="*/ 0 w 24"/>
                  <a:gd name="T15" fmla="*/ 5 h 15"/>
                  <a:gd name="T16" fmla="*/ 19 w 24"/>
                  <a:gd name="T17" fmla="*/ 38 h 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15"/>
                  <a:gd name="T29" fmla="*/ 24 w 24"/>
                  <a:gd name="T30" fmla="*/ 15 h 1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15">
                    <a:moveTo>
                      <a:pt x="4" y="8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6" y="10"/>
                      <a:pt x="20" y="9"/>
                      <a:pt x="24" y="8"/>
                    </a:cubicBezTo>
                    <a:cubicBezTo>
                      <a:pt x="20" y="7"/>
                      <a:pt x="16" y="6"/>
                      <a:pt x="12" y="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4" y="8"/>
                    </a:lnTo>
                    <a:close/>
                  </a:path>
                </a:pathLst>
              </a:custGeom>
              <a:solidFill>
                <a:srgbClr val="999999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0" name="Line 383"/>
              <p:cNvSpPr>
                <a:spLocks noChangeShapeType="1"/>
              </p:cNvSpPr>
              <p:nvPr/>
            </p:nvSpPr>
            <p:spPr bwMode="auto">
              <a:xfrm>
                <a:off x="1098" y="2656"/>
                <a:ext cx="425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Rectangle 384"/>
              <p:cNvSpPr>
                <a:spLocks noChangeArrowheads="1"/>
              </p:cNvSpPr>
              <p:nvPr/>
            </p:nvSpPr>
            <p:spPr bwMode="auto">
              <a:xfrm>
                <a:off x="1040" y="2690"/>
                <a:ext cx="669" cy="669"/>
              </a:xfrm>
              <a:prstGeom prst="rect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2" name="Line 385"/>
              <p:cNvSpPr>
                <a:spLocks noChangeShapeType="1"/>
              </p:cNvSpPr>
              <p:nvPr/>
            </p:nvSpPr>
            <p:spPr bwMode="auto">
              <a:xfrm>
                <a:off x="1447" y="2570"/>
                <a:ext cx="23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AutoShape 386"/>
              <p:cNvSpPr>
                <a:spLocks noChangeArrowheads="1"/>
              </p:cNvSpPr>
              <p:nvPr/>
            </p:nvSpPr>
            <p:spPr bwMode="auto">
              <a:xfrm>
                <a:off x="1490" y="2609"/>
                <a:ext cx="33" cy="47"/>
              </a:xfrm>
              <a:custGeom>
                <a:avLst/>
                <a:gdLst>
                  <a:gd name="T0" fmla="*/ 0 w 33"/>
                  <a:gd name="T1" fmla="*/ 0 h 47"/>
                  <a:gd name="T2" fmla="*/ 33 w 33"/>
                  <a:gd name="T3" fmla="*/ 0 h 47"/>
                  <a:gd name="T4" fmla="*/ 33 w 33"/>
                  <a:gd name="T5" fmla="*/ 47 h 47"/>
                  <a:gd name="T6" fmla="*/ 0 60000 65536"/>
                  <a:gd name="T7" fmla="*/ 0 60000 65536"/>
                  <a:gd name="T8" fmla="*/ 0 60000 65536"/>
                  <a:gd name="T9" fmla="*/ 0 w 33"/>
                  <a:gd name="T10" fmla="*/ 0 h 47"/>
                  <a:gd name="T11" fmla="*/ 33 w 33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" h="47">
                    <a:moveTo>
                      <a:pt x="0" y="0"/>
                    </a:moveTo>
                    <a:lnTo>
                      <a:pt x="33" y="0"/>
                    </a:lnTo>
                    <a:lnTo>
                      <a:pt x="33" y="47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4" name="AutoShape 387"/>
              <p:cNvSpPr>
                <a:spLocks noChangeArrowheads="1"/>
              </p:cNvSpPr>
              <p:nvPr/>
            </p:nvSpPr>
            <p:spPr bwMode="auto">
              <a:xfrm>
                <a:off x="1490" y="2403"/>
                <a:ext cx="133" cy="129"/>
              </a:xfrm>
              <a:custGeom>
                <a:avLst/>
                <a:gdLst>
                  <a:gd name="T0" fmla="*/ 0 w 133"/>
                  <a:gd name="T1" fmla="*/ 129 h 129"/>
                  <a:gd name="T2" fmla="*/ 33 w 133"/>
                  <a:gd name="T3" fmla="*/ 129 h 129"/>
                  <a:gd name="T4" fmla="*/ 33 w 133"/>
                  <a:gd name="T5" fmla="*/ 0 h 129"/>
                  <a:gd name="T6" fmla="*/ 133 w 133"/>
                  <a:gd name="T7" fmla="*/ 0 h 1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3"/>
                  <a:gd name="T13" fmla="*/ 0 h 129"/>
                  <a:gd name="T14" fmla="*/ 133 w 133"/>
                  <a:gd name="T15" fmla="*/ 129 h 1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3" h="129">
                    <a:moveTo>
                      <a:pt x="0" y="129"/>
                    </a:moveTo>
                    <a:lnTo>
                      <a:pt x="33" y="129"/>
                    </a:lnTo>
                    <a:lnTo>
                      <a:pt x="33" y="0"/>
                    </a:lnTo>
                    <a:lnTo>
                      <a:pt x="133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5" name="Line 388"/>
              <p:cNvSpPr>
                <a:spLocks noChangeShapeType="1"/>
              </p:cNvSpPr>
              <p:nvPr/>
            </p:nvSpPr>
            <p:spPr bwMode="auto">
              <a:xfrm>
                <a:off x="1490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" name="Line 389"/>
              <p:cNvSpPr>
                <a:spLocks noChangeShapeType="1"/>
              </p:cNvSpPr>
              <p:nvPr/>
            </p:nvSpPr>
            <p:spPr bwMode="auto">
              <a:xfrm>
                <a:off x="1470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Line 390"/>
              <p:cNvSpPr>
                <a:spLocks noChangeShapeType="1"/>
              </p:cNvSpPr>
              <p:nvPr/>
            </p:nvSpPr>
            <p:spPr bwMode="auto">
              <a:xfrm>
                <a:off x="1341" y="2570"/>
                <a:ext cx="24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AutoShape 391"/>
              <p:cNvSpPr>
                <a:spLocks noChangeArrowheads="1"/>
              </p:cNvSpPr>
              <p:nvPr/>
            </p:nvSpPr>
            <p:spPr bwMode="auto">
              <a:xfrm>
                <a:off x="1384" y="2609"/>
                <a:ext cx="34" cy="47"/>
              </a:xfrm>
              <a:custGeom>
                <a:avLst/>
                <a:gdLst>
                  <a:gd name="T0" fmla="*/ 0 w 34"/>
                  <a:gd name="T1" fmla="*/ 0 h 47"/>
                  <a:gd name="T2" fmla="*/ 34 w 34"/>
                  <a:gd name="T3" fmla="*/ 0 h 47"/>
                  <a:gd name="T4" fmla="*/ 34 w 34"/>
                  <a:gd name="T5" fmla="*/ 47 h 47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47"/>
                  <a:gd name="T11" fmla="*/ 34 w 34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47">
                    <a:moveTo>
                      <a:pt x="0" y="0"/>
                    </a:moveTo>
                    <a:lnTo>
                      <a:pt x="34" y="0"/>
                    </a:lnTo>
                    <a:lnTo>
                      <a:pt x="34" y="47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9" name="AutoShape 392"/>
              <p:cNvSpPr>
                <a:spLocks noChangeArrowheads="1"/>
              </p:cNvSpPr>
              <p:nvPr/>
            </p:nvSpPr>
            <p:spPr bwMode="auto">
              <a:xfrm>
                <a:off x="1384" y="2331"/>
                <a:ext cx="134" cy="201"/>
              </a:xfrm>
              <a:custGeom>
                <a:avLst/>
                <a:gdLst>
                  <a:gd name="T0" fmla="*/ 0 w 134"/>
                  <a:gd name="T1" fmla="*/ 201 h 201"/>
                  <a:gd name="T2" fmla="*/ 34 w 134"/>
                  <a:gd name="T3" fmla="*/ 201 h 201"/>
                  <a:gd name="T4" fmla="*/ 34 w 134"/>
                  <a:gd name="T5" fmla="*/ 0 h 201"/>
                  <a:gd name="T6" fmla="*/ 134 w 134"/>
                  <a:gd name="T7" fmla="*/ 0 h 20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4"/>
                  <a:gd name="T13" fmla="*/ 0 h 201"/>
                  <a:gd name="T14" fmla="*/ 134 w 134"/>
                  <a:gd name="T15" fmla="*/ 201 h 20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4" h="201">
                    <a:moveTo>
                      <a:pt x="0" y="201"/>
                    </a:moveTo>
                    <a:lnTo>
                      <a:pt x="34" y="201"/>
                    </a:lnTo>
                    <a:lnTo>
                      <a:pt x="34" y="0"/>
                    </a:lnTo>
                    <a:lnTo>
                      <a:pt x="134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0" name="Line 393"/>
              <p:cNvSpPr>
                <a:spLocks noChangeShapeType="1"/>
              </p:cNvSpPr>
              <p:nvPr/>
            </p:nvSpPr>
            <p:spPr bwMode="auto">
              <a:xfrm>
                <a:off x="1384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1" name="Line 394"/>
              <p:cNvSpPr>
                <a:spLocks noChangeShapeType="1"/>
              </p:cNvSpPr>
              <p:nvPr/>
            </p:nvSpPr>
            <p:spPr bwMode="auto">
              <a:xfrm>
                <a:off x="1365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2" name="Line 395"/>
              <p:cNvSpPr>
                <a:spLocks noChangeShapeType="1"/>
              </p:cNvSpPr>
              <p:nvPr/>
            </p:nvSpPr>
            <p:spPr bwMode="auto">
              <a:xfrm>
                <a:off x="1232" y="2570"/>
                <a:ext cx="28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AutoShape 396"/>
              <p:cNvSpPr>
                <a:spLocks noChangeArrowheads="1"/>
              </p:cNvSpPr>
              <p:nvPr/>
            </p:nvSpPr>
            <p:spPr bwMode="auto">
              <a:xfrm>
                <a:off x="1279" y="2609"/>
                <a:ext cx="29" cy="47"/>
              </a:xfrm>
              <a:custGeom>
                <a:avLst/>
                <a:gdLst>
                  <a:gd name="T0" fmla="*/ 0 w 29"/>
                  <a:gd name="T1" fmla="*/ 0 h 47"/>
                  <a:gd name="T2" fmla="*/ 29 w 29"/>
                  <a:gd name="T3" fmla="*/ 0 h 47"/>
                  <a:gd name="T4" fmla="*/ 29 w 29"/>
                  <a:gd name="T5" fmla="*/ 47 h 47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47"/>
                  <a:gd name="T11" fmla="*/ 29 w 29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47">
                    <a:moveTo>
                      <a:pt x="0" y="0"/>
                    </a:moveTo>
                    <a:lnTo>
                      <a:pt x="29" y="0"/>
                    </a:lnTo>
                    <a:lnTo>
                      <a:pt x="29" y="47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" name="AutoShape 397"/>
              <p:cNvSpPr>
                <a:spLocks noChangeArrowheads="1"/>
              </p:cNvSpPr>
              <p:nvPr/>
            </p:nvSpPr>
            <p:spPr bwMode="auto">
              <a:xfrm>
                <a:off x="1279" y="2260"/>
                <a:ext cx="129" cy="272"/>
              </a:xfrm>
              <a:custGeom>
                <a:avLst/>
                <a:gdLst>
                  <a:gd name="T0" fmla="*/ 0 w 129"/>
                  <a:gd name="T1" fmla="*/ 272 h 272"/>
                  <a:gd name="T2" fmla="*/ 29 w 129"/>
                  <a:gd name="T3" fmla="*/ 272 h 272"/>
                  <a:gd name="T4" fmla="*/ 29 w 129"/>
                  <a:gd name="T5" fmla="*/ 0 h 272"/>
                  <a:gd name="T6" fmla="*/ 129 w 129"/>
                  <a:gd name="T7" fmla="*/ 0 h 2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272"/>
                  <a:gd name="T14" fmla="*/ 129 w 129"/>
                  <a:gd name="T15" fmla="*/ 272 h 2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272">
                    <a:moveTo>
                      <a:pt x="0" y="272"/>
                    </a:moveTo>
                    <a:lnTo>
                      <a:pt x="29" y="272"/>
                    </a:lnTo>
                    <a:lnTo>
                      <a:pt x="29" y="0"/>
                    </a:lnTo>
                    <a:lnTo>
                      <a:pt x="129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5" name="Line 398"/>
              <p:cNvSpPr>
                <a:spLocks noChangeShapeType="1"/>
              </p:cNvSpPr>
              <p:nvPr/>
            </p:nvSpPr>
            <p:spPr bwMode="auto">
              <a:xfrm>
                <a:off x="1279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6" name="Line 399"/>
              <p:cNvSpPr>
                <a:spLocks noChangeShapeType="1"/>
              </p:cNvSpPr>
              <p:nvPr/>
            </p:nvSpPr>
            <p:spPr bwMode="auto">
              <a:xfrm>
                <a:off x="1260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" name="Line 400"/>
              <p:cNvSpPr>
                <a:spLocks noChangeShapeType="1"/>
              </p:cNvSpPr>
              <p:nvPr/>
            </p:nvSpPr>
            <p:spPr bwMode="auto">
              <a:xfrm>
                <a:off x="1126" y="2570"/>
                <a:ext cx="24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8" name="AutoShape 401"/>
              <p:cNvSpPr>
                <a:spLocks noChangeArrowheads="1"/>
              </p:cNvSpPr>
              <p:nvPr/>
            </p:nvSpPr>
            <p:spPr bwMode="auto">
              <a:xfrm>
                <a:off x="1174" y="2609"/>
                <a:ext cx="29" cy="47"/>
              </a:xfrm>
              <a:custGeom>
                <a:avLst/>
                <a:gdLst>
                  <a:gd name="T0" fmla="*/ 0 w 29"/>
                  <a:gd name="T1" fmla="*/ 0 h 47"/>
                  <a:gd name="T2" fmla="*/ 29 w 29"/>
                  <a:gd name="T3" fmla="*/ 0 h 47"/>
                  <a:gd name="T4" fmla="*/ 29 w 29"/>
                  <a:gd name="T5" fmla="*/ 47 h 47"/>
                  <a:gd name="T6" fmla="*/ 0 60000 65536"/>
                  <a:gd name="T7" fmla="*/ 0 60000 65536"/>
                  <a:gd name="T8" fmla="*/ 0 60000 65536"/>
                  <a:gd name="T9" fmla="*/ 0 w 29"/>
                  <a:gd name="T10" fmla="*/ 0 h 47"/>
                  <a:gd name="T11" fmla="*/ 29 w 29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" h="47">
                    <a:moveTo>
                      <a:pt x="0" y="0"/>
                    </a:moveTo>
                    <a:lnTo>
                      <a:pt x="29" y="0"/>
                    </a:lnTo>
                    <a:lnTo>
                      <a:pt x="29" y="47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9" name="AutoShape 402"/>
              <p:cNvSpPr>
                <a:spLocks noChangeArrowheads="1"/>
              </p:cNvSpPr>
              <p:nvPr/>
            </p:nvSpPr>
            <p:spPr bwMode="auto">
              <a:xfrm>
                <a:off x="1174" y="2188"/>
                <a:ext cx="129" cy="344"/>
              </a:xfrm>
              <a:custGeom>
                <a:avLst/>
                <a:gdLst>
                  <a:gd name="T0" fmla="*/ 0 w 129"/>
                  <a:gd name="T1" fmla="*/ 344 h 344"/>
                  <a:gd name="T2" fmla="*/ 29 w 129"/>
                  <a:gd name="T3" fmla="*/ 344 h 344"/>
                  <a:gd name="T4" fmla="*/ 29 w 129"/>
                  <a:gd name="T5" fmla="*/ 0 h 344"/>
                  <a:gd name="T6" fmla="*/ 129 w 129"/>
                  <a:gd name="T7" fmla="*/ 0 h 3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344"/>
                  <a:gd name="T14" fmla="*/ 129 w 129"/>
                  <a:gd name="T15" fmla="*/ 344 h 3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344">
                    <a:moveTo>
                      <a:pt x="0" y="344"/>
                    </a:moveTo>
                    <a:lnTo>
                      <a:pt x="29" y="344"/>
                    </a:lnTo>
                    <a:lnTo>
                      <a:pt x="29" y="0"/>
                    </a:lnTo>
                    <a:lnTo>
                      <a:pt x="129" y="0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0" name="Line 403"/>
              <p:cNvSpPr>
                <a:spLocks noChangeShapeType="1"/>
              </p:cNvSpPr>
              <p:nvPr/>
            </p:nvSpPr>
            <p:spPr bwMode="auto">
              <a:xfrm>
                <a:off x="1174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Line 404"/>
              <p:cNvSpPr>
                <a:spLocks noChangeShapeType="1"/>
              </p:cNvSpPr>
              <p:nvPr/>
            </p:nvSpPr>
            <p:spPr bwMode="auto">
              <a:xfrm>
                <a:off x="1155" y="2532"/>
                <a:ext cx="1" cy="77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" name="Line 405"/>
              <p:cNvSpPr>
                <a:spLocks noChangeShapeType="1"/>
              </p:cNvSpPr>
              <p:nvPr/>
            </p:nvSpPr>
            <p:spPr bwMode="auto">
              <a:xfrm>
                <a:off x="1021" y="2570"/>
                <a:ext cx="24" cy="1"/>
              </a:xfrm>
              <a:prstGeom prst="line">
                <a:avLst/>
              </a:pr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3" name="AutoShape 406"/>
              <p:cNvSpPr>
                <a:spLocks noChangeArrowheads="1"/>
              </p:cNvSpPr>
              <p:nvPr/>
            </p:nvSpPr>
            <p:spPr bwMode="auto">
              <a:xfrm>
                <a:off x="1064" y="2609"/>
                <a:ext cx="34" cy="47"/>
              </a:xfrm>
              <a:custGeom>
                <a:avLst/>
                <a:gdLst>
                  <a:gd name="T0" fmla="*/ 0 w 34"/>
                  <a:gd name="T1" fmla="*/ 0 h 47"/>
                  <a:gd name="T2" fmla="*/ 34 w 34"/>
                  <a:gd name="T3" fmla="*/ 0 h 47"/>
                  <a:gd name="T4" fmla="*/ 34 w 34"/>
                  <a:gd name="T5" fmla="*/ 47 h 47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47"/>
                  <a:gd name="T11" fmla="*/ 34 w 34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47">
                    <a:moveTo>
                      <a:pt x="0" y="0"/>
                    </a:moveTo>
                    <a:lnTo>
                      <a:pt x="34" y="0"/>
                    </a:lnTo>
                    <a:lnTo>
                      <a:pt x="34" y="47"/>
                    </a:lnTo>
                  </a:path>
                </a:pathLst>
              </a:custGeom>
              <a:noFill/>
              <a:ln w="14400">
                <a:solidFill>
                  <a:srgbClr val="9999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" name="AutoShape 407"/>
            <p:cNvSpPr>
              <a:spLocks noChangeArrowheads="1"/>
            </p:cNvSpPr>
            <p:nvPr/>
          </p:nvSpPr>
          <p:spPr bwMode="auto">
            <a:xfrm>
              <a:off x="1064" y="2116"/>
              <a:ext cx="134" cy="416"/>
            </a:xfrm>
            <a:custGeom>
              <a:avLst/>
              <a:gdLst>
                <a:gd name="T0" fmla="*/ 0 w 134"/>
                <a:gd name="T1" fmla="*/ 416 h 416"/>
                <a:gd name="T2" fmla="*/ 34 w 134"/>
                <a:gd name="T3" fmla="*/ 416 h 416"/>
                <a:gd name="T4" fmla="*/ 34 w 134"/>
                <a:gd name="T5" fmla="*/ 0 h 416"/>
                <a:gd name="T6" fmla="*/ 134 w 134"/>
                <a:gd name="T7" fmla="*/ 0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416"/>
                <a:gd name="T14" fmla="*/ 134 w 134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416">
                  <a:moveTo>
                    <a:pt x="0" y="416"/>
                  </a:moveTo>
                  <a:lnTo>
                    <a:pt x="34" y="416"/>
                  </a:lnTo>
                  <a:lnTo>
                    <a:pt x="34" y="0"/>
                  </a:lnTo>
                  <a:lnTo>
                    <a:pt x="134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408"/>
            <p:cNvSpPr>
              <a:spLocks noChangeShapeType="1"/>
            </p:cNvSpPr>
            <p:nvPr/>
          </p:nvSpPr>
          <p:spPr bwMode="auto">
            <a:xfrm>
              <a:off x="1064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409"/>
            <p:cNvSpPr>
              <a:spLocks noChangeShapeType="1"/>
            </p:cNvSpPr>
            <p:nvPr/>
          </p:nvSpPr>
          <p:spPr bwMode="auto">
            <a:xfrm>
              <a:off x="1045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410"/>
            <p:cNvSpPr>
              <a:spLocks noChangeShapeType="1"/>
            </p:cNvSpPr>
            <p:nvPr/>
          </p:nvSpPr>
          <p:spPr bwMode="auto">
            <a:xfrm>
              <a:off x="1308" y="2656"/>
              <a:ext cx="1" cy="86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AutoShape 411"/>
            <p:cNvSpPr>
              <a:spLocks noChangeArrowheads="1"/>
            </p:cNvSpPr>
            <p:nvPr/>
          </p:nvSpPr>
          <p:spPr bwMode="auto">
            <a:xfrm>
              <a:off x="1275" y="2714"/>
              <a:ext cx="71" cy="114"/>
            </a:xfrm>
            <a:custGeom>
              <a:avLst/>
              <a:gdLst>
                <a:gd name="T0" fmla="*/ 33 w 15"/>
                <a:gd name="T1" fmla="*/ 19 h 24"/>
                <a:gd name="T2" fmla="*/ 0 w 15"/>
                <a:gd name="T3" fmla="*/ 0 h 24"/>
                <a:gd name="T4" fmla="*/ 0 w 15"/>
                <a:gd name="T5" fmla="*/ 0 h 24"/>
                <a:gd name="T6" fmla="*/ 24 w 15"/>
                <a:gd name="T7" fmla="*/ 57 h 24"/>
                <a:gd name="T8" fmla="*/ 33 w 15"/>
                <a:gd name="T9" fmla="*/ 114 h 24"/>
                <a:gd name="T10" fmla="*/ 47 w 15"/>
                <a:gd name="T11" fmla="*/ 57 h 24"/>
                <a:gd name="T12" fmla="*/ 71 w 15"/>
                <a:gd name="T13" fmla="*/ 0 h 24"/>
                <a:gd name="T14" fmla="*/ 71 w 15"/>
                <a:gd name="T15" fmla="*/ 0 h 24"/>
                <a:gd name="T16" fmla="*/ 33 w 15"/>
                <a:gd name="T17" fmla="*/ 19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"/>
                <a:gd name="T28" fmla="*/ 0 h 24"/>
                <a:gd name="T29" fmla="*/ 15 w 15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" h="24">
                  <a:moveTo>
                    <a:pt x="7" y="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6"/>
                    <a:pt x="7" y="20"/>
                    <a:pt x="7" y="24"/>
                  </a:cubicBezTo>
                  <a:cubicBezTo>
                    <a:pt x="8" y="20"/>
                    <a:pt x="9" y="16"/>
                    <a:pt x="10" y="12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7" y="4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412"/>
            <p:cNvSpPr>
              <a:spLocks noChangeShapeType="1"/>
            </p:cNvSpPr>
            <p:nvPr/>
          </p:nvSpPr>
          <p:spPr bwMode="auto">
            <a:xfrm>
              <a:off x="1007" y="2838"/>
              <a:ext cx="1" cy="425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413"/>
            <p:cNvSpPr>
              <a:spLocks noChangeShapeType="1"/>
            </p:cNvSpPr>
            <p:nvPr/>
          </p:nvSpPr>
          <p:spPr bwMode="auto">
            <a:xfrm>
              <a:off x="1007" y="3053"/>
              <a:ext cx="8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AutoShape 414"/>
            <p:cNvSpPr>
              <a:spLocks noChangeArrowheads="1"/>
            </p:cNvSpPr>
            <p:nvPr/>
          </p:nvSpPr>
          <p:spPr bwMode="auto">
            <a:xfrm>
              <a:off x="1064" y="3015"/>
              <a:ext cx="115" cy="71"/>
            </a:xfrm>
            <a:custGeom>
              <a:avLst/>
              <a:gdLst>
                <a:gd name="T0" fmla="*/ 19 w 24"/>
                <a:gd name="T1" fmla="*/ 38 h 15"/>
                <a:gd name="T2" fmla="*/ 0 w 24"/>
                <a:gd name="T3" fmla="*/ 5 h 15"/>
                <a:gd name="T4" fmla="*/ 0 w 24"/>
                <a:gd name="T5" fmla="*/ 0 h 15"/>
                <a:gd name="T6" fmla="*/ 57 w 24"/>
                <a:gd name="T7" fmla="*/ 24 h 15"/>
                <a:gd name="T8" fmla="*/ 115 w 24"/>
                <a:gd name="T9" fmla="*/ 38 h 15"/>
                <a:gd name="T10" fmla="*/ 57 w 24"/>
                <a:gd name="T11" fmla="*/ 47 h 15"/>
                <a:gd name="T12" fmla="*/ 0 w 24"/>
                <a:gd name="T13" fmla="*/ 71 h 15"/>
                <a:gd name="T14" fmla="*/ 0 w 24"/>
                <a:gd name="T15" fmla="*/ 71 h 15"/>
                <a:gd name="T16" fmla="*/ 19 w 24"/>
                <a:gd name="T17" fmla="*/ 38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"/>
                <a:gd name="T28" fmla="*/ 0 h 15"/>
                <a:gd name="T29" fmla="*/ 24 w 24"/>
                <a:gd name="T30" fmla="*/ 15 h 1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" h="15">
                  <a:moveTo>
                    <a:pt x="4" y="8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6" y="6"/>
                    <a:pt x="20" y="7"/>
                    <a:pt x="24" y="8"/>
                  </a:cubicBezTo>
                  <a:cubicBezTo>
                    <a:pt x="20" y="9"/>
                    <a:pt x="16" y="10"/>
                    <a:pt x="12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lnTo>
                    <a:pt x="4" y="8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415"/>
            <p:cNvSpPr>
              <a:spLocks noChangeShapeType="1"/>
            </p:cNvSpPr>
            <p:nvPr/>
          </p:nvSpPr>
          <p:spPr bwMode="auto">
            <a:xfrm flipH="1">
              <a:off x="1091" y="3392"/>
              <a:ext cx="429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416"/>
            <p:cNvSpPr>
              <a:spLocks noChangeShapeType="1"/>
            </p:cNvSpPr>
            <p:nvPr/>
          </p:nvSpPr>
          <p:spPr bwMode="auto">
            <a:xfrm flipV="1">
              <a:off x="1303" y="3304"/>
              <a:ext cx="1" cy="90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AutoShape 417"/>
            <p:cNvSpPr>
              <a:spLocks noChangeArrowheads="1"/>
            </p:cNvSpPr>
            <p:nvPr/>
          </p:nvSpPr>
          <p:spPr bwMode="auto">
            <a:xfrm>
              <a:off x="1270" y="3220"/>
              <a:ext cx="71" cy="115"/>
            </a:xfrm>
            <a:custGeom>
              <a:avLst/>
              <a:gdLst>
                <a:gd name="T0" fmla="*/ 33 w 15"/>
                <a:gd name="T1" fmla="*/ 96 h 24"/>
                <a:gd name="T2" fmla="*/ 71 w 15"/>
                <a:gd name="T3" fmla="*/ 115 h 24"/>
                <a:gd name="T4" fmla="*/ 71 w 15"/>
                <a:gd name="T5" fmla="*/ 115 h 24"/>
                <a:gd name="T6" fmla="*/ 47 w 15"/>
                <a:gd name="T7" fmla="*/ 57 h 24"/>
                <a:gd name="T8" fmla="*/ 33 w 15"/>
                <a:gd name="T9" fmla="*/ 0 h 24"/>
                <a:gd name="T10" fmla="*/ 24 w 15"/>
                <a:gd name="T11" fmla="*/ 57 h 24"/>
                <a:gd name="T12" fmla="*/ 0 w 15"/>
                <a:gd name="T13" fmla="*/ 115 h 24"/>
                <a:gd name="T14" fmla="*/ 0 w 15"/>
                <a:gd name="T15" fmla="*/ 115 h 24"/>
                <a:gd name="T16" fmla="*/ 33 w 15"/>
                <a:gd name="T17" fmla="*/ 96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"/>
                <a:gd name="T28" fmla="*/ 0 h 24"/>
                <a:gd name="T29" fmla="*/ 15 w 15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" h="24">
                  <a:moveTo>
                    <a:pt x="7" y="20"/>
                  </a:moveTo>
                  <a:cubicBezTo>
                    <a:pt x="15" y="24"/>
                    <a:pt x="15" y="24"/>
                    <a:pt x="15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8"/>
                    <a:pt x="8" y="4"/>
                    <a:pt x="7" y="0"/>
                  </a:cubicBezTo>
                  <a:cubicBezTo>
                    <a:pt x="7" y="4"/>
                    <a:pt x="6" y="8"/>
                    <a:pt x="5" y="1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7" y="20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418"/>
            <p:cNvSpPr>
              <a:spLocks noChangeShapeType="1"/>
            </p:cNvSpPr>
            <p:nvPr/>
          </p:nvSpPr>
          <p:spPr bwMode="auto">
            <a:xfrm>
              <a:off x="2612" y="2656"/>
              <a:ext cx="42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419"/>
            <p:cNvSpPr>
              <a:spLocks noChangeShapeType="1"/>
            </p:cNvSpPr>
            <p:nvPr/>
          </p:nvSpPr>
          <p:spPr bwMode="auto">
            <a:xfrm>
              <a:off x="2961" y="2570"/>
              <a:ext cx="24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420"/>
            <p:cNvSpPr>
              <a:spLocks noChangeArrowheads="1"/>
            </p:cNvSpPr>
            <p:nvPr/>
          </p:nvSpPr>
          <p:spPr bwMode="auto">
            <a:xfrm>
              <a:off x="3004" y="2609"/>
              <a:ext cx="34" cy="47"/>
            </a:xfrm>
            <a:custGeom>
              <a:avLst/>
              <a:gdLst>
                <a:gd name="T0" fmla="*/ 0 w 34"/>
                <a:gd name="T1" fmla="*/ 0 h 47"/>
                <a:gd name="T2" fmla="*/ 34 w 34"/>
                <a:gd name="T3" fmla="*/ 0 h 47"/>
                <a:gd name="T4" fmla="*/ 34 w 34"/>
                <a:gd name="T5" fmla="*/ 47 h 47"/>
                <a:gd name="T6" fmla="*/ 0 60000 65536"/>
                <a:gd name="T7" fmla="*/ 0 60000 65536"/>
                <a:gd name="T8" fmla="*/ 0 60000 65536"/>
                <a:gd name="T9" fmla="*/ 0 w 34"/>
                <a:gd name="T10" fmla="*/ 0 h 47"/>
                <a:gd name="T11" fmla="*/ 34 w 34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7">
                  <a:moveTo>
                    <a:pt x="0" y="0"/>
                  </a:moveTo>
                  <a:lnTo>
                    <a:pt x="34" y="0"/>
                  </a:lnTo>
                  <a:lnTo>
                    <a:pt x="34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AutoShape 421"/>
            <p:cNvSpPr>
              <a:spLocks noChangeArrowheads="1"/>
            </p:cNvSpPr>
            <p:nvPr/>
          </p:nvSpPr>
          <p:spPr bwMode="auto">
            <a:xfrm>
              <a:off x="3004" y="2403"/>
              <a:ext cx="134" cy="129"/>
            </a:xfrm>
            <a:custGeom>
              <a:avLst/>
              <a:gdLst>
                <a:gd name="T0" fmla="*/ 0 w 134"/>
                <a:gd name="T1" fmla="*/ 129 h 129"/>
                <a:gd name="T2" fmla="*/ 34 w 134"/>
                <a:gd name="T3" fmla="*/ 129 h 129"/>
                <a:gd name="T4" fmla="*/ 34 w 134"/>
                <a:gd name="T5" fmla="*/ 0 h 129"/>
                <a:gd name="T6" fmla="*/ 134 w 134"/>
                <a:gd name="T7" fmla="*/ 0 h 1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129"/>
                <a:gd name="T14" fmla="*/ 134 w 134"/>
                <a:gd name="T15" fmla="*/ 129 h 1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129">
                  <a:moveTo>
                    <a:pt x="0" y="129"/>
                  </a:moveTo>
                  <a:lnTo>
                    <a:pt x="34" y="129"/>
                  </a:lnTo>
                  <a:lnTo>
                    <a:pt x="34" y="0"/>
                  </a:lnTo>
                  <a:lnTo>
                    <a:pt x="134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422"/>
            <p:cNvSpPr>
              <a:spLocks noChangeShapeType="1"/>
            </p:cNvSpPr>
            <p:nvPr/>
          </p:nvSpPr>
          <p:spPr bwMode="auto">
            <a:xfrm>
              <a:off x="3004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423"/>
            <p:cNvSpPr>
              <a:spLocks noChangeShapeType="1"/>
            </p:cNvSpPr>
            <p:nvPr/>
          </p:nvSpPr>
          <p:spPr bwMode="auto">
            <a:xfrm>
              <a:off x="2985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424"/>
            <p:cNvSpPr>
              <a:spLocks noChangeShapeType="1"/>
            </p:cNvSpPr>
            <p:nvPr/>
          </p:nvSpPr>
          <p:spPr bwMode="auto">
            <a:xfrm>
              <a:off x="2851" y="2570"/>
              <a:ext cx="29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AutoShape 425"/>
            <p:cNvSpPr>
              <a:spLocks noChangeArrowheads="1"/>
            </p:cNvSpPr>
            <p:nvPr/>
          </p:nvSpPr>
          <p:spPr bwMode="auto">
            <a:xfrm>
              <a:off x="2899" y="2609"/>
              <a:ext cx="33" cy="47"/>
            </a:xfrm>
            <a:custGeom>
              <a:avLst/>
              <a:gdLst>
                <a:gd name="T0" fmla="*/ 0 w 33"/>
                <a:gd name="T1" fmla="*/ 0 h 47"/>
                <a:gd name="T2" fmla="*/ 33 w 33"/>
                <a:gd name="T3" fmla="*/ 0 h 47"/>
                <a:gd name="T4" fmla="*/ 33 w 33"/>
                <a:gd name="T5" fmla="*/ 47 h 47"/>
                <a:gd name="T6" fmla="*/ 0 60000 65536"/>
                <a:gd name="T7" fmla="*/ 0 60000 65536"/>
                <a:gd name="T8" fmla="*/ 0 60000 65536"/>
                <a:gd name="T9" fmla="*/ 0 w 33"/>
                <a:gd name="T10" fmla="*/ 0 h 47"/>
                <a:gd name="T11" fmla="*/ 33 w 33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47">
                  <a:moveTo>
                    <a:pt x="0" y="0"/>
                  </a:moveTo>
                  <a:lnTo>
                    <a:pt x="33" y="0"/>
                  </a:lnTo>
                  <a:lnTo>
                    <a:pt x="33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AutoShape 426"/>
            <p:cNvSpPr>
              <a:spLocks noChangeArrowheads="1"/>
            </p:cNvSpPr>
            <p:nvPr/>
          </p:nvSpPr>
          <p:spPr bwMode="auto">
            <a:xfrm>
              <a:off x="2899" y="2331"/>
              <a:ext cx="134" cy="201"/>
            </a:xfrm>
            <a:custGeom>
              <a:avLst/>
              <a:gdLst>
                <a:gd name="T0" fmla="*/ 0 w 134"/>
                <a:gd name="T1" fmla="*/ 201 h 201"/>
                <a:gd name="T2" fmla="*/ 33 w 134"/>
                <a:gd name="T3" fmla="*/ 201 h 201"/>
                <a:gd name="T4" fmla="*/ 33 w 134"/>
                <a:gd name="T5" fmla="*/ 0 h 201"/>
                <a:gd name="T6" fmla="*/ 134 w 134"/>
                <a:gd name="T7" fmla="*/ 0 h 2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201"/>
                <a:gd name="T14" fmla="*/ 134 w 134"/>
                <a:gd name="T15" fmla="*/ 201 h 2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201">
                  <a:moveTo>
                    <a:pt x="0" y="201"/>
                  </a:moveTo>
                  <a:lnTo>
                    <a:pt x="33" y="201"/>
                  </a:lnTo>
                  <a:lnTo>
                    <a:pt x="33" y="0"/>
                  </a:lnTo>
                  <a:lnTo>
                    <a:pt x="134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427"/>
            <p:cNvSpPr>
              <a:spLocks noChangeShapeType="1"/>
            </p:cNvSpPr>
            <p:nvPr/>
          </p:nvSpPr>
          <p:spPr bwMode="auto">
            <a:xfrm>
              <a:off x="2899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428"/>
            <p:cNvSpPr>
              <a:spLocks noChangeShapeType="1"/>
            </p:cNvSpPr>
            <p:nvPr/>
          </p:nvSpPr>
          <p:spPr bwMode="auto">
            <a:xfrm>
              <a:off x="2880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429"/>
            <p:cNvSpPr>
              <a:spLocks noChangeShapeType="1"/>
            </p:cNvSpPr>
            <p:nvPr/>
          </p:nvSpPr>
          <p:spPr bwMode="auto">
            <a:xfrm>
              <a:off x="2746" y="2570"/>
              <a:ext cx="29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AutoShape 430"/>
            <p:cNvSpPr>
              <a:spLocks noChangeArrowheads="1"/>
            </p:cNvSpPr>
            <p:nvPr/>
          </p:nvSpPr>
          <p:spPr bwMode="auto">
            <a:xfrm>
              <a:off x="2794" y="2609"/>
              <a:ext cx="29" cy="47"/>
            </a:xfrm>
            <a:custGeom>
              <a:avLst/>
              <a:gdLst>
                <a:gd name="T0" fmla="*/ 0 w 29"/>
                <a:gd name="T1" fmla="*/ 0 h 47"/>
                <a:gd name="T2" fmla="*/ 29 w 29"/>
                <a:gd name="T3" fmla="*/ 0 h 47"/>
                <a:gd name="T4" fmla="*/ 29 w 29"/>
                <a:gd name="T5" fmla="*/ 47 h 47"/>
                <a:gd name="T6" fmla="*/ 0 60000 65536"/>
                <a:gd name="T7" fmla="*/ 0 60000 65536"/>
                <a:gd name="T8" fmla="*/ 0 60000 65536"/>
                <a:gd name="T9" fmla="*/ 0 w 29"/>
                <a:gd name="T10" fmla="*/ 0 h 47"/>
                <a:gd name="T11" fmla="*/ 29 w 29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7">
                  <a:moveTo>
                    <a:pt x="0" y="0"/>
                  </a:moveTo>
                  <a:lnTo>
                    <a:pt x="29" y="0"/>
                  </a:lnTo>
                  <a:lnTo>
                    <a:pt x="29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AutoShape 431"/>
            <p:cNvSpPr>
              <a:spLocks noChangeArrowheads="1"/>
            </p:cNvSpPr>
            <p:nvPr/>
          </p:nvSpPr>
          <p:spPr bwMode="auto">
            <a:xfrm>
              <a:off x="2794" y="2260"/>
              <a:ext cx="129" cy="272"/>
            </a:xfrm>
            <a:custGeom>
              <a:avLst/>
              <a:gdLst>
                <a:gd name="T0" fmla="*/ 0 w 129"/>
                <a:gd name="T1" fmla="*/ 272 h 272"/>
                <a:gd name="T2" fmla="*/ 29 w 129"/>
                <a:gd name="T3" fmla="*/ 272 h 272"/>
                <a:gd name="T4" fmla="*/ 29 w 129"/>
                <a:gd name="T5" fmla="*/ 0 h 272"/>
                <a:gd name="T6" fmla="*/ 129 w 129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9"/>
                <a:gd name="T13" fmla="*/ 0 h 272"/>
                <a:gd name="T14" fmla="*/ 129 w 129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9" h="272">
                  <a:moveTo>
                    <a:pt x="0" y="272"/>
                  </a:moveTo>
                  <a:lnTo>
                    <a:pt x="29" y="272"/>
                  </a:lnTo>
                  <a:lnTo>
                    <a:pt x="29" y="0"/>
                  </a:lnTo>
                  <a:lnTo>
                    <a:pt x="129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432"/>
            <p:cNvSpPr>
              <a:spLocks noChangeShapeType="1"/>
            </p:cNvSpPr>
            <p:nvPr/>
          </p:nvSpPr>
          <p:spPr bwMode="auto">
            <a:xfrm>
              <a:off x="2794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433"/>
            <p:cNvSpPr>
              <a:spLocks noChangeShapeType="1"/>
            </p:cNvSpPr>
            <p:nvPr/>
          </p:nvSpPr>
          <p:spPr bwMode="auto">
            <a:xfrm>
              <a:off x="2775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434"/>
            <p:cNvSpPr>
              <a:spLocks noChangeShapeType="1"/>
            </p:cNvSpPr>
            <p:nvPr/>
          </p:nvSpPr>
          <p:spPr bwMode="auto">
            <a:xfrm>
              <a:off x="2641" y="2570"/>
              <a:ext cx="24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AutoShape 435"/>
            <p:cNvSpPr>
              <a:spLocks noChangeArrowheads="1"/>
            </p:cNvSpPr>
            <p:nvPr/>
          </p:nvSpPr>
          <p:spPr bwMode="auto">
            <a:xfrm>
              <a:off x="2684" y="2609"/>
              <a:ext cx="33" cy="47"/>
            </a:xfrm>
            <a:custGeom>
              <a:avLst/>
              <a:gdLst>
                <a:gd name="T0" fmla="*/ 0 w 33"/>
                <a:gd name="T1" fmla="*/ 0 h 47"/>
                <a:gd name="T2" fmla="*/ 33 w 33"/>
                <a:gd name="T3" fmla="*/ 0 h 47"/>
                <a:gd name="T4" fmla="*/ 33 w 33"/>
                <a:gd name="T5" fmla="*/ 47 h 47"/>
                <a:gd name="T6" fmla="*/ 0 60000 65536"/>
                <a:gd name="T7" fmla="*/ 0 60000 65536"/>
                <a:gd name="T8" fmla="*/ 0 60000 65536"/>
                <a:gd name="T9" fmla="*/ 0 w 33"/>
                <a:gd name="T10" fmla="*/ 0 h 47"/>
                <a:gd name="T11" fmla="*/ 33 w 33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47">
                  <a:moveTo>
                    <a:pt x="0" y="0"/>
                  </a:moveTo>
                  <a:lnTo>
                    <a:pt x="33" y="0"/>
                  </a:lnTo>
                  <a:lnTo>
                    <a:pt x="33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AutoShape 436"/>
            <p:cNvSpPr>
              <a:spLocks noChangeArrowheads="1"/>
            </p:cNvSpPr>
            <p:nvPr/>
          </p:nvSpPr>
          <p:spPr bwMode="auto">
            <a:xfrm>
              <a:off x="2684" y="2188"/>
              <a:ext cx="134" cy="344"/>
            </a:xfrm>
            <a:custGeom>
              <a:avLst/>
              <a:gdLst>
                <a:gd name="T0" fmla="*/ 0 w 134"/>
                <a:gd name="T1" fmla="*/ 344 h 344"/>
                <a:gd name="T2" fmla="*/ 33 w 134"/>
                <a:gd name="T3" fmla="*/ 344 h 344"/>
                <a:gd name="T4" fmla="*/ 33 w 134"/>
                <a:gd name="T5" fmla="*/ 0 h 344"/>
                <a:gd name="T6" fmla="*/ 134 w 134"/>
                <a:gd name="T7" fmla="*/ 0 h 3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344"/>
                <a:gd name="T14" fmla="*/ 134 w 134"/>
                <a:gd name="T15" fmla="*/ 344 h 3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344">
                  <a:moveTo>
                    <a:pt x="0" y="344"/>
                  </a:moveTo>
                  <a:lnTo>
                    <a:pt x="33" y="344"/>
                  </a:lnTo>
                  <a:lnTo>
                    <a:pt x="33" y="0"/>
                  </a:lnTo>
                  <a:lnTo>
                    <a:pt x="134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437"/>
            <p:cNvSpPr>
              <a:spLocks noChangeShapeType="1"/>
            </p:cNvSpPr>
            <p:nvPr/>
          </p:nvSpPr>
          <p:spPr bwMode="auto">
            <a:xfrm>
              <a:off x="2684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38"/>
            <p:cNvSpPr>
              <a:spLocks noChangeShapeType="1"/>
            </p:cNvSpPr>
            <p:nvPr/>
          </p:nvSpPr>
          <p:spPr bwMode="auto">
            <a:xfrm>
              <a:off x="2665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39"/>
            <p:cNvSpPr>
              <a:spLocks noChangeShapeType="1"/>
            </p:cNvSpPr>
            <p:nvPr/>
          </p:nvSpPr>
          <p:spPr bwMode="auto">
            <a:xfrm>
              <a:off x="2536" y="2570"/>
              <a:ext cx="24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AutoShape 440"/>
            <p:cNvSpPr>
              <a:spLocks noChangeArrowheads="1"/>
            </p:cNvSpPr>
            <p:nvPr/>
          </p:nvSpPr>
          <p:spPr bwMode="auto">
            <a:xfrm>
              <a:off x="2579" y="2609"/>
              <a:ext cx="33" cy="47"/>
            </a:xfrm>
            <a:custGeom>
              <a:avLst/>
              <a:gdLst>
                <a:gd name="T0" fmla="*/ 0 w 33"/>
                <a:gd name="T1" fmla="*/ 0 h 47"/>
                <a:gd name="T2" fmla="*/ 33 w 33"/>
                <a:gd name="T3" fmla="*/ 0 h 47"/>
                <a:gd name="T4" fmla="*/ 33 w 33"/>
                <a:gd name="T5" fmla="*/ 47 h 47"/>
                <a:gd name="T6" fmla="*/ 0 60000 65536"/>
                <a:gd name="T7" fmla="*/ 0 60000 65536"/>
                <a:gd name="T8" fmla="*/ 0 60000 65536"/>
                <a:gd name="T9" fmla="*/ 0 w 33"/>
                <a:gd name="T10" fmla="*/ 0 h 47"/>
                <a:gd name="T11" fmla="*/ 33 w 33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47">
                  <a:moveTo>
                    <a:pt x="0" y="0"/>
                  </a:moveTo>
                  <a:lnTo>
                    <a:pt x="33" y="0"/>
                  </a:lnTo>
                  <a:lnTo>
                    <a:pt x="33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AutoShape 441"/>
            <p:cNvSpPr>
              <a:spLocks noChangeArrowheads="1"/>
            </p:cNvSpPr>
            <p:nvPr/>
          </p:nvSpPr>
          <p:spPr bwMode="auto">
            <a:xfrm>
              <a:off x="2579" y="2116"/>
              <a:ext cx="134" cy="416"/>
            </a:xfrm>
            <a:custGeom>
              <a:avLst/>
              <a:gdLst>
                <a:gd name="T0" fmla="*/ 0 w 134"/>
                <a:gd name="T1" fmla="*/ 416 h 416"/>
                <a:gd name="T2" fmla="*/ 33 w 134"/>
                <a:gd name="T3" fmla="*/ 416 h 416"/>
                <a:gd name="T4" fmla="*/ 33 w 134"/>
                <a:gd name="T5" fmla="*/ 0 h 416"/>
                <a:gd name="T6" fmla="*/ 134 w 134"/>
                <a:gd name="T7" fmla="*/ 0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416"/>
                <a:gd name="T14" fmla="*/ 134 w 134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416">
                  <a:moveTo>
                    <a:pt x="0" y="416"/>
                  </a:moveTo>
                  <a:lnTo>
                    <a:pt x="33" y="416"/>
                  </a:lnTo>
                  <a:lnTo>
                    <a:pt x="33" y="0"/>
                  </a:lnTo>
                  <a:lnTo>
                    <a:pt x="134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442"/>
            <p:cNvSpPr>
              <a:spLocks noChangeShapeType="1"/>
            </p:cNvSpPr>
            <p:nvPr/>
          </p:nvSpPr>
          <p:spPr bwMode="auto">
            <a:xfrm>
              <a:off x="2579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43"/>
            <p:cNvSpPr>
              <a:spLocks noChangeShapeType="1"/>
            </p:cNvSpPr>
            <p:nvPr/>
          </p:nvSpPr>
          <p:spPr bwMode="auto">
            <a:xfrm>
              <a:off x="2560" y="2532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444"/>
            <p:cNvSpPr>
              <a:spLocks noChangeShapeType="1"/>
            </p:cNvSpPr>
            <p:nvPr/>
          </p:nvSpPr>
          <p:spPr bwMode="auto">
            <a:xfrm>
              <a:off x="2823" y="2656"/>
              <a:ext cx="1" cy="86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AutoShape 445"/>
            <p:cNvSpPr>
              <a:spLocks noChangeArrowheads="1"/>
            </p:cNvSpPr>
            <p:nvPr/>
          </p:nvSpPr>
          <p:spPr bwMode="auto">
            <a:xfrm>
              <a:off x="2789" y="2714"/>
              <a:ext cx="72" cy="114"/>
            </a:xfrm>
            <a:custGeom>
              <a:avLst/>
              <a:gdLst>
                <a:gd name="T0" fmla="*/ 34 w 15"/>
                <a:gd name="T1" fmla="*/ 19 h 24"/>
                <a:gd name="T2" fmla="*/ 0 w 15"/>
                <a:gd name="T3" fmla="*/ 0 h 24"/>
                <a:gd name="T4" fmla="*/ 0 w 15"/>
                <a:gd name="T5" fmla="*/ 0 h 24"/>
                <a:gd name="T6" fmla="*/ 24 w 15"/>
                <a:gd name="T7" fmla="*/ 57 h 24"/>
                <a:gd name="T8" fmla="*/ 34 w 15"/>
                <a:gd name="T9" fmla="*/ 114 h 24"/>
                <a:gd name="T10" fmla="*/ 48 w 15"/>
                <a:gd name="T11" fmla="*/ 57 h 24"/>
                <a:gd name="T12" fmla="*/ 72 w 15"/>
                <a:gd name="T13" fmla="*/ 0 h 24"/>
                <a:gd name="T14" fmla="*/ 72 w 15"/>
                <a:gd name="T15" fmla="*/ 0 h 24"/>
                <a:gd name="T16" fmla="*/ 34 w 15"/>
                <a:gd name="T17" fmla="*/ 19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"/>
                <a:gd name="T28" fmla="*/ 0 h 24"/>
                <a:gd name="T29" fmla="*/ 15 w 15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" h="24">
                  <a:moveTo>
                    <a:pt x="7" y="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6"/>
                    <a:pt x="6" y="20"/>
                    <a:pt x="7" y="24"/>
                  </a:cubicBezTo>
                  <a:cubicBezTo>
                    <a:pt x="8" y="20"/>
                    <a:pt x="9" y="16"/>
                    <a:pt x="10" y="12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7" y="4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446"/>
            <p:cNvSpPr>
              <a:spLocks noChangeShapeType="1"/>
            </p:cNvSpPr>
            <p:nvPr/>
          </p:nvSpPr>
          <p:spPr bwMode="auto">
            <a:xfrm flipH="1">
              <a:off x="2606" y="3392"/>
              <a:ext cx="429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447"/>
            <p:cNvSpPr>
              <a:spLocks noChangeShapeType="1"/>
            </p:cNvSpPr>
            <p:nvPr/>
          </p:nvSpPr>
          <p:spPr bwMode="auto">
            <a:xfrm flipV="1">
              <a:off x="2818" y="3304"/>
              <a:ext cx="1" cy="90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AutoShape 448"/>
            <p:cNvSpPr>
              <a:spLocks noChangeArrowheads="1"/>
            </p:cNvSpPr>
            <p:nvPr/>
          </p:nvSpPr>
          <p:spPr bwMode="auto">
            <a:xfrm>
              <a:off x="2784" y="3220"/>
              <a:ext cx="72" cy="115"/>
            </a:xfrm>
            <a:custGeom>
              <a:avLst/>
              <a:gdLst>
                <a:gd name="T0" fmla="*/ 34 w 15"/>
                <a:gd name="T1" fmla="*/ 96 h 24"/>
                <a:gd name="T2" fmla="*/ 72 w 15"/>
                <a:gd name="T3" fmla="*/ 115 h 24"/>
                <a:gd name="T4" fmla="*/ 72 w 15"/>
                <a:gd name="T5" fmla="*/ 115 h 24"/>
                <a:gd name="T6" fmla="*/ 48 w 15"/>
                <a:gd name="T7" fmla="*/ 57 h 24"/>
                <a:gd name="T8" fmla="*/ 34 w 15"/>
                <a:gd name="T9" fmla="*/ 0 h 24"/>
                <a:gd name="T10" fmla="*/ 24 w 15"/>
                <a:gd name="T11" fmla="*/ 57 h 24"/>
                <a:gd name="T12" fmla="*/ 0 w 15"/>
                <a:gd name="T13" fmla="*/ 115 h 24"/>
                <a:gd name="T14" fmla="*/ 0 w 15"/>
                <a:gd name="T15" fmla="*/ 115 h 24"/>
                <a:gd name="T16" fmla="*/ 34 w 15"/>
                <a:gd name="T17" fmla="*/ 96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"/>
                <a:gd name="T28" fmla="*/ 0 h 24"/>
                <a:gd name="T29" fmla="*/ 15 w 15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" h="24">
                  <a:moveTo>
                    <a:pt x="7" y="20"/>
                  </a:moveTo>
                  <a:cubicBezTo>
                    <a:pt x="15" y="24"/>
                    <a:pt x="15" y="24"/>
                    <a:pt x="15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8"/>
                    <a:pt x="8" y="4"/>
                    <a:pt x="7" y="0"/>
                  </a:cubicBezTo>
                  <a:cubicBezTo>
                    <a:pt x="6" y="4"/>
                    <a:pt x="6" y="8"/>
                    <a:pt x="5" y="1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lnTo>
                    <a:pt x="7" y="20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449"/>
            <p:cNvSpPr>
              <a:spLocks noChangeShapeType="1"/>
            </p:cNvSpPr>
            <p:nvPr/>
          </p:nvSpPr>
          <p:spPr bwMode="auto">
            <a:xfrm flipV="1">
              <a:off x="3257" y="2764"/>
              <a:ext cx="1" cy="430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450"/>
            <p:cNvSpPr>
              <a:spLocks noChangeShapeType="1"/>
            </p:cNvSpPr>
            <p:nvPr/>
          </p:nvSpPr>
          <p:spPr bwMode="auto">
            <a:xfrm flipV="1">
              <a:off x="3343" y="2817"/>
              <a:ext cx="1" cy="28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AutoShape 451"/>
            <p:cNvSpPr>
              <a:spLocks noChangeArrowheads="1"/>
            </p:cNvSpPr>
            <p:nvPr/>
          </p:nvSpPr>
          <p:spPr bwMode="auto">
            <a:xfrm>
              <a:off x="3257" y="2766"/>
              <a:ext cx="48" cy="34"/>
            </a:xfrm>
            <a:custGeom>
              <a:avLst/>
              <a:gdLst>
                <a:gd name="T0" fmla="*/ 48 w 48"/>
                <a:gd name="T1" fmla="*/ 34 h 34"/>
                <a:gd name="T2" fmla="*/ 48 w 48"/>
                <a:gd name="T3" fmla="*/ 0 h 34"/>
                <a:gd name="T4" fmla="*/ 0 w 48"/>
                <a:gd name="T5" fmla="*/ 0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48" y="34"/>
                  </a:moveTo>
                  <a:lnTo>
                    <a:pt x="48" y="0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AutoShape 452"/>
            <p:cNvSpPr>
              <a:spLocks noChangeArrowheads="1"/>
            </p:cNvSpPr>
            <p:nvPr/>
          </p:nvSpPr>
          <p:spPr bwMode="auto">
            <a:xfrm>
              <a:off x="3382" y="2695"/>
              <a:ext cx="114" cy="105"/>
            </a:xfrm>
            <a:custGeom>
              <a:avLst/>
              <a:gdLst>
                <a:gd name="T0" fmla="*/ 0 w 114"/>
                <a:gd name="T1" fmla="*/ 105 h 105"/>
                <a:gd name="T2" fmla="*/ 0 w 114"/>
                <a:gd name="T3" fmla="*/ 71 h 105"/>
                <a:gd name="T4" fmla="*/ 114 w 114"/>
                <a:gd name="T5" fmla="*/ 71 h 105"/>
                <a:gd name="T6" fmla="*/ 114 w 114"/>
                <a:gd name="T7" fmla="*/ 0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4"/>
                <a:gd name="T13" fmla="*/ 0 h 105"/>
                <a:gd name="T14" fmla="*/ 114 w 11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4" h="105">
                  <a:moveTo>
                    <a:pt x="0" y="105"/>
                  </a:moveTo>
                  <a:lnTo>
                    <a:pt x="0" y="71"/>
                  </a:lnTo>
                  <a:lnTo>
                    <a:pt x="114" y="71"/>
                  </a:lnTo>
                  <a:lnTo>
                    <a:pt x="114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453"/>
            <p:cNvSpPr>
              <a:spLocks noChangeShapeType="1"/>
            </p:cNvSpPr>
            <p:nvPr/>
          </p:nvSpPr>
          <p:spPr bwMode="auto">
            <a:xfrm flipH="1">
              <a:off x="3303" y="2800"/>
              <a:ext cx="8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454"/>
            <p:cNvSpPr>
              <a:spLocks noChangeShapeType="1"/>
            </p:cNvSpPr>
            <p:nvPr/>
          </p:nvSpPr>
          <p:spPr bwMode="auto">
            <a:xfrm flipH="1">
              <a:off x="3303" y="2819"/>
              <a:ext cx="8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455"/>
            <p:cNvSpPr>
              <a:spLocks noChangeShapeType="1"/>
            </p:cNvSpPr>
            <p:nvPr/>
          </p:nvSpPr>
          <p:spPr bwMode="auto">
            <a:xfrm flipV="1">
              <a:off x="3343" y="2922"/>
              <a:ext cx="1" cy="33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AutoShape 456"/>
            <p:cNvSpPr>
              <a:spLocks noChangeArrowheads="1"/>
            </p:cNvSpPr>
            <p:nvPr/>
          </p:nvSpPr>
          <p:spPr bwMode="auto">
            <a:xfrm>
              <a:off x="3257" y="2876"/>
              <a:ext cx="48" cy="29"/>
            </a:xfrm>
            <a:custGeom>
              <a:avLst/>
              <a:gdLst>
                <a:gd name="T0" fmla="*/ 48 w 48"/>
                <a:gd name="T1" fmla="*/ 29 h 29"/>
                <a:gd name="T2" fmla="*/ 48 w 48"/>
                <a:gd name="T3" fmla="*/ 0 h 29"/>
                <a:gd name="T4" fmla="*/ 0 w 48"/>
                <a:gd name="T5" fmla="*/ 0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48" y="29"/>
                  </a:moveTo>
                  <a:lnTo>
                    <a:pt x="48" y="0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AutoShape 457"/>
            <p:cNvSpPr>
              <a:spLocks noChangeArrowheads="1"/>
            </p:cNvSpPr>
            <p:nvPr/>
          </p:nvSpPr>
          <p:spPr bwMode="auto">
            <a:xfrm>
              <a:off x="3382" y="2800"/>
              <a:ext cx="186" cy="105"/>
            </a:xfrm>
            <a:custGeom>
              <a:avLst/>
              <a:gdLst>
                <a:gd name="T0" fmla="*/ 0 w 186"/>
                <a:gd name="T1" fmla="*/ 105 h 105"/>
                <a:gd name="T2" fmla="*/ 0 w 186"/>
                <a:gd name="T3" fmla="*/ 76 h 105"/>
                <a:gd name="T4" fmla="*/ 186 w 186"/>
                <a:gd name="T5" fmla="*/ 76 h 105"/>
                <a:gd name="T6" fmla="*/ 186 w 186"/>
                <a:gd name="T7" fmla="*/ 0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6"/>
                <a:gd name="T13" fmla="*/ 0 h 105"/>
                <a:gd name="T14" fmla="*/ 186 w 186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6" h="105">
                  <a:moveTo>
                    <a:pt x="0" y="105"/>
                  </a:moveTo>
                  <a:lnTo>
                    <a:pt x="0" y="76"/>
                  </a:lnTo>
                  <a:lnTo>
                    <a:pt x="186" y="76"/>
                  </a:lnTo>
                  <a:lnTo>
                    <a:pt x="186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458"/>
            <p:cNvSpPr>
              <a:spLocks noChangeShapeType="1"/>
            </p:cNvSpPr>
            <p:nvPr/>
          </p:nvSpPr>
          <p:spPr bwMode="auto">
            <a:xfrm flipH="1">
              <a:off x="3303" y="2905"/>
              <a:ext cx="8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459"/>
            <p:cNvSpPr>
              <a:spLocks noChangeShapeType="1"/>
            </p:cNvSpPr>
            <p:nvPr/>
          </p:nvSpPr>
          <p:spPr bwMode="auto">
            <a:xfrm flipH="1">
              <a:off x="3303" y="2924"/>
              <a:ext cx="8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460"/>
            <p:cNvSpPr>
              <a:spLocks noChangeShapeType="1"/>
            </p:cNvSpPr>
            <p:nvPr/>
          </p:nvSpPr>
          <p:spPr bwMode="auto">
            <a:xfrm flipV="1">
              <a:off x="3343" y="3032"/>
              <a:ext cx="1" cy="28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AutoShape 461"/>
            <p:cNvSpPr>
              <a:spLocks noChangeArrowheads="1"/>
            </p:cNvSpPr>
            <p:nvPr/>
          </p:nvSpPr>
          <p:spPr bwMode="auto">
            <a:xfrm>
              <a:off x="3257" y="2981"/>
              <a:ext cx="48" cy="29"/>
            </a:xfrm>
            <a:custGeom>
              <a:avLst/>
              <a:gdLst>
                <a:gd name="T0" fmla="*/ 48 w 48"/>
                <a:gd name="T1" fmla="*/ 29 h 29"/>
                <a:gd name="T2" fmla="*/ 48 w 48"/>
                <a:gd name="T3" fmla="*/ 0 h 29"/>
                <a:gd name="T4" fmla="*/ 0 w 48"/>
                <a:gd name="T5" fmla="*/ 0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48" y="29"/>
                  </a:moveTo>
                  <a:lnTo>
                    <a:pt x="48" y="0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AutoShape 462"/>
            <p:cNvSpPr>
              <a:spLocks noChangeArrowheads="1"/>
            </p:cNvSpPr>
            <p:nvPr/>
          </p:nvSpPr>
          <p:spPr bwMode="auto">
            <a:xfrm>
              <a:off x="3382" y="2910"/>
              <a:ext cx="258" cy="100"/>
            </a:xfrm>
            <a:custGeom>
              <a:avLst/>
              <a:gdLst>
                <a:gd name="T0" fmla="*/ 0 w 258"/>
                <a:gd name="T1" fmla="*/ 100 h 100"/>
                <a:gd name="T2" fmla="*/ 0 w 258"/>
                <a:gd name="T3" fmla="*/ 71 h 100"/>
                <a:gd name="T4" fmla="*/ 258 w 258"/>
                <a:gd name="T5" fmla="*/ 71 h 100"/>
                <a:gd name="T6" fmla="*/ 258 w 258"/>
                <a:gd name="T7" fmla="*/ 0 h 1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8"/>
                <a:gd name="T13" fmla="*/ 0 h 100"/>
                <a:gd name="T14" fmla="*/ 258 w 258"/>
                <a:gd name="T15" fmla="*/ 100 h 1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8" h="100">
                  <a:moveTo>
                    <a:pt x="0" y="100"/>
                  </a:moveTo>
                  <a:lnTo>
                    <a:pt x="0" y="71"/>
                  </a:lnTo>
                  <a:lnTo>
                    <a:pt x="258" y="71"/>
                  </a:lnTo>
                  <a:lnTo>
                    <a:pt x="25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463"/>
            <p:cNvSpPr>
              <a:spLocks noChangeShapeType="1"/>
            </p:cNvSpPr>
            <p:nvPr/>
          </p:nvSpPr>
          <p:spPr bwMode="auto">
            <a:xfrm flipH="1">
              <a:off x="3303" y="3010"/>
              <a:ext cx="8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464"/>
            <p:cNvSpPr>
              <a:spLocks noChangeShapeType="1"/>
            </p:cNvSpPr>
            <p:nvPr/>
          </p:nvSpPr>
          <p:spPr bwMode="auto">
            <a:xfrm flipH="1">
              <a:off x="3303" y="3029"/>
              <a:ext cx="8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465"/>
            <p:cNvSpPr>
              <a:spLocks noChangeShapeType="1"/>
            </p:cNvSpPr>
            <p:nvPr/>
          </p:nvSpPr>
          <p:spPr bwMode="auto">
            <a:xfrm flipV="1">
              <a:off x="3343" y="3137"/>
              <a:ext cx="1" cy="28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AutoShape 466"/>
            <p:cNvSpPr>
              <a:spLocks noChangeArrowheads="1"/>
            </p:cNvSpPr>
            <p:nvPr/>
          </p:nvSpPr>
          <p:spPr bwMode="auto">
            <a:xfrm>
              <a:off x="3257" y="3086"/>
              <a:ext cx="48" cy="34"/>
            </a:xfrm>
            <a:custGeom>
              <a:avLst/>
              <a:gdLst>
                <a:gd name="T0" fmla="*/ 48 w 48"/>
                <a:gd name="T1" fmla="*/ 34 h 34"/>
                <a:gd name="T2" fmla="*/ 48 w 48"/>
                <a:gd name="T3" fmla="*/ 0 h 34"/>
                <a:gd name="T4" fmla="*/ 0 w 48"/>
                <a:gd name="T5" fmla="*/ 0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48" y="34"/>
                  </a:moveTo>
                  <a:lnTo>
                    <a:pt x="48" y="0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AutoShape 467"/>
            <p:cNvSpPr>
              <a:spLocks noChangeArrowheads="1"/>
            </p:cNvSpPr>
            <p:nvPr/>
          </p:nvSpPr>
          <p:spPr bwMode="auto">
            <a:xfrm>
              <a:off x="3382" y="3015"/>
              <a:ext cx="329" cy="105"/>
            </a:xfrm>
            <a:custGeom>
              <a:avLst/>
              <a:gdLst>
                <a:gd name="T0" fmla="*/ 0 w 329"/>
                <a:gd name="T1" fmla="*/ 105 h 105"/>
                <a:gd name="T2" fmla="*/ 0 w 329"/>
                <a:gd name="T3" fmla="*/ 71 h 105"/>
                <a:gd name="T4" fmla="*/ 329 w 329"/>
                <a:gd name="T5" fmla="*/ 71 h 105"/>
                <a:gd name="T6" fmla="*/ 329 w 329"/>
                <a:gd name="T7" fmla="*/ 0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9"/>
                <a:gd name="T13" fmla="*/ 0 h 105"/>
                <a:gd name="T14" fmla="*/ 329 w 329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9" h="105">
                  <a:moveTo>
                    <a:pt x="0" y="105"/>
                  </a:moveTo>
                  <a:lnTo>
                    <a:pt x="0" y="71"/>
                  </a:lnTo>
                  <a:lnTo>
                    <a:pt x="329" y="71"/>
                  </a:lnTo>
                  <a:lnTo>
                    <a:pt x="329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Line 468"/>
            <p:cNvSpPr>
              <a:spLocks noChangeShapeType="1"/>
            </p:cNvSpPr>
            <p:nvPr/>
          </p:nvSpPr>
          <p:spPr bwMode="auto">
            <a:xfrm flipH="1">
              <a:off x="3303" y="3120"/>
              <a:ext cx="8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469"/>
            <p:cNvSpPr>
              <a:spLocks noChangeShapeType="1"/>
            </p:cNvSpPr>
            <p:nvPr/>
          </p:nvSpPr>
          <p:spPr bwMode="auto">
            <a:xfrm flipH="1">
              <a:off x="3303" y="3139"/>
              <a:ext cx="8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470"/>
            <p:cNvSpPr>
              <a:spLocks noChangeShapeType="1"/>
            </p:cNvSpPr>
            <p:nvPr/>
          </p:nvSpPr>
          <p:spPr bwMode="auto">
            <a:xfrm flipV="1">
              <a:off x="3343" y="3242"/>
              <a:ext cx="1" cy="33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AutoShape 471"/>
            <p:cNvSpPr>
              <a:spLocks noChangeArrowheads="1"/>
            </p:cNvSpPr>
            <p:nvPr/>
          </p:nvSpPr>
          <p:spPr bwMode="auto">
            <a:xfrm>
              <a:off x="3257" y="3192"/>
              <a:ext cx="48" cy="33"/>
            </a:xfrm>
            <a:custGeom>
              <a:avLst/>
              <a:gdLst>
                <a:gd name="T0" fmla="*/ 48 w 48"/>
                <a:gd name="T1" fmla="*/ 33 h 33"/>
                <a:gd name="T2" fmla="*/ 48 w 48"/>
                <a:gd name="T3" fmla="*/ 0 h 33"/>
                <a:gd name="T4" fmla="*/ 0 w 48"/>
                <a:gd name="T5" fmla="*/ 0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48" y="33"/>
                  </a:moveTo>
                  <a:lnTo>
                    <a:pt x="48" y="0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AutoShape 472"/>
            <p:cNvSpPr>
              <a:spLocks noChangeArrowheads="1"/>
            </p:cNvSpPr>
            <p:nvPr/>
          </p:nvSpPr>
          <p:spPr bwMode="auto">
            <a:xfrm>
              <a:off x="3382" y="3120"/>
              <a:ext cx="401" cy="105"/>
            </a:xfrm>
            <a:custGeom>
              <a:avLst/>
              <a:gdLst>
                <a:gd name="T0" fmla="*/ 0 w 401"/>
                <a:gd name="T1" fmla="*/ 105 h 105"/>
                <a:gd name="T2" fmla="*/ 0 w 401"/>
                <a:gd name="T3" fmla="*/ 72 h 105"/>
                <a:gd name="T4" fmla="*/ 401 w 401"/>
                <a:gd name="T5" fmla="*/ 72 h 105"/>
                <a:gd name="T6" fmla="*/ 401 w 401"/>
                <a:gd name="T7" fmla="*/ 0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1"/>
                <a:gd name="T13" fmla="*/ 0 h 105"/>
                <a:gd name="T14" fmla="*/ 401 w 401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1" h="105">
                  <a:moveTo>
                    <a:pt x="0" y="105"/>
                  </a:moveTo>
                  <a:lnTo>
                    <a:pt x="0" y="72"/>
                  </a:lnTo>
                  <a:lnTo>
                    <a:pt x="401" y="72"/>
                  </a:lnTo>
                  <a:lnTo>
                    <a:pt x="401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Line 473"/>
            <p:cNvSpPr>
              <a:spLocks noChangeShapeType="1"/>
            </p:cNvSpPr>
            <p:nvPr/>
          </p:nvSpPr>
          <p:spPr bwMode="auto">
            <a:xfrm flipH="1">
              <a:off x="3303" y="3225"/>
              <a:ext cx="8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474"/>
            <p:cNvSpPr>
              <a:spLocks noChangeShapeType="1"/>
            </p:cNvSpPr>
            <p:nvPr/>
          </p:nvSpPr>
          <p:spPr bwMode="auto">
            <a:xfrm flipH="1">
              <a:off x="3303" y="3244"/>
              <a:ext cx="8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475"/>
            <p:cNvSpPr>
              <a:spLocks noChangeShapeType="1"/>
            </p:cNvSpPr>
            <p:nvPr/>
          </p:nvSpPr>
          <p:spPr bwMode="auto">
            <a:xfrm flipH="1">
              <a:off x="3169" y="2981"/>
              <a:ext cx="9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AutoShape 476"/>
            <p:cNvSpPr>
              <a:spLocks noChangeArrowheads="1"/>
            </p:cNvSpPr>
            <p:nvPr/>
          </p:nvSpPr>
          <p:spPr bwMode="auto">
            <a:xfrm>
              <a:off x="3085" y="2943"/>
              <a:ext cx="115" cy="72"/>
            </a:xfrm>
            <a:custGeom>
              <a:avLst/>
              <a:gdLst>
                <a:gd name="T0" fmla="*/ 19 w 24"/>
                <a:gd name="T1" fmla="*/ 38 h 15"/>
                <a:gd name="T2" fmla="*/ 0 w 24"/>
                <a:gd name="T3" fmla="*/ 72 h 15"/>
                <a:gd name="T4" fmla="*/ 0 w 24"/>
                <a:gd name="T5" fmla="*/ 72 h 15"/>
                <a:gd name="T6" fmla="*/ 57 w 24"/>
                <a:gd name="T7" fmla="*/ 53 h 15"/>
                <a:gd name="T8" fmla="*/ 115 w 24"/>
                <a:gd name="T9" fmla="*/ 38 h 15"/>
                <a:gd name="T10" fmla="*/ 57 w 24"/>
                <a:gd name="T11" fmla="*/ 24 h 15"/>
                <a:gd name="T12" fmla="*/ 0 w 24"/>
                <a:gd name="T13" fmla="*/ 0 h 15"/>
                <a:gd name="T14" fmla="*/ 0 w 24"/>
                <a:gd name="T15" fmla="*/ 5 h 15"/>
                <a:gd name="T16" fmla="*/ 19 w 24"/>
                <a:gd name="T17" fmla="*/ 38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"/>
                <a:gd name="T28" fmla="*/ 0 h 15"/>
                <a:gd name="T29" fmla="*/ 24 w 24"/>
                <a:gd name="T30" fmla="*/ 15 h 1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" h="15">
                  <a:moveTo>
                    <a:pt x="4" y="8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6" y="10"/>
                    <a:pt x="20" y="9"/>
                    <a:pt x="24" y="8"/>
                  </a:cubicBezTo>
                  <a:cubicBezTo>
                    <a:pt x="20" y="7"/>
                    <a:pt x="16" y="6"/>
                    <a:pt x="12" y="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4" y="8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477"/>
            <p:cNvSpPr>
              <a:spLocks noChangeShapeType="1"/>
            </p:cNvSpPr>
            <p:nvPr/>
          </p:nvSpPr>
          <p:spPr bwMode="auto">
            <a:xfrm>
              <a:off x="1743" y="2766"/>
              <a:ext cx="1" cy="426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478"/>
            <p:cNvSpPr>
              <a:spLocks noChangeShapeType="1"/>
            </p:cNvSpPr>
            <p:nvPr/>
          </p:nvSpPr>
          <p:spPr bwMode="auto">
            <a:xfrm>
              <a:off x="1829" y="3115"/>
              <a:ext cx="1" cy="2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AutoShape 479"/>
            <p:cNvSpPr>
              <a:spLocks noChangeArrowheads="1"/>
            </p:cNvSpPr>
            <p:nvPr/>
          </p:nvSpPr>
          <p:spPr bwMode="auto">
            <a:xfrm>
              <a:off x="1743" y="3158"/>
              <a:ext cx="48" cy="34"/>
            </a:xfrm>
            <a:custGeom>
              <a:avLst/>
              <a:gdLst>
                <a:gd name="T0" fmla="*/ 48 w 48"/>
                <a:gd name="T1" fmla="*/ 0 h 34"/>
                <a:gd name="T2" fmla="*/ 48 w 48"/>
                <a:gd name="T3" fmla="*/ 34 h 34"/>
                <a:gd name="T4" fmla="*/ 0 w 48"/>
                <a:gd name="T5" fmla="*/ 34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48" y="0"/>
                  </a:moveTo>
                  <a:lnTo>
                    <a:pt x="48" y="34"/>
                  </a:lnTo>
                  <a:lnTo>
                    <a:pt x="0" y="3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AutoShape 480"/>
            <p:cNvSpPr>
              <a:spLocks noChangeArrowheads="1"/>
            </p:cNvSpPr>
            <p:nvPr/>
          </p:nvSpPr>
          <p:spPr bwMode="auto">
            <a:xfrm>
              <a:off x="1867" y="3158"/>
              <a:ext cx="129" cy="34"/>
            </a:xfrm>
            <a:custGeom>
              <a:avLst/>
              <a:gdLst>
                <a:gd name="T0" fmla="*/ 129 w 129"/>
                <a:gd name="T1" fmla="*/ 34 h 34"/>
                <a:gd name="T2" fmla="*/ 0 w 129"/>
                <a:gd name="T3" fmla="*/ 34 h 34"/>
                <a:gd name="T4" fmla="*/ 0 w 129"/>
                <a:gd name="T5" fmla="*/ 0 h 34"/>
                <a:gd name="T6" fmla="*/ 0 60000 65536"/>
                <a:gd name="T7" fmla="*/ 0 60000 65536"/>
                <a:gd name="T8" fmla="*/ 0 60000 65536"/>
                <a:gd name="T9" fmla="*/ 0 w 129"/>
                <a:gd name="T10" fmla="*/ 0 h 34"/>
                <a:gd name="T11" fmla="*/ 129 w 129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" h="34">
                  <a:moveTo>
                    <a:pt x="129" y="34"/>
                  </a:moveTo>
                  <a:lnTo>
                    <a:pt x="0" y="34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481"/>
            <p:cNvSpPr>
              <a:spLocks noChangeShapeType="1"/>
            </p:cNvSpPr>
            <p:nvPr/>
          </p:nvSpPr>
          <p:spPr bwMode="auto">
            <a:xfrm flipH="1">
              <a:off x="1789" y="3158"/>
              <a:ext cx="8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482"/>
            <p:cNvSpPr>
              <a:spLocks noChangeShapeType="1"/>
            </p:cNvSpPr>
            <p:nvPr/>
          </p:nvSpPr>
          <p:spPr bwMode="auto">
            <a:xfrm flipH="1">
              <a:off x="1789" y="3139"/>
              <a:ext cx="8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483"/>
            <p:cNvSpPr>
              <a:spLocks noChangeShapeType="1"/>
            </p:cNvSpPr>
            <p:nvPr/>
          </p:nvSpPr>
          <p:spPr bwMode="auto">
            <a:xfrm>
              <a:off x="1829" y="3005"/>
              <a:ext cx="1" cy="29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AutoShape 484"/>
            <p:cNvSpPr>
              <a:spLocks noChangeArrowheads="1"/>
            </p:cNvSpPr>
            <p:nvPr/>
          </p:nvSpPr>
          <p:spPr bwMode="auto">
            <a:xfrm>
              <a:off x="1743" y="3053"/>
              <a:ext cx="48" cy="33"/>
            </a:xfrm>
            <a:custGeom>
              <a:avLst/>
              <a:gdLst>
                <a:gd name="T0" fmla="*/ 48 w 48"/>
                <a:gd name="T1" fmla="*/ 0 h 33"/>
                <a:gd name="T2" fmla="*/ 48 w 48"/>
                <a:gd name="T3" fmla="*/ 33 h 33"/>
                <a:gd name="T4" fmla="*/ 0 w 48"/>
                <a:gd name="T5" fmla="*/ 33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48" y="0"/>
                  </a:moveTo>
                  <a:lnTo>
                    <a:pt x="48" y="33"/>
                  </a:lnTo>
                  <a:lnTo>
                    <a:pt x="0" y="3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AutoShape 485"/>
            <p:cNvSpPr>
              <a:spLocks noChangeArrowheads="1"/>
            </p:cNvSpPr>
            <p:nvPr/>
          </p:nvSpPr>
          <p:spPr bwMode="auto">
            <a:xfrm>
              <a:off x="1867" y="3053"/>
              <a:ext cx="201" cy="33"/>
            </a:xfrm>
            <a:custGeom>
              <a:avLst/>
              <a:gdLst>
                <a:gd name="T0" fmla="*/ 201 w 201"/>
                <a:gd name="T1" fmla="*/ 33 h 33"/>
                <a:gd name="T2" fmla="*/ 0 w 201"/>
                <a:gd name="T3" fmla="*/ 33 h 33"/>
                <a:gd name="T4" fmla="*/ 0 w 201"/>
                <a:gd name="T5" fmla="*/ 0 h 33"/>
                <a:gd name="T6" fmla="*/ 0 60000 65536"/>
                <a:gd name="T7" fmla="*/ 0 60000 65536"/>
                <a:gd name="T8" fmla="*/ 0 60000 65536"/>
                <a:gd name="T9" fmla="*/ 0 w 201"/>
                <a:gd name="T10" fmla="*/ 0 h 33"/>
                <a:gd name="T11" fmla="*/ 201 w 201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" h="33">
                  <a:moveTo>
                    <a:pt x="201" y="33"/>
                  </a:moveTo>
                  <a:lnTo>
                    <a:pt x="0" y="33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Line 486"/>
            <p:cNvSpPr>
              <a:spLocks noChangeShapeType="1"/>
            </p:cNvSpPr>
            <p:nvPr/>
          </p:nvSpPr>
          <p:spPr bwMode="auto">
            <a:xfrm flipH="1">
              <a:off x="1789" y="3053"/>
              <a:ext cx="8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487"/>
            <p:cNvSpPr>
              <a:spLocks noChangeShapeType="1"/>
            </p:cNvSpPr>
            <p:nvPr/>
          </p:nvSpPr>
          <p:spPr bwMode="auto">
            <a:xfrm flipH="1">
              <a:off x="1789" y="3034"/>
              <a:ext cx="8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488"/>
            <p:cNvSpPr>
              <a:spLocks noChangeShapeType="1"/>
            </p:cNvSpPr>
            <p:nvPr/>
          </p:nvSpPr>
          <p:spPr bwMode="auto">
            <a:xfrm>
              <a:off x="1829" y="2900"/>
              <a:ext cx="1" cy="29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AutoShape 489"/>
            <p:cNvSpPr>
              <a:spLocks noChangeArrowheads="1"/>
            </p:cNvSpPr>
            <p:nvPr/>
          </p:nvSpPr>
          <p:spPr bwMode="auto">
            <a:xfrm>
              <a:off x="1743" y="2948"/>
              <a:ext cx="48" cy="29"/>
            </a:xfrm>
            <a:custGeom>
              <a:avLst/>
              <a:gdLst>
                <a:gd name="T0" fmla="*/ 48 w 48"/>
                <a:gd name="T1" fmla="*/ 0 h 29"/>
                <a:gd name="T2" fmla="*/ 48 w 48"/>
                <a:gd name="T3" fmla="*/ 29 h 29"/>
                <a:gd name="T4" fmla="*/ 0 w 48"/>
                <a:gd name="T5" fmla="*/ 29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48" y="0"/>
                  </a:moveTo>
                  <a:lnTo>
                    <a:pt x="48" y="29"/>
                  </a:lnTo>
                  <a:lnTo>
                    <a:pt x="0" y="29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AutoShape 490"/>
            <p:cNvSpPr>
              <a:spLocks noChangeArrowheads="1"/>
            </p:cNvSpPr>
            <p:nvPr/>
          </p:nvSpPr>
          <p:spPr bwMode="auto">
            <a:xfrm>
              <a:off x="1867" y="2948"/>
              <a:ext cx="272" cy="29"/>
            </a:xfrm>
            <a:custGeom>
              <a:avLst/>
              <a:gdLst>
                <a:gd name="T0" fmla="*/ 272 w 272"/>
                <a:gd name="T1" fmla="*/ 29 h 29"/>
                <a:gd name="T2" fmla="*/ 0 w 272"/>
                <a:gd name="T3" fmla="*/ 29 h 29"/>
                <a:gd name="T4" fmla="*/ 0 w 272"/>
                <a:gd name="T5" fmla="*/ 0 h 29"/>
                <a:gd name="T6" fmla="*/ 0 60000 65536"/>
                <a:gd name="T7" fmla="*/ 0 60000 65536"/>
                <a:gd name="T8" fmla="*/ 0 60000 65536"/>
                <a:gd name="T9" fmla="*/ 0 w 272"/>
                <a:gd name="T10" fmla="*/ 0 h 29"/>
                <a:gd name="T11" fmla="*/ 272 w 272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29">
                  <a:moveTo>
                    <a:pt x="272" y="29"/>
                  </a:moveTo>
                  <a:lnTo>
                    <a:pt x="0" y="29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Line 491"/>
            <p:cNvSpPr>
              <a:spLocks noChangeShapeType="1"/>
            </p:cNvSpPr>
            <p:nvPr/>
          </p:nvSpPr>
          <p:spPr bwMode="auto">
            <a:xfrm flipH="1">
              <a:off x="1789" y="2948"/>
              <a:ext cx="8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492"/>
            <p:cNvSpPr>
              <a:spLocks noChangeShapeType="1"/>
            </p:cNvSpPr>
            <p:nvPr/>
          </p:nvSpPr>
          <p:spPr bwMode="auto">
            <a:xfrm flipH="1">
              <a:off x="1789" y="2929"/>
              <a:ext cx="8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493"/>
            <p:cNvSpPr>
              <a:spLocks noChangeShapeType="1"/>
            </p:cNvSpPr>
            <p:nvPr/>
          </p:nvSpPr>
          <p:spPr bwMode="auto">
            <a:xfrm>
              <a:off x="1829" y="2795"/>
              <a:ext cx="1" cy="2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AutoShape 494"/>
            <p:cNvSpPr>
              <a:spLocks noChangeArrowheads="1"/>
            </p:cNvSpPr>
            <p:nvPr/>
          </p:nvSpPr>
          <p:spPr bwMode="auto">
            <a:xfrm>
              <a:off x="1743" y="2838"/>
              <a:ext cx="48" cy="33"/>
            </a:xfrm>
            <a:custGeom>
              <a:avLst/>
              <a:gdLst>
                <a:gd name="T0" fmla="*/ 48 w 48"/>
                <a:gd name="T1" fmla="*/ 0 h 33"/>
                <a:gd name="T2" fmla="*/ 48 w 48"/>
                <a:gd name="T3" fmla="*/ 33 h 33"/>
                <a:gd name="T4" fmla="*/ 0 w 48"/>
                <a:gd name="T5" fmla="*/ 33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48" y="0"/>
                  </a:moveTo>
                  <a:lnTo>
                    <a:pt x="48" y="33"/>
                  </a:lnTo>
                  <a:lnTo>
                    <a:pt x="0" y="3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AutoShape 495"/>
            <p:cNvSpPr>
              <a:spLocks noChangeArrowheads="1"/>
            </p:cNvSpPr>
            <p:nvPr/>
          </p:nvSpPr>
          <p:spPr bwMode="auto">
            <a:xfrm>
              <a:off x="1867" y="2838"/>
              <a:ext cx="344" cy="33"/>
            </a:xfrm>
            <a:custGeom>
              <a:avLst/>
              <a:gdLst>
                <a:gd name="T0" fmla="*/ 344 w 344"/>
                <a:gd name="T1" fmla="*/ 33 h 33"/>
                <a:gd name="T2" fmla="*/ 0 w 344"/>
                <a:gd name="T3" fmla="*/ 33 h 33"/>
                <a:gd name="T4" fmla="*/ 0 w 344"/>
                <a:gd name="T5" fmla="*/ 0 h 33"/>
                <a:gd name="T6" fmla="*/ 0 60000 65536"/>
                <a:gd name="T7" fmla="*/ 0 60000 65536"/>
                <a:gd name="T8" fmla="*/ 0 60000 65536"/>
                <a:gd name="T9" fmla="*/ 0 w 344"/>
                <a:gd name="T10" fmla="*/ 0 h 33"/>
                <a:gd name="T11" fmla="*/ 344 w 344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" h="33">
                  <a:moveTo>
                    <a:pt x="344" y="33"/>
                  </a:moveTo>
                  <a:lnTo>
                    <a:pt x="0" y="33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Line 496"/>
            <p:cNvSpPr>
              <a:spLocks noChangeShapeType="1"/>
            </p:cNvSpPr>
            <p:nvPr/>
          </p:nvSpPr>
          <p:spPr bwMode="auto">
            <a:xfrm flipH="1">
              <a:off x="1789" y="2838"/>
              <a:ext cx="8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497"/>
            <p:cNvSpPr>
              <a:spLocks noChangeShapeType="1"/>
            </p:cNvSpPr>
            <p:nvPr/>
          </p:nvSpPr>
          <p:spPr bwMode="auto">
            <a:xfrm flipH="1">
              <a:off x="1789" y="2819"/>
              <a:ext cx="8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498"/>
            <p:cNvSpPr>
              <a:spLocks noChangeShapeType="1"/>
            </p:cNvSpPr>
            <p:nvPr/>
          </p:nvSpPr>
          <p:spPr bwMode="auto">
            <a:xfrm>
              <a:off x="1829" y="2690"/>
              <a:ext cx="1" cy="2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AutoShape 499"/>
            <p:cNvSpPr>
              <a:spLocks noChangeArrowheads="1"/>
            </p:cNvSpPr>
            <p:nvPr/>
          </p:nvSpPr>
          <p:spPr bwMode="auto">
            <a:xfrm>
              <a:off x="1743" y="2733"/>
              <a:ext cx="48" cy="33"/>
            </a:xfrm>
            <a:custGeom>
              <a:avLst/>
              <a:gdLst>
                <a:gd name="T0" fmla="*/ 48 w 48"/>
                <a:gd name="T1" fmla="*/ 0 h 33"/>
                <a:gd name="T2" fmla="*/ 48 w 48"/>
                <a:gd name="T3" fmla="*/ 33 h 33"/>
                <a:gd name="T4" fmla="*/ 0 w 48"/>
                <a:gd name="T5" fmla="*/ 33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48" y="0"/>
                  </a:moveTo>
                  <a:lnTo>
                    <a:pt x="48" y="33"/>
                  </a:lnTo>
                  <a:lnTo>
                    <a:pt x="0" y="3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AutoShape 500"/>
            <p:cNvSpPr>
              <a:spLocks noChangeArrowheads="1"/>
            </p:cNvSpPr>
            <p:nvPr/>
          </p:nvSpPr>
          <p:spPr bwMode="auto">
            <a:xfrm>
              <a:off x="1867" y="2733"/>
              <a:ext cx="416" cy="33"/>
            </a:xfrm>
            <a:custGeom>
              <a:avLst/>
              <a:gdLst>
                <a:gd name="T0" fmla="*/ 416 w 416"/>
                <a:gd name="T1" fmla="*/ 33 h 33"/>
                <a:gd name="T2" fmla="*/ 0 w 416"/>
                <a:gd name="T3" fmla="*/ 33 h 33"/>
                <a:gd name="T4" fmla="*/ 0 w 416"/>
                <a:gd name="T5" fmla="*/ 0 h 33"/>
                <a:gd name="T6" fmla="*/ 0 60000 65536"/>
                <a:gd name="T7" fmla="*/ 0 60000 65536"/>
                <a:gd name="T8" fmla="*/ 0 60000 65536"/>
                <a:gd name="T9" fmla="*/ 0 w 416"/>
                <a:gd name="T10" fmla="*/ 0 h 33"/>
                <a:gd name="T11" fmla="*/ 416 w 416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6" h="33">
                  <a:moveTo>
                    <a:pt x="416" y="33"/>
                  </a:moveTo>
                  <a:lnTo>
                    <a:pt x="0" y="33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Line 501"/>
            <p:cNvSpPr>
              <a:spLocks noChangeShapeType="1"/>
            </p:cNvSpPr>
            <p:nvPr/>
          </p:nvSpPr>
          <p:spPr bwMode="auto">
            <a:xfrm flipH="1">
              <a:off x="1789" y="2733"/>
              <a:ext cx="8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Line 502"/>
            <p:cNvSpPr>
              <a:spLocks noChangeShapeType="1"/>
            </p:cNvSpPr>
            <p:nvPr/>
          </p:nvSpPr>
          <p:spPr bwMode="auto">
            <a:xfrm flipH="1">
              <a:off x="1789" y="2714"/>
              <a:ext cx="8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Line 503"/>
            <p:cNvSpPr>
              <a:spLocks noChangeShapeType="1"/>
            </p:cNvSpPr>
            <p:nvPr/>
          </p:nvSpPr>
          <p:spPr bwMode="auto">
            <a:xfrm flipH="1">
              <a:off x="1655" y="2977"/>
              <a:ext cx="90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AutoShape 504"/>
            <p:cNvSpPr>
              <a:spLocks noChangeArrowheads="1"/>
            </p:cNvSpPr>
            <p:nvPr/>
          </p:nvSpPr>
          <p:spPr bwMode="auto">
            <a:xfrm>
              <a:off x="1571" y="2943"/>
              <a:ext cx="114" cy="72"/>
            </a:xfrm>
            <a:custGeom>
              <a:avLst/>
              <a:gdLst>
                <a:gd name="T0" fmla="*/ 24 w 24"/>
                <a:gd name="T1" fmla="*/ 34 h 15"/>
                <a:gd name="T2" fmla="*/ 0 w 24"/>
                <a:gd name="T3" fmla="*/ 0 h 15"/>
                <a:gd name="T4" fmla="*/ 0 w 24"/>
                <a:gd name="T5" fmla="*/ 0 h 15"/>
                <a:gd name="T6" fmla="*/ 57 w 24"/>
                <a:gd name="T7" fmla="*/ 24 h 15"/>
                <a:gd name="T8" fmla="*/ 114 w 24"/>
                <a:gd name="T9" fmla="*/ 34 h 15"/>
                <a:gd name="T10" fmla="*/ 57 w 24"/>
                <a:gd name="T11" fmla="*/ 48 h 15"/>
                <a:gd name="T12" fmla="*/ 0 w 24"/>
                <a:gd name="T13" fmla="*/ 72 h 15"/>
                <a:gd name="T14" fmla="*/ 0 w 24"/>
                <a:gd name="T15" fmla="*/ 72 h 15"/>
                <a:gd name="T16" fmla="*/ 24 w 24"/>
                <a:gd name="T17" fmla="*/ 34 h 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"/>
                <a:gd name="T28" fmla="*/ 0 h 15"/>
                <a:gd name="T29" fmla="*/ 24 w 24"/>
                <a:gd name="T30" fmla="*/ 15 h 1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" h="15">
                  <a:moveTo>
                    <a:pt x="5" y="7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6" y="6"/>
                    <a:pt x="20" y="6"/>
                    <a:pt x="24" y="7"/>
                  </a:cubicBezTo>
                  <a:cubicBezTo>
                    <a:pt x="20" y="8"/>
                    <a:pt x="16" y="9"/>
                    <a:pt x="12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lnTo>
                    <a:pt x="5" y="7"/>
                  </a:lnTo>
                  <a:close/>
                </a:path>
              </a:pathLst>
            </a:custGeom>
            <a:solidFill>
              <a:srgbClr val="999999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Rectangle 505"/>
            <p:cNvSpPr>
              <a:spLocks noChangeArrowheads="1"/>
            </p:cNvSpPr>
            <p:nvPr/>
          </p:nvSpPr>
          <p:spPr bwMode="auto">
            <a:xfrm>
              <a:off x="1924" y="2045"/>
              <a:ext cx="435" cy="435"/>
            </a:xfrm>
            <a:prstGeom prst="rect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Rectangle 506"/>
            <p:cNvSpPr>
              <a:spLocks noChangeArrowheads="1"/>
            </p:cNvSpPr>
            <p:nvPr/>
          </p:nvSpPr>
          <p:spPr bwMode="auto">
            <a:xfrm>
              <a:off x="3420" y="2045"/>
              <a:ext cx="435" cy="435"/>
            </a:xfrm>
            <a:prstGeom prst="rect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Line 507"/>
            <p:cNvSpPr>
              <a:spLocks noChangeShapeType="1"/>
            </p:cNvSpPr>
            <p:nvPr/>
          </p:nvSpPr>
          <p:spPr bwMode="auto">
            <a:xfrm flipH="1">
              <a:off x="3690" y="2355"/>
              <a:ext cx="28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AutoShape 508"/>
            <p:cNvSpPr>
              <a:spLocks noChangeArrowheads="1"/>
            </p:cNvSpPr>
            <p:nvPr/>
          </p:nvSpPr>
          <p:spPr bwMode="auto">
            <a:xfrm>
              <a:off x="3640" y="2389"/>
              <a:ext cx="33" cy="91"/>
            </a:xfrm>
            <a:custGeom>
              <a:avLst/>
              <a:gdLst>
                <a:gd name="T0" fmla="*/ 33 w 33"/>
                <a:gd name="T1" fmla="*/ 0 h 91"/>
                <a:gd name="T2" fmla="*/ 0 w 33"/>
                <a:gd name="T3" fmla="*/ 0 h 91"/>
                <a:gd name="T4" fmla="*/ 0 w 33"/>
                <a:gd name="T5" fmla="*/ 91 h 91"/>
                <a:gd name="T6" fmla="*/ 0 60000 65536"/>
                <a:gd name="T7" fmla="*/ 0 60000 65536"/>
                <a:gd name="T8" fmla="*/ 0 60000 65536"/>
                <a:gd name="T9" fmla="*/ 0 w 33"/>
                <a:gd name="T10" fmla="*/ 0 h 91"/>
                <a:gd name="T11" fmla="*/ 33 w 33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91">
                  <a:moveTo>
                    <a:pt x="33" y="0"/>
                  </a:moveTo>
                  <a:lnTo>
                    <a:pt x="0" y="0"/>
                  </a:lnTo>
                  <a:lnTo>
                    <a:pt x="0" y="91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AutoShape 509"/>
            <p:cNvSpPr>
              <a:spLocks noChangeArrowheads="1"/>
            </p:cNvSpPr>
            <p:nvPr/>
          </p:nvSpPr>
          <p:spPr bwMode="auto">
            <a:xfrm>
              <a:off x="3640" y="2045"/>
              <a:ext cx="33" cy="272"/>
            </a:xfrm>
            <a:custGeom>
              <a:avLst/>
              <a:gdLst>
                <a:gd name="T0" fmla="*/ 0 w 33"/>
                <a:gd name="T1" fmla="*/ 0 h 272"/>
                <a:gd name="T2" fmla="*/ 0 w 33"/>
                <a:gd name="T3" fmla="*/ 272 h 272"/>
                <a:gd name="T4" fmla="*/ 33 w 33"/>
                <a:gd name="T5" fmla="*/ 272 h 272"/>
                <a:gd name="T6" fmla="*/ 0 60000 65536"/>
                <a:gd name="T7" fmla="*/ 0 60000 65536"/>
                <a:gd name="T8" fmla="*/ 0 60000 65536"/>
                <a:gd name="T9" fmla="*/ 0 w 33"/>
                <a:gd name="T10" fmla="*/ 0 h 272"/>
                <a:gd name="T11" fmla="*/ 33 w 33"/>
                <a:gd name="T12" fmla="*/ 272 h 2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272">
                  <a:moveTo>
                    <a:pt x="0" y="0"/>
                  </a:moveTo>
                  <a:lnTo>
                    <a:pt x="0" y="272"/>
                  </a:lnTo>
                  <a:lnTo>
                    <a:pt x="33" y="272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Line 510"/>
            <p:cNvSpPr>
              <a:spLocks noChangeShapeType="1"/>
            </p:cNvSpPr>
            <p:nvPr/>
          </p:nvSpPr>
          <p:spPr bwMode="auto">
            <a:xfrm>
              <a:off x="3673" y="2308"/>
              <a:ext cx="1" cy="95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Line 511"/>
            <p:cNvSpPr>
              <a:spLocks noChangeShapeType="1"/>
            </p:cNvSpPr>
            <p:nvPr/>
          </p:nvSpPr>
          <p:spPr bwMode="auto">
            <a:xfrm>
              <a:off x="3692" y="2331"/>
              <a:ext cx="1" cy="48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Line 512"/>
            <p:cNvSpPr>
              <a:spLocks noChangeShapeType="1"/>
            </p:cNvSpPr>
            <p:nvPr/>
          </p:nvSpPr>
          <p:spPr bwMode="auto">
            <a:xfrm flipV="1">
              <a:off x="3496" y="2425"/>
              <a:ext cx="19" cy="23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AutoShape 513"/>
            <p:cNvSpPr>
              <a:spLocks noChangeArrowheads="1"/>
            </p:cNvSpPr>
            <p:nvPr/>
          </p:nvSpPr>
          <p:spPr bwMode="auto">
            <a:xfrm>
              <a:off x="3420" y="2260"/>
              <a:ext cx="105" cy="129"/>
            </a:xfrm>
            <a:custGeom>
              <a:avLst/>
              <a:gdLst>
                <a:gd name="T0" fmla="*/ 81 w 105"/>
                <a:gd name="T1" fmla="*/ 129 h 129"/>
                <a:gd name="T2" fmla="*/ 105 w 105"/>
                <a:gd name="T3" fmla="*/ 105 h 129"/>
                <a:gd name="T4" fmla="*/ 0 w 105"/>
                <a:gd name="T5" fmla="*/ 0 h 129"/>
                <a:gd name="T6" fmla="*/ 0 60000 65536"/>
                <a:gd name="T7" fmla="*/ 0 60000 65536"/>
                <a:gd name="T8" fmla="*/ 0 60000 65536"/>
                <a:gd name="T9" fmla="*/ 0 w 105"/>
                <a:gd name="T10" fmla="*/ 0 h 129"/>
                <a:gd name="T11" fmla="*/ 105 w 105"/>
                <a:gd name="T12" fmla="*/ 129 h 1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" h="129">
                  <a:moveTo>
                    <a:pt x="81" y="129"/>
                  </a:moveTo>
                  <a:lnTo>
                    <a:pt x="105" y="105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AutoShape 514"/>
            <p:cNvSpPr>
              <a:spLocks noChangeArrowheads="1"/>
            </p:cNvSpPr>
            <p:nvPr/>
          </p:nvSpPr>
          <p:spPr bwMode="auto">
            <a:xfrm>
              <a:off x="3554" y="2417"/>
              <a:ext cx="86" cy="63"/>
            </a:xfrm>
            <a:custGeom>
              <a:avLst/>
              <a:gdLst>
                <a:gd name="T0" fmla="*/ 0 w 86"/>
                <a:gd name="T1" fmla="*/ 20 h 63"/>
                <a:gd name="T2" fmla="*/ 23 w 86"/>
                <a:gd name="T3" fmla="*/ 0 h 63"/>
                <a:gd name="T4" fmla="*/ 86 w 86"/>
                <a:gd name="T5" fmla="*/ 63 h 63"/>
                <a:gd name="T6" fmla="*/ 0 60000 65536"/>
                <a:gd name="T7" fmla="*/ 0 60000 65536"/>
                <a:gd name="T8" fmla="*/ 0 60000 65536"/>
                <a:gd name="T9" fmla="*/ 0 w 86"/>
                <a:gd name="T10" fmla="*/ 0 h 63"/>
                <a:gd name="T11" fmla="*/ 86 w 86"/>
                <a:gd name="T12" fmla="*/ 63 h 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3">
                  <a:moveTo>
                    <a:pt x="0" y="20"/>
                  </a:moveTo>
                  <a:lnTo>
                    <a:pt x="23" y="0"/>
                  </a:lnTo>
                  <a:lnTo>
                    <a:pt x="86" y="6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Line 515"/>
            <p:cNvSpPr>
              <a:spLocks noChangeShapeType="1"/>
            </p:cNvSpPr>
            <p:nvPr/>
          </p:nvSpPr>
          <p:spPr bwMode="auto">
            <a:xfrm flipH="1" flipV="1">
              <a:off x="3494" y="2377"/>
              <a:ext cx="71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Line 516"/>
            <p:cNvSpPr>
              <a:spLocks noChangeShapeType="1"/>
            </p:cNvSpPr>
            <p:nvPr/>
          </p:nvSpPr>
          <p:spPr bwMode="auto">
            <a:xfrm flipH="1" flipV="1">
              <a:off x="3494" y="2406"/>
              <a:ext cx="42" cy="3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517"/>
            <p:cNvSpPr>
              <a:spLocks noChangeShapeType="1"/>
            </p:cNvSpPr>
            <p:nvPr/>
          </p:nvSpPr>
          <p:spPr bwMode="auto">
            <a:xfrm flipH="1" flipV="1">
              <a:off x="3762" y="2425"/>
              <a:ext cx="23" cy="23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AutoShape 518"/>
            <p:cNvSpPr>
              <a:spLocks noChangeArrowheads="1"/>
            </p:cNvSpPr>
            <p:nvPr/>
          </p:nvSpPr>
          <p:spPr bwMode="auto">
            <a:xfrm>
              <a:off x="3754" y="2260"/>
              <a:ext cx="101" cy="129"/>
            </a:xfrm>
            <a:custGeom>
              <a:avLst/>
              <a:gdLst>
                <a:gd name="T0" fmla="*/ 19 w 101"/>
                <a:gd name="T1" fmla="*/ 129 h 129"/>
                <a:gd name="T2" fmla="*/ 0 w 101"/>
                <a:gd name="T3" fmla="*/ 105 h 129"/>
                <a:gd name="T4" fmla="*/ 101 w 101"/>
                <a:gd name="T5" fmla="*/ 0 h 129"/>
                <a:gd name="T6" fmla="*/ 0 60000 65536"/>
                <a:gd name="T7" fmla="*/ 0 60000 65536"/>
                <a:gd name="T8" fmla="*/ 0 60000 65536"/>
                <a:gd name="T9" fmla="*/ 0 w 101"/>
                <a:gd name="T10" fmla="*/ 0 h 129"/>
                <a:gd name="T11" fmla="*/ 101 w 101"/>
                <a:gd name="T12" fmla="*/ 129 h 1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1" h="129">
                  <a:moveTo>
                    <a:pt x="19" y="129"/>
                  </a:moveTo>
                  <a:lnTo>
                    <a:pt x="0" y="105"/>
                  </a:lnTo>
                  <a:lnTo>
                    <a:pt x="101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AutoShape 519"/>
            <p:cNvSpPr>
              <a:spLocks noChangeArrowheads="1"/>
            </p:cNvSpPr>
            <p:nvPr/>
          </p:nvSpPr>
          <p:spPr bwMode="auto">
            <a:xfrm>
              <a:off x="3640" y="2417"/>
              <a:ext cx="86" cy="63"/>
            </a:xfrm>
            <a:custGeom>
              <a:avLst/>
              <a:gdLst>
                <a:gd name="T0" fmla="*/ 86 w 86"/>
                <a:gd name="T1" fmla="*/ 20 h 63"/>
                <a:gd name="T2" fmla="*/ 62 w 86"/>
                <a:gd name="T3" fmla="*/ 0 h 63"/>
                <a:gd name="T4" fmla="*/ 0 w 86"/>
                <a:gd name="T5" fmla="*/ 63 h 63"/>
                <a:gd name="T6" fmla="*/ 0 60000 65536"/>
                <a:gd name="T7" fmla="*/ 0 60000 65536"/>
                <a:gd name="T8" fmla="*/ 0 60000 65536"/>
                <a:gd name="T9" fmla="*/ 0 w 86"/>
                <a:gd name="T10" fmla="*/ 0 h 63"/>
                <a:gd name="T11" fmla="*/ 86 w 86"/>
                <a:gd name="T12" fmla="*/ 63 h 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3">
                  <a:moveTo>
                    <a:pt x="86" y="20"/>
                  </a:moveTo>
                  <a:lnTo>
                    <a:pt x="62" y="0"/>
                  </a:lnTo>
                  <a:lnTo>
                    <a:pt x="0" y="6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Line 520"/>
            <p:cNvSpPr>
              <a:spLocks noChangeShapeType="1"/>
            </p:cNvSpPr>
            <p:nvPr/>
          </p:nvSpPr>
          <p:spPr bwMode="auto">
            <a:xfrm flipV="1">
              <a:off x="3716" y="2377"/>
              <a:ext cx="67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521"/>
            <p:cNvSpPr>
              <a:spLocks noChangeShapeType="1"/>
            </p:cNvSpPr>
            <p:nvPr/>
          </p:nvSpPr>
          <p:spPr bwMode="auto">
            <a:xfrm flipV="1">
              <a:off x="3745" y="2406"/>
              <a:ext cx="33" cy="3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522"/>
            <p:cNvSpPr>
              <a:spLocks noChangeShapeType="1"/>
            </p:cNvSpPr>
            <p:nvPr/>
          </p:nvSpPr>
          <p:spPr bwMode="auto">
            <a:xfrm>
              <a:off x="3496" y="2078"/>
              <a:ext cx="19" cy="19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AutoShape 523"/>
            <p:cNvSpPr>
              <a:spLocks noChangeArrowheads="1"/>
            </p:cNvSpPr>
            <p:nvPr/>
          </p:nvSpPr>
          <p:spPr bwMode="auto">
            <a:xfrm>
              <a:off x="3420" y="2136"/>
              <a:ext cx="105" cy="124"/>
            </a:xfrm>
            <a:custGeom>
              <a:avLst/>
              <a:gdLst>
                <a:gd name="T0" fmla="*/ 81 w 105"/>
                <a:gd name="T1" fmla="*/ 0 h 124"/>
                <a:gd name="T2" fmla="*/ 105 w 105"/>
                <a:gd name="T3" fmla="*/ 23 h 124"/>
                <a:gd name="T4" fmla="*/ 0 w 105"/>
                <a:gd name="T5" fmla="*/ 124 h 124"/>
                <a:gd name="T6" fmla="*/ 0 60000 65536"/>
                <a:gd name="T7" fmla="*/ 0 60000 65536"/>
                <a:gd name="T8" fmla="*/ 0 60000 65536"/>
                <a:gd name="T9" fmla="*/ 0 w 105"/>
                <a:gd name="T10" fmla="*/ 0 h 124"/>
                <a:gd name="T11" fmla="*/ 105 w 105"/>
                <a:gd name="T12" fmla="*/ 124 h 1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" h="124">
                  <a:moveTo>
                    <a:pt x="81" y="0"/>
                  </a:moveTo>
                  <a:lnTo>
                    <a:pt x="105" y="23"/>
                  </a:lnTo>
                  <a:lnTo>
                    <a:pt x="0" y="12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AutoShape 524"/>
            <p:cNvSpPr>
              <a:spLocks noChangeArrowheads="1"/>
            </p:cNvSpPr>
            <p:nvPr/>
          </p:nvSpPr>
          <p:spPr bwMode="auto">
            <a:xfrm>
              <a:off x="3554" y="2045"/>
              <a:ext cx="86" cy="62"/>
            </a:xfrm>
            <a:custGeom>
              <a:avLst/>
              <a:gdLst>
                <a:gd name="T0" fmla="*/ 0 w 86"/>
                <a:gd name="T1" fmla="*/ 38 h 62"/>
                <a:gd name="T2" fmla="*/ 23 w 86"/>
                <a:gd name="T3" fmla="*/ 62 h 62"/>
                <a:gd name="T4" fmla="*/ 86 w 86"/>
                <a:gd name="T5" fmla="*/ 0 h 62"/>
                <a:gd name="T6" fmla="*/ 0 60000 65536"/>
                <a:gd name="T7" fmla="*/ 0 60000 65536"/>
                <a:gd name="T8" fmla="*/ 0 60000 65536"/>
                <a:gd name="T9" fmla="*/ 0 w 86"/>
                <a:gd name="T10" fmla="*/ 0 h 62"/>
                <a:gd name="T11" fmla="*/ 86 w 86"/>
                <a:gd name="T12" fmla="*/ 62 h 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2">
                  <a:moveTo>
                    <a:pt x="0" y="38"/>
                  </a:moveTo>
                  <a:lnTo>
                    <a:pt x="23" y="62"/>
                  </a:lnTo>
                  <a:lnTo>
                    <a:pt x="86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Line 525"/>
            <p:cNvSpPr>
              <a:spLocks noChangeShapeType="1"/>
            </p:cNvSpPr>
            <p:nvPr/>
          </p:nvSpPr>
          <p:spPr bwMode="auto">
            <a:xfrm flipH="1">
              <a:off x="3494" y="2073"/>
              <a:ext cx="7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526"/>
            <p:cNvSpPr>
              <a:spLocks noChangeShapeType="1"/>
            </p:cNvSpPr>
            <p:nvPr/>
          </p:nvSpPr>
          <p:spPr bwMode="auto">
            <a:xfrm flipH="1">
              <a:off x="3494" y="2078"/>
              <a:ext cx="42" cy="3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527"/>
            <p:cNvSpPr>
              <a:spLocks noChangeShapeType="1"/>
            </p:cNvSpPr>
            <p:nvPr/>
          </p:nvSpPr>
          <p:spPr bwMode="auto">
            <a:xfrm flipH="1">
              <a:off x="3762" y="2078"/>
              <a:ext cx="23" cy="19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AutoShape 528"/>
            <p:cNvSpPr>
              <a:spLocks noChangeArrowheads="1"/>
            </p:cNvSpPr>
            <p:nvPr/>
          </p:nvSpPr>
          <p:spPr bwMode="auto">
            <a:xfrm>
              <a:off x="3754" y="2136"/>
              <a:ext cx="101" cy="124"/>
            </a:xfrm>
            <a:custGeom>
              <a:avLst/>
              <a:gdLst>
                <a:gd name="T0" fmla="*/ 19 w 101"/>
                <a:gd name="T1" fmla="*/ 0 h 124"/>
                <a:gd name="T2" fmla="*/ 0 w 101"/>
                <a:gd name="T3" fmla="*/ 23 h 124"/>
                <a:gd name="T4" fmla="*/ 101 w 101"/>
                <a:gd name="T5" fmla="*/ 124 h 124"/>
                <a:gd name="T6" fmla="*/ 0 60000 65536"/>
                <a:gd name="T7" fmla="*/ 0 60000 65536"/>
                <a:gd name="T8" fmla="*/ 0 60000 65536"/>
                <a:gd name="T9" fmla="*/ 0 w 101"/>
                <a:gd name="T10" fmla="*/ 0 h 124"/>
                <a:gd name="T11" fmla="*/ 101 w 101"/>
                <a:gd name="T12" fmla="*/ 124 h 1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1" h="124">
                  <a:moveTo>
                    <a:pt x="19" y="0"/>
                  </a:moveTo>
                  <a:lnTo>
                    <a:pt x="0" y="23"/>
                  </a:lnTo>
                  <a:lnTo>
                    <a:pt x="101" y="12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AutoShape 529"/>
            <p:cNvSpPr>
              <a:spLocks noChangeArrowheads="1"/>
            </p:cNvSpPr>
            <p:nvPr/>
          </p:nvSpPr>
          <p:spPr bwMode="auto">
            <a:xfrm>
              <a:off x="3640" y="2045"/>
              <a:ext cx="86" cy="62"/>
            </a:xfrm>
            <a:custGeom>
              <a:avLst/>
              <a:gdLst>
                <a:gd name="T0" fmla="*/ 86 w 86"/>
                <a:gd name="T1" fmla="*/ 38 h 62"/>
                <a:gd name="T2" fmla="*/ 62 w 86"/>
                <a:gd name="T3" fmla="*/ 62 h 62"/>
                <a:gd name="T4" fmla="*/ 0 w 86"/>
                <a:gd name="T5" fmla="*/ 0 h 62"/>
                <a:gd name="T6" fmla="*/ 0 60000 65536"/>
                <a:gd name="T7" fmla="*/ 0 60000 65536"/>
                <a:gd name="T8" fmla="*/ 0 60000 65536"/>
                <a:gd name="T9" fmla="*/ 0 w 86"/>
                <a:gd name="T10" fmla="*/ 0 h 62"/>
                <a:gd name="T11" fmla="*/ 86 w 86"/>
                <a:gd name="T12" fmla="*/ 62 h 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" h="62">
                  <a:moveTo>
                    <a:pt x="86" y="38"/>
                  </a:moveTo>
                  <a:lnTo>
                    <a:pt x="62" y="62"/>
                  </a:lnTo>
                  <a:lnTo>
                    <a:pt x="0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Line 530"/>
            <p:cNvSpPr>
              <a:spLocks noChangeShapeType="1"/>
            </p:cNvSpPr>
            <p:nvPr/>
          </p:nvSpPr>
          <p:spPr bwMode="auto">
            <a:xfrm>
              <a:off x="3716" y="2073"/>
              <a:ext cx="67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531"/>
            <p:cNvSpPr>
              <a:spLocks noChangeShapeType="1"/>
            </p:cNvSpPr>
            <p:nvPr/>
          </p:nvSpPr>
          <p:spPr bwMode="auto">
            <a:xfrm>
              <a:off x="3745" y="2078"/>
              <a:ext cx="33" cy="3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532"/>
            <p:cNvSpPr>
              <a:spLocks noChangeShapeType="1"/>
            </p:cNvSpPr>
            <p:nvPr/>
          </p:nvSpPr>
          <p:spPr bwMode="auto">
            <a:xfrm flipH="1">
              <a:off x="1655" y="1533"/>
              <a:ext cx="90" cy="1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AutoShape 533"/>
            <p:cNvSpPr>
              <a:spLocks noChangeArrowheads="1"/>
            </p:cNvSpPr>
            <p:nvPr/>
          </p:nvSpPr>
          <p:spPr bwMode="auto">
            <a:xfrm>
              <a:off x="1571" y="1500"/>
              <a:ext cx="114" cy="67"/>
            </a:xfrm>
            <a:custGeom>
              <a:avLst/>
              <a:gdLst>
                <a:gd name="T0" fmla="*/ 0 w 24"/>
                <a:gd name="T1" fmla="*/ 0 h 14"/>
                <a:gd name="T2" fmla="*/ 0 w 24"/>
                <a:gd name="T3" fmla="*/ 0 h 14"/>
                <a:gd name="T4" fmla="*/ 57 w 24"/>
                <a:gd name="T5" fmla="*/ 19 h 14"/>
                <a:gd name="T6" fmla="*/ 114 w 24"/>
                <a:gd name="T7" fmla="*/ 34 h 14"/>
                <a:gd name="T8" fmla="*/ 57 w 24"/>
                <a:gd name="T9" fmla="*/ 48 h 14"/>
                <a:gd name="T10" fmla="*/ 0 w 24"/>
                <a:gd name="T11" fmla="*/ 67 h 14"/>
                <a:gd name="T12" fmla="*/ 0 w 24"/>
                <a:gd name="T13" fmla="*/ 67 h 14"/>
                <a:gd name="T14" fmla="*/ 24 w 24"/>
                <a:gd name="T15" fmla="*/ 34 h 14"/>
                <a:gd name="T16" fmla="*/ 0 w 24"/>
                <a:gd name="T17" fmla="*/ 0 h 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4"/>
                <a:gd name="T28" fmla="*/ 0 h 14"/>
                <a:gd name="T29" fmla="*/ 24 w 24"/>
                <a:gd name="T30" fmla="*/ 14 h 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4" h="14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6" y="5"/>
                    <a:pt x="20" y="6"/>
                    <a:pt x="24" y="7"/>
                  </a:cubicBezTo>
                  <a:cubicBezTo>
                    <a:pt x="20" y="8"/>
                    <a:pt x="16" y="9"/>
                    <a:pt x="12" y="1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5" y="7"/>
                    <a:pt x="5" y="7"/>
                    <a:pt x="5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66B5A"/>
            </a:solidFill>
            <a:ln w="9360">
              <a:solidFill>
                <a:srgbClr val="C66B5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Line 534"/>
            <p:cNvSpPr>
              <a:spLocks noChangeShapeType="1"/>
            </p:cNvSpPr>
            <p:nvPr/>
          </p:nvSpPr>
          <p:spPr bwMode="auto">
            <a:xfrm>
              <a:off x="4318" y="2656"/>
              <a:ext cx="1" cy="86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AutoShape 535"/>
            <p:cNvSpPr>
              <a:spLocks noChangeArrowheads="1"/>
            </p:cNvSpPr>
            <p:nvPr/>
          </p:nvSpPr>
          <p:spPr bwMode="auto">
            <a:xfrm>
              <a:off x="4285" y="2714"/>
              <a:ext cx="71" cy="114"/>
            </a:xfrm>
            <a:custGeom>
              <a:avLst/>
              <a:gdLst>
                <a:gd name="T0" fmla="*/ 71 w 15"/>
                <a:gd name="T1" fmla="*/ 0 h 24"/>
                <a:gd name="T2" fmla="*/ 71 w 15"/>
                <a:gd name="T3" fmla="*/ 0 h 24"/>
                <a:gd name="T4" fmla="*/ 47 w 15"/>
                <a:gd name="T5" fmla="*/ 57 h 24"/>
                <a:gd name="T6" fmla="*/ 33 w 15"/>
                <a:gd name="T7" fmla="*/ 114 h 24"/>
                <a:gd name="T8" fmla="*/ 24 w 15"/>
                <a:gd name="T9" fmla="*/ 57 h 24"/>
                <a:gd name="T10" fmla="*/ 0 w 15"/>
                <a:gd name="T11" fmla="*/ 0 h 24"/>
                <a:gd name="T12" fmla="*/ 0 w 15"/>
                <a:gd name="T13" fmla="*/ 0 h 24"/>
                <a:gd name="T14" fmla="*/ 33 w 15"/>
                <a:gd name="T15" fmla="*/ 19 h 24"/>
                <a:gd name="T16" fmla="*/ 71 w 15"/>
                <a:gd name="T17" fmla="*/ 0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"/>
                <a:gd name="T28" fmla="*/ 0 h 24"/>
                <a:gd name="T29" fmla="*/ 15 w 15"/>
                <a:gd name="T30" fmla="*/ 24 h 2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" h="24">
                  <a:moveTo>
                    <a:pt x="1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6"/>
                    <a:pt x="8" y="20"/>
                    <a:pt x="7" y="24"/>
                  </a:cubicBezTo>
                  <a:cubicBezTo>
                    <a:pt x="6" y="20"/>
                    <a:pt x="6" y="16"/>
                    <a:pt x="5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4"/>
                    <a:pt x="7" y="4"/>
                    <a:pt x="7" y="4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C66B5A"/>
            </a:solidFill>
            <a:ln w="9360">
              <a:solidFill>
                <a:srgbClr val="C66B5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Line 536"/>
            <p:cNvSpPr>
              <a:spLocks noChangeShapeType="1"/>
            </p:cNvSpPr>
            <p:nvPr/>
          </p:nvSpPr>
          <p:spPr bwMode="auto">
            <a:xfrm>
              <a:off x="1829" y="1586"/>
              <a:ext cx="1" cy="24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AutoShape 537"/>
            <p:cNvSpPr>
              <a:spLocks noChangeArrowheads="1"/>
            </p:cNvSpPr>
            <p:nvPr/>
          </p:nvSpPr>
          <p:spPr bwMode="auto">
            <a:xfrm>
              <a:off x="1743" y="1533"/>
              <a:ext cx="48" cy="29"/>
            </a:xfrm>
            <a:custGeom>
              <a:avLst/>
              <a:gdLst>
                <a:gd name="T0" fmla="*/ 0 w 48"/>
                <a:gd name="T1" fmla="*/ 0 h 29"/>
                <a:gd name="T2" fmla="*/ 48 w 48"/>
                <a:gd name="T3" fmla="*/ 0 h 29"/>
                <a:gd name="T4" fmla="*/ 48 w 48"/>
                <a:gd name="T5" fmla="*/ 29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0"/>
                  </a:moveTo>
                  <a:lnTo>
                    <a:pt x="48" y="0"/>
                  </a:lnTo>
                  <a:lnTo>
                    <a:pt x="48" y="29"/>
                  </a:lnTo>
                </a:path>
              </a:pathLst>
            </a:cu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Line 538"/>
            <p:cNvSpPr>
              <a:spLocks noChangeShapeType="1"/>
            </p:cNvSpPr>
            <p:nvPr/>
          </p:nvSpPr>
          <p:spPr bwMode="auto">
            <a:xfrm>
              <a:off x="1791" y="1562"/>
              <a:ext cx="76" cy="1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Line 539"/>
            <p:cNvSpPr>
              <a:spLocks noChangeShapeType="1"/>
            </p:cNvSpPr>
            <p:nvPr/>
          </p:nvSpPr>
          <p:spPr bwMode="auto">
            <a:xfrm flipH="1">
              <a:off x="1789" y="1586"/>
              <a:ext cx="80" cy="1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Line 540"/>
            <p:cNvSpPr>
              <a:spLocks noChangeShapeType="1"/>
            </p:cNvSpPr>
            <p:nvPr/>
          </p:nvSpPr>
          <p:spPr bwMode="auto">
            <a:xfrm flipV="1">
              <a:off x="2264" y="2076"/>
              <a:ext cx="19" cy="23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AutoShape 541"/>
            <p:cNvSpPr>
              <a:spLocks noChangeArrowheads="1"/>
            </p:cNvSpPr>
            <p:nvPr/>
          </p:nvSpPr>
          <p:spPr bwMode="auto">
            <a:xfrm>
              <a:off x="1867" y="1533"/>
              <a:ext cx="358" cy="574"/>
            </a:xfrm>
            <a:custGeom>
              <a:avLst/>
              <a:gdLst>
                <a:gd name="T0" fmla="*/ 0 w 358"/>
                <a:gd name="T1" fmla="*/ 29 h 574"/>
                <a:gd name="T2" fmla="*/ 0 w 358"/>
                <a:gd name="T3" fmla="*/ 0 h 574"/>
                <a:gd name="T4" fmla="*/ 272 w 358"/>
                <a:gd name="T5" fmla="*/ 0 h 574"/>
                <a:gd name="T6" fmla="*/ 272 w 358"/>
                <a:gd name="T7" fmla="*/ 512 h 574"/>
                <a:gd name="T8" fmla="*/ 334 w 358"/>
                <a:gd name="T9" fmla="*/ 574 h 574"/>
                <a:gd name="T10" fmla="*/ 358 w 358"/>
                <a:gd name="T11" fmla="*/ 550 h 5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58"/>
                <a:gd name="T19" fmla="*/ 0 h 574"/>
                <a:gd name="T20" fmla="*/ 358 w 358"/>
                <a:gd name="T21" fmla="*/ 574 h 57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8" h="574">
                  <a:moveTo>
                    <a:pt x="0" y="29"/>
                  </a:moveTo>
                  <a:lnTo>
                    <a:pt x="0" y="0"/>
                  </a:lnTo>
                  <a:lnTo>
                    <a:pt x="272" y="0"/>
                  </a:lnTo>
                  <a:lnTo>
                    <a:pt x="272" y="512"/>
                  </a:lnTo>
                  <a:lnTo>
                    <a:pt x="334" y="574"/>
                  </a:lnTo>
                  <a:lnTo>
                    <a:pt x="358" y="550"/>
                  </a:lnTo>
                </a:path>
              </a:pathLst>
            </a:cu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" name="Line 542"/>
            <p:cNvSpPr>
              <a:spLocks noChangeShapeType="1"/>
            </p:cNvSpPr>
            <p:nvPr/>
          </p:nvSpPr>
          <p:spPr bwMode="auto">
            <a:xfrm flipH="1" flipV="1">
              <a:off x="2214" y="2071"/>
              <a:ext cx="71" cy="76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Line 543"/>
            <p:cNvSpPr>
              <a:spLocks noChangeShapeType="1"/>
            </p:cNvSpPr>
            <p:nvPr/>
          </p:nvSpPr>
          <p:spPr bwMode="auto">
            <a:xfrm>
              <a:off x="2249" y="2078"/>
              <a:ext cx="34" cy="34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Line 544"/>
            <p:cNvSpPr>
              <a:spLocks noChangeShapeType="1"/>
            </p:cNvSpPr>
            <p:nvPr/>
          </p:nvSpPr>
          <p:spPr bwMode="auto">
            <a:xfrm flipV="1">
              <a:off x="3554" y="2181"/>
              <a:ext cx="1" cy="28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AutoShape 545"/>
            <p:cNvSpPr>
              <a:spLocks noChangeArrowheads="1"/>
            </p:cNvSpPr>
            <p:nvPr/>
          </p:nvSpPr>
          <p:spPr bwMode="auto">
            <a:xfrm>
              <a:off x="3420" y="2231"/>
              <a:ext cx="95" cy="29"/>
            </a:xfrm>
            <a:custGeom>
              <a:avLst/>
              <a:gdLst>
                <a:gd name="T0" fmla="*/ 95 w 95"/>
                <a:gd name="T1" fmla="*/ 0 h 29"/>
                <a:gd name="T2" fmla="*/ 95 w 95"/>
                <a:gd name="T3" fmla="*/ 29 h 29"/>
                <a:gd name="T4" fmla="*/ 0 w 95"/>
                <a:gd name="T5" fmla="*/ 29 h 29"/>
                <a:gd name="T6" fmla="*/ 0 60000 65536"/>
                <a:gd name="T7" fmla="*/ 0 60000 65536"/>
                <a:gd name="T8" fmla="*/ 0 60000 65536"/>
                <a:gd name="T9" fmla="*/ 0 w 95"/>
                <a:gd name="T10" fmla="*/ 0 h 29"/>
                <a:gd name="T11" fmla="*/ 95 w 95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" h="29">
                  <a:moveTo>
                    <a:pt x="95" y="0"/>
                  </a:moveTo>
                  <a:lnTo>
                    <a:pt x="95" y="29"/>
                  </a:lnTo>
                  <a:lnTo>
                    <a:pt x="0" y="29"/>
                  </a:lnTo>
                </a:path>
              </a:pathLst>
            </a:cu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Line 546"/>
            <p:cNvSpPr>
              <a:spLocks noChangeShapeType="1"/>
            </p:cNvSpPr>
            <p:nvPr/>
          </p:nvSpPr>
          <p:spPr bwMode="auto">
            <a:xfrm flipH="1">
              <a:off x="3504" y="2231"/>
              <a:ext cx="99" cy="1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Line 547"/>
            <p:cNvSpPr>
              <a:spLocks noChangeShapeType="1"/>
            </p:cNvSpPr>
            <p:nvPr/>
          </p:nvSpPr>
          <p:spPr bwMode="auto">
            <a:xfrm>
              <a:off x="3530" y="2212"/>
              <a:ext cx="47" cy="1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Line 548"/>
            <p:cNvSpPr>
              <a:spLocks noChangeShapeType="1"/>
            </p:cNvSpPr>
            <p:nvPr/>
          </p:nvSpPr>
          <p:spPr bwMode="auto">
            <a:xfrm flipH="1">
              <a:off x="4240" y="2570"/>
              <a:ext cx="32" cy="1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AutoShape 549"/>
            <p:cNvSpPr>
              <a:spLocks noChangeArrowheads="1"/>
            </p:cNvSpPr>
            <p:nvPr/>
          </p:nvSpPr>
          <p:spPr bwMode="auto">
            <a:xfrm>
              <a:off x="4289" y="2609"/>
              <a:ext cx="29" cy="47"/>
            </a:xfrm>
            <a:custGeom>
              <a:avLst/>
              <a:gdLst>
                <a:gd name="T0" fmla="*/ 0 w 29"/>
                <a:gd name="T1" fmla="*/ 0 h 47"/>
                <a:gd name="T2" fmla="*/ 29 w 29"/>
                <a:gd name="T3" fmla="*/ 0 h 47"/>
                <a:gd name="T4" fmla="*/ 29 w 29"/>
                <a:gd name="T5" fmla="*/ 47 h 47"/>
                <a:gd name="T6" fmla="*/ 0 60000 65536"/>
                <a:gd name="T7" fmla="*/ 0 60000 65536"/>
                <a:gd name="T8" fmla="*/ 0 60000 65536"/>
                <a:gd name="T9" fmla="*/ 0 w 29"/>
                <a:gd name="T10" fmla="*/ 0 h 47"/>
                <a:gd name="T11" fmla="*/ 29 w 29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7">
                  <a:moveTo>
                    <a:pt x="0" y="0"/>
                  </a:moveTo>
                  <a:lnTo>
                    <a:pt x="29" y="0"/>
                  </a:lnTo>
                  <a:lnTo>
                    <a:pt x="29" y="47"/>
                  </a:lnTo>
                </a:path>
              </a:pathLst>
            </a:cu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" name="AutoShape 550"/>
            <p:cNvSpPr>
              <a:spLocks noChangeArrowheads="1"/>
            </p:cNvSpPr>
            <p:nvPr/>
          </p:nvSpPr>
          <p:spPr bwMode="auto">
            <a:xfrm>
              <a:off x="3592" y="2231"/>
              <a:ext cx="726" cy="301"/>
            </a:xfrm>
            <a:custGeom>
              <a:avLst/>
              <a:gdLst>
                <a:gd name="T0" fmla="*/ 0 w 726"/>
                <a:gd name="T1" fmla="*/ 0 h 301"/>
                <a:gd name="T2" fmla="*/ 0 w 726"/>
                <a:gd name="T3" fmla="*/ 29 h 301"/>
                <a:gd name="T4" fmla="*/ 263 w 726"/>
                <a:gd name="T5" fmla="*/ 29 h 301"/>
                <a:gd name="T6" fmla="*/ 726 w 726"/>
                <a:gd name="T7" fmla="*/ 29 h 301"/>
                <a:gd name="T8" fmla="*/ 726 w 726"/>
                <a:gd name="T9" fmla="*/ 301 h 301"/>
                <a:gd name="T10" fmla="*/ 697 w 726"/>
                <a:gd name="T11" fmla="*/ 301 h 3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26"/>
                <a:gd name="T19" fmla="*/ 0 h 301"/>
                <a:gd name="T20" fmla="*/ 726 w 726"/>
                <a:gd name="T21" fmla="*/ 301 h 3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26" h="301">
                  <a:moveTo>
                    <a:pt x="0" y="0"/>
                  </a:moveTo>
                  <a:lnTo>
                    <a:pt x="0" y="29"/>
                  </a:lnTo>
                  <a:lnTo>
                    <a:pt x="263" y="29"/>
                  </a:lnTo>
                  <a:lnTo>
                    <a:pt x="726" y="29"/>
                  </a:lnTo>
                  <a:lnTo>
                    <a:pt x="726" y="301"/>
                  </a:lnTo>
                  <a:lnTo>
                    <a:pt x="697" y="301"/>
                  </a:lnTo>
                </a:path>
              </a:pathLst>
            </a:cu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" name="Line 551"/>
            <p:cNvSpPr>
              <a:spLocks noChangeShapeType="1"/>
            </p:cNvSpPr>
            <p:nvPr/>
          </p:nvSpPr>
          <p:spPr bwMode="auto">
            <a:xfrm flipV="1">
              <a:off x="4289" y="2530"/>
              <a:ext cx="1" cy="81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Line 552"/>
            <p:cNvSpPr>
              <a:spLocks noChangeShapeType="1"/>
            </p:cNvSpPr>
            <p:nvPr/>
          </p:nvSpPr>
          <p:spPr bwMode="auto">
            <a:xfrm>
              <a:off x="4270" y="2532"/>
              <a:ext cx="1" cy="77"/>
            </a:xfrm>
            <a:prstGeom prst="line">
              <a:avLst/>
            </a:pr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AutoShape 553"/>
            <p:cNvSpPr>
              <a:spLocks noChangeArrowheads="1"/>
            </p:cNvSpPr>
            <p:nvPr/>
          </p:nvSpPr>
          <p:spPr bwMode="auto">
            <a:xfrm>
              <a:off x="2254" y="2136"/>
              <a:ext cx="1166" cy="124"/>
            </a:xfrm>
            <a:custGeom>
              <a:avLst/>
              <a:gdLst>
                <a:gd name="T0" fmla="*/ 1166 w 1166"/>
                <a:gd name="T1" fmla="*/ 124 h 124"/>
                <a:gd name="T2" fmla="*/ 105 w 1166"/>
                <a:gd name="T3" fmla="*/ 124 h 124"/>
                <a:gd name="T4" fmla="*/ 0 w 1166"/>
                <a:gd name="T5" fmla="*/ 23 h 124"/>
                <a:gd name="T6" fmla="*/ 24 w 1166"/>
                <a:gd name="T7" fmla="*/ 0 h 1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66"/>
                <a:gd name="T13" fmla="*/ 0 h 124"/>
                <a:gd name="T14" fmla="*/ 1166 w 1166"/>
                <a:gd name="T15" fmla="*/ 124 h 1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66" h="124">
                  <a:moveTo>
                    <a:pt x="1166" y="124"/>
                  </a:moveTo>
                  <a:lnTo>
                    <a:pt x="105" y="124"/>
                  </a:lnTo>
                  <a:lnTo>
                    <a:pt x="0" y="23"/>
                  </a:lnTo>
                  <a:lnTo>
                    <a:pt x="24" y="0"/>
                  </a:lnTo>
                </a:path>
              </a:pathLst>
            </a:custGeom>
            <a:noFill/>
            <a:ln w="14400">
              <a:solidFill>
                <a:srgbClr val="C66B5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9" name="Line 554"/>
            <p:cNvSpPr>
              <a:spLocks noChangeShapeType="1"/>
            </p:cNvSpPr>
            <p:nvPr/>
          </p:nvSpPr>
          <p:spPr bwMode="auto">
            <a:xfrm flipH="1">
              <a:off x="4254" y="1046"/>
              <a:ext cx="33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AutoShape 555"/>
            <p:cNvSpPr>
              <a:spLocks noChangeArrowheads="1"/>
            </p:cNvSpPr>
            <p:nvPr/>
          </p:nvSpPr>
          <p:spPr bwMode="auto">
            <a:xfrm>
              <a:off x="4208" y="1079"/>
              <a:ext cx="29" cy="53"/>
            </a:xfrm>
            <a:custGeom>
              <a:avLst/>
              <a:gdLst>
                <a:gd name="T0" fmla="*/ 29 w 29"/>
                <a:gd name="T1" fmla="*/ 0 h 53"/>
                <a:gd name="T2" fmla="*/ 0 w 29"/>
                <a:gd name="T3" fmla="*/ 0 h 53"/>
                <a:gd name="T4" fmla="*/ 0 w 29"/>
                <a:gd name="T5" fmla="*/ 53 h 53"/>
                <a:gd name="T6" fmla="*/ 0 60000 65536"/>
                <a:gd name="T7" fmla="*/ 0 60000 65536"/>
                <a:gd name="T8" fmla="*/ 0 60000 65536"/>
                <a:gd name="T9" fmla="*/ 0 w 29"/>
                <a:gd name="T10" fmla="*/ 0 h 53"/>
                <a:gd name="T11" fmla="*/ 29 w 29"/>
                <a:gd name="T12" fmla="*/ 53 h 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53">
                  <a:moveTo>
                    <a:pt x="29" y="0"/>
                  </a:moveTo>
                  <a:lnTo>
                    <a:pt x="0" y="0"/>
                  </a:lnTo>
                  <a:lnTo>
                    <a:pt x="0" y="5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" name="AutoShape 556"/>
            <p:cNvSpPr>
              <a:spLocks noChangeArrowheads="1"/>
            </p:cNvSpPr>
            <p:nvPr/>
          </p:nvSpPr>
          <p:spPr bwMode="auto">
            <a:xfrm>
              <a:off x="4208" y="960"/>
              <a:ext cx="29" cy="48"/>
            </a:xfrm>
            <a:custGeom>
              <a:avLst/>
              <a:gdLst>
                <a:gd name="T0" fmla="*/ 0 w 29"/>
                <a:gd name="T1" fmla="*/ 0 h 48"/>
                <a:gd name="T2" fmla="*/ 0 w 29"/>
                <a:gd name="T3" fmla="*/ 48 h 48"/>
                <a:gd name="T4" fmla="*/ 29 w 29"/>
                <a:gd name="T5" fmla="*/ 48 h 48"/>
                <a:gd name="T6" fmla="*/ 0 60000 65536"/>
                <a:gd name="T7" fmla="*/ 0 60000 65536"/>
                <a:gd name="T8" fmla="*/ 0 60000 65536"/>
                <a:gd name="T9" fmla="*/ 0 w 29"/>
                <a:gd name="T10" fmla="*/ 0 h 48"/>
                <a:gd name="T11" fmla="*/ 29 w 29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8">
                  <a:moveTo>
                    <a:pt x="0" y="0"/>
                  </a:moveTo>
                  <a:lnTo>
                    <a:pt x="0" y="48"/>
                  </a:lnTo>
                  <a:lnTo>
                    <a:pt x="29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" name="Line 557"/>
            <p:cNvSpPr>
              <a:spLocks noChangeShapeType="1"/>
            </p:cNvSpPr>
            <p:nvPr/>
          </p:nvSpPr>
          <p:spPr bwMode="auto">
            <a:xfrm>
              <a:off x="4237" y="1008"/>
              <a:ext cx="1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Line 558"/>
            <p:cNvSpPr>
              <a:spLocks noChangeShapeType="1"/>
            </p:cNvSpPr>
            <p:nvPr/>
          </p:nvSpPr>
          <p:spPr bwMode="auto">
            <a:xfrm>
              <a:off x="4256" y="1008"/>
              <a:ext cx="1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Line 559"/>
            <p:cNvSpPr>
              <a:spLocks noChangeShapeType="1"/>
            </p:cNvSpPr>
            <p:nvPr/>
          </p:nvSpPr>
          <p:spPr bwMode="auto">
            <a:xfrm flipH="1">
              <a:off x="4364" y="1046"/>
              <a:ext cx="28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AutoShape 560"/>
            <p:cNvSpPr>
              <a:spLocks noChangeArrowheads="1"/>
            </p:cNvSpPr>
            <p:nvPr/>
          </p:nvSpPr>
          <p:spPr bwMode="auto">
            <a:xfrm>
              <a:off x="4313" y="1079"/>
              <a:ext cx="34" cy="53"/>
            </a:xfrm>
            <a:custGeom>
              <a:avLst/>
              <a:gdLst>
                <a:gd name="T0" fmla="*/ 34 w 34"/>
                <a:gd name="T1" fmla="*/ 0 h 53"/>
                <a:gd name="T2" fmla="*/ 0 w 34"/>
                <a:gd name="T3" fmla="*/ 0 h 53"/>
                <a:gd name="T4" fmla="*/ 0 w 34"/>
                <a:gd name="T5" fmla="*/ 53 h 53"/>
                <a:gd name="T6" fmla="*/ 0 60000 65536"/>
                <a:gd name="T7" fmla="*/ 0 60000 65536"/>
                <a:gd name="T8" fmla="*/ 0 60000 65536"/>
                <a:gd name="T9" fmla="*/ 0 w 34"/>
                <a:gd name="T10" fmla="*/ 0 h 53"/>
                <a:gd name="T11" fmla="*/ 34 w 34"/>
                <a:gd name="T12" fmla="*/ 53 h 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53">
                  <a:moveTo>
                    <a:pt x="34" y="0"/>
                  </a:moveTo>
                  <a:lnTo>
                    <a:pt x="0" y="0"/>
                  </a:lnTo>
                  <a:lnTo>
                    <a:pt x="0" y="5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6" name="AutoShape 561"/>
            <p:cNvSpPr>
              <a:spLocks noChangeArrowheads="1"/>
            </p:cNvSpPr>
            <p:nvPr/>
          </p:nvSpPr>
          <p:spPr bwMode="auto">
            <a:xfrm>
              <a:off x="4313" y="960"/>
              <a:ext cx="34" cy="48"/>
            </a:xfrm>
            <a:custGeom>
              <a:avLst/>
              <a:gdLst>
                <a:gd name="T0" fmla="*/ 0 w 34"/>
                <a:gd name="T1" fmla="*/ 0 h 48"/>
                <a:gd name="T2" fmla="*/ 0 w 34"/>
                <a:gd name="T3" fmla="*/ 48 h 48"/>
                <a:gd name="T4" fmla="*/ 34 w 34"/>
                <a:gd name="T5" fmla="*/ 48 h 48"/>
                <a:gd name="T6" fmla="*/ 0 60000 65536"/>
                <a:gd name="T7" fmla="*/ 0 60000 65536"/>
                <a:gd name="T8" fmla="*/ 0 60000 65536"/>
                <a:gd name="T9" fmla="*/ 0 w 34"/>
                <a:gd name="T10" fmla="*/ 0 h 48"/>
                <a:gd name="T11" fmla="*/ 34 w 3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8">
                  <a:moveTo>
                    <a:pt x="0" y="0"/>
                  </a:moveTo>
                  <a:lnTo>
                    <a:pt x="0" y="48"/>
                  </a:lnTo>
                  <a:lnTo>
                    <a:pt x="34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7" name="Line 562"/>
            <p:cNvSpPr>
              <a:spLocks noChangeShapeType="1"/>
            </p:cNvSpPr>
            <p:nvPr/>
          </p:nvSpPr>
          <p:spPr bwMode="auto">
            <a:xfrm>
              <a:off x="4347" y="1008"/>
              <a:ext cx="1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Line 563"/>
            <p:cNvSpPr>
              <a:spLocks noChangeShapeType="1"/>
            </p:cNvSpPr>
            <p:nvPr/>
          </p:nvSpPr>
          <p:spPr bwMode="auto">
            <a:xfrm>
              <a:off x="4366" y="1008"/>
              <a:ext cx="1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Line 564"/>
            <p:cNvSpPr>
              <a:spLocks noChangeShapeType="1"/>
            </p:cNvSpPr>
            <p:nvPr/>
          </p:nvSpPr>
          <p:spPr bwMode="auto">
            <a:xfrm flipH="1">
              <a:off x="4469" y="1046"/>
              <a:ext cx="28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AutoShape 565"/>
            <p:cNvSpPr>
              <a:spLocks noChangeArrowheads="1"/>
            </p:cNvSpPr>
            <p:nvPr/>
          </p:nvSpPr>
          <p:spPr bwMode="auto">
            <a:xfrm>
              <a:off x="4418" y="1079"/>
              <a:ext cx="34" cy="53"/>
            </a:xfrm>
            <a:custGeom>
              <a:avLst/>
              <a:gdLst>
                <a:gd name="T0" fmla="*/ 34 w 34"/>
                <a:gd name="T1" fmla="*/ 0 h 53"/>
                <a:gd name="T2" fmla="*/ 0 w 34"/>
                <a:gd name="T3" fmla="*/ 0 h 53"/>
                <a:gd name="T4" fmla="*/ 0 w 34"/>
                <a:gd name="T5" fmla="*/ 53 h 53"/>
                <a:gd name="T6" fmla="*/ 0 60000 65536"/>
                <a:gd name="T7" fmla="*/ 0 60000 65536"/>
                <a:gd name="T8" fmla="*/ 0 60000 65536"/>
                <a:gd name="T9" fmla="*/ 0 w 34"/>
                <a:gd name="T10" fmla="*/ 0 h 53"/>
                <a:gd name="T11" fmla="*/ 34 w 34"/>
                <a:gd name="T12" fmla="*/ 53 h 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53">
                  <a:moveTo>
                    <a:pt x="34" y="0"/>
                  </a:moveTo>
                  <a:lnTo>
                    <a:pt x="0" y="0"/>
                  </a:lnTo>
                  <a:lnTo>
                    <a:pt x="0" y="5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1" name="AutoShape 566"/>
            <p:cNvSpPr>
              <a:spLocks noChangeArrowheads="1"/>
            </p:cNvSpPr>
            <p:nvPr/>
          </p:nvSpPr>
          <p:spPr bwMode="auto">
            <a:xfrm>
              <a:off x="4418" y="960"/>
              <a:ext cx="34" cy="48"/>
            </a:xfrm>
            <a:custGeom>
              <a:avLst/>
              <a:gdLst>
                <a:gd name="T0" fmla="*/ 0 w 34"/>
                <a:gd name="T1" fmla="*/ 0 h 48"/>
                <a:gd name="T2" fmla="*/ 0 w 34"/>
                <a:gd name="T3" fmla="*/ 48 h 48"/>
                <a:gd name="T4" fmla="*/ 34 w 34"/>
                <a:gd name="T5" fmla="*/ 48 h 48"/>
                <a:gd name="T6" fmla="*/ 0 60000 65536"/>
                <a:gd name="T7" fmla="*/ 0 60000 65536"/>
                <a:gd name="T8" fmla="*/ 0 60000 65536"/>
                <a:gd name="T9" fmla="*/ 0 w 34"/>
                <a:gd name="T10" fmla="*/ 0 h 48"/>
                <a:gd name="T11" fmla="*/ 34 w 3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8">
                  <a:moveTo>
                    <a:pt x="0" y="0"/>
                  </a:moveTo>
                  <a:lnTo>
                    <a:pt x="0" y="48"/>
                  </a:lnTo>
                  <a:lnTo>
                    <a:pt x="34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" name="Line 567"/>
            <p:cNvSpPr>
              <a:spLocks noChangeShapeType="1"/>
            </p:cNvSpPr>
            <p:nvPr/>
          </p:nvSpPr>
          <p:spPr bwMode="auto">
            <a:xfrm>
              <a:off x="4452" y="1008"/>
              <a:ext cx="1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Line 568"/>
            <p:cNvSpPr>
              <a:spLocks noChangeShapeType="1"/>
            </p:cNvSpPr>
            <p:nvPr/>
          </p:nvSpPr>
          <p:spPr bwMode="auto">
            <a:xfrm>
              <a:off x="4471" y="1008"/>
              <a:ext cx="1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Line 569"/>
            <p:cNvSpPr>
              <a:spLocks noChangeShapeType="1"/>
            </p:cNvSpPr>
            <p:nvPr/>
          </p:nvSpPr>
          <p:spPr bwMode="auto">
            <a:xfrm flipH="1">
              <a:off x="4574" y="1046"/>
              <a:ext cx="33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AutoShape 570"/>
            <p:cNvSpPr>
              <a:spLocks noChangeArrowheads="1"/>
            </p:cNvSpPr>
            <p:nvPr/>
          </p:nvSpPr>
          <p:spPr bwMode="auto">
            <a:xfrm>
              <a:off x="4528" y="1079"/>
              <a:ext cx="29" cy="53"/>
            </a:xfrm>
            <a:custGeom>
              <a:avLst/>
              <a:gdLst>
                <a:gd name="T0" fmla="*/ 29 w 29"/>
                <a:gd name="T1" fmla="*/ 0 h 53"/>
                <a:gd name="T2" fmla="*/ 0 w 29"/>
                <a:gd name="T3" fmla="*/ 0 h 53"/>
                <a:gd name="T4" fmla="*/ 0 w 29"/>
                <a:gd name="T5" fmla="*/ 53 h 53"/>
                <a:gd name="T6" fmla="*/ 0 60000 65536"/>
                <a:gd name="T7" fmla="*/ 0 60000 65536"/>
                <a:gd name="T8" fmla="*/ 0 60000 65536"/>
                <a:gd name="T9" fmla="*/ 0 w 29"/>
                <a:gd name="T10" fmla="*/ 0 h 53"/>
                <a:gd name="T11" fmla="*/ 29 w 29"/>
                <a:gd name="T12" fmla="*/ 53 h 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53">
                  <a:moveTo>
                    <a:pt x="29" y="0"/>
                  </a:moveTo>
                  <a:lnTo>
                    <a:pt x="0" y="0"/>
                  </a:lnTo>
                  <a:lnTo>
                    <a:pt x="0" y="5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6" name="AutoShape 571"/>
            <p:cNvSpPr>
              <a:spLocks noChangeArrowheads="1"/>
            </p:cNvSpPr>
            <p:nvPr/>
          </p:nvSpPr>
          <p:spPr bwMode="auto">
            <a:xfrm>
              <a:off x="4528" y="960"/>
              <a:ext cx="29" cy="48"/>
            </a:xfrm>
            <a:custGeom>
              <a:avLst/>
              <a:gdLst>
                <a:gd name="T0" fmla="*/ 0 w 29"/>
                <a:gd name="T1" fmla="*/ 0 h 48"/>
                <a:gd name="T2" fmla="*/ 0 w 29"/>
                <a:gd name="T3" fmla="*/ 48 h 48"/>
                <a:gd name="T4" fmla="*/ 29 w 29"/>
                <a:gd name="T5" fmla="*/ 48 h 48"/>
                <a:gd name="T6" fmla="*/ 0 60000 65536"/>
                <a:gd name="T7" fmla="*/ 0 60000 65536"/>
                <a:gd name="T8" fmla="*/ 0 60000 65536"/>
                <a:gd name="T9" fmla="*/ 0 w 29"/>
                <a:gd name="T10" fmla="*/ 0 h 48"/>
                <a:gd name="T11" fmla="*/ 29 w 29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8">
                  <a:moveTo>
                    <a:pt x="0" y="0"/>
                  </a:moveTo>
                  <a:lnTo>
                    <a:pt x="0" y="48"/>
                  </a:lnTo>
                  <a:lnTo>
                    <a:pt x="29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7" name="Line 572"/>
            <p:cNvSpPr>
              <a:spLocks noChangeShapeType="1"/>
            </p:cNvSpPr>
            <p:nvPr/>
          </p:nvSpPr>
          <p:spPr bwMode="auto">
            <a:xfrm>
              <a:off x="4557" y="1008"/>
              <a:ext cx="1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Line 573"/>
            <p:cNvSpPr>
              <a:spLocks noChangeShapeType="1"/>
            </p:cNvSpPr>
            <p:nvPr/>
          </p:nvSpPr>
          <p:spPr bwMode="auto">
            <a:xfrm>
              <a:off x="4576" y="1008"/>
              <a:ext cx="1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Line 574"/>
            <p:cNvSpPr>
              <a:spLocks noChangeShapeType="1"/>
            </p:cNvSpPr>
            <p:nvPr/>
          </p:nvSpPr>
          <p:spPr bwMode="auto">
            <a:xfrm flipH="1">
              <a:off x="4684" y="1046"/>
              <a:ext cx="28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AutoShape 575"/>
            <p:cNvSpPr>
              <a:spLocks noChangeArrowheads="1"/>
            </p:cNvSpPr>
            <p:nvPr/>
          </p:nvSpPr>
          <p:spPr bwMode="auto">
            <a:xfrm>
              <a:off x="4633" y="1079"/>
              <a:ext cx="29" cy="53"/>
            </a:xfrm>
            <a:custGeom>
              <a:avLst/>
              <a:gdLst>
                <a:gd name="T0" fmla="*/ 29 w 29"/>
                <a:gd name="T1" fmla="*/ 0 h 53"/>
                <a:gd name="T2" fmla="*/ 0 w 29"/>
                <a:gd name="T3" fmla="*/ 0 h 53"/>
                <a:gd name="T4" fmla="*/ 0 w 29"/>
                <a:gd name="T5" fmla="*/ 53 h 53"/>
                <a:gd name="T6" fmla="*/ 0 60000 65536"/>
                <a:gd name="T7" fmla="*/ 0 60000 65536"/>
                <a:gd name="T8" fmla="*/ 0 60000 65536"/>
                <a:gd name="T9" fmla="*/ 0 w 29"/>
                <a:gd name="T10" fmla="*/ 0 h 53"/>
                <a:gd name="T11" fmla="*/ 29 w 29"/>
                <a:gd name="T12" fmla="*/ 53 h 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53">
                  <a:moveTo>
                    <a:pt x="29" y="0"/>
                  </a:moveTo>
                  <a:lnTo>
                    <a:pt x="0" y="0"/>
                  </a:lnTo>
                  <a:lnTo>
                    <a:pt x="0" y="5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1" name="AutoShape 576"/>
            <p:cNvSpPr>
              <a:spLocks noChangeArrowheads="1"/>
            </p:cNvSpPr>
            <p:nvPr/>
          </p:nvSpPr>
          <p:spPr bwMode="auto">
            <a:xfrm>
              <a:off x="4633" y="960"/>
              <a:ext cx="29" cy="48"/>
            </a:xfrm>
            <a:custGeom>
              <a:avLst/>
              <a:gdLst>
                <a:gd name="T0" fmla="*/ 0 w 29"/>
                <a:gd name="T1" fmla="*/ 0 h 48"/>
                <a:gd name="T2" fmla="*/ 0 w 29"/>
                <a:gd name="T3" fmla="*/ 48 h 48"/>
                <a:gd name="T4" fmla="*/ 29 w 29"/>
                <a:gd name="T5" fmla="*/ 48 h 48"/>
                <a:gd name="T6" fmla="*/ 0 60000 65536"/>
                <a:gd name="T7" fmla="*/ 0 60000 65536"/>
                <a:gd name="T8" fmla="*/ 0 60000 65536"/>
                <a:gd name="T9" fmla="*/ 0 w 29"/>
                <a:gd name="T10" fmla="*/ 0 h 48"/>
                <a:gd name="T11" fmla="*/ 29 w 29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8">
                  <a:moveTo>
                    <a:pt x="0" y="0"/>
                  </a:moveTo>
                  <a:lnTo>
                    <a:pt x="0" y="48"/>
                  </a:lnTo>
                  <a:lnTo>
                    <a:pt x="29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" name="Line 577"/>
            <p:cNvSpPr>
              <a:spLocks noChangeShapeType="1"/>
            </p:cNvSpPr>
            <p:nvPr/>
          </p:nvSpPr>
          <p:spPr bwMode="auto">
            <a:xfrm>
              <a:off x="4662" y="1008"/>
              <a:ext cx="1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Line 578"/>
            <p:cNvSpPr>
              <a:spLocks noChangeShapeType="1"/>
            </p:cNvSpPr>
            <p:nvPr/>
          </p:nvSpPr>
          <p:spPr bwMode="auto">
            <a:xfrm>
              <a:off x="4681" y="1008"/>
              <a:ext cx="1" cy="7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Line 579"/>
            <p:cNvSpPr>
              <a:spLocks noChangeShapeType="1"/>
            </p:cNvSpPr>
            <p:nvPr/>
          </p:nvSpPr>
          <p:spPr bwMode="auto">
            <a:xfrm>
              <a:off x="921" y="1753"/>
              <a:ext cx="1" cy="2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AutoShape 580"/>
            <p:cNvSpPr>
              <a:spLocks noChangeArrowheads="1"/>
            </p:cNvSpPr>
            <p:nvPr/>
          </p:nvSpPr>
          <p:spPr bwMode="auto">
            <a:xfrm>
              <a:off x="959" y="1796"/>
              <a:ext cx="48" cy="34"/>
            </a:xfrm>
            <a:custGeom>
              <a:avLst/>
              <a:gdLst>
                <a:gd name="T0" fmla="*/ 0 w 48"/>
                <a:gd name="T1" fmla="*/ 0 h 34"/>
                <a:gd name="T2" fmla="*/ 0 w 48"/>
                <a:gd name="T3" fmla="*/ 34 h 34"/>
                <a:gd name="T4" fmla="*/ 48 w 48"/>
                <a:gd name="T5" fmla="*/ 34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0"/>
                  </a:moveTo>
                  <a:lnTo>
                    <a:pt x="0" y="34"/>
                  </a:lnTo>
                  <a:lnTo>
                    <a:pt x="48" y="3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" name="AutoShape 581"/>
            <p:cNvSpPr>
              <a:spLocks noChangeArrowheads="1"/>
            </p:cNvSpPr>
            <p:nvPr/>
          </p:nvSpPr>
          <p:spPr bwMode="auto">
            <a:xfrm>
              <a:off x="835" y="1796"/>
              <a:ext cx="53" cy="34"/>
            </a:xfrm>
            <a:custGeom>
              <a:avLst/>
              <a:gdLst>
                <a:gd name="T0" fmla="*/ 0 w 53"/>
                <a:gd name="T1" fmla="*/ 34 h 34"/>
                <a:gd name="T2" fmla="*/ 53 w 53"/>
                <a:gd name="T3" fmla="*/ 34 h 34"/>
                <a:gd name="T4" fmla="*/ 53 w 53"/>
                <a:gd name="T5" fmla="*/ 0 h 34"/>
                <a:gd name="T6" fmla="*/ 0 60000 65536"/>
                <a:gd name="T7" fmla="*/ 0 60000 65536"/>
                <a:gd name="T8" fmla="*/ 0 60000 65536"/>
                <a:gd name="T9" fmla="*/ 0 w 53"/>
                <a:gd name="T10" fmla="*/ 0 h 34"/>
                <a:gd name="T11" fmla="*/ 53 w 53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34">
                  <a:moveTo>
                    <a:pt x="0" y="34"/>
                  </a:moveTo>
                  <a:lnTo>
                    <a:pt x="53" y="34"/>
                  </a:lnTo>
                  <a:lnTo>
                    <a:pt x="53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" name="Line 582"/>
            <p:cNvSpPr>
              <a:spLocks noChangeShapeType="1"/>
            </p:cNvSpPr>
            <p:nvPr/>
          </p:nvSpPr>
          <p:spPr bwMode="auto">
            <a:xfrm>
              <a:off x="888" y="1796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Line 583"/>
            <p:cNvSpPr>
              <a:spLocks noChangeShapeType="1"/>
            </p:cNvSpPr>
            <p:nvPr/>
          </p:nvSpPr>
          <p:spPr bwMode="auto">
            <a:xfrm>
              <a:off x="888" y="1777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Line 584"/>
            <p:cNvSpPr>
              <a:spLocks noChangeShapeType="1"/>
            </p:cNvSpPr>
            <p:nvPr/>
          </p:nvSpPr>
          <p:spPr bwMode="auto">
            <a:xfrm>
              <a:off x="921" y="1643"/>
              <a:ext cx="1" cy="29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AutoShape 585"/>
            <p:cNvSpPr>
              <a:spLocks noChangeArrowheads="1"/>
            </p:cNvSpPr>
            <p:nvPr/>
          </p:nvSpPr>
          <p:spPr bwMode="auto">
            <a:xfrm>
              <a:off x="959" y="1691"/>
              <a:ext cx="48" cy="34"/>
            </a:xfrm>
            <a:custGeom>
              <a:avLst/>
              <a:gdLst>
                <a:gd name="T0" fmla="*/ 0 w 48"/>
                <a:gd name="T1" fmla="*/ 0 h 34"/>
                <a:gd name="T2" fmla="*/ 0 w 48"/>
                <a:gd name="T3" fmla="*/ 34 h 34"/>
                <a:gd name="T4" fmla="*/ 48 w 48"/>
                <a:gd name="T5" fmla="*/ 34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0"/>
                  </a:moveTo>
                  <a:lnTo>
                    <a:pt x="0" y="34"/>
                  </a:lnTo>
                  <a:lnTo>
                    <a:pt x="48" y="3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1" name="AutoShape 586"/>
            <p:cNvSpPr>
              <a:spLocks noChangeArrowheads="1"/>
            </p:cNvSpPr>
            <p:nvPr/>
          </p:nvSpPr>
          <p:spPr bwMode="auto">
            <a:xfrm>
              <a:off x="835" y="1691"/>
              <a:ext cx="53" cy="34"/>
            </a:xfrm>
            <a:custGeom>
              <a:avLst/>
              <a:gdLst>
                <a:gd name="T0" fmla="*/ 0 w 53"/>
                <a:gd name="T1" fmla="*/ 34 h 34"/>
                <a:gd name="T2" fmla="*/ 53 w 53"/>
                <a:gd name="T3" fmla="*/ 34 h 34"/>
                <a:gd name="T4" fmla="*/ 53 w 53"/>
                <a:gd name="T5" fmla="*/ 0 h 34"/>
                <a:gd name="T6" fmla="*/ 0 60000 65536"/>
                <a:gd name="T7" fmla="*/ 0 60000 65536"/>
                <a:gd name="T8" fmla="*/ 0 60000 65536"/>
                <a:gd name="T9" fmla="*/ 0 w 53"/>
                <a:gd name="T10" fmla="*/ 0 h 34"/>
                <a:gd name="T11" fmla="*/ 53 w 53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34">
                  <a:moveTo>
                    <a:pt x="0" y="34"/>
                  </a:moveTo>
                  <a:lnTo>
                    <a:pt x="53" y="34"/>
                  </a:lnTo>
                  <a:lnTo>
                    <a:pt x="53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" name="Line 587"/>
            <p:cNvSpPr>
              <a:spLocks noChangeShapeType="1"/>
            </p:cNvSpPr>
            <p:nvPr/>
          </p:nvSpPr>
          <p:spPr bwMode="auto">
            <a:xfrm>
              <a:off x="888" y="1691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Line 588"/>
            <p:cNvSpPr>
              <a:spLocks noChangeShapeType="1"/>
            </p:cNvSpPr>
            <p:nvPr/>
          </p:nvSpPr>
          <p:spPr bwMode="auto">
            <a:xfrm>
              <a:off x="888" y="1672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Line 589"/>
            <p:cNvSpPr>
              <a:spLocks noChangeShapeType="1"/>
            </p:cNvSpPr>
            <p:nvPr/>
          </p:nvSpPr>
          <p:spPr bwMode="auto">
            <a:xfrm>
              <a:off x="921" y="1538"/>
              <a:ext cx="1" cy="29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AutoShape 590"/>
            <p:cNvSpPr>
              <a:spLocks noChangeArrowheads="1"/>
            </p:cNvSpPr>
            <p:nvPr/>
          </p:nvSpPr>
          <p:spPr bwMode="auto">
            <a:xfrm>
              <a:off x="959" y="1586"/>
              <a:ext cx="48" cy="29"/>
            </a:xfrm>
            <a:custGeom>
              <a:avLst/>
              <a:gdLst>
                <a:gd name="T0" fmla="*/ 0 w 48"/>
                <a:gd name="T1" fmla="*/ 0 h 29"/>
                <a:gd name="T2" fmla="*/ 0 w 48"/>
                <a:gd name="T3" fmla="*/ 29 h 29"/>
                <a:gd name="T4" fmla="*/ 48 w 48"/>
                <a:gd name="T5" fmla="*/ 29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0"/>
                  </a:moveTo>
                  <a:lnTo>
                    <a:pt x="0" y="29"/>
                  </a:lnTo>
                  <a:lnTo>
                    <a:pt x="48" y="29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" name="AutoShape 591"/>
            <p:cNvSpPr>
              <a:spLocks noChangeArrowheads="1"/>
            </p:cNvSpPr>
            <p:nvPr/>
          </p:nvSpPr>
          <p:spPr bwMode="auto">
            <a:xfrm>
              <a:off x="835" y="1586"/>
              <a:ext cx="53" cy="29"/>
            </a:xfrm>
            <a:custGeom>
              <a:avLst/>
              <a:gdLst>
                <a:gd name="T0" fmla="*/ 0 w 53"/>
                <a:gd name="T1" fmla="*/ 29 h 29"/>
                <a:gd name="T2" fmla="*/ 53 w 53"/>
                <a:gd name="T3" fmla="*/ 29 h 29"/>
                <a:gd name="T4" fmla="*/ 53 w 53"/>
                <a:gd name="T5" fmla="*/ 0 h 29"/>
                <a:gd name="T6" fmla="*/ 0 60000 65536"/>
                <a:gd name="T7" fmla="*/ 0 60000 65536"/>
                <a:gd name="T8" fmla="*/ 0 60000 65536"/>
                <a:gd name="T9" fmla="*/ 0 w 53"/>
                <a:gd name="T10" fmla="*/ 0 h 29"/>
                <a:gd name="T11" fmla="*/ 53 w 53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29">
                  <a:moveTo>
                    <a:pt x="0" y="29"/>
                  </a:moveTo>
                  <a:lnTo>
                    <a:pt x="53" y="29"/>
                  </a:lnTo>
                  <a:lnTo>
                    <a:pt x="53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" name="Line 592"/>
            <p:cNvSpPr>
              <a:spLocks noChangeShapeType="1"/>
            </p:cNvSpPr>
            <p:nvPr/>
          </p:nvSpPr>
          <p:spPr bwMode="auto">
            <a:xfrm>
              <a:off x="888" y="1586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Line 593"/>
            <p:cNvSpPr>
              <a:spLocks noChangeShapeType="1"/>
            </p:cNvSpPr>
            <p:nvPr/>
          </p:nvSpPr>
          <p:spPr bwMode="auto">
            <a:xfrm>
              <a:off x="888" y="1567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Line 594"/>
            <p:cNvSpPr>
              <a:spLocks noChangeShapeType="1"/>
            </p:cNvSpPr>
            <p:nvPr/>
          </p:nvSpPr>
          <p:spPr bwMode="auto">
            <a:xfrm>
              <a:off x="921" y="1433"/>
              <a:ext cx="1" cy="2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AutoShape 595"/>
            <p:cNvSpPr>
              <a:spLocks noChangeArrowheads="1"/>
            </p:cNvSpPr>
            <p:nvPr/>
          </p:nvSpPr>
          <p:spPr bwMode="auto">
            <a:xfrm>
              <a:off x="959" y="1476"/>
              <a:ext cx="48" cy="34"/>
            </a:xfrm>
            <a:custGeom>
              <a:avLst/>
              <a:gdLst>
                <a:gd name="T0" fmla="*/ 0 w 48"/>
                <a:gd name="T1" fmla="*/ 0 h 34"/>
                <a:gd name="T2" fmla="*/ 0 w 48"/>
                <a:gd name="T3" fmla="*/ 34 h 34"/>
                <a:gd name="T4" fmla="*/ 48 w 48"/>
                <a:gd name="T5" fmla="*/ 34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0"/>
                  </a:moveTo>
                  <a:lnTo>
                    <a:pt x="0" y="34"/>
                  </a:lnTo>
                  <a:lnTo>
                    <a:pt x="48" y="3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1" name="AutoShape 596"/>
            <p:cNvSpPr>
              <a:spLocks noChangeArrowheads="1"/>
            </p:cNvSpPr>
            <p:nvPr/>
          </p:nvSpPr>
          <p:spPr bwMode="auto">
            <a:xfrm>
              <a:off x="835" y="1476"/>
              <a:ext cx="53" cy="34"/>
            </a:xfrm>
            <a:custGeom>
              <a:avLst/>
              <a:gdLst>
                <a:gd name="T0" fmla="*/ 0 w 53"/>
                <a:gd name="T1" fmla="*/ 34 h 34"/>
                <a:gd name="T2" fmla="*/ 53 w 53"/>
                <a:gd name="T3" fmla="*/ 34 h 34"/>
                <a:gd name="T4" fmla="*/ 53 w 53"/>
                <a:gd name="T5" fmla="*/ 0 h 34"/>
                <a:gd name="T6" fmla="*/ 0 60000 65536"/>
                <a:gd name="T7" fmla="*/ 0 60000 65536"/>
                <a:gd name="T8" fmla="*/ 0 60000 65536"/>
                <a:gd name="T9" fmla="*/ 0 w 53"/>
                <a:gd name="T10" fmla="*/ 0 h 34"/>
                <a:gd name="T11" fmla="*/ 53 w 53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34">
                  <a:moveTo>
                    <a:pt x="0" y="34"/>
                  </a:moveTo>
                  <a:lnTo>
                    <a:pt x="53" y="34"/>
                  </a:lnTo>
                  <a:lnTo>
                    <a:pt x="53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" name="Line 597"/>
            <p:cNvSpPr>
              <a:spLocks noChangeShapeType="1"/>
            </p:cNvSpPr>
            <p:nvPr/>
          </p:nvSpPr>
          <p:spPr bwMode="auto">
            <a:xfrm>
              <a:off x="888" y="1476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Line 598"/>
            <p:cNvSpPr>
              <a:spLocks noChangeShapeType="1"/>
            </p:cNvSpPr>
            <p:nvPr/>
          </p:nvSpPr>
          <p:spPr bwMode="auto">
            <a:xfrm>
              <a:off x="888" y="1457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Line 599"/>
            <p:cNvSpPr>
              <a:spLocks noChangeShapeType="1"/>
            </p:cNvSpPr>
            <p:nvPr/>
          </p:nvSpPr>
          <p:spPr bwMode="auto">
            <a:xfrm>
              <a:off x="921" y="1328"/>
              <a:ext cx="1" cy="2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AutoShape 600"/>
            <p:cNvSpPr>
              <a:spLocks noChangeArrowheads="1"/>
            </p:cNvSpPr>
            <p:nvPr/>
          </p:nvSpPr>
          <p:spPr bwMode="auto">
            <a:xfrm>
              <a:off x="959" y="1371"/>
              <a:ext cx="48" cy="33"/>
            </a:xfrm>
            <a:custGeom>
              <a:avLst/>
              <a:gdLst>
                <a:gd name="T0" fmla="*/ 0 w 48"/>
                <a:gd name="T1" fmla="*/ 0 h 33"/>
                <a:gd name="T2" fmla="*/ 0 w 48"/>
                <a:gd name="T3" fmla="*/ 33 h 33"/>
                <a:gd name="T4" fmla="*/ 48 w 48"/>
                <a:gd name="T5" fmla="*/ 33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0" y="0"/>
                  </a:moveTo>
                  <a:lnTo>
                    <a:pt x="0" y="33"/>
                  </a:lnTo>
                  <a:lnTo>
                    <a:pt x="48" y="3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" name="AutoShape 601"/>
            <p:cNvSpPr>
              <a:spLocks noChangeArrowheads="1"/>
            </p:cNvSpPr>
            <p:nvPr/>
          </p:nvSpPr>
          <p:spPr bwMode="auto">
            <a:xfrm>
              <a:off x="835" y="1371"/>
              <a:ext cx="53" cy="33"/>
            </a:xfrm>
            <a:custGeom>
              <a:avLst/>
              <a:gdLst>
                <a:gd name="T0" fmla="*/ 0 w 53"/>
                <a:gd name="T1" fmla="*/ 33 h 33"/>
                <a:gd name="T2" fmla="*/ 53 w 53"/>
                <a:gd name="T3" fmla="*/ 33 h 33"/>
                <a:gd name="T4" fmla="*/ 53 w 53"/>
                <a:gd name="T5" fmla="*/ 0 h 33"/>
                <a:gd name="T6" fmla="*/ 0 60000 65536"/>
                <a:gd name="T7" fmla="*/ 0 60000 65536"/>
                <a:gd name="T8" fmla="*/ 0 60000 65536"/>
                <a:gd name="T9" fmla="*/ 0 w 53"/>
                <a:gd name="T10" fmla="*/ 0 h 33"/>
                <a:gd name="T11" fmla="*/ 53 w 53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33">
                  <a:moveTo>
                    <a:pt x="0" y="33"/>
                  </a:moveTo>
                  <a:lnTo>
                    <a:pt x="53" y="33"/>
                  </a:lnTo>
                  <a:lnTo>
                    <a:pt x="53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" name="Line 602"/>
            <p:cNvSpPr>
              <a:spLocks noChangeShapeType="1"/>
            </p:cNvSpPr>
            <p:nvPr/>
          </p:nvSpPr>
          <p:spPr bwMode="auto">
            <a:xfrm>
              <a:off x="888" y="1371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Line 603"/>
            <p:cNvSpPr>
              <a:spLocks noChangeShapeType="1"/>
            </p:cNvSpPr>
            <p:nvPr/>
          </p:nvSpPr>
          <p:spPr bwMode="auto">
            <a:xfrm>
              <a:off x="888" y="1352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Line 604"/>
            <p:cNvSpPr>
              <a:spLocks noChangeShapeType="1"/>
            </p:cNvSpPr>
            <p:nvPr/>
          </p:nvSpPr>
          <p:spPr bwMode="auto">
            <a:xfrm>
              <a:off x="2436" y="1600"/>
              <a:ext cx="1" cy="2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AutoShape 605"/>
            <p:cNvSpPr>
              <a:spLocks noChangeArrowheads="1"/>
            </p:cNvSpPr>
            <p:nvPr/>
          </p:nvSpPr>
          <p:spPr bwMode="auto">
            <a:xfrm>
              <a:off x="2474" y="1643"/>
              <a:ext cx="48" cy="34"/>
            </a:xfrm>
            <a:custGeom>
              <a:avLst/>
              <a:gdLst>
                <a:gd name="T0" fmla="*/ 0 w 48"/>
                <a:gd name="T1" fmla="*/ 0 h 34"/>
                <a:gd name="T2" fmla="*/ 0 w 48"/>
                <a:gd name="T3" fmla="*/ 34 h 34"/>
                <a:gd name="T4" fmla="*/ 48 w 48"/>
                <a:gd name="T5" fmla="*/ 34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0"/>
                  </a:moveTo>
                  <a:lnTo>
                    <a:pt x="0" y="34"/>
                  </a:lnTo>
                  <a:lnTo>
                    <a:pt x="48" y="3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1" name="AutoShape 606"/>
            <p:cNvSpPr>
              <a:spLocks noChangeArrowheads="1"/>
            </p:cNvSpPr>
            <p:nvPr/>
          </p:nvSpPr>
          <p:spPr bwMode="auto">
            <a:xfrm>
              <a:off x="2283" y="1643"/>
              <a:ext cx="114" cy="34"/>
            </a:xfrm>
            <a:custGeom>
              <a:avLst/>
              <a:gdLst>
                <a:gd name="T0" fmla="*/ 0 w 114"/>
                <a:gd name="T1" fmla="*/ 34 h 34"/>
                <a:gd name="T2" fmla="*/ 114 w 114"/>
                <a:gd name="T3" fmla="*/ 34 h 34"/>
                <a:gd name="T4" fmla="*/ 114 w 114"/>
                <a:gd name="T5" fmla="*/ 0 h 34"/>
                <a:gd name="T6" fmla="*/ 0 60000 65536"/>
                <a:gd name="T7" fmla="*/ 0 60000 65536"/>
                <a:gd name="T8" fmla="*/ 0 60000 65536"/>
                <a:gd name="T9" fmla="*/ 0 w 114"/>
                <a:gd name="T10" fmla="*/ 0 h 34"/>
                <a:gd name="T11" fmla="*/ 114 w 114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" h="34">
                  <a:moveTo>
                    <a:pt x="0" y="34"/>
                  </a:moveTo>
                  <a:lnTo>
                    <a:pt x="114" y="34"/>
                  </a:lnTo>
                  <a:lnTo>
                    <a:pt x="114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2" name="Line 607"/>
            <p:cNvSpPr>
              <a:spLocks noChangeShapeType="1"/>
            </p:cNvSpPr>
            <p:nvPr/>
          </p:nvSpPr>
          <p:spPr bwMode="auto">
            <a:xfrm>
              <a:off x="2397" y="1643"/>
              <a:ext cx="77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Line 608"/>
            <p:cNvSpPr>
              <a:spLocks noChangeShapeType="1"/>
            </p:cNvSpPr>
            <p:nvPr/>
          </p:nvSpPr>
          <p:spPr bwMode="auto">
            <a:xfrm>
              <a:off x="2397" y="1624"/>
              <a:ext cx="72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Line 609"/>
            <p:cNvSpPr>
              <a:spLocks noChangeShapeType="1"/>
            </p:cNvSpPr>
            <p:nvPr/>
          </p:nvSpPr>
          <p:spPr bwMode="auto">
            <a:xfrm>
              <a:off x="2436" y="1490"/>
              <a:ext cx="1" cy="29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AutoShape 610"/>
            <p:cNvSpPr>
              <a:spLocks noChangeArrowheads="1"/>
            </p:cNvSpPr>
            <p:nvPr/>
          </p:nvSpPr>
          <p:spPr bwMode="auto">
            <a:xfrm>
              <a:off x="2474" y="1538"/>
              <a:ext cx="48" cy="34"/>
            </a:xfrm>
            <a:custGeom>
              <a:avLst/>
              <a:gdLst>
                <a:gd name="T0" fmla="*/ 0 w 48"/>
                <a:gd name="T1" fmla="*/ 0 h 34"/>
                <a:gd name="T2" fmla="*/ 0 w 48"/>
                <a:gd name="T3" fmla="*/ 34 h 34"/>
                <a:gd name="T4" fmla="*/ 48 w 48"/>
                <a:gd name="T5" fmla="*/ 34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0"/>
                  </a:moveTo>
                  <a:lnTo>
                    <a:pt x="0" y="34"/>
                  </a:lnTo>
                  <a:lnTo>
                    <a:pt x="48" y="3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" name="AutoShape 611"/>
            <p:cNvSpPr>
              <a:spLocks noChangeArrowheads="1"/>
            </p:cNvSpPr>
            <p:nvPr/>
          </p:nvSpPr>
          <p:spPr bwMode="auto">
            <a:xfrm>
              <a:off x="2211" y="1538"/>
              <a:ext cx="186" cy="34"/>
            </a:xfrm>
            <a:custGeom>
              <a:avLst/>
              <a:gdLst>
                <a:gd name="T0" fmla="*/ 0 w 186"/>
                <a:gd name="T1" fmla="*/ 34 h 34"/>
                <a:gd name="T2" fmla="*/ 186 w 186"/>
                <a:gd name="T3" fmla="*/ 34 h 34"/>
                <a:gd name="T4" fmla="*/ 186 w 186"/>
                <a:gd name="T5" fmla="*/ 0 h 34"/>
                <a:gd name="T6" fmla="*/ 0 60000 65536"/>
                <a:gd name="T7" fmla="*/ 0 60000 65536"/>
                <a:gd name="T8" fmla="*/ 0 60000 65536"/>
                <a:gd name="T9" fmla="*/ 0 w 186"/>
                <a:gd name="T10" fmla="*/ 0 h 34"/>
                <a:gd name="T11" fmla="*/ 186 w 186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6" h="34">
                  <a:moveTo>
                    <a:pt x="0" y="34"/>
                  </a:moveTo>
                  <a:lnTo>
                    <a:pt x="186" y="34"/>
                  </a:lnTo>
                  <a:lnTo>
                    <a:pt x="186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" name="Line 612"/>
            <p:cNvSpPr>
              <a:spLocks noChangeShapeType="1"/>
            </p:cNvSpPr>
            <p:nvPr/>
          </p:nvSpPr>
          <p:spPr bwMode="auto">
            <a:xfrm>
              <a:off x="2397" y="1538"/>
              <a:ext cx="77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Line 613"/>
            <p:cNvSpPr>
              <a:spLocks noChangeShapeType="1"/>
            </p:cNvSpPr>
            <p:nvPr/>
          </p:nvSpPr>
          <p:spPr bwMode="auto">
            <a:xfrm>
              <a:off x="2397" y="1519"/>
              <a:ext cx="77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Line 614"/>
            <p:cNvSpPr>
              <a:spLocks noChangeShapeType="1"/>
            </p:cNvSpPr>
            <p:nvPr/>
          </p:nvSpPr>
          <p:spPr bwMode="auto">
            <a:xfrm>
              <a:off x="2436" y="1385"/>
              <a:ext cx="1" cy="29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AutoShape 615"/>
            <p:cNvSpPr>
              <a:spLocks noChangeArrowheads="1"/>
            </p:cNvSpPr>
            <p:nvPr/>
          </p:nvSpPr>
          <p:spPr bwMode="auto">
            <a:xfrm>
              <a:off x="2474" y="1433"/>
              <a:ext cx="48" cy="29"/>
            </a:xfrm>
            <a:custGeom>
              <a:avLst/>
              <a:gdLst>
                <a:gd name="T0" fmla="*/ 0 w 48"/>
                <a:gd name="T1" fmla="*/ 0 h 29"/>
                <a:gd name="T2" fmla="*/ 0 w 48"/>
                <a:gd name="T3" fmla="*/ 29 h 29"/>
                <a:gd name="T4" fmla="*/ 48 w 48"/>
                <a:gd name="T5" fmla="*/ 29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0"/>
                  </a:moveTo>
                  <a:lnTo>
                    <a:pt x="0" y="29"/>
                  </a:lnTo>
                  <a:lnTo>
                    <a:pt x="48" y="29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" name="AutoShape 616"/>
            <p:cNvSpPr>
              <a:spLocks noChangeArrowheads="1"/>
            </p:cNvSpPr>
            <p:nvPr/>
          </p:nvSpPr>
          <p:spPr bwMode="auto">
            <a:xfrm>
              <a:off x="2139" y="1433"/>
              <a:ext cx="258" cy="29"/>
            </a:xfrm>
            <a:custGeom>
              <a:avLst/>
              <a:gdLst>
                <a:gd name="T0" fmla="*/ 0 w 258"/>
                <a:gd name="T1" fmla="*/ 29 h 29"/>
                <a:gd name="T2" fmla="*/ 258 w 258"/>
                <a:gd name="T3" fmla="*/ 29 h 29"/>
                <a:gd name="T4" fmla="*/ 258 w 258"/>
                <a:gd name="T5" fmla="*/ 0 h 29"/>
                <a:gd name="T6" fmla="*/ 0 60000 65536"/>
                <a:gd name="T7" fmla="*/ 0 60000 65536"/>
                <a:gd name="T8" fmla="*/ 0 60000 65536"/>
                <a:gd name="T9" fmla="*/ 0 w 258"/>
                <a:gd name="T10" fmla="*/ 0 h 29"/>
                <a:gd name="T11" fmla="*/ 258 w 25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8" h="29">
                  <a:moveTo>
                    <a:pt x="0" y="29"/>
                  </a:moveTo>
                  <a:lnTo>
                    <a:pt x="258" y="29"/>
                  </a:lnTo>
                  <a:lnTo>
                    <a:pt x="25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" name="Line 617"/>
            <p:cNvSpPr>
              <a:spLocks noChangeShapeType="1"/>
            </p:cNvSpPr>
            <p:nvPr/>
          </p:nvSpPr>
          <p:spPr bwMode="auto">
            <a:xfrm>
              <a:off x="2397" y="1433"/>
              <a:ext cx="77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Line 618"/>
            <p:cNvSpPr>
              <a:spLocks noChangeShapeType="1"/>
            </p:cNvSpPr>
            <p:nvPr/>
          </p:nvSpPr>
          <p:spPr bwMode="auto">
            <a:xfrm>
              <a:off x="2397" y="1414"/>
              <a:ext cx="77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Line 619"/>
            <p:cNvSpPr>
              <a:spLocks noChangeShapeType="1"/>
            </p:cNvSpPr>
            <p:nvPr/>
          </p:nvSpPr>
          <p:spPr bwMode="auto">
            <a:xfrm>
              <a:off x="2436" y="1280"/>
              <a:ext cx="1" cy="2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AutoShape 620"/>
            <p:cNvSpPr>
              <a:spLocks noChangeArrowheads="1"/>
            </p:cNvSpPr>
            <p:nvPr/>
          </p:nvSpPr>
          <p:spPr bwMode="auto">
            <a:xfrm>
              <a:off x="2474" y="1323"/>
              <a:ext cx="48" cy="34"/>
            </a:xfrm>
            <a:custGeom>
              <a:avLst/>
              <a:gdLst>
                <a:gd name="T0" fmla="*/ 0 w 48"/>
                <a:gd name="T1" fmla="*/ 0 h 34"/>
                <a:gd name="T2" fmla="*/ 0 w 48"/>
                <a:gd name="T3" fmla="*/ 34 h 34"/>
                <a:gd name="T4" fmla="*/ 48 w 48"/>
                <a:gd name="T5" fmla="*/ 34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0"/>
                  </a:moveTo>
                  <a:lnTo>
                    <a:pt x="0" y="34"/>
                  </a:lnTo>
                  <a:lnTo>
                    <a:pt x="48" y="3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" name="AutoShape 621"/>
            <p:cNvSpPr>
              <a:spLocks noChangeArrowheads="1"/>
            </p:cNvSpPr>
            <p:nvPr/>
          </p:nvSpPr>
          <p:spPr bwMode="auto">
            <a:xfrm>
              <a:off x="2068" y="1323"/>
              <a:ext cx="329" cy="34"/>
            </a:xfrm>
            <a:custGeom>
              <a:avLst/>
              <a:gdLst>
                <a:gd name="T0" fmla="*/ 0 w 329"/>
                <a:gd name="T1" fmla="*/ 34 h 34"/>
                <a:gd name="T2" fmla="*/ 329 w 329"/>
                <a:gd name="T3" fmla="*/ 34 h 34"/>
                <a:gd name="T4" fmla="*/ 329 w 329"/>
                <a:gd name="T5" fmla="*/ 0 h 34"/>
                <a:gd name="T6" fmla="*/ 0 60000 65536"/>
                <a:gd name="T7" fmla="*/ 0 60000 65536"/>
                <a:gd name="T8" fmla="*/ 0 60000 65536"/>
                <a:gd name="T9" fmla="*/ 0 w 329"/>
                <a:gd name="T10" fmla="*/ 0 h 34"/>
                <a:gd name="T11" fmla="*/ 329 w 329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9" h="34">
                  <a:moveTo>
                    <a:pt x="0" y="34"/>
                  </a:moveTo>
                  <a:lnTo>
                    <a:pt x="329" y="34"/>
                  </a:lnTo>
                  <a:lnTo>
                    <a:pt x="329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" name="Line 622"/>
            <p:cNvSpPr>
              <a:spLocks noChangeShapeType="1"/>
            </p:cNvSpPr>
            <p:nvPr/>
          </p:nvSpPr>
          <p:spPr bwMode="auto">
            <a:xfrm>
              <a:off x="2397" y="1323"/>
              <a:ext cx="77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Line 623"/>
            <p:cNvSpPr>
              <a:spLocks noChangeShapeType="1"/>
            </p:cNvSpPr>
            <p:nvPr/>
          </p:nvSpPr>
          <p:spPr bwMode="auto">
            <a:xfrm>
              <a:off x="2397" y="1304"/>
              <a:ext cx="77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Line 624"/>
            <p:cNvSpPr>
              <a:spLocks noChangeShapeType="1"/>
            </p:cNvSpPr>
            <p:nvPr/>
          </p:nvSpPr>
          <p:spPr bwMode="auto">
            <a:xfrm>
              <a:off x="2436" y="1175"/>
              <a:ext cx="1" cy="2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AutoShape 625"/>
            <p:cNvSpPr>
              <a:spLocks noChangeArrowheads="1"/>
            </p:cNvSpPr>
            <p:nvPr/>
          </p:nvSpPr>
          <p:spPr bwMode="auto">
            <a:xfrm>
              <a:off x="2474" y="1218"/>
              <a:ext cx="48" cy="34"/>
            </a:xfrm>
            <a:custGeom>
              <a:avLst/>
              <a:gdLst>
                <a:gd name="T0" fmla="*/ 0 w 48"/>
                <a:gd name="T1" fmla="*/ 0 h 34"/>
                <a:gd name="T2" fmla="*/ 0 w 48"/>
                <a:gd name="T3" fmla="*/ 34 h 34"/>
                <a:gd name="T4" fmla="*/ 48 w 48"/>
                <a:gd name="T5" fmla="*/ 34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0"/>
                  </a:moveTo>
                  <a:lnTo>
                    <a:pt x="0" y="34"/>
                  </a:lnTo>
                  <a:lnTo>
                    <a:pt x="48" y="3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" name="AutoShape 626"/>
            <p:cNvSpPr>
              <a:spLocks noChangeArrowheads="1"/>
            </p:cNvSpPr>
            <p:nvPr/>
          </p:nvSpPr>
          <p:spPr bwMode="auto">
            <a:xfrm>
              <a:off x="1996" y="1218"/>
              <a:ext cx="401" cy="34"/>
            </a:xfrm>
            <a:custGeom>
              <a:avLst/>
              <a:gdLst>
                <a:gd name="T0" fmla="*/ 0 w 401"/>
                <a:gd name="T1" fmla="*/ 34 h 34"/>
                <a:gd name="T2" fmla="*/ 401 w 401"/>
                <a:gd name="T3" fmla="*/ 34 h 34"/>
                <a:gd name="T4" fmla="*/ 401 w 401"/>
                <a:gd name="T5" fmla="*/ 0 h 34"/>
                <a:gd name="T6" fmla="*/ 0 60000 65536"/>
                <a:gd name="T7" fmla="*/ 0 60000 65536"/>
                <a:gd name="T8" fmla="*/ 0 60000 65536"/>
                <a:gd name="T9" fmla="*/ 0 w 401"/>
                <a:gd name="T10" fmla="*/ 0 h 34"/>
                <a:gd name="T11" fmla="*/ 401 w 401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1" h="34">
                  <a:moveTo>
                    <a:pt x="0" y="34"/>
                  </a:moveTo>
                  <a:lnTo>
                    <a:pt x="401" y="34"/>
                  </a:lnTo>
                  <a:lnTo>
                    <a:pt x="401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" name="Line 627"/>
            <p:cNvSpPr>
              <a:spLocks noChangeShapeType="1"/>
            </p:cNvSpPr>
            <p:nvPr/>
          </p:nvSpPr>
          <p:spPr bwMode="auto">
            <a:xfrm>
              <a:off x="2397" y="1218"/>
              <a:ext cx="77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Line 628"/>
            <p:cNvSpPr>
              <a:spLocks noChangeShapeType="1"/>
            </p:cNvSpPr>
            <p:nvPr/>
          </p:nvSpPr>
          <p:spPr bwMode="auto">
            <a:xfrm>
              <a:off x="2402" y="1199"/>
              <a:ext cx="72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Line 629"/>
            <p:cNvSpPr>
              <a:spLocks noChangeShapeType="1"/>
            </p:cNvSpPr>
            <p:nvPr/>
          </p:nvSpPr>
          <p:spPr bwMode="auto">
            <a:xfrm flipH="1">
              <a:off x="1144" y="3478"/>
              <a:ext cx="27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AutoShape 630"/>
            <p:cNvSpPr>
              <a:spLocks noChangeArrowheads="1"/>
            </p:cNvSpPr>
            <p:nvPr/>
          </p:nvSpPr>
          <p:spPr bwMode="auto">
            <a:xfrm>
              <a:off x="1093" y="3517"/>
              <a:ext cx="29" cy="47"/>
            </a:xfrm>
            <a:custGeom>
              <a:avLst/>
              <a:gdLst>
                <a:gd name="T0" fmla="*/ 29 w 29"/>
                <a:gd name="T1" fmla="*/ 0 h 47"/>
                <a:gd name="T2" fmla="*/ 0 w 29"/>
                <a:gd name="T3" fmla="*/ 0 h 47"/>
                <a:gd name="T4" fmla="*/ 0 w 29"/>
                <a:gd name="T5" fmla="*/ 47 h 47"/>
                <a:gd name="T6" fmla="*/ 0 60000 65536"/>
                <a:gd name="T7" fmla="*/ 0 60000 65536"/>
                <a:gd name="T8" fmla="*/ 0 60000 65536"/>
                <a:gd name="T9" fmla="*/ 0 w 29"/>
                <a:gd name="T10" fmla="*/ 0 h 47"/>
                <a:gd name="T11" fmla="*/ 29 w 29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7">
                  <a:moveTo>
                    <a:pt x="29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" name="AutoShape 631"/>
            <p:cNvSpPr>
              <a:spLocks noChangeArrowheads="1"/>
            </p:cNvSpPr>
            <p:nvPr/>
          </p:nvSpPr>
          <p:spPr bwMode="auto">
            <a:xfrm>
              <a:off x="1093" y="3392"/>
              <a:ext cx="29" cy="48"/>
            </a:xfrm>
            <a:custGeom>
              <a:avLst/>
              <a:gdLst>
                <a:gd name="T0" fmla="*/ 0 w 29"/>
                <a:gd name="T1" fmla="*/ 0 h 48"/>
                <a:gd name="T2" fmla="*/ 0 w 29"/>
                <a:gd name="T3" fmla="*/ 48 h 48"/>
                <a:gd name="T4" fmla="*/ 29 w 29"/>
                <a:gd name="T5" fmla="*/ 48 h 48"/>
                <a:gd name="T6" fmla="*/ 0 60000 65536"/>
                <a:gd name="T7" fmla="*/ 0 60000 65536"/>
                <a:gd name="T8" fmla="*/ 0 60000 65536"/>
                <a:gd name="T9" fmla="*/ 0 w 29"/>
                <a:gd name="T10" fmla="*/ 0 h 48"/>
                <a:gd name="T11" fmla="*/ 29 w 29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8">
                  <a:moveTo>
                    <a:pt x="0" y="0"/>
                  </a:moveTo>
                  <a:lnTo>
                    <a:pt x="0" y="48"/>
                  </a:lnTo>
                  <a:lnTo>
                    <a:pt x="29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" name="Line 632"/>
            <p:cNvSpPr>
              <a:spLocks noChangeShapeType="1"/>
            </p:cNvSpPr>
            <p:nvPr/>
          </p:nvSpPr>
          <p:spPr bwMode="auto">
            <a:xfrm>
              <a:off x="1122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Line 633"/>
            <p:cNvSpPr>
              <a:spLocks noChangeShapeType="1"/>
            </p:cNvSpPr>
            <p:nvPr/>
          </p:nvSpPr>
          <p:spPr bwMode="auto">
            <a:xfrm>
              <a:off x="1141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Line 634"/>
            <p:cNvSpPr>
              <a:spLocks noChangeShapeType="1"/>
            </p:cNvSpPr>
            <p:nvPr/>
          </p:nvSpPr>
          <p:spPr bwMode="auto">
            <a:xfrm flipH="1">
              <a:off x="1249" y="3478"/>
              <a:ext cx="28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AutoShape 635"/>
            <p:cNvSpPr>
              <a:spLocks noChangeArrowheads="1"/>
            </p:cNvSpPr>
            <p:nvPr/>
          </p:nvSpPr>
          <p:spPr bwMode="auto">
            <a:xfrm>
              <a:off x="1198" y="3517"/>
              <a:ext cx="34" cy="47"/>
            </a:xfrm>
            <a:custGeom>
              <a:avLst/>
              <a:gdLst>
                <a:gd name="T0" fmla="*/ 34 w 34"/>
                <a:gd name="T1" fmla="*/ 0 h 47"/>
                <a:gd name="T2" fmla="*/ 0 w 34"/>
                <a:gd name="T3" fmla="*/ 0 h 47"/>
                <a:gd name="T4" fmla="*/ 0 w 34"/>
                <a:gd name="T5" fmla="*/ 47 h 47"/>
                <a:gd name="T6" fmla="*/ 0 60000 65536"/>
                <a:gd name="T7" fmla="*/ 0 60000 65536"/>
                <a:gd name="T8" fmla="*/ 0 60000 65536"/>
                <a:gd name="T9" fmla="*/ 0 w 34"/>
                <a:gd name="T10" fmla="*/ 0 h 47"/>
                <a:gd name="T11" fmla="*/ 34 w 34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7">
                  <a:moveTo>
                    <a:pt x="34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" name="AutoShape 636"/>
            <p:cNvSpPr>
              <a:spLocks noChangeArrowheads="1"/>
            </p:cNvSpPr>
            <p:nvPr/>
          </p:nvSpPr>
          <p:spPr bwMode="auto">
            <a:xfrm>
              <a:off x="1198" y="3392"/>
              <a:ext cx="34" cy="48"/>
            </a:xfrm>
            <a:custGeom>
              <a:avLst/>
              <a:gdLst>
                <a:gd name="T0" fmla="*/ 0 w 34"/>
                <a:gd name="T1" fmla="*/ 0 h 48"/>
                <a:gd name="T2" fmla="*/ 0 w 34"/>
                <a:gd name="T3" fmla="*/ 48 h 48"/>
                <a:gd name="T4" fmla="*/ 34 w 34"/>
                <a:gd name="T5" fmla="*/ 48 h 48"/>
                <a:gd name="T6" fmla="*/ 0 60000 65536"/>
                <a:gd name="T7" fmla="*/ 0 60000 65536"/>
                <a:gd name="T8" fmla="*/ 0 60000 65536"/>
                <a:gd name="T9" fmla="*/ 0 w 34"/>
                <a:gd name="T10" fmla="*/ 0 h 48"/>
                <a:gd name="T11" fmla="*/ 34 w 3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8">
                  <a:moveTo>
                    <a:pt x="0" y="0"/>
                  </a:moveTo>
                  <a:lnTo>
                    <a:pt x="0" y="48"/>
                  </a:lnTo>
                  <a:lnTo>
                    <a:pt x="34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" name="Line 637"/>
            <p:cNvSpPr>
              <a:spLocks noChangeShapeType="1"/>
            </p:cNvSpPr>
            <p:nvPr/>
          </p:nvSpPr>
          <p:spPr bwMode="auto">
            <a:xfrm>
              <a:off x="1232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Line 638"/>
            <p:cNvSpPr>
              <a:spLocks noChangeShapeType="1"/>
            </p:cNvSpPr>
            <p:nvPr/>
          </p:nvSpPr>
          <p:spPr bwMode="auto">
            <a:xfrm>
              <a:off x="1251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Line 639"/>
            <p:cNvSpPr>
              <a:spLocks noChangeShapeType="1"/>
            </p:cNvSpPr>
            <p:nvPr/>
          </p:nvSpPr>
          <p:spPr bwMode="auto">
            <a:xfrm flipH="1">
              <a:off x="1354" y="3478"/>
              <a:ext cx="32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AutoShape 640"/>
            <p:cNvSpPr>
              <a:spLocks noChangeArrowheads="1"/>
            </p:cNvSpPr>
            <p:nvPr/>
          </p:nvSpPr>
          <p:spPr bwMode="auto">
            <a:xfrm>
              <a:off x="1303" y="3517"/>
              <a:ext cx="34" cy="47"/>
            </a:xfrm>
            <a:custGeom>
              <a:avLst/>
              <a:gdLst>
                <a:gd name="T0" fmla="*/ 34 w 34"/>
                <a:gd name="T1" fmla="*/ 0 h 47"/>
                <a:gd name="T2" fmla="*/ 0 w 34"/>
                <a:gd name="T3" fmla="*/ 0 h 47"/>
                <a:gd name="T4" fmla="*/ 0 w 34"/>
                <a:gd name="T5" fmla="*/ 47 h 47"/>
                <a:gd name="T6" fmla="*/ 0 60000 65536"/>
                <a:gd name="T7" fmla="*/ 0 60000 65536"/>
                <a:gd name="T8" fmla="*/ 0 60000 65536"/>
                <a:gd name="T9" fmla="*/ 0 w 34"/>
                <a:gd name="T10" fmla="*/ 0 h 47"/>
                <a:gd name="T11" fmla="*/ 34 w 34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7">
                  <a:moveTo>
                    <a:pt x="34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" name="AutoShape 641"/>
            <p:cNvSpPr>
              <a:spLocks noChangeArrowheads="1"/>
            </p:cNvSpPr>
            <p:nvPr/>
          </p:nvSpPr>
          <p:spPr bwMode="auto">
            <a:xfrm>
              <a:off x="1303" y="3392"/>
              <a:ext cx="34" cy="48"/>
            </a:xfrm>
            <a:custGeom>
              <a:avLst/>
              <a:gdLst>
                <a:gd name="T0" fmla="*/ 0 w 34"/>
                <a:gd name="T1" fmla="*/ 0 h 48"/>
                <a:gd name="T2" fmla="*/ 0 w 34"/>
                <a:gd name="T3" fmla="*/ 48 h 48"/>
                <a:gd name="T4" fmla="*/ 34 w 34"/>
                <a:gd name="T5" fmla="*/ 48 h 48"/>
                <a:gd name="T6" fmla="*/ 0 60000 65536"/>
                <a:gd name="T7" fmla="*/ 0 60000 65536"/>
                <a:gd name="T8" fmla="*/ 0 60000 65536"/>
                <a:gd name="T9" fmla="*/ 0 w 34"/>
                <a:gd name="T10" fmla="*/ 0 h 48"/>
                <a:gd name="T11" fmla="*/ 34 w 3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8">
                  <a:moveTo>
                    <a:pt x="0" y="0"/>
                  </a:moveTo>
                  <a:lnTo>
                    <a:pt x="0" y="48"/>
                  </a:lnTo>
                  <a:lnTo>
                    <a:pt x="34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" name="Line 642"/>
            <p:cNvSpPr>
              <a:spLocks noChangeShapeType="1"/>
            </p:cNvSpPr>
            <p:nvPr/>
          </p:nvSpPr>
          <p:spPr bwMode="auto">
            <a:xfrm>
              <a:off x="1337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Line 643"/>
            <p:cNvSpPr>
              <a:spLocks noChangeShapeType="1"/>
            </p:cNvSpPr>
            <p:nvPr/>
          </p:nvSpPr>
          <p:spPr bwMode="auto">
            <a:xfrm>
              <a:off x="1356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Line 644"/>
            <p:cNvSpPr>
              <a:spLocks noChangeShapeType="1"/>
            </p:cNvSpPr>
            <p:nvPr/>
          </p:nvSpPr>
          <p:spPr bwMode="auto">
            <a:xfrm flipH="1">
              <a:off x="1459" y="3478"/>
              <a:ext cx="33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AutoShape 645"/>
            <p:cNvSpPr>
              <a:spLocks noChangeArrowheads="1"/>
            </p:cNvSpPr>
            <p:nvPr/>
          </p:nvSpPr>
          <p:spPr bwMode="auto">
            <a:xfrm>
              <a:off x="1413" y="3517"/>
              <a:ext cx="29" cy="47"/>
            </a:xfrm>
            <a:custGeom>
              <a:avLst/>
              <a:gdLst>
                <a:gd name="T0" fmla="*/ 29 w 29"/>
                <a:gd name="T1" fmla="*/ 0 h 47"/>
                <a:gd name="T2" fmla="*/ 0 w 29"/>
                <a:gd name="T3" fmla="*/ 0 h 47"/>
                <a:gd name="T4" fmla="*/ 0 w 29"/>
                <a:gd name="T5" fmla="*/ 47 h 47"/>
                <a:gd name="T6" fmla="*/ 0 60000 65536"/>
                <a:gd name="T7" fmla="*/ 0 60000 65536"/>
                <a:gd name="T8" fmla="*/ 0 60000 65536"/>
                <a:gd name="T9" fmla="*/ 0 w 29"/>
                <a:gd name="T10" fmla="*/ 0 h 47"/>
                <a:gd name="T11" fmla="*/ 29 w 29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7">
                  <a:moveTo>
                    <a:pt x="29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" name="AutoShape 646"/>
            <p:cNvSpPr>
              <a:spLocks noChangeArrowheads="1"/>
            </p:cNvSpPr>
            <p:nvPr/>
          </p:nvSpPr>
          <p:spPr bwMode="auto">
            <a:xfrm>
              <a:off x="1413" y="3392"/>
              <a:ext cx="29" cy="48"/>
            </a:xfrm>
            <a:custGeom>
              <a:avLst/>
              <a:gdLst>
                <a:gd name="T0" fmla="*/ 0 w 29"/>
                <a:gd name="T1" fmla="*/ 0 h 48"/>
                <a:gd name="T2" fmla="*/ 0 w 29"/>
                <a:gd name="T3" fmla="*/ 48 h 48"/>
                <a:gd name="T4" fmla="*/ 29 w 29"/>
                <a:gd name="T5" fmla="*/ 48 h 48"/>
                <a:gd name="T6" fmla="*/ 0 60000 65536"/>
                <a:gd name="T7" fmla="*/ 0 60000 65536"/>
                <a:gd name="T8" fmla="*/ 0 60000 65536"/>
                <a:gd name="T9" fmla="*/ 0 w 29"/>
                <a:gd name="T10" fmla="*/ 0 h 48"/>
                <a:gd name="T11" fmla="*/ 29 w 29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8">
                  <a:moveTo>
                    <a:pt x="0" y="0"/>
                  </a:moveTo>
                  <a:lnTo>
                    <a:pt x="0" y="48"/>
                  </a:lnTo>
                  <a:lnTo>
                    <a:pt x="29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" name="Line 647"/>
            <p:cNvSpPr>
              <a:spLocks noChangeShapeType="1"/>
            </p:cNvSpPr>
            <p:nvPr/>
          </p:nvSpPr>
          <p:spPr bwMode="auto">
            <a:xfrm>
              <a:off x="1442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Line 648"/>
            <p:cNvSpPr>
              <a:spLocks noChangeShapeType="1"/>
            </p:cNvSpPr>
            <p:nvPr/>
          </p:nvSpPr>
          <p:spPr bwMode="auto">
            <a:xfrm>
              <a:off x="1461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Line 649"/>
            <p:cNvSpPr>
              <a:spLocks noChangeShapeType="1"/>
            </p:cNvSpPr>
            <p:nvPr/>
          </p:nvSpPr>
          <p:spPr bwMode="auto">
            <a:xfrm flipH="1">
              <a:off x="1569" y="3478"/>
              <a:ext cx="28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AutoShape 650"/>
            <p:cNvSpPr>
              <a:spLocks noChangeArrowheads="1"/>
            </p:cNvSpPr>
            <p:nvPr/>
          </p:nvSpPr>
          <p:spPr bwMode="auto">
            <a:xfrm>
              <a:off x="1518" y="3517"/>
              <a:ext cx="34" cy="47"/>
            </a:xfrm>
            <a:custGeom>
              <a:avLst/>
              <a:gdLst>
                <a:gd name="T0" fmla="*/ 34 w 34"/>
                <a:gd name="T1" fmla="*/ 0 h 47"/>
                <a:gd name="T2" fmla="*/ 0 w 34"/>
                <a:gd name="T3" fmla="*/ 0 h 47"/>
                <a:gd name="T4" fmla="*/ 0 w 34"/>
                <a:gd name="T5" fmla="*/ 47 h 47"/>
                <a:gd name="T6" fmla="*/ 0 60000 65536"/>
                <a:gd name="T7" fmla="*/ 0 60000 65536"/>
                <a:gd name="T8" fmla="*/ 0 60000 65536"/>
                <a:gd name="T9" fmla="*/ 0 w 34"/>
                <a:gd name="T10" fmla="*/ 0 h 47"/>
                <a:gd name="T11" fmla="*/ 34 w 34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7">
                  <a:moveTo>
                    <a:pt x="34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" name="AutoShape 651"/>
            <p:cNvSpPr>
              <a:spLocks noChangeArrowheads="1"/>
            </p:cNvSpPr>
            <p:nvPr/>
          </p:nvSpPr>
          <p:spPr bwMode="auto">
            <a:xfrm>
              <a:off x="1518" y="3392"/>
              <a:ext cx="34" cy="48"/>
            </a:xfrm>
            <a:custGeom>
              <a:avLst/>
              <a:gdLst>
                <a:gd name="T0" fmla="*/ 0 w 34"/>
                <a:gd name="T1" fmla="*/ 0 h 48"/>
                <a:gd name="T2" fmla="*/ 0 w 34"/>
                <a:gd name="T3" fmla="*/ 48 h 48"/>
                <a:gd name="T4" fmla="*/ 34 w 34"/>
                <a:gd name="T5" fmla="*/ 48 h 48"/>
                <a:gd name="T6" fmla="*/ 0 60000 65536"/>
                <a:gd name="T7" fmla="*/ 0 60000 65536"/>
                <a:gd name="T8" fmla="*/ 0 60000 65536"/>
                <a:gd name="T9" fmla="*/ 0 w 34"/>
                <a:gd name="T10" fmla="*/ 0 h 48"/>
                <a:gd name="T11" fmla="*/ 34 w 3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8">
                  <a:moveTo>
                    <a:pt x="0" y="0"/>
                  </a:moveTo>
                  <a:lnTo>
                    <a:pt x="0" y="48"/>
                  </a:lnTo>
                  <a:lnTo>
                    <a:pt x="34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" name="Line 652"/>
            <p:cNvSpPr>
              <a:spLocks noChangeShapeType="1"/>
            </p:cNvSpPr>
            <p:nvPr/>
          </p:nvSpPr>
          <p:spPr bwMode="auto">
            <a:xfrm>
              <a:off x="1552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Line 653"/>
            <p:cNvSpPr>
              <a:spLocks noChangeShapeType="1"/>
            </p:cNvSpPr>
            <p:nvPr/>
          </p:nvSpPr>
          <p:spPr bwMode="auto">
            <a:xfrm>
              <a:off x="1571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Line 654"/>
            <p:cNvSpPr>
              <a:spLocks noChangeShapeType="1"/>
            </p:cNvSpPr>
            <p:nvPr/>
          </p:nvSpPr>
          <p:spPr bwMode="auto">
            <a:xfrm flipH="1">
              <a:off x="2658" y="3478"/>
              <a:ext cx="28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AutoShape 655"/>
            <p:cNvSpPr>
              <a:spLocks noChangeArrowheads="1"/>
            </p:cNvSpPr>
            <p:nvPr/>
          </p:nvSpPr>
          <p:spPr bwMode="auto">
            <a:xfrm>
              <a:off x="2608" y="3517"/>
              <a:ext cx="28" cy="47"/>
            </a:xfrm>
            <a:custGeom>
              <a:avLst/>
              <a:gdLst>
                <a:gd name="T0" fmla="*/ 28 w 28"/>
                <a:gd name="T1" fmla="*/ 0 h 47"/>
                <a:gd name="T2" fmla="*/ 0 w 28"/>
                <a:gd name="T3" fmla="*/ 0 h 47"/>
                <a:gd name="T4" fmla="*/ 0 w 28"/>
                <a:gd name="T5" fmla="*/ 47 h 47"/>
                <a:gd name="T6" fmla="*/ 0 60000 65536"/>
                <a:gd name="T7" fmla="*/ 0 60000 65536"/>
                <a:gd name="T8" fmla="*/ 0 60000 65536"/>
                <a:gd name="T9" fmla="*/ 0 w 28"/>
                <a:gd name="T10" fmla="*/ 0 h 47"/>
                <a:gd name="T11" fmla="*/ 28 w 28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7">
                  <a:moveTo>
                    <a:pt x="28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" name="AutoShape 656"/>
            <p:cNvSpPr>
              <a:spLocks noChangeArrowheads="1"/>
            </p:cNvSpPr>
            <p:nvPr/>
          </p:nvSpPr>
          <p:spPr bwMode="auto">
            <a:xfrm>
              <a:off x="2608" y="3392"/>
              <a:ext cx="28" cy="48"/>
            </a:xfrm>
            <a:custGeom>
              <a:avLst/>
              <a:gdLst>
                <a:gd name="T0" fmla="*/ 0 w 28"/>
                <a:gd name="T1" fmla="*/ 0 h 48"/>
                <a:gd name="T2" fmla="*/ 0 w 28"/>
                <a:gd name="T3" fmla="*/ 48 h 48"/>
                <a:gd name="T4" fmla="*/ 28 w 28"/>
                <a:gd name="T5" fmla="*/ 48 h 48"/>
                <a:gd name="T6" fmla="*/ 0 60000 65536"/>
                <a:gd name="T7" fmla="*/ 0 60000 65536"/>
                <a:gd name="T8" fmla="*/ 0 60000 65536"/>
                <a:gd name="T9" fmla="*/ 0 w 28"/>
                <a:gd name="T10" fmla="*/ 0 h 48"/>
                <a:gd name="T11" fmla="*/ 28 w 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8">
                  <a:moveTo>
                    <a:pt x="0" y="0"/>
                  </a:moveTo>
                  <a:lnTo>
                    <a:pt x="0" y="48"/>
                  </a:lnTo>
                  <a:lnTo>
                    <a:pt x="28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" name="Line 657"/>
            <p:cNvSpPr>
              <a:spLocks noChangeShapeType="1"/>
            </p:cNvSpPr>
            <p:nvPr/>
          </p:nvSpPr>
          <p:spPr bwMode="auto">
            <a:xfrm>
              <a:off x="2636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Line 658"/>
            <p:cNvSpPr>
              <a:spLocks noChangeShapeType="1"/>
            </p:cNvSpPr>
            <p:nvPr/>
          </p:nvSpPr>
          <p:spPr bwMode="auto">
            <a:xfrm>
              <a:off x="2655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Line 659"/>
            <p:cNvSpPr>
              <a:spLocks noChangeShapeType="1"/>
            </p:cNvSpPr>
            <p:nvPr/>
          </p:nvSpPr>
          <p:spPr bwMode="auto">
            <a:xfrm flipH="1">
              <a:off x="2763" y="3478"/>
              <a:ext cx="28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AutoShape 660"/>
            <p:cNvSpPr>
              <a:spLocks noChangeArrowheads="1"/>
            </p:cNvSpPr>
            <p:nvPr/>
          </p:nvSpPr>
          <p:spPr bwMode="auto">
            <a:xfrm>
              <a:off x="2713" y="3517"/>
              <a:ext cx="33" cy="47"/>
            </a:xfrm>
            <a:custGeom>
              <a:avLst/>
              <a:gdLst>
                <a:gd name="T0" fmla="*/ 33 w 33"/>
                <a:gd name="T1" fmla="*/ 0 h 47"/>
                <a:gd name="T2" fmla="*/ 0 w 33"/>
                <a:gd name="T3" fmla="*/ 0 h 47"/>
                <a:gd name="T4" fmla="*/ 0 w 33"/>
                <a:gd name="T5" fmla="*/ 47 h 47"/>
                <a:gd name="T6" fmla="*/ 0 60000 65536"/>
                <a:gd name="T7" fmla="*/ 0 60000 65536"/>
                <a:gd name="T8" fmla="*/ 0 60000 65536"/>
                <a:gd name="T9" fmla="*/ 0 w 33"/>
                <a:gd name="T10" fmla="*/ 0 h 47"/>
                <a:gd name="T11" fmla="*/ 33 w 33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47">
                  <a:moveTo>
                    <a:pt x="33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" name="AutoShape 661"/>
            <p:cNvSpPr>
              <a:spLocks noChangeArrowheads="1"/>
            </p:cNvSpPr>
            <p:nvPr/>
          </p:nvSpPr>
          <p:spPr bwMode="auto">
            <a:xfrm>
              <a:off x="2713" y="3392"/>
              <a:ext cx="33" cy="48"/>
            </a:xfrm>
            <a:custGeom>
              <a:avLst/>
              <a:gdLst>
                <a:gd name="T0" fmla="*/ 0 w 33"/>
                <a:gd name="T1" fmla="*/ 0 h 48"/>
                <a:gd name="T2" fmla="*/ 0 w 33"/>
                <a:gd name="T3" fmla="*/ 48 h 48"/>
                <a:gd name="T4" fmla="*/ 33 w 33"/>
                <a:gd name="T5" fmla="*/ 48 h 48"/>
                <a:gd name="T6" fmla="*/ 0 60000 65536"/>
                <a:gd name="T7" fmla="*/ 0 60000 65536"/>
                <a:gd name="T8" fmla="*/ 0 60000 65536"/>
                <a:gd name="T9" fmla="*/ 0 w 33"/>
                <a:gd name="T10" fmla="*/ 0 h 48"/>
                <a:gd name="T11" fmla="*/ 33 w 33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48">
                  <a:moveTo>
                    <a:pt x="0" y="0"/>
                  </a:moveTo>
                  <a:lnTo>
                    <a:pt x="0" y="48"/>
                  </a:lnTo>
                  <a:lnTo>
                    <a:pt x="33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" name="Line 662"/>
            <p:cNvSpPr>
              <a:spLocks noChangeShapeType="1"/>
            </p:cNvSpPr>
            <p:nvPr/>
          </p:nvSpPr>
          <p:spPr bwMode="auto">
            <a:xfrm>
              <a:off x="2746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Line 663"/>
            <p:cNvSpPr>
              <a:spLocks noChangeShapeType="1"/>
            </p:cNvSpPr>
            <p:nvPr/>
          </p:nvSpPr>
          <p:spPr bwMode="auto">
            <a:xfrm>
              <a:off x="2765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Line 664"/>
            <p:cNvSpPr>
              <a:spLocks noChangeShapeType="1"/>
            </p:cNvSpPr>
            <p:nvPr/>
          </p:nvSpPr>
          <p:spPr bwMode="auto">
            <a:xfrm flipH="1">
              <a:off x="2868" y="3478"/>
              <a:ext cx="33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AutoShape 665"/>
            <p:cNvSpPr>
              <a:spLocks noChangeArrowheads="1"/>
            </p:cNvSpPr>
            <p:nvPr/>
          </p:nvSpPr>
          <p:spPr bwMode="auto">
            <a:xfrm>
              <a:off x="2818" y="3517"/>
              <a:ext cx="33" cy="47"/>
            </a:xfrm>
            <a:custGeom>
              <a:avLst/>
              <a:gdLst>
                <a:gd name="T0" fmla="*/ 33 w 33"/>
                <a:gd name="T1" fmla="*/ 0 h 47"/>
                <a:gd name="T2" fmla="*/ 0 w 33"/>
                <a:gd name="T3" fmla="*/ 0 h 47"/>
                <a:gd name="T4" fmla="*/ 0 w 33"/>
                <a:gd name="T5" fmla="*/ 47 h 47"/>
                <a:gd name="T6" fmla="*/ 0 60000 65536"/>
                <a:gd name="T7" fmla="*/ 0 60000 65536"/>
                <a:gd name="T8" fmla="*/ 0 60000 65536"/>
                <a:gd name="T9" fmla="*/ 0 w 33"/>
                <a:gd name="T10" fmla="*/ 0 h 47"/>
                <a:gd name="T11" fmla="*/ 33 w 33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47">
                  <a:moveTo>
                    <a:pt x="33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" name="AutoShape 666"/>
            <p:cNvSpPr>
              <a:spLocks noChangeArrowheads="1"/>
            </p:cNvSpPr>
            <p:nvPr/>
          </p:nvSpPr>
          <p:spPr bwMode="auto">
            <a:xfrm>
              <a:off x="2818" y="3392"/>
              <a:ext cx="33" cy="48"/>
            </a:xfrm>
            <a:custGeom>
              <a:avLst/>
              <a:gdLst>
                <a:gd name="T0" fmla="*/ 0 w 33"/>
                <a:gd name="T1" fmla="*/ 0 h 48"/>
                <a:gd name="T2" fmla="*/ 0 w 33"/>
                <a:gd name="T3" fmla="*/ 48 h 48"/>
                <a:gd name="T4" fmla="*/ 33 w 33"/>
                <a:gd name="T5" fmla="*/ 48 h 48"/>
                <a:gd name="T6" fmla="*/ 0 60000 65536"/>
                <a:gd name="T7" fmla="*/ 0 60000 65536"/>
                <a:gd name="T8" fmla="*/ 0 60000 65536"/>
                <a:gd name="T9" fmla="*/ 0 w 33"/>
                <a:gd name="T10" fmla="*/ 0 h 48"/>
                <a:gd name="T11" fmla="*/ 33 w 33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48">
                  <a:moveTo>
                    <a:pt x="0" y="0"/>
                  </a:moveTo>
                  <a:lnTo>
                    <a:pt x="0" y="48"/>
                  </a:lnTo>
                  <a:lnTo>
                    <a:pt x="33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" name="Line 667"/>
            <p:cNvSpPr>
              <a:spLocks noChangeShapeType="1"/>
            </p:cNvSpPr>
            <p:nvPr/>
          </p:nvSpPr>
          <p:spPr bwMode="auto">
            <a:xfrm>
              <a:off x="2851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Line 668"/>
            <p:cNvSpPr>
              <a:spLocks noChangeShapeType="1"/>
            </p:cNvSpPr>
            <p:nvPr/>
          </p:nvSpPr>
          <p:spPr bwMode="auto">
            <a:xfrm>
              <a:off x="2870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Line 669"/>
            <p:cNvSpPr>
              <a:spLocks noChangeShapeType="1"/>
            </p:cNvSpPr>
            <p:nvPr/>
          </p:nvSpPr>
          <p:spPr bwMode="auto">
            <a:xfrm flipH="1">
              <a:off x="2973" y="3478"/>
              <a:ext cx="33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AutoShape 670"/>
            <p:cNvSpPr>
              <a:spLocks noChangeArrowheads="1"/>
            </p:cNvSpPr>
            <p:nvPr/>
          </p:nvSpPr>
          <p:spPr bwMode="auto">
            <a:xfrm>
              <a:off x="2928" y="3517"/>
              <a:ext cx="28" cy="47"/>
            </a:xfrm>
            <a:custGeom>
              <a:avLst/>
              <a:gdLst>
                <a:gd name="T0" fmla="*/ 28 w 28"/>
                <a:gd name="T1" fmla="*/ 0 h 47"/>
                <a:gd name="T2" fmla="*/ 0 w 28"/>
                <a:gd name="T3" fmla="*/ 0 h 47"/>
                <a:gd name="T4" fmla="*/ 0 w 28"/>
                <a:gd name="T5" fmla="*/ 47 h 47"/>
                <a:gd name="T6" fmla="*/ 0 60000 65536"/>
                <a:gd name="T7" fmla="*/ 0 60000 65536"/>
                <a:gd name="T8" fmla="*/ 0 60000 65536"/>
                <a:gd name="T9" fmla="*/ 0 w 28"/>
                <a:gd name="T10" fmla="*/ 0 h 47"/>
                <a:gd name="T11" fmla="*/ 28 w 28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7">
                  <a:moveTo>
                    <a:pt x="28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" name="AutoShape 671"/>
            <p:cNvSpPr>
              <a:spLocks noChangeArrowheads="1"/>
            </p:cNvSpPr>
            <p:nvPr/>
          </p:nvSpPr>
          <p:spPr bwMode="auto">
            <a:xfrm>
              <a:off x="2928" y="3392"/>
              <a:ext cx="28" cy="48"/>
            </a:xfrm>
            <a:custGeom>
              <a:avLst/>
              <a:gdLst>
                <a:gd name="T0" fmla="*/ 0 w 28"/>
                <a:gd name="T1" fmla="*/ 0 h 48"/>
                <a:gd name="T2" fmla="*/ 0 w 28"/>
                <a:gd name="T3" fmla="*/ 48 h 48"/>
                <a:gd name="T4" fmla="*/ 28 w 28"/>
                <a:gd name="T5" fmla="*/ 48 h 48"/>
                <a:gd name="T6" fmla="*/ 0 60000 65536"/>
                <a:gd name="T7" fmla="*/ 0 60000 65536"/>
                <a:gd name="T8" fmla="*/ 0 60000 65536"/>
                <a:gd name="T9" fmla="*/ 0 w 28"/>
                <a:gd name="T10" fmla="*/ 0 h 48"/>
                <a:gd name="T11" fmla="*/ 28 w 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48">
                  <a:moveTo>
                    <a:pt x="0" y="0"/>
                  </a:moveTo>
                  <a:lnTo>
                    <a:pt x="0" y="48"/>
                  </a:lnTo>
                  <a:lnTo>
                    <a:pt x="28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" name="Line 672"/>
            <p:cNvSpPr>
              <a:spLocks noChangeShapeType="1"/>
            </p:cNvSpPr>
            <p:nvPr/>
          </p:nvSpPr>
          <p:spPr bwMode="auto">
            <a:xfrm>
              <a:off x="2956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Line 673"/>
            <p:cNvSpPr>
              <a:spLocks noChangeShapeType="1"/>
            </p:cNvSpPr>
            <p:nvPr/>
          </p:nvSpPr>
          <p:spPr bwMode="auto">
            <a:xfrm>
              <a:off x="2975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Line 674"/>
            <p:cNvSpPr>
              <a:spLocks noChangeShapeType="1"/>
            </p:cNvSpPr>
            <p:nvPr/>
          </p:nvSpPr>
          <p:spPr bwMode="auto">
            <a:xfrm flipH="1">
              <a:off x="3083" y="3478"/>
              <a:ext cx="28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0" name="AutoShape 675"/>
            <p:cNvSpPr>
              <a:spLocks noChangeArrowheads="1"/>
            </p:cNvSpPr>
            <p:nvPr/>
          </p:nvSpPr>
          <p:spPr bwMode="auto">
            <a:xfrm>
              <a:off x="3033" y="3517"/>
              <a:ext cx="33" cy="47"/>
            </a:xfrm>
            <a:custGeom>
              <a:avLst/>
              <a:gdLst>
                <a:gd name="T0" fmla="*/ 33 w 33"/>
                <a:gd name="T1" fmla="*/ 0 h 47"/>
                <a:gd name="T2" fmla="*/ 0 w 33"/>
                <a:gd name="T3" fmla="*/ 0 h 47"/>
                <a:gd name="T4" fmla="*/ 0 w 33"/>
                <a:gd name="T5" fmla="*/ 47 h 47"/>
                <a:gd name="T6" fmla="*/ 0 60000 65536"/>
                <a:gd name="T7" fmla="*/ 0 60000 65536"/>
                <a:gd name="T8" fmla="*/ 0 60000 65536"/>
                <a:gd name="T9" fmla="*/ 0 w 33"/>
                <a:gd name="T10" fmla="*/ 0 h 47"/>
                <a:gd name="T11" fmla="*/ 33 w 33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47">
                  <a:moveTo>
                    <a:pt x="33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" name="AutoShape 676"/>
            <p:cNvSpPr>
              <a:spLocks noChangeArrowheads="1"/>
            </p:cNvSpPr>
            <p:nvPr/>
          </p:nvSpPr>
          <p:spPr bwMode="auto">
            <a:xfrm>
              <a:off x="3033" y="3392"/>
              <a:ext cx="33" cy="48"/>
            </a:xfrm>
            <a:custGeom>
              <a:avLst/>
              <a:gdLst>
                <a:gd name="T0" fmla="*/ 0 w 33"/>
                <a:gd name="T1" fmla="*/ 0 h 48"/>
                <a:gd name="T2" fmla="*/ 0 w 33"/>
                <a:gd name="T3" fmla="*/ 48 h 48"/>
                <a:gd name="T4" fmla="*/ 33 w 33"/>
                <a:gd name="T5" fmla="*/ 48 h 48"/>
                <a:gd name="T6" fmla="*/ 0 60000 65536"/>
                <a:gd name="T7" fmla="*/ 0 60000 65536"/>
                <a:gd name="T8" fmla="*/ 0 60000 65536"/>
                <a:gd name="T9" fmla="*/ 0 w 33"/>
                <a:gd name="T10" fmla="*/ 0 h 48"/>
                <a:gd name="T11" fmla="*/ 33 w 33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48">
                  <a:moveTo>
                    <a:pt x="0" y="0"/>
                  </a:moveTo>
                  <a:lnTo>
                    <a:pt x="0" y="48"/>
                  </a:lnTo>
                  <a:lnTo>
                    <a:pt x="33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" name="Line 677"/>
            <p:cNvSpPr>
              <a:spLocks noChangeShapeType="1"/>
            </p:cNvSpPr>
            <p:nvPr/>
          </p:nvSpPr>
          <p:spPr bwMode="auto">
            <a:xfrm>
              <a:off x="3066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Line 678"/>
            <p:cNvSpPr>
              <a:spLocks noChangeShapeType="1"/>
            </p:cNvSpPr>
            <p:nvPr/>
          </p:nvSpPr>
          <p:spPr bwMode="auto">
            <a:xfrm>
              <a:off x="3085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Line 679"/>
            <p:cNvSpPr>
              <a:spLocks noChangeShapeType="1"/>
            </p:cNvSpPr>
            <p:nvPr/>
          </p:nvSpPr>
          <p:spPr bwMode="auto">
            <a:xfrm flipH="1">
              <a:off x="4154" y="3478"/>
              <a:ext cx="27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AutoShape 680"/>
            <p:cNvSpPr>
              <a:spLocks noChangeArrowheads="1"/>
            </p:cNvSpPr>
            <p:nvPr/>
          </p:nvSpPr>
          <p:spPr bwMode="auto">
            <a:xfrm>
              <a:off x="4103" y="3517"/>
              <a:ext cx="29" cy="47"/>
            </a:xfrm>
            <a:custGeom>
              <a:avLst/>
              <a:gdLst>
                <a:gd name="T0" fmla="*/ 29 w 29"/>
                <a:gd name="T1" fmla="*/ 0 h 47"/>
                <a:gd name="T2" fmla="*/ 0 w 29"/>
                <a:gd name="T3" fmla="*/ 0 h 47"/>
                <a:gd name="T4" fmla="*/ 0 w 29"/>
                <a:gd name="T5" fmla="*/ 47 h 47"/>
                <a:gd name="T6" fmla="*/ 0 60000 65536"/>
                <a:gd name="T7" fmla="*/ 0 60000 65536"/>
                <a:gd name="T8" fmla="*/ 0 60000 65536"/>
                <a:gd name="T9" fmla="*/ 0 w 29"/>
                <a:gd name="T10" fmla="*/ 0 h 47"/>
                <a:gd name="T11" fmla="*/ 29 w 29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7">
                  <a:moveTo>
                    <a:pt x="29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AutoShape 681"/>
            <p:cNvSpPr>
              <a:spLocks noChangeArrowheads="1"/>
            </p:cNvSpPr>
            <p:nvPr/>
          </p:nvSpPr>
          <p:spPr bwMode="auto">
            <a:xfrm>
              <a:off x="4103" y="3392"/>
              <a:ext cx="29" cy="48"/>
            </a:xfrm>
            <a:custGeom>
              <a:avLst/>
              <a:gdLst>
                <a:gd name="T0" fmla="*/ 0 w 29"/>
                <a:gd name="T1" fmla="*/ 0 h 48"/>
                <a:gd name="T2" fmla="*/ 0 w 29"/>
                <a:gd name="T3" fmla="*/ 48 h 48"/>
                <a:gd name="T4" fmla="*/ 29 w 29"/>
                <a:gd name="T5" fmla="*/ 48 h 48"/>
                <a:gd name="T6" fmla="*/ 0 60000 65536"/>
                <a:gd name="T7" fmla="*/ 0 60000 65536"/>
                <a:gd name="T8" fmla="*/ 0 60000 65536"/>
                <a:gd name="T9" fmla="*/ 0 w 29"/>
                <a:gd name="T10" fmla="*/ 0 h 48"/>
                <a:gd name="T11" fmla="*/ 29 w 29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8">
                  <a:moveTo>
                    <a:pt x="0" y="0"/>
                  </a:moveTo>
                  <a:lnTo>
                    <a:pt x="0" y="48"/>
                  </a:lnTo>
                  <a:lnTo>
                    <a:pt x="29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Line 682"/>
            <p:cNvSpPr>
              <a:spLocks noChangeShapeType="1"/>
            </p:cNvSpPr>
            <p:nvPr/>
          </p:nvSpPr>
          <p:spPr bwMode="auto">
            <a:xfrm>
              <a:off x="4132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Line 683"/>
            <p:cNvSpPr>
              <a:spLocks noChangeShapeType="1"/>
            </p:cNvSpPr>
            <p:nvPr/>
          </p:nvSpPr>
          <p:spPr bwMode="auto">
            <a:xfrm>
              <a:off x="4151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Line 684"/>
            <p:cNvSpPr>
              <a:spLocks noChangeShapeType="1"/>
            </p:cNvSpPr>
            <p:nvPr/>
          </p:nvSpPr>
          <p:spPr bwMode="auto">
            <a:xfrm flipH="1">
              <a:off x="4259" y="3478"/>
              <a:ext cx="28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AutoShape 685"/>
            <p:cNvSpPr>
              <a:spLocks noChangeArrowheads="1"/>
            </p:cNvSpPr>
            <p:nvPr/>
          </p:nvSpPr>
          <p:spPr bwMode="auto">
            <a:xfrm>
              <a:off x="4208" y="3517"/>
              <a:ext cx="34" cy="47"/>
            </a:xfrm>
            <a:custGeom>
              <a:avLst/>
              <a:gdLst>
                <a:gd name="T0" fmla="*/ 34 w 34"/>
                <a:gd name="T1" fmla="*/ 0 h 47"/>
                <a:gd name="T2" fmla="*/ 0 w 34"/>
                <a:gd name="T3" fmla="*/ 0 h 47"/>
                <a:gd name="T4" fmla="*/ 0 w 34"/>
                <a:gd name="T5" fmla="*/ 47 h 47"/>
                <a:gd name="T6" fmla="*/ 0 60000 65536"/>
                <a:gd name="T7" fmla="*/ 0 60000 65536"/>
                <a:gd name="T8" fmla="*/ 0 60000 65536"/>
                <a:gd name="T9" fmla="*/ 0 w 34"/>
                <a:gd name="T10" fmla="*/ 0 h 47"/>
                <a:gd name="T11" fmla="*/ 34 w 34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7">
                  <a:moveTo>
                    <a:pt x="34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1" name="AutoShape 686"/>
            <p:cNvSpPr>
              <a:spLocks noChangeArrowheads="1"/>
            </p:cNvSpPr>
            <p:nvPr/>
          </p:nvSpPr>
          <p:spPr bwMode="auto">
            <a:xfrm>
              <a:off x="4208" y="3392"/>
              <a:ext cx="34" cy="48"/>
            </a:xfrm>
            <a:custGeom>
              <a:avLst/>
              <a:gdLst>
                <a:gd name="T0" fmla="*/ 0 w 34"/>
                <a:gd name="T1" fmla="*/ 0 h 48"/>
                <a:gd name="T2" fmla="*/ 0 w 34"/>
                <a:gd name="T3" fmla="*/ 48 h 48"/>
                <a:gd name="T4" fmla="*/ 34 w 34"/>
                <a:gd name="T5" fmla="*/ 48 h 48"/>
                <a:gd name="T6" fmla="*/ 0 60000 65536"/>
                <a:gd name="T7" fmla="*/ 0 60000 65536"/>
                <a:gd name="T8" fmla="*/ 0 60000 65536"/>
                <a:gd name="T9" fmla="*/ 0 w 34"/>
                <a:gd name="T10" fmla="*/ 0 h 48"/>
                <a:gd name="T11" fmla="*/ 34 w 3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8">
                  <a:moveTo>
                    <a:pt x="0" y="0"/>
                  </a:moveTo>
                  <a:lnTo>
                    <a:pt x="0" y="48"/>
                  </a:lnTo>
                  <a:lnTo>
                    <a:pt x="34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Line 687"/>
            <p:cNvSpPr>
              <a:spLocks noChangeShapeType="1"/>
            </p:cNvSpPr>
            <p:nvPr/>
          </p:nvSpPr>
          <p:spPr bwMode="auto">
            <a:xfrm>
              <a:off x="4242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Line 688"/>
            <p:cNvSpPr>
              <a:spLocks noChangeShapeType="1"/>
            </p:cNvSpPr>
            <p:nvPr/>
          </p:nvSpPr>
          <p:spPr bwMode="auto">
            <a:xfrm>
              <a:off x="4261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Line 689"/>
            <p:cNvSpPr>
              <a:spLocks noChangeShapeType="1"/>
            </p:cNvSpPr>
            <p:nvPr/>
          </p:nvSpPr>
          <p:spPr bwMode="auto">
            <a:xfrm flipH="1">
              <a:off x="4364" y="3478"/>
              <a:ext cx="32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AutoShape 690"/>
            <p:cNvSpPr>
              <a:spLocks noChangeArrowheads="1"/>
            </p:cNvSpPr>
            <p:nvPr/>
          </p:nvSpPr>
          <p:spPr bwMode="auto">
            <a:xfrm>
              <a:off x="4313" y="3517"/>
              <a:ext cx="34" cy="47"/>
            </a:xfrm>
            <a:custGeom>
              <a:avLst/>
              <a:gdLst>
                <a:gd name="T0" fmla="*/ 34 w 34"/>
                <a:gd name="T1" fmla="*/ 0 h 47"/>
                <a:gd name="T2" fmla="*/ 0 w 34"/>
                <a:gd name="T3" fmla="*/ 0 h 47"/>
                <a:gd name="T4" fmla="*/ 0 w 34"/>
                <a:gd name="T5" fmla="*/ 47 h 47"/>
                <a:gd name="T6" fmla="*/ 0 60000 65536"/>
                <a:gd name="T7" fmla="*/ 0 60000 65536"/>
                <a:gd name="T8" fmla="*/ 0 60000 65536"/>
                <a:gd name="T9" fmla="*/ 0 w 34"/>
                <a:gd name="T10" fmla="*/ 0 h 47"/>
                <a:gd name="T11" fmla="*/ 34 w 34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7">
                  <a:moveTo>
                    <a:pt x="34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AutoShape 691"/>
            <p:cNvSpPr>
              <a:spLocks noChangeArrowheads="1"/>
            </p:cNvSpPr>
            <p:nvPr/>
          </p:nvSpPr>
          <p:spPr bwMode="auto">
            <a:xfrm>
              <a:off x="4313" y="3392"/>
              <a:ext cx="34" cy="48"/>
            </a:xfrm>
            <a:custGeom>
              <a:avLst/>
              <a:gdLst>
                <a:gd name="T0" fmla="*/ 0 w 34"/>
                <a:gd name="T1" fmla="*/ 0 h 48"/>
                <a:gd name="T2" fmla="*/ 0 w 34"/>
                <a:gd name="T3" fmla="*/ 48 h 48"/>
                <a:gd name="T4" fmla="*/ 34 w 34"/>
                <a:gd name="T5" fmla="*/ 48 h 48"/>
                <a:gd name="T6" fmla="*/ 0 60000 65536"/>
                <a:gd name="T7" fmla="*/ 0 60000 65536"/>
                <a:gd name="T8" fmla="*/ 0 60000 65536"/>
                <a:gd name="T9" fmla="*/ 0 w 34"/>
                <a:gd name="T10" fmla="*/ 0 h 48"/>
                <a:gd name="T11" fmla="*/ 34 w 3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8">
                  <a:moveTo>
                    <a:pt x="0" y="0"/>
                  </a:moveTo>
                  <a:lnTo>
                    <a:pt x="0" y="48"/>
                  </a:lnTo>
                  <a:lnTo>
                    <a:pt x="34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" name="Line 692"/>
            <p:cNvSpPr>
              <a:spLocks noChangeShapeType="1"/>
            </p:cNvSpPr>
            <p:nvPr/>
          </p:nvSpPr>
          <p:spPr bwMode="auto">
            <a:xfrm>
              <a:off x="4347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Line 693"/>
            <p:cNvSpPr>
              <a:spLocks noChangeShapeType="1"/>
            </p:cNvSpPr>
            <p:nvPr/>
          </p:nvSpPr>
          <p:spPr bwMode="auto">
            <a:xfrm>
              <a:off x="4366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Line 694"/>
            <p:cNvSpPr>
              <a:spLocks noChangeShapeType="1"/>
            </p:cNvSpPr>
            <p:nvPr/>
          </p:nvSpPr>
          <p:spPr bwMode="auto">
            <a:xfrm flipH="1">
              <a:off x="4469" y="3478"/>
              <a:ext cx="33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AutoShape 695"/>
            <p:cNvSpPr>
              <a:spLocks noChangeArrowheads="1"/>
            </p:cNvSpPr>
            <p:nvPr/>
          </p:nvSpPr>
          <p:spPr bwMode="auto">
            <a:xfrm>
              <a:off x="4423" y="3517"/>
              <a:ext cx="29" cy="47"/>
            </a:xfrm>
            <a:custGeom>
              <a:avLst/>
              <a:gdLst>
                <a:gd name="T0" fmla="*/ 29 w 29"/>
                <a:gd name="T1" fmla="*/ 0 h 47"/>
                <a:gd name="T2" fmla="*/ 0 w 29"/>
                <a:gd name="T3" fmla="*/ 0 h 47"/>
                <a:gd name="T4" fmla="*/ 0 w 29"/>
                <a:gd name="T5" fmla="*/ 47 h 47"/>
                <a:gd name="T6" fmla="*/ 0 60000 65536"/>
                <a:gd name="T7" fmla="*/ 0 60000 65536"/>
                <a:gd name="T8" fmla="*/ 0 60000 65536"/>
                <a:gd name="T9" fmla="*/ 0 w 29"/>
                <a:gd name="T10" fmla="*/ 0 h 47"/>
                <a:gd name="T11" fmla="*/ 29 w 29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7">
                  <a:moveTo>
                    <a:pt x="29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AutoShape 696"/>
            <p:cNvSpPr>
              <a:spLocks noChangeArrowheads="1"/>
            </p:cNvSpPr>
            <p:nvPr/>
          </p:nvSpPr>
          <p:spPr bwMode="auto">
            <a:xfrm>
              <a:off x="4423" y="3392"/>
              <a:ext cx="29" cy="48"/>
            </a:xfrm>
            <a:custGeom>
              <a:avLst/>
              <a:gdLst>
                <a:gd name="T0" fmla="*/ 0 w 29"/>
                <a:gd name="T1" fmla="*/ 0 h 48"/>
                <a:gd name="T2" fmla="*/ 0 w 29"/>
                <a:gd name="T3" fmla="*/ 48 h 48"/>
                <a:gd name="T4" fmla="*/ 29 w 29"/>
                <a:gd name="T5" fmla="*/ 48 h 48"/>
                <a:gd name="T6" fmla="*/ 0 60000 65536"/>
                <a:gd name="T7" fmla="*/ 0 60000 65536"/>
                <a:gd name="T8" fmla="*/ 0 60000 65536"/>
                <a:gd name="T9" fmla="*/ 0 w 29"/>
                <a:gd name="T10" fmla="*/ 0 h 48"/>
                <a:gd name="T11" fmla="*/ 29 w 29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48">
                  <a:moveTo>
                    <a:pt x="0" y="0"/>
                  </a:moveTo>
                  <a:lnTo>
                    <a:pt x="0" y="48"/>
                  </a:lnTo>
                  <a:lnTo>
                    <a:pt x="29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" name="Line 697"/>
            <p:cNvSpPr>
              <a:spLocks noChangeShapeType="1"/>
            </p:cNvSpPr>
            <p:nvPr/>
          </p:nvSpPr>
          <p:spPr bwMode="auto">
            <a:xfrm>
              <a:off x="4452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Line 698"/>
            <p:cNvSpPr>
              <a:spLocks noChangeShapeType="1"/>
            </p:cNvSpPr>
            <p:nvPr/>
          </p:nvSpPr>
          <p:spPr bwMode="auto">
            <a:xfrm>
              <a:off x="4471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Line 699"/>
            <p:cNvSpPr>
              <a:spLocks noChangeShapeType="1"/>
            </p:cNvSpPr>
            <p:nvPr/>
          </p:nvSpPr>
          <p:spPr bwMode="auto">
            <a:xfrm flipH="1">
              <a:off x="4579" y="3478"/>
              <a:ext cx="28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AutoShape 700"/>
            <p:cNvSpPr>
              <a:spLocks noChangeArrowheads="1"/>
            </p:cNvSpPr>
            <p:nvPr/>
          </p:nvSpPr>
          <p:spPr bwMode="auto">
            <a:xfrm>
              <a:off x="4528" y="3517"/>
              <a:ext cx="34" cy="47"/>
            </a:xfrm>
            <a:custGeom>
              <a:avLst/>
              <a:gdLst>
                <a:gd name="T0" fmla="*/ 34 w 34"/>
                <a:gd name="T1" fmla="*/ 0 h 47"/>
                <a:gd name="T2" fmla="*/ 0 w 34"/>
                <a:gd name="T3" fmla="*/ 0 h 47"/>
                <a:gd name="T4" fmla="*/ 0 w 34"/>
                <a:gd name="T5" fmla="*/ 47 h 47"/>
                <a:gd name="T6" fmla="*/ 0 60000 65536"/>
                <a:gd name="T7" fmla="*/ 0 60000 65536"/>
                <a:gd name="T8" fmla="*/ 0 60000 65536"/>
                <a:gd name="T9" fmla="*/ 0 w 34"/>
                <a:gd name="T10" fmla="*/ 0 h 47"/>
                <a:gd name="T11" fmla="*/ 34 w 34"/>
                <a:gd name="T12" fmla="*/ 47 h 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7">
                  <a:moveTo>
                    <a:pt x="34" y="0"/>
                  </a:moveTo>
                  <a:lnTo>
                    <a:pt x="0" y="0"/>
                  </a:lnTo>
                  <a:lnTo>
                    <a:pt x="0" y="47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6" name="AutoShape 701"/>
            <p:cNvSpPr>
              <a:spLocks noChangeArrowheads="1"/>
            </p:cNvSpPr>
            <p:nvPr/>
          </p:nvSpPr>
          <p:spPr bwMode="auto">
            <a:xfrm>
              <a:off x="4528" y="3392"/>
              <a:ext cx="34" cy="48"/>
            </a:xfrm>
            <a:custGeom>
              <a:avLst/>
              <a:gdLst>
                <a:gd name="T0" fmla="*/ 0 w 34"/>
                <a:gd name="T1" fmla="*/ 0 h 48"/>
                <a:gd name="T2" fmla="*/ 0 w 34"/>
                <a:gd name="T3" fmla="*/ 48 h 48"/>
                <a:gd name="T4" fmla="*/ 34 w 34"/>
                <a:gd name="T5" fmla="*/ 48 h 48"/>
                <a:gd name="T6" fmla="*/ 0 60000 65536"/>
                <a:gd name="T7" fmla="*/ 0 60000 65536"/>
                <a:gd name="T8" fmla="*/ 0 60000 65536"/>
                <a:gd name="T9" fmla="*/ 0 w 34"/>
                <a:gd name="T10" fmla="*/ 0 h 48"/>
                <a:gd name="T11" fmla="*/ 34 w 3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48">
                  <a:moveTo>
                    <a:pt x="0" y="0"/>
                  </a:moveTo>
                  <a:lnTo>
                    <a:pt x="0" y="48"/>
                  </a:lnTo>
                  <a:lnTo>
                    <a:pt x="34" y="4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" name="Line 702"/>
            <p:cNvSpPr>
              <a:spLocks noChangeShapeType="1"/>
            </p:cNvSpPr>
            <p:nvPr/>
          </p:nvSpPr>
          <p:spPr bwMode="auto">
            <a:xfrm>
              <a:off x="4562" y="3440"/>
              <a:ext cx="1" cy="77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Line 703"/>
            <p:cNvSpPr>
              <a:spLocks noChangeShapeType="1"/>
            </p:cNvSpPr>
            <p:nvPr/>
          </p:nvSpPr>
          <p:spPr bwMode="auto">
            <a:xfrm>
              <a:off x="4581" y="3440"/>
              <a:ext cx="1" cy="72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Line 704"/>
            <p:cNvSpPr>
              <a:spLocks noChangeShapeType="1"/>
            </p:cNvSpPr>
            <p:nvPr/>
          </p:nvSpPr>
          <p:spPr bwMode="auto">
            <a:xfrm flipV="1">
              <a:off x="4839" y="1369"/>
              <a:ext cx="1" cy="33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AutoShape 705"/>
            <p:cNvSpPr>
              <a:spLocks noChangeArrowheads="1"/>
            </p:cNvSpPr>
            <p:nvPr/>
          </p:nvSpPr>
          <p:spPr bwMode="auto">
            <a:xfrm>
              <a:off x="4877" y="1318"/>
              <a:ext cx="48" cy="34"/>
            </a:xfrm>
            <a:custGeom>
              <a:avLst/>
              <a:gdLst>
                <a:gd name="T0" fmla="*/ 0 w 48"/>
                <a:gd name="T1" fmla="*/ 34 h 34"/>
                <a:gd name="T2" fmla="*/ 0 w 48"/>
                <a:gd name="T3" fmla="*/ 0 h 34"/>
                <a:gd name="T4" fmla="*/ 48 w 48"/>
                <a:gd name="T5" fmla="*/ 0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34"/>
                  </a:move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" name="AutoShape 706"/>
            <p:cNvSpPr>
              <a:spLocks noChangeArrowheads="1"/>
            </p:cNvSpPr>
            <p:nvPr/>
          </p:nvSpPr>
          <p:spPr bwMode="auto">
            <a:xfrm>
              <a:off x="4753" y="1318"/>
              <a:ext cx="48" cy="34"/>
            </a:xfrm>
            <a:custGeom>
              <a:avLst/>
              <a:gdLst>
                <a:gd name="T0" fmla="*/ 0 w 48"/>
                <a:gd name="T1" fmla="*/ 0 h 34"/>
                <a:gd name="T2" fmla="*/ 48 w 48"/>
                <a:gd name="T3" fmla="*/ 0 h 34"/>
                <a:gd name="T4" fmla="*/ 48 w 48"/>
                <a:gd name="T5" fmla="*/ 34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0"/>
                  </a:moveTo>
                  <a:lnTo>
                    <a:pt x="48" y="0"/>
                  </a:lnTo>
                  <a:lnTo>
                    <a:pt x="48" y="3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" name="Line 707"/>
            <p:cNvSpPr>
              <a:spLocks noChangeShapeType="1"/>
            </p:cNvSpPr>
            <p:nvPr/>
          </p:nvSpPr>
          <p:spPr bwMode="auto">
            <a:xfrm>
              <a:off x="4801" y="1352"/>
              <a:ext cx="7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Line 708"/>
            <p:cNvSpPr>
              <a:spLocks noChangeShapeType="1"/>
            </p:cNvSpPr>
            <p:nvPr/>
          </p:nvSpPr>
          <p:spPr bwMode="auto">
            <a:xfrm>
              <a:off x="4801" y="1371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Line 709"/>
            <p:cNvSpPr>
              <a:spLocks noChangeShapeType="1"/>
            </p:cNvSpPr>
            <p:nvPr/>
          </p:nvSpPr>
          <p:spPr bwMode="auto">
            <a:xfrm flipV="1">
              <a:off x="4839" y="1474"/>
              <a:ext cx="1" cy="33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AutoShape 710"/>
            <p:cNvSpPr>
              <a:spLocks noChangeArrowheads="1"/>
            </p:cNvSpPr>
            <p:nvPr/>
          </p:nvSpPr>
          <p:spPr bwMode="auto">
            <a:xfrm>
              <a:off x="4877" y="1428"/>
              <a:ext cx="48" cy="29"/>
            </a:xfrm>
            <a:custGeom>
              <a:avLst/>
              <a:gdLst>
                <a:gd name="T0" fmla="*/ 0 w 48"/>
                <a:gd name="T1" fmla="*/ 29 h 29"/>
                <a:gd name="T2" fmla="*/ 0 w 48"/>
                <a:gd name="T3" fmla="*/ 0 h 29"/>
                <a:gd name="T4" fmla="*/ 48 w 48"/>
                <a:gd name="T5" fmla="*/ 0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29"/>
                  </a:move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AutoShape 711"/>
            <p:cNvSpPr>
              <a:spLocks noChangeArrowheads="1"/>
            </p:cNvSpPr>
            <p:nvPr/>
          </p:nvSpPr>
          <p:spPr bwMode="auto">
            <a:xfrm>
              <a:off x="4753" y="1428"/>
              <a:ext cx="48" cy="29"/>
            </a:xfrm>
            <a:custGeom>
              <a:avLst/>
              <a:gdLst>
                <a:gd name="T0" fmla="*/ 0 w 48"/>
                <a:gd name="T1" fmla="*/ 0 h 29"/>
                <a:gd name="T2" fmla="*/ 48 w 48"/>
                <a:gd name="T3" fmla="*/ 0 h 29"/>
                <a:gd name="T4" fmla="*/ 48 w 48"/>
                <a:gd name="T5" fmla="*/ 29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0"/>
                  </a:moveTo>
                  <a:lnTo>
                    <a:pt x="48" y="0"/>
                  </a:lnTo>
                  <a:lnTo>
                    <a:pt x="48" y="29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" name="Line 712"/>
            <p:cNvSpPr>
              <a:spLocks noChangeShapeType="1"/>
            </p:cNvSpPr>
            <p:nvPr/>
          </p:nvSpPr>
          <p:spPr bwMode="auto">
            <a:xfrm>
              <a:off x="4801" y="1457"/>
              <a:ext cx="7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Line 713"/>
            <p:cNvSpPr>
              <a:spLocks noChangeShapeType="1"/>
            </p:cNvSpPr>
            <p:nvPr/>
          </p:nvSpPr>
          <p:spPr bwMode="auto">
            <a:xfrm>
              <a:off x="4801" y="1476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Line 714"/>
            <p:cNvSpPr>
              <a:spLocks noChangeShapeType="1"/>
            </p:cNvSpPr>
            <p:nvPr/>
          </p:nvSpPr>
          <p:spPr bwMode="auto">
            <a:xfrm flipV="1">
              <a:off x="4839" y="1584"/>
              <a:ext cx="1" cy="28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AutoShape 715"/>
            <p:cNvSpPr>
              <a:spLocks noChangeArrowheads="1"/>
            </p:cNvSpPr>
            <p:nvPr/>
          </p:nvSpPr>
          <p:spPr bwMode="auto">
            <a:xfrm>
              <a:off x="4877" y="1533"/>
              <a:ext cx="48" cy="29"/>
            </a:xfrm>
            <a:custGeom>
              <a:avLst/>
              <a:gdLst>
                <a:gd name="T0" fmla="*/ 0 w 48"/>
                <a:gd name="T1" fmla="*/ 29 h 29"/>
                <a:gd name="T2" fmla="*/ 0 w 48"/>
                <a:gd name="T3" fmla="*/ 0 h 29"/>
                <a:gd name="T4" fmla="*/ 48 w 48"/>
                <a:gd name="T5" fmla="*/ 0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29"/>
                  </a:move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1" name="AutoShape 716"/>
            <p:cNvSpPr>
              <a:spLocks noChangeArrowheads="1"/>
            </p:cNvSpPr>
            <p:nvPr/>
          </p:nvSpPr>
          <p:spPr bwMode="auto">
            <a:xfrm>
              <a:off x="4753" y="1533"/>
              <a:ext cx="48" cy="29"/>
            </a:xfrm>
            <a:custGeom>
              <a:avLst/>
              <a:gdLst>
                <a:gd name="T0" fmla="*/ 0 w 48"/>
                <a:gd name="T1" fmla="*/ 0 h 29"/>
                <a:gd name="T2" fmla="*/ 48 w 48"/>
                <a:gd name="T3" fmla="*/ 0 h 29"/>
                <a:gd name="T4" fmla="*/ 48 w 48"/>
                <a:gd name="T5" fmla="*/ 29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0"/>
                  </a:moveTo>
                  <a:lnTo>
                    <a:pt x="48" y="0"/>
                  </a:lnTo>
                  <a:lnTo>
                    <a:pt x="48" y="29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Line 717"/>
            <p:cNvSpPr>
              <a:spLocks noChangeShapeType="1"/>
            </p:cNvSpPr>
            <p:nvPr/>
          </p:nvSpPr>
          <p:spPr bwMode="auto">
            <a:xfrm>
              <a:off x="4801" y="1562"/>
              <a:ext cx="7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Line 718"/>
            <p:cNvSpPr>
              <a:spLocks noChangeShapeType="1"/>
            </p:cNvSpPr>
            <p:nvPr/>
          </p:nvSpPr>
          <p:spPr bwMode="auto">
            <a:xfrm>
              <a:off x="4801" y="1586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4" name="Line 719"/>
            <p:cNvSpPr>
              <a:spLocks noChangeShapeType="1"/>
            </p:cNvSpPr>
            <p:nvPr/>
          </p:nvSpPr>
          <p:spPr bwMode="auto">
            <a:xfrm flipV="1">
              <a:off x="4839" y="1689"/>
              <a:ext cx="1" cy="28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5" name="AutoShape 720"/>
            <p:cNvSpPr>
              <a:spLocks noChangeArrowheads="1"/>
            </p:cNvSpPr>
            <p:nvPr/>
          </p:nvSpPr>
          <p:spPr bwMode="auto">
            <a:xfrm>
              <a:off x="4877" y="1639"/>
              <a:ext cx="48" cy="33"/>
            </a:xfrm>
            <a:custGeom>
              <a:avLst/>
              <a:gdLst>
                <a:gd name="T0" fmla="*/ 0 w 48"/>
                <a:gd name="T1" fmla="*/ 33 h 33"/>
                <a:gd name="T2" fmla="*/ 0 w 48"/>
                <a:gd name="T3" fmla="*/ 0 h 33"/>
                <a:gd name="T4" fmla="*/ 48 w 48"/>
                <a:gd name="T5" fmla="*/ 0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0" y="33"/>
                  </a:move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6" name="AutoShape 721"/>
            <p:cNvSpPr>
              <a:spLocks noChangeArrowheads="1"/>
            </p:cNvSpPr>
            <p:nvPr/>
          </p:nvSpPr>
          <p:spPr bwMode="auto">
            <a:xfrm>
              <a:off x="4753" y="1639"/>
              <a:ext cx="48" cy="33"/>
            </a:xfrm>
            <a:custGeom>
              <a:avLst/>
              <a:gdLst>
                <a:gd name="T0" fmla="*/ 0 w 48"/>
                <a:gd name="T1" fmla="*/ 0 h 33"/>
                <a:gd name="T2" fmla="*/ 48 w 48"/>
                <a:gd name="T3" fmla="*/ 0 h 33"/>
                <a:gd name="T4" fmla="*/ 48 w 48"/>
                <a:gd name="T5" fmla="*/ 33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0" y="0"/>
                  </a:moveTo>
                  <a:lnTo>
                    <a:pt x="48" y="0"/>
                  </a:lnTo>
                  <a:lnTo>
                    <a:pt x="48" y="3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" name="Line 722"/>
            <p:cNvSpPr>
              <a:spLocks noChangeShapeType="1"/>
            </p:cNvSpPr>
            <p:nvPr/>
          </p:nvSpPr>
          <p:spPr bwMode="auto">
            <a:xfrm>
              <a:off x="4801" y="1672"/>
              <a:ext cx="7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8" name="Line 723"/>
            <p:cNvSpPr>
              <a:spLocks noChangeShapeType="1"/>
            </p:cNvSpPr>
            <p:nvPr/>
          </p:nvSpPr>
          <p:spPr bwMode="auto">
            <a:xfrm>
              <a:off x="4801" y="1691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Line 724"/>
            <p:cNvSpPr>
              <a:spLocks noChangeShapeType="1"/>
            </p:cNvSpPr>
            <p:nvPr/>
          </p:nvSpPr>
          <p:spPr bwMode="auto">
            <a:xfrm flipV="1">
              <a:off x="4839" y="1794"/>
              <a:ext cx="1" cy="33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AutoShape 725"/>
            <p:cNvSpPr>
              <a:spLocks noChangeArrowheads="1"/>
            </p:cNvSpPr>
            <p:nvPr/>
          </p:nvSpPr>
          <p:spPr bwMode="auto">
            <a:xfrm>
              <a:off x="4877" y="1744"/>
              <a:ext cx="48" cy="33"/>
            </a:xfrm>
            <a:custGeom>
              <a:avLst/>
              <a:gdLst>
                <a:gd name="T0" fmla="*/ 0 w 48"/>
                <a:gd name="T1" fmla="*/ 33 h 33"/>
                <a:gd name="T2" fmla="*/ 0 w 48"/>
                <a:gd name="T3" fmla="*/ 0 h 33"/>
                <a:gd name="T4" fmla="*/ 48 w 48"/>
                <a:gd name="T5" fmla="*/ 0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0" y="33"/>
                  </a:move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1" name="AutoShape 726"/>
            <p:cNvSpPr>
              <a:spLocks noChangeArrowheads="1"/>
            </p:cNvSpPr>
            <p:nvPr/>
          </p:nvSpPr>
          <p:spPr bwMode="auto">
            <a:xfrm>
              <a:off x="4753" y="1744"/>
              <a:ext cx="48" cy="33"/>
            </a:xfrm>
            <a:custGeom>
              <a:avLst/>
              <a:gdLst>
                <a:gd name="T0" fmla="*/ 0 w 48"/>
                <a:gd name="T1" fmla="*/ 0 h 33"/>
                <a:gd name="T2" fmla="*/ 48 w 48"/>
                <a:gd name="T3" fmla="*/ 0 h 33"/>
                <a:gd name="T4" fmla="*/ 48 w 48"/>
                <a:gd name="T5" fmla="*/ 33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0" y="0"/>
                  </a:moveTo>
                  <a:lnTo>
                    <a:pt x="48" y="0"/>
                  </a:lnTo>
                  <a:lnTo>
                    <a:pt x="48" y="3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" name="Line 727"/>
            <p:cNvSpPr>
              <a:spLocks noChangeShapeType="1"/>
            </p:cNvSpPr>
            <p:nvPr/>
          </p:nvSpPr>
          <p:spPr bwMode="auto">
            <a:xfrm>
              <a:off x="4801" y="1777"/>
              <a:ext cx="7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Line 728"/>
            <p:cNvSpPr>
              <a:spLocks noChangeShapeType="1"/>
            </p:cNvSpPr>
            <p:nvPr/>
          </p:nvSpPr>
          <p:spPr bwMode="auto">
            <a:xfrm>
              <a:off x="4801" y="1796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4" name="Line 729"/>
            <p:cNvSpPr>
              <a:spLocks noChangeShapeType="1"/>
            </p:cNvSpPr>
            <p:nvPr/>
          </p:nvSpPr>
          <p:spPr bwMode="auto">
            <a:xfrm flipV="1">
              <a:off x="4839" y="2817"/>
              <a:ext cx="1" cy="28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AutoShape 730"/>
            <p:cNvSpPr>
              <a:spLocks noChangeArrowheads="1"/>
            </p:cNvSpPr>
            <p:nvPr/>
          </p:nvSpPr>
          <p:spPr bwMode="auto">
            <a:xfrm>
              <a:off x="4877" y="2766"/>
              <a:ext cx="48" cy="34"/>
            </a:xfrm>
            <a:custGeom>
              <a:avLst/>
              <a:gdLst>
                <a:gd name="T0" fmla="*/ 0 w 48"/>
                <a:gd name="T1" fmla="*/ 34 h 34"/>
                <a:gd name="T2" fmla="*/ 0 w 48"/>
                <a:gd name="T3" fmla="*/ 0 h 34"/>
                <a:gd name="T4" fmla="*/ 48 w 48"/>
                <a:gd name="T5" fmla="*/ 0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34"/>
                  </a:move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6" name="AutoShape 731"/>
            <p:cNvSpPr>
              <a:spLocks noChangeArrowheads="1"/>
            </p:cNvSpPr>
            <p:nvPr/>
          </p:nvSpPr>
          <p:spPr bwMode="auto">
            <a:xfrm>
              <a:off x="4753" y="2766"/>
              <a:ext cx="48" cy="34"/>
            </a:xfrm>
            <a:custGeom>
              <a:avLst/>
              <a:gdLst>
                <a:gd name="T0" fmla="*/ 0 w 48"/>
                <a:gd name="T1" fmla="*/ 0 h 34"/>
                <a:gd name="T2" fmla="*/ 48 w 48"/>
                <a:gd name="T3" fmla="*/ 0 h 34"/>
                <a:gd name="T4" fmla="*/ 48 w 48"/>
                <a:gd name="T5" fmla="*/ 34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0"/>
                  </a:moveTo>
                  <a:lnTo>
                    <a:pt x="48" y="0"/>
                  </a:lnTo>
                  <a:lnTo>
                    <a:pt x="48" y="3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" name="Line 732"/>
            <p:cNvSpPr>
              <a:spLocks noChangeShapeType="1"/>
            </p:cNvSpPr>
            <p:nvPr/>
          </p:nvSpPr>
          <p:spPr bwMode="auto">
            <a:xfrm>
              <a:off x="4801" y="2800"/>
              <a:ext cx="7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" name="Line 733"/>
            <p:cNvSpPr>
              <a:spLocks noChangeShapeType="1"/>
            </p:cNvSpPr>
            <p:nvPr/>
          </p:nvSpPr>
          <p:spPr bwMode="auto">
            <a:xfrm>
              <a:off x="4801" y="2819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9" name="Line 734"/>
            <p:cNvSpPr>
              <a:spLocks noChangeShapeType="1"/>
            </p:cNvSpPr>
            <p:nvPr/>
          </p:nvSpPr>
          <p:spPr bwMode="auto">
            <a:xfrm flipV="1">
              <a:off x="4839" y="2922"/>
              <a:ext cx="1" cy="33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0" name="AutoShape 735"/>
            <p:cNvSpPr>
              <a:spLocks noChangeArrowheads="1"/>
            </p:cNvSpPr>
            <p:nvPr/>
          </p:nvSpPr>
          <p:spPr bwMode="auto">
            <a:xfrm>
              <a:off x="4877" y="2876"/>
              <a:ext cx="48" cy="29"/>
            </a:xfrm>
            <a:custGeom>
              <a:avLst/>
              <a:gdLst>
                <a:gd name="T0" fmla="*/ 0 w 48"/>
                <a:gd name="T1" fmla="*/ 29 h 29"/>
                <a:gd name="T2" fmla="*/ 0 w 48"/>
                <a:gd name="T3" fmla="*/ 0 h 29"/>
                <a:gd name="T4" fmla="*/ 48 w 48"/>
                <a:gd name="T5" fmla="*/ 0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29"/>
                  </a:move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1" name="AutoShape 736"/>
            <p:cNvSpPr>
              <a:spLocks noChangeArrowheads="1"/>
            </p:cNvSpPr>
            <p:nvPr/>
          </p:nvSpPr>
          <p:spPr bwMode="auto">
            <a:xfrm>
              <a:off x="4753" y="2876"/>
              <a:ext cx="48" cy="29"/>
            </a:xfrm>
            <a:custGeom>
              <a:avLst/>
              <a:gdLst>
                <a:gd name="T0" fmla="*/ 0 w 48"/>
                <a:gd name="T1" fmla="*/ 0 h 29"/>
                <a:gd name="T2" fmla="*/ 48 w 48"/>
                <a:gd name="T3" fmla="*/ 0 h 29"/>
                <a:gd name="T4" fmla="*/ 48 w 48"/>
                <a:gd name="T5" fmla="*/ 29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0"/>
                  </a:moveTo>
                  <a:lnTo>
                    <a:pt x="48" y="0"/>
                  </a:lnTo>
                  <a:lnTo>
                    <a:pt x="48" y="29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2" name="Line 737"/>
            <p:cNvSpPr>
              <a:spLocks noChangeShapeType="1"/>
            </p:cNvSpPr>
            <p:nvPr/>
          </p:nvSpPr>
          <p:spPr bwMode="auto">
            <a:xfrm>
              <a:off x="4801" y="2905"/>
              <a:ext cx="7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Line 738"/>
            <p:cNvSpPr>
              <a:spLocks noChangeShapeType="1"/>
            </p:cNvSpPr>
            <p:nvPr/>
          </p:nvSpPr>
          <p:spPr bwMode="auto">
            <a:xfrm>
              <a:off x="4801" y="2924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Line 739"/>
            <p:cNvSpPr>
              <a:spLocks noChangeShapeType="1"/>
            </p:cNvSpPr>
            <p:nvPr/>
          </p:nvSpPr>
          <p:spPr bwMode="auto">
            <a:xfrm flipV="1">
              <a:off x="4839" y="3032"/>
              <a:ext cx="1" cy="28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AutoShape 740"/>
            <p:cNvSpPr>
              <a:spLocks noChangeArrowheads="1"/>
            </p:cNvSpPr>
            <p:nvPr/>
          </p:nvSpPr>
          <p:spPr bwMode="auto">
            <a:xfrm>
              <a:off x="4877" y="2981"/>
              <a:ext cx="48" cy="29"/>
            </a:xfrm>
            <a:custGeom>
              <a:avLst/>
              <a:gdLst>
                <a:gd name="T0" fmla="*/ 0 w 48"/>
                <a:gd name="T1" fmla="*/ 29 h 29"/>
                <a:gd name="T2" fmla="*/ 0 w 48"/>
                <a:gd name="T3" fmla="*/ 0 h 29"/>
                <a:gd name="T4" fmla="*/ 48 w 48"/>
                <a:gd name="T5" fmla="*/ 0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29"/>
                  </a:move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6" name="AutoShape 741"/>
            <p:cNvSpPr>
              <a:spLocks noChangeArrowheads="1"/>
            </p:cNvSpPr>
            <p:nvPr/>
          </p:nvSpPr>
          <p:spPr bwMode="auto">
            <a:xfrm>
              <a:off x="4753" y="2981"/>
              <a:ext cx="48" cy="29"/>
            </a:xfrm>
            <a:custGeom>
              <a:avLst/>
              <a:gdLst>
                <a:gd name="T0" fmla="*/ 0 w 48"/>
                <a:gd name="T1" fmla="*/ 0 h 29"/>
                <a:gd name="T2" fmla="*/ 48 w 48"/>
                <a:gd name="T3" fmla="*/ 0 h 29"/>
                <a:gd name="T4" fmla="*/ 48 w 48"/>
                <a:gd name="T5" fmla="*/ 29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0"/>
                  </a:moveTo>
                  <a:lnTo>
                    <a:pt x="48" y="0"/>
                  </a:lnTo>
                  <a:lnTo>
                    <a:pt x="48" y="29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7" name="Line 742"/>
            <p:cNvSpPr>
              <a:spLocks noChangeShapeType="1"/>
            </p:cNvSpPr>
            <p:nvPr/>
          </p:nvSpPr>
          <p:spPr bwMode="auto">
            <a:xfrm>
              <a:off x="4801" y="3010"/>
              <a:ext cx="7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" name="Line 743"/>
            <p:cNvSpPr>
              <a:spLocks noChangeShapeType="1"/>
            </p:cNvSpPr>
            <p:nvPr/>
          </p:nvSpPr>
          <p:spPr bwMode="auto">
            <a:xfrm>
              <a:off x="4801" y="3029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Line 744"/>
            <p:cNvSpPr>
              <a:spLocks noChangeShapeType="1"/>
            </p:cNvSpPr>
            <p:nvPr/>
          </p:nvSpPr>
          <p:spPr bwMode="auto">
            <a:xfrm flipV="1">
              <a:off x="4839" y="3137"/>
              <a:ext cx="1" cy="28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0" name="AutoShape 745"/>
            <p:cNvSpPr>
              <a:spLocks noChangeArrowheads="1"/>
            </p:cNvSpPr>
            <p:nvPr/>
          </p:nvSpPr>
          <p:spPr bwMode="auto">
            <a:xfrm>
              <a:off x="4877" y="3086"/>
              <a:ext cx="48" cy="34"/>
            </a:xfrm>
            <a:custGeom>
              <a:avLst/>
              <a:gdLst>
                <a:gd name="T0" fmla="*/ 0 w 48"/>
                <a:gd name="T1" fmla="*/ 34 h 34"/>
                <a:gd name="T2" fmla="*/ 0 w 48"/>
                <a:gd name="T3" fmla="*/ 0 h 34"/>
                <a:gd name="T4" fmla="*/ 48 w 48"/>
                <a:gd name="T5" fmla="*/ 0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34"/>
                  </a:move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1" name="AutoShape 746"/>
            <p:cNvSpPr>
              <a:spLocks noChangeArrowheads="1"/>
            </p:cNvSpPr>
            <p:nvPr/>
          </p:nvSpPr>
          <p:spPr bwMode="auto">
            <a:xfrm>
              <a:off x="4753" y="3086"/>
              <a:ext cx="48" cy="34"/>
            </a:xfrm>
            <a:custGeom>
              <a:avLst/>
              <a:gdLst>
                <a:gd name="T0" fmla="*/ 0 w 48"/>
                <a:gd name="T1" fmla="*/ 0 h 34"/>
                <a:gd name="T2" fmla="*/ 48 w 48"/>
                <a:gd name="T3" fmla="*/ 0 h 34"/>
                <a:gd name="T4" fmla="*/ 48 w 48"/>
                <a:gd name="T5" fmla="*/ 34 h 34"/>
                <a:gd name="T6" fmla="*/ 0 60000 65536"/>
                <a:gd name="T7" fmla="*/ 0 60000 65536"/>
                <a:gd name="T8" fmla="*/ 0 60000 65536"/>
                <a:gd name="T9" fmla="*/ 0 w 48"/>
                <a:gd name="T10" fmla="*/ 0 h 34"/>
                <a:gd name="T11" fmla="*/ 48 w 48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4">
                  <a:moveTo>
                    <a:pt x="0" y="0"/>
                  </a:moveTo>
                  <a:lnTo>
                    <a:pt x="48" y="0"/>
                  </a:lnTo>
                  <a:lnTo>
                    <a:pt x="48" y="34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2" name="Line 747"/>
            <p:cNvSpPr>
              <a:spLocks noChangeShapeType="1"/>
            </p:cNvSpPr>
            <p:nvPr/>
          </p:nvSpPr>
          <p:spPr bwMode="auto">
            <a:xfrm>
              <a:off x="4801" y="3120"/>
              <a:ext cx="7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3" name="Line 748"/>
            <p:cNvSpPr>
              <a:spLocks noChangeShapeType="1"/>
            </p:cNvSpPr>
            <p:nvPr/>
          </p:nvSpPr>
          <p:spPr bwMode="auto">
            <a:xfrm>
              <a:off x="4801" y="3139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4" name="Line 749"/>
            <p:cNvSpPr>
              <a:spLocks noChangeShapeType="1"/>
            </p:cNvSpPr>
            <p:nvPr/>
          </p:nvSpPr>
          <p:spPr bwMode="auto">
            <a:xfrm flipV="1">
              <a:off x="4839" y="3242"/>
              <a:ext cx="1" cy="33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5" name="AutoShape 750"/>
            <p:cNvSpPr>
              <a:spLocks noChangeArrowheads="1"/>
            </p:cNvSpPr>
            <p:nvPr/>
          </p:nvSpPr>
          <p:spPr bwMode="auto">
            <a:xfrm>
              <a:off x="4877" y="3192"/>
              <a:ext cx="48" cy="33"/>
            </a:xfrm>
            <a:custGeom>
              <a:avLst/>
              <a:gdLst>
                <a:gd name="T0" fmla="*/ 0 w 48"/>
                <a:gd name="T1" fmla="*/ 33 h 33"/>
                <a:gd name="T2" fmla="*/ 0 w 48"/>
                <a:gd name="T3" fmla="*/ 0 h 33"/>
                <a:gd name="T4" fmla="*/ 48 w 48"/>
                <a:gd name="T5" fmla="*/ 0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0" y="33"/>
                  </a:moveTo>
                  <a:lnTo>
                    <a:pt x="0" y="0"/>
                  </a:lnTo>
                  <a:lnTo>
                    <a:pt x="48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" name="AutoShape 751"/>
            <p:cNvSpPr>
              <a:spLocks noChangeArrowheads="1"/>
            </p:cNvSpPr>
            <p:nvPr/>
          </p:nvSpPr>
          <p:spPr bwMode="auto">
            <a:xfrm>
              <a:off x="4753" y="3192"/>
              <a:ext cx="48" cy="33"/>
            </a:xfrm>
            <a:custGeom>
              <a:avLst/>
              <a:gdLst>
                <a:gd name="T0" fmla="*/ 0 w 48"/>
                <a:gd name="T1" fmla="*/ 0 h 33"/>
                <a:gd name="T2" fmla="*/ 48 w 48"/>
                <a:gd name="T3" fmla="*/ 0 h 33"/>
                <a:gd name="T4" fmla="*/ 48 w 48"/>
                <a:gd name="T5" fmla="*/ 33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0" y="0"/>
                  </a:moveTo>
                  <a:lnTo>
                    <a:pt x="48" y="0"/>
                  </a:lnTo>
                  <a:lnTo>
                    <a:pt x="48" y="3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7" name="Line 752"/>
            <p:cNvSpPr>
              <a:spLocks noChangeShapeType="1"/>
            </p:cNvSpPr>
            <p:nvPr/>
          </p:nvSpPr>
          <p:spPr bwMode="auto">
            <a:xfrm>
              <a:off x="4801" y="3225"/>
              <a:ext cx="76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Line 753"/>
            <p:cNvSpPr>
              <a:spLocks noChangeShapeType="1"/>
            </p:cNvSpPr>
            <p:nvPr/>
          </p:nvSpPr>
          <p:spPr bwMode="auto">
            <a:xfrm>
              <a:off x="4801" y="3244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" name="Line 754"/>
            <p:cNvSpPr>
              <a:spLocks noChangeShapeType="1"/>
            </p:cNvSpPr>
            <p:nvPr/>
          </p:nvSpPr>
          <p:spPr bwMode="auto">
            <a:xfrm>
              <a:off x="921" y="3187"/>
              <a:ext cx="1" cy="29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0" name="AutoShape 755"/>
            <p:cNvSpPr>
              <a:spLocks noChangeArrowheads="1"/>
            </p:cNvSpPr>
            <p:nvPr/>
          </p:nvSpPr>
          <p:spPr bwMode="auto">
            <a:xfrm>
              <a:off x="959" y="3235"/>
              <a:ext cx="48" cy="28"/>
            </a:xfrm>
            <a:custGeom>
              <a:avLst/>
              <a:gdLst>
                <a:gd name="T0" fmla="*/ 0 w 48"/>
                <a:gd name="T1" fmla="*/ 0 h 28"/>
                <a:gd name="T2" fmla="*/ 0 w 48"/>
                <a:gd name="T3" fmla="*/ 28 h 28"/>
                <a:gd name="T4" fmla="*/ 48 w 48"/>
                <a:gd name="T5" fmla="*/ 28 h 28"/>
                <a:gd name="T6" fmla="*/ 0 60000 65536"/>
                <a:gd name="T7" fmla="*/ 0 60000 65536"/>
                <a:gd name="T8" fmla="*/ 0 60000 65536"/>
                <a:gd name="T9" fmla="*/ 0 w 48"/>
                <a:gd name="T10" fmla="*/ 0 h 28"/>
                <a:gd name="T11" fmla="*/ 48 w 48"/>
                <a:gd name="T12" fmla="*/ 28 h 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8">
                  <a:moveTo>
                    <a:pt x="0" y="0"/>
                  </a:moveTo>
                  <a:lnTo>
                    <a:pt x="0" y="28"/>
                  </a:lnTo>
                  <a:lnTo>
                    <a:pt x="48" y="28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1" name="AutoShape 756"/>
            <p:cNvSpPr>
              <a:spLocks noChangeArrowheads="1"/>
            </p:cNvSpPr>
            <p:nvPr/>
          </p:nvSpPr>
          <p:spPr bwMode="auto">
            <a:xfrm>
              <a:off x="835" y="3235"/>
              <a:ext cx="53" cy="28"/>
            </a:xfrm>
            <a:custGeom>
              <a:avLst/>
              <a:gdLst>
                <a:gd name="T0" fmla="*/ 0 w 53"/>
                <a:gd name="T1" fmla="*/ 28 h 28"/>
                <a:gd name="T2" fmla="*/ 53 w 53"/>
                <a:gd name="T3" fmla="*/ 28 h 28"/>
                <a:gd name="T4" fmla="*/ 53 w 53"/>
                <a:gd name="T5" fmla="*/ 0 h 28"/>
                <a:gd name="T6" fmla="*/ 0 60000 65536"/>
                <a:gd name="T7" fmla="*/ 0 60000 65536"/>
                <a:gd name="T8" fmla="*/ 0 60000 65536"/>
                <a:gd name="T9" fmla="*/ 0 w 53"/>
                <a:gd name="T10" fmla="*/ 0 h 28"/>
                <a:gd name="T11" fmla="*/ 53 w 53"/>
                <a:gd name="T12" fmla="*/ 28 h 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28">
                  <a:moveTo>
                    <a:pt x="0" y="28"/>
                  </a:moveTo>
                  <a:lnTo>
                    <a:pt x="53" y="28"/>
                  </a:lnTo>
                  <a:lnTo>
                    <a:pt x="53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2" name="Line 757"/>
            <p:cNvSpPr>
              <a:spLocks noChangeShapeType="1"/>
            </p:cNvSpPr>
            <p:nvPr/>
          </p:nvSpPr>
          <p:spPr bwMode="auto">
            <a:xfrm>
              <a:off x="888" y="3235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3" name="Line 758"/>
            <p:cNvSpPr>
              <a:spLocks noChangeShapeType="1"/>
            </p:cNvSpPr>
            <p:nvPr/>
          </p:nvSpPr>
          <p:spPr bwMode="auto">
            <a:xfrm>
              <a:off x="888" y="3216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4" name="Line 759"/>
            <p:cNvSpPr>
              <a:spLocks noChangeShapeType="1"/>
            </p:cNvSpPr>
            <p:nvPr/>
          </p:nvSpPr>
          <p:spPr bwMode="auto">
            <a:xfrm>
              <a:off x="921" y="3082"/>
              <a:ext cx="1" cy="24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5" name="AutoShape 760"/>
            <p:cNvSpPr>
              <a:spLocks noChangeArrowheads="1"/>
            </p:cNvSpPr>
            <p:nvPr/>
          </p:nvSpPr>
          <p:spPr bwMode="auto">
            <a:xfrm>
              <a:off x="959" y="3125"/>
              <a:ext cx="48" cy="33"/>
            </a:xfrm>
            <a:custGeom>
              <a:avLst/>
              <a:gdLst>
                <a:gd name="T0" fmla="*/ 0 w 48"/>
                <a:gd name="T1" fmla="*/ 0 h 33"/>
                <a:gd name="T2" fmla="*/ 0 w 48"/>
                <a:gd name="T3" fmla="*/ 33 h 33"/>
                <a:gd name="T4" fmla="*/ 48 w 48"/>
                <a:gd name="T5" fmla="*/ 33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0" y="0"/>
                  </a:moveTo>
                  <a:lnTo>
                    <a:pt x="0" y="33"/>
                  </a:lnTo>
                  <a:lnTo>
                    <a:pt x="48" y="3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6" name="AutoShape 761"/>
            <p:cNvSpPr>
              <a:spLocks noChangeArrowheads="1"/>
            </p:cNvSpPr>
            <p:nvPr/>
          </p:nvSpPr>
          <p:spPr bwMode="auto">
            <a:xfrm>
              <a:off x="835" y="3125"/>
              <a:ext cx="53" cy="33"/>
            </a:xfrm>
            <a:custGeom>
              <a:avLst/>
              <a:gdLst>
                <a:gd name="T0" fmla="*/ 0 w 53"/>
                <a:gd name="T1" fmla="*/ 33 h 33"/>
                <a:gd name="T2" fmla="*/ 53 w 53"/>
                <a:gd name="T3" fmla="*/ 33 h 33"/>
                <a:gd name="T4" fmla="*/ 53 w 53"/>
                <a:gd name="T5" fmla="*/ 0 h 33"/>
                <a:gd name="T6" fmla="*/ 0 60000 65536"/>
                <a:gd name="T7" fmla="*/ 0 60000 65536"/>
                <a:gd name="T8" fmla="*/ 0 60000 65536"/>
                <a:gd name="T9" fmla="*/ 0 w 53"/>
                <a:gd name="T10" fmla="*/ 0 h 33"/>
                <a:gd name="T11" fmla="*/ 53 w 53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33">
                  <a:moveTo>
                    <a:pt x="0" y="33"/>
                  </a:moveTo>
                  <a:lnTo>
                    <a:pt x="53" y="33"/>
                  </a:lnTo>
                  <a:lnTo>
                    <a:pt x="53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7" name="Line 762"/>
            <p:cNvSpPr>
              <a:spLocks noChangeShapeType="1"/>
            </p:cNvSpPr>
            <p:nvPr/>
          </p:nvSpPr>
          <p:spPr bwMode="auto">
            <a:xfrm>
              <a:off x="888" y="3125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" name="Line 763"/>
            <p:cNvSpPr>
              <a:spLocks noChangeShapeType="1"/>
            </p:cNvSpPr>
            <p:nvPr/>
          </p:nvSpPr>
          <p:spPr bwMode="auto">
            <a:xfrm>
              <a:off x="888" y="3106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" name="Line 764"/>
            <p:cNvSpPr>
              <a:spLocks noChangeShapeType="1"/>
            </p:cNvSpPr>
            <p:nvPr/>
          </p:nvSpPr>
          <p:spPr bwMode="auto">
            <a:xfrm>
              <a:off x="921" y="2977"/>
              <a:ext cx="1" cy="23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0" name="AutoShape 765"/>
            <p:cNvSpPr>
              <a:spLocks noChangeArrowheads="1"/>
            </p:cNvSpPr>
            <p:nvPr/>
          </p:nvSpPr>
          <p:spPr bwMode="auto">
            <a:xfrm>
              <a:off x="959" y="3020"/>
              <a:ext cx="48" cy="33"/>
            </a:xfrm>
            <a:custGeom>
              <a:avLst/>
              <a:gdLst>
                <a:gd name="T0" fmla="*/ 0 w 48"/>
                <a:gd name="T1" fmla="*/ 0 h 33"/>
                <a:gd name="T2" fmla="*/ 0 w 48"/>
                <a:gd name="T3" fmla="*/ 33 h 33"/>
                <a:gd name="T4" fmla="*/ 48 w 48"/>
                <a:gd name="T5" fmla="*/ 33 h 33"/>
                <a:gd name="T6" fmla="*/ 0 60000 65536"/>
                <a:gd name="T7" fmla="*/ 0 60000 65536"/>
                <a:gd name="T8" fmla="*/ 0 60000 65536"/>
                <a:gd name="T9" fmla="*/ 0 w 48"/>
                <a:gd name="T10" fmla="*/ 0 h 33"/>
                <a:gd name="T11" fmla="*/ 48 w 48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33">
                  <a:moveTo>
                    <a:pt x="0" y="0"/>
                  </a:moveTo>
                  <a:lnTo>
                    <a:pt x="0" y="33"/>
                  </a:lnTo>
                  <a:lnTo>
                    <a:pt x="48" y="33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1" name="AutoShape 766"/>
            <p:cNvSpPr>
              <a:spLocks noChangeArrowheads="1"/>
            </p:cNvSpPr>
            <p:nvPr/>
          </p:nvSpPr>
          <p:spPr bwMode="auto">
            <a:xfrm>
              <a:off x="835" y="3020"/>
              <a:ext cx="53" cy="33"/>
            </a:xfrm>
            <a:custGeom>
              <a:avLst/>
              <a:gdLst>
                <a:gd name="T0" fmla="*/ 0 w 53"/>
                <a:gd name="T1" fmla="*/ 33 h 33"/>
                <a:gd name="T2" fmla="*/ 53 w 53"/>
                <a:gd name="T3" fmla="*/ 33 h 33"/>
                <a:gd name="T4" fmla="*/ 53 w 53"/>
                <a:gd name="T5" fmla="*/ 0 h 33"/>
                <a:gd name="T6" fmla="*/ 0 60000 65536"/>
                <a:gd name="T7" fmla="*/ 0 60000 65536"/>
                <a:gd name="T8" fmla="*/ 0 60000 65536"/>
                <a:gd name="T9" fmla="*/ 0 w 53"/>
                <a:gd name="T10" fmla="*/ 0 h 33"/>
                <a:gd name="T11" fmla="*/ 53 w 53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33">
                  <a:moveTo>
                    <a:pt x="0" y="33"/>
                  </a:moveTo>
                  <a:lnTo>
                    <a:pt x="53" y="33"/>
                  </a:lnTo>
                  <a:lnTo>
                    <a:pt x="53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2" name="Line 767"/>
            <p:cNvSpPr>
              <a:spLocks noChangeShapeType="1"/>
            </p:cNvSpPr>
            <p:nvPr/>
          </p:nvSpPr>
          <p:spPr bwMode="auto">
            <a:xfrm>
              <a:off x="888" y="3020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3" name="Line 768"/>
            <p:cNvSpPr>
              <a:spLocks noChangeShapeType="1"/>
            </p:cNvSpPr>
            <p:nvPr/>
          </p:nvSpPr>
          <p:spPr bwMode="auto">
            <a:xfrm>
              <a:off x="888" y="3000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4" name="Line 769"/>
            <p:cNvSpPr>
              <a:spLocks noChangeShapeType="1"/>
            </p:cNvSpPr>
            <p:nvPr/>
          </p:nvSpPr>
          <p:spPr bwMode="auto">
            <a:xfrm>
              <a:off x="921" y="2867"/>
              <a:ext cx="1" cy="28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5" name="AutoShape 770"/>
            <p:cNvSpPr>
              <a:spLocks noChangeArrowheads="1"/>
            </p:cNvSpPr>
            <p:nvPr/>
          </p:nvSpPr>
          <p:spPr bwMode="auto">
            <a:xfrm>
              <a:off x="959" y="2914"/>
              <a:ext cx="48" cy="29"/>
            </a:xfrm>
            <a:custGeom>
              <a:avLst/>
              <a:gdLst>
                <a:gd name="T0" fmla="*/ 0 w 48"/>
                <a:gd name="T1" fmla="*/ 0 h 29"/>
                <a:gd name="T2" fmla="*/ 0 w 48"/>
                <a:gd name="T3" fmla="*/ 29 h 29"/>
                <a:gd name="T4" fmla="*/ 48 w 48"/>
                <a:gd name="T5" fmla="*/ 29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0"/>
                  </a:moveTo>
                  <a:lnTo>
                    <a:pt x="0" y="29"/>
                  </a:lnTo>
                  <a:lnTo>
                    <a:pt x="48" y="29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6" name="AutoShape 771"/>
            <p:cNvSpPr>
              <a:spLocks noChangeArrowheads="1"/>
            </p:cNvSpPr>
            <p:nvPr/>
          </p:nvSpPr>
          <p:spPr bwMode="auto">
            <a:xfrm>
              <a:off x="835" y="2914"/>
              <a:ext cx="53" cy="29"/>
            </a:xfrm>
            <a:custGeom>
              <a:avLst/>
              <a:gdLst>
                <a:gd name="T0" fmla="*/ 0 w 53"/>
                <a:gd name="T1" fmla="*/ 29 h 29"/>
                <a:gd name="T2" fmla="*/ 53 w 53"/>
                <a:gd name="T3" fmla="*/ 29 h 29"/>
                <a:gd name="T4" fmla="*/ 53 w 53"/>
                <a:gd name="T5" fmla="*/ 0 h 29"/>
                <a:gd name="T6" fmla="*/ 0 60000 65536"/>
                <a:gd name="T7" fmla="*/ 0 60000 65536"/>
                <a:gd name="T8" fmla="*/ 0 60000 65536"/>
                <a:gd name="T9" fmla="*/ 0 w 53"/>
                <a:gd name="T10" fmla="*/ 0 h 29"/>
                <a:gd name="T11" fmla="*/ 53 w 53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29">
                  <a:moveTo>
                    <a:pt x="0" y="29"/>
                  </a:moveTo>
                  <a:lnTo>
                    <a:pt x="53" y="29"/>
                  </a:lnTo>
                  <a:lnTo>
                    <a:pt x="53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7" name="Line 772"/>
            <p:cNvSpPr>
              <a:spLocks noChangeShapeType="1"/>
            </p:cNvSpPr>
            <p:nvPr/>
          </p:nvSpPr>
          <p:spPr bwMode="auto">
            <a:xfrm>
              <a:off x="888" y="2914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8" name="Line 773"/>
            <p:cNvSpPr>
              <a:spLocks noChangeShapeType="1"/>
            </p:cNvSpPr>
            <p:nvPr/>
          </p:nvSpPr>
          <p:spPr bwMode="auto">
            <a:xfrm>
              <a:off x="888" y="2895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" name="Line 774"/>
            <p:cNvSpPr>
              <a:spLocks noChangeShapeType="1"/>
            </p:cNvSpPr>
            <p:nvPr/>
          </p:nvSpPr>
          <p:spPr bwMode="auto">
            <a:xfrm>
              <a:off x="921" y="2762"/>
              <a:ext cx="1" cy="23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" name="AutoShape 775"/>
            <p:cNvSpPr>
              <a:spLocks noChangeArrowheads="1"/>
            </p:cNvSpPr>
            <p:nvPr/>
          </p:nvSpPr>
          <p:spPr bwMode="auto">
            <a:xfrm>
              <a:off x="959" y="2809"/>
              <a:ext cx="48" cy="29"/>
            </a:xfrm>
            <a:custGeom>
              <a:avLst/>
              <a:gdLst>
                <a:gd name="T0" fmla="*/ 0 w 48"/>
                <a:gd name="T1" fmla="*/ 0 h 29"/>
                <a:gd name="T2" fmla="*/ 0 w 48"/>
                <a:gd name="T3" fmla="*/ 29 h 29"/>
                <a:gd name="T4" fmla="*/ 48 w 48"/>
                <a:gd name="T5" fmla="*/ 29 h 29"/>
                <a:gd name="T6" fmla="*/ 0 60000 65536"/>
                <a:gd name="T7" fmla="*/ 0 60000 65536"/>
                <a:gd name="T8" fmla="*/ 0 60000 65536"/>
                <a:gd name="T9" fmla="*/ 0 w 48"/>
                <a:gd name="T10" fmla="*/ 0 h 29"/>
                <a:gd name="T11" fmla="*/ 48 w 48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9">
                  <a:moveTo>
                    <a:pt x="0" y="0"/>
                  </a:moveTo>
                  <a:lnTo>
                    <a:pt x="0" y="29"/>
                  </a:lnTo>
                  <a:lnTo>
                    <a:pt x="48" y="29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1" name="AutoShape 776"/>
            <p:cNvSpPr>
              <a:spLocks noChangeArrowheads="1"/>
            </p:cNvSpPr>
            <p:nvPr/>
          </p:nvSpPr>
          <p:spPr bwMode="auto">
            <a:xfrm>
              <a:off x="835" y="2809"/>
              <a:ext cx="53" cy="29"/>
            </a:xfrm>
            <a:custGeom>
              <a:avLst/>
              <a:gdLst>
                <a:gd name="T0" fmla="*/ 0 w 53"/>
                <a:gd name="T1" fmla="*/ 29 h 29"/>
                <a:gd name="T2" fmla="*/ 53 w 53"/>
                <a:gd name="T3" fmla="*/ 29 h 29"/>
                <a:gd name="T4" fmla="*/ 53 w 53"/>
                <a:gd name="T5" fmla="*/ 0 h 29"/>
                <a:gd name="T6" fmla="*/ 0 60000 65536"/>
                <a:gd name="T7" fmla="*/ 0 60000 65536"/>
                <a:gd name="T8" fmla="*/ 0 60000 65536"/>
                <a:gd name="T9" fmla="*/ 0 w 53"/>
                <a:gd name="T10" fmla="*/ 0 h 29"/>
                <a:gd name="T11" fmla="*/ 53 w 53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" h="29">
                  <a:moveTo>
                    <a:pt x="0" y="29"/>
                  </a:moveTo>
                  <a:lnTo>
                    <a:pt x="53" y="29"/>
                  </a:lnTo>
                  <a:lnTo>
                    <a:pt x="53" y="0"/>
                  </a:lnTo>
                </a:path>
              </a:pathLst>
            </a:cu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2" name="Line 777"/>
            <p:cNvSpPr>
              <a:spLocks noChangeShapeType="1"/>
            </p:cNvSpPr>
            <p:nvPr/>
          </p:nvSpPr>
          <p:spPr bwMode="auto">
            <a:xfrm>
              <a:off x="888" y="2809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3" name="Line 778"/>
            <p:cNvSpPr>
              <a:spLocks noChangeShapeType="1"/>
            </p:cNvSpPr>
            <p:nvPr/>
          </p:nvSpPr>
          <p:spPr bwMode="auto">
            <a:xfrm>
              <a:off x="888" y="2790"/>
              <a:ext cx="71" cy="1"/>
            </a:xfrm>
            <a:prstGeom prst="line">
              <a:avLst/>
            </a:prstGeom>
            <a:noFill/>
            <a:ln w="14400">
              <a:solidFill>
                <a:srgbClr val="999999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03238"/>
            <a:ext cx="7772400" cy="868362"/>
          </a:xfrm>
        </p:spPr>
        <p:txBody>
          <a:bodyPr>
            <a:noAutofit/>
          </a:bodyPr>
          <a:lstStyle/>
          <a:p>
            <a:r>
              <a:rPr lang="en-US" dirty="0"/>
              <a:t>Digital design flow for FPGAs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3048000"/>
            <a:ext cx="8534400" cy="33496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</p:pic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7315200" y="4800600"/>
            <a:ext cx="1447800" cy="685800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 bwMode="auto">
          <a:xfrm>
            <a:off x="609600" y="6248400"/>
            <a:ext cx="8077200" cy="457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/>
          <a:p>
            <a:r>
              <a:rPr lang="en-US" dirty="0">
                <a:solidFill>
                  <a:schemeClr val="tx1"/>
                </a:solidFill>
              </a:rPr>
              <a:t>Picture Source: CEIT212 at </a:t>
            </a:r>
            <a:r>
              <a:rPr lang="en-US" dirty="0" err="1">
                <a:solidFill>
                  <a:schemeClr val="tx1"/>
                </a:solidFill>
              </a:rPr>
              <a:t>Amirkabir</a:t>
            </a:r>
            <a:r>
              <a:rPr lang="en-US" dirty="0">
                <a:solidFill>
                  <a:schemeClr val="tx1"/>
                </a:solidFill>
              </a:rPr>
              <a:t> U. of Tech., Lecture 10, by Dr </a:t>
            </a:r>
            <a:r>
              <a:rPr lang="en-US" dirty="0" err="1">
                <a:solidFill>
                  <a:schemeClr val="tx1"/>
                </a:solidFill>
              </a:rPr>
              <a:t>Saheb-zamani</a:t>
            </a:r>
            <a:r>
              <a:rPr lang="en-US" dirty="0">
                <a:solidFill>
                  <a:schemeClr val="tx1"/>
                </a:solidFill>
              </a:rPr>
              <a:t>, with modifications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371600"/>
            <a:ext cx="762000" cy="1200329"/>
          </a:xfrm>
          <a:prstGeom prst="rect">
            <a:avLst/>
          </a:prstGeom>
          <a:ln w="25400" cap="rnd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VHDL</a:t>
            </a:r>
          </a:p>
          <a:p>
            <a:r>
              <a:rPr lang="en-US" dirty="0"/>
              <a:t>…..</a:t>
            </a:r>
          </a:p>
          <a:p>
            <a:r>
              <a:rPr lang="en-US" dirty="0"/>
              <a:t>…..</a:t>
            </a:r>
          </a:p>
          <a:p>
            <a:r>
              <a:rPr lang="en-US" dirty="0"/>
              <a:t>…..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914400" y="2286000"/>
            <a:ext cx="14478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4800" y="4953000"/>
            <a:ext cx="14478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Logic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2667000"/>
            <a:ext cx="1524000" cy="369332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1200" y="5029200"/>
            <a:ext cx="1447800" cy="577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i="1" dirty="0"/>
              <a:t>Partitioning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0" y="5029200"/>
            <a:ext cx="1447800" cy="577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i="1" dirty="0"/>
              <a:t>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2600" y="5029200"/>
            <a:ext cx="1447800" cy="577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i="1" dirty="0"/>
              <a:t>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2200" y="5943600"/>
            <a:ext cx="419100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b="1" i="1" dirty="0"/>
              <a:t>Physical Design (Layout Synthesis)</a:t>
            </a:r>
          </a:p>
        </p:txBody>
      </p:sp>
    </p:spTree>
    <p:extLst>
      <p:ext uri="{BB962C8B-B14F-4D97-AF65-F5344CB8AC3E}">
        <p14:creationId xmlns:p14="http://schemas.microsoft.com/office/powerpoint/2010/main" val="4095135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endParaRPr lang="el-GR" dirty="0"/>
          </a:p>
        </p:txBody>
      </p:sp>
      <p:graphicFrame>
        <p:nvGraphicFramePr>
          <p:cNvPr id="2662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83381" y="2466975"/>
          <a:ext cx="6675437" cy="411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676044" imgH="4109991" progId="Visio.Drawing.11">
                  <p:embed/>
                </p:oleObj>
              </mc:Choice>
              <mc:Fallback>
                <p:oleObj name="Visio" r:id="rId2" imgW="6676044" imgH="4109991" progId="Visio.Drawing.11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81" y="2466975"/>
                        <a:ext cx="6675437" cy="411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8000" y="1517650"/>
            <a:ext cx="8229600" cy="121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Determine the configuration bits for the following circuit implementation in a 2x2 FPGA, with I/O constraints as shown in the following figure. Assume 2-input LUTs in each CLB.</a:t>
            </a:r>
          </a:p>
          <a:p>
            <a:pPr>
              <a:lnSpc>
                <a:spcPct val="90000"/>
              </a:lnSpc>
            </a:pPr>
            <a:endParaRPr lang="el-GR" sz="2000" dirty="0"/>
          </a:p>
        </p:txBody>
      </p:sp>
      <p:sp>
        <p:nvSpPr>
          <p:cNvPr id="6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162873" y="6394450"/>
            <a:ext cx="441016" cy="365125"/>
          </a:xfrm>
        </p:spPr>
        <p:txBody>
          <a:bodyPr/>
          <a:lstStyle/>
          <a:p>
            <a:fld id="{38E280DA-B14F-CC4F-BCB5-BD52643537A5}" type="slidenum">
              <a:rPr lang="en-US" smtClean="0"/>
              <a:t>11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4495800"/>
            <a:ext cx="4038600" cy="2154069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4076700" y="3651250"/>
            <a:ext cx="1447800" cy="914400"/>
          </a:xfrm>
          <a:prstGeom prst="straightConnector1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894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CLB structure </a:t>
            </a:r>
            <a:endParaRPr lang="el-GR" dirty="0"/>
          </a:p>
        </p:txBody>
      </p:sp>
      <p:graphicFrame>
        <p:nvGraphicFramePr>
          <p:cNvPr id="2662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83381" y="2466975"/>
          <a:ext cx="6675437" cy="411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676044" imgH="4109991" progId="Visio.Drawing.11">
                  <p:embed/>
                </p:oleObj>
              </mc:Choice>
              <mc:Fallback>
                <p:oleObj name="Visio" r:id="rId2" imgW="6676044" imgH="4109991" progId="Visio.Drawing.11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81" y="2466975"/>
                        <a:ext cx="6675437" cy="411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8000" y="1517650"/>
            <a:ext cx="8229600" cy="121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Determine the configuration bits for the following circuit implementation in a 2x2 FPGA, with I/O constraints as shown in the following figure. Assume 2-input LUTs in each CLB.</a:t>
            </a:r>
          </a:p>
          <a:p>
            <a:pPr>
              <a:lnSpc>
                <a:spcPct val="90000"/>
              </a:lnSpc>
            </a:pPr>
            <a:endParaRPr lang="el-GR" sz="2000" dirty="0"/>
          </a:p>
        </p:txBody>
      </p:sp>
      <p:graphicFrame>
        <p:nvGraphicFramePr>
          <p:cNvPr id="26630" name="Object 6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522809634"/>
              </p:ext>
            </p:extLst>
          </p:nvPr>
        </p:nvGraphicFramePr>
        <p:xfrm>
          <a:off x="4953000" y="3697061"/>
          <a:ext cx="3733800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678176" imgH="702446" progId="Visio.Drawing.11">
                  <p:embed/>
                </p:oleObj>
              </mc:Choice>
              <mc:Fallback>
                <p:oleObj name="Visio" r:id="rId4" imgW="2678176" imgH="702446" progId="Visio.Drawing.11">
                  <p:embed/>
                  <p:pic>
                    <p:nvPicPr>
                      <p:cNvPr id="26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697061"/>
                        <a:ext cx="3733800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162873" y="6394450"/>
            <a:ext cx="441016" cy="365125"/>
          </a:xfrm>
        </p:spPr>
        <p:txBody>
          <a:bodyPr/>
          <a:lstStyle/>
          <a:p>
            <a:fld id="{38E280DA-B14F-CC4F-BCB5-BD52643537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27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box structure</a:t>
            </a:r>
            <a:endParaRPr lang="el-GR" dirty="0"/>
          </a:p>
        </p:txBody>
      </p:sp>
      <p:graphicFrame>
        <p:nvGraphicFramePr>
          <p:cNvPr id="22532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3175" y="2117725"/>
          <a:ext cx="7080250" cy="435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676044" imgH="4109991" progId="Visio.Drawing.11">
                  <p:embed/>
                </p:oleObj>
              </mc:Choice>
              <mc:Fallback>
                <p:oleObj name="Visio" r:id="rId2" imgW="6676044" imgH="4109991" progId="Visio.Drawing.11">
                  <p:embed/>
                  <p:pic>
                    <p:nvPicPr>
                      <p:cNvPr id="225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" y="2117725"/>
                        <a:ext cx="7080250" cy="4359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667000" y="1752600"/>
          <a:ext cx="5562600" cy="247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125585" imgH="1388985" progId="Visio.Drawing.11">
                  <p:embed/>
                </p:oleObj>
              </mc:Choice>
              <mc:Fallback>
                <p:oleObj name="Visio" r:id="rId4" imgW="3125585" imgH="1388985" progId="Visio.Drawing.11">
                  <p:embed/>
                  <p:pic>
                    <p:nvPicPr>
                      <p:cNvPr id="225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752600"/>
                        <a:ext cx="5562600" cy="247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uppo 2"/>
          <p:cNvGrpSpPr/>
          <p:nvPr/>
        </p:nvGrpSpPr>
        <p:grpSpPr>
          <a:xfrm>
            <a:off x="1524000" y="2117725"/>
            <a:ext cx="6334124" cy="2530475"/>
            <a:chOff x="1524000" y="2117725"/>
            <a:chExt cx="6334124" cy="2530475"/>
          </a:xfrm>
        </p:grpSpPr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 flipH="1">
              <a:off x="1793873" y="2117725"/>
              <a:ext cx="1143001" cy="156087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2540" name="Oval 12"/>
            <p:cNvSpPr>
              <a:spLocks noChangeArrowheads="1"/>
            </p:cNvSpPr>
            <p:nvPr/>
          </p:nvSpPr>
          <p:spPr bwMode="auto">
            <a:xfrm>
              <a:off x="1524000" y="3657600"/>
              <a:ext cx="990600" cy="9906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2541" name="Line 13"/>
            <p:cNvSpPr>
              <a:spLocks noChangeShapeType="1"/>
            </p:cNvSpPr>
            <p:nvPr/>
          </p:nvSpPr>
          <p:spPr bwMode="auto">
            <a:xfrm flipH="1">
              <a:off x="2133599" y="4016375"/>
              <a:ext cx="5724525" cy="6318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2542" name="Oval 14"/>
          <p:cNvSpPr>
            <a:spLocks noChangeArrowheads="1"/>
          </p:cNvSpPr>
          <p:nvPr/>
        </p:nvSpPr>
        <p:spPr bwMode="auto">
          <a:xfrm>
            <a:off x="3124200" y="3429000"/>
            <a:ext cx="381000" cy="304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2543" name="Oval 15"/>
          <p:cNvSpPr>
            <a:spLocks noChangeArrowheads="1"/>
          </p:cNvSpPr>
          <p:nvPr/>
        </p:nvSpPr>
        <p:spPr bwMode="auto">
          <a:xfrm>
            <a:off x="5867400" y="1828800"/>
            <a:ext cx="2362200" cy="1828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3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73152" y="6168850"/>
            <a:ext cx="460248" cy="460550"/>
          </a:xfrm>
        </p:spPr>
        <p:txBody>
          <a:bodyPr/>
          <a:lstStyle/>
          <a:p>
            <a:fld id="{38E280DA-B14F-CC4F-BCB5-BD52643537A5}" type="slidenum">
              <a:rPr lang="en-US" smtClean="0"/>
              <a:t>13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81000" y="6479823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sz="1100" dirty="0"/>
              <a:t>Slides taken from Antonio R. Miele Marco D. Santambrogio Politecnico di Milano</a:t>
            </a:r>
          </a:p>
        </p:txBody>
      </p:sp>
    </p:spTree>
    <p:extLst>
      <p:ext uri="{BB962C8B-B14F-4D97-AF65-F5344CB8AC3E}">
        <p14:creationId xmlns:p14="http://schemas.microsoft.com/office/powerpoint/2010/main" val="362275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CLBs configuration</a:t>
            </a:r>
            <a:endParaRPr lang="el-GR" sz="4000" dirty="0"/>
          </a:p>
        </p:txBody>
      </p:sp>
      <p:graphicFrame>
        <p:nvGraphicFramePr>
          <p:cNvPr id="2765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602568" y="1712598"/>
          <a:ext cx="5542469" cy="174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864381" imgH="904043" progId="Visio.Drawing.11">
                  <p:embed/>
                </p:oleObj>
              </mc:Choice>
              <mc:Fallback>
                <p:oleObj name="Visio" r:id="rId2" imgW="2864381" imgH="904043" progId="Visio.Drawing.11">
                  <p:embed/>
                  <p:pic>
                    <p:nvPicPr>
                      <p:cNvPr id="27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2568" y="1712598"/>
                        <a:ext cx="5542469" cy="1748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352015744"/>
              </p:ext>
            </p:extLst>
          </p:nvPr>
        </p:nvGraphicFramePr>
        <p:xfrm>
          <a:off x="457200" y="3676650"/>
          <a:ext cx="4343400" cy="189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790966" imgH="2086093" progId="Visio.Drawing.11">
                  <p:embed/>
                </p:oleObj>
              </mc:Choice>
              <mc:Fallback>
                <p:oleObj name="Visio" r:id="rId4" imgW="4790966" imgH="2086093" progId="Visio.Drawing.11">
                  <p:embed/>
                  <p:pic>
                    <p:nvPicPr>
                      <p:cNvPr id="276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676650"/>
                        <a:ext cx="4343400" cy="189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419600" y="3649663"/>
          <a:ext cx="4724400" cy="206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4806604" imgH="2099939" progId="Visio.Drawing.11">
                  <p:embed/>
                </p:oleObj>
              </mc:Choice>
              <mc:Fallback>
                <p:oleObj name="Visio" r:id="rId6" imgW="4806604" imgH="2099939" progId="Visio.Drawing.11">
                  <p:embed/>
                  <p:pic>
                    <p:nvPicPr>
                      <p:cNvPr id="276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649663"/>
                        <a:ext cx="4724400" cy="206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228600" y="6324600"/>
            <a:ext cx="364816" cy="365125"/>
          </a:xfrm>
        </p:spPr>
        <p:txBody>
          <a:bodyPr/>
          <a:lstStyle/>
          <a:p>
            <a:fld id="{38E280DA-B14F-CC4F-BCB5-BD52643537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48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Placement: Select CLBs</a:t>
            </a:r>
            <a:endParaRPr lang="el-G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72716" y="6369050"/>
            <a:ext cx="460684" cy="365125"/>
          </a:xfrm>
        </p:spPr>
        <p:txBody>
          <a:bodyPr/>
          <a:lstStyle/>
          <a:p>
            <a:fld id="{38E280DA-B14F-CC4F-BCB5-BD52643537A5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475839"/>
              </p:ext>
            </p:extLst>
          </p:nvPr>
        </p:nvGraphicFramePr>
        <p:xfrm>
          <a:off x="0" y="3429000"/>
          <a:ext cx="3807632" cy="1200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864381" imgH="904043" progId="Visio.Drawing.11">
                  <p:embed/>
                </p:oleObj>
              </mc:Choice>
              <mc:Fallback>
                <p:oleObj name="Visio" r:id="rId2" imgW="2864381" imgH="904043" progId="Visio.Drawing.11">
                  <p:embed/>
                  <p:pic>
                    <p:nvPicPr>
                      <p:cNvPr id="27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29000"/>
                        <a:ext cx="3807632" cy="1200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8107" y="2275889"/>
            <a:ext cx="3265538" cy="350718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1752600" y="2971800"/>
            <a:ext cx="2743200" cy="4572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817032" y="4114800"/>
            <a:ext cx="1678768" cy="90124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Object 7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154199002"/>
              </p:ext>
            </p:extLst>
          </p:nvPr>
        </p:nvGraphicFramePr>
        <p:xfrm>
          <a:off x="1870135" y="1482089"/>
          <a:ext cx="2854759" cy="1242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790966" imgH="2086093" progId="Visio.Drawing.11">
                  <p:embed/>
                </p:oleObj>
              </mc:Choice>
              <mc:Fallback>
                <p:oleObj name="Visio" r:id="rId5" imgW="4790966" imgH="2086093" progId="Visio.Drawing.11">
                  <p:embed/>
                  <p:pic>
                    <p:nvPicPr>
                      <p:cNvPr id="276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135" y="1482089"/>
                        <a:ext cx="2854759" cy="1242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091587910"/>
              </p:ext>
            </p:extLst>
          </p:nvPr>
        </p:nvGraphicFramePr>
        <p:xfrm>
          <a:off x="1469030" y="5434250"/>
          <a:ext cx="2973542" cy="129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4806604" imgH="2099939" progId="Visio.Drawing.11">
                  <p:embed/>
                </p:oleObj>
              </mc:Choice>
              <mc:Fallback>
                <p:oleObj name="Visio" r:id="rId7" imgW="4806604" imgH="2099939" progId="Visio.Drawing.11">
                  <p:embed/>
                  <p:pic>
                    <p:nvPicPr>
                      <p:cNvPr id="276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030" y="5434250"/>
                        <a:ext cx="2973542" cy="129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7404177" y="3000375"/>
            <a:ext cx="1676400" cy="2336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CLB0: 00011</a:t>
            </a:r>
          </a:p>
          <a:p>
            <a:pPr>
              <a:lnSpc>
                <a:spcPct val="90000"/>
              </a:lnSpc>
            </a:pPr>
            <a:r>
              <a:rPr lang="en-US" dirty="0"/>
              <a:t>CLB1: ?????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CLB2: 01100</a:t>
            </a:r>
          </a:p>
          <a:p>
            <a:pPr>
              <a:lnSpc>
                <a:spcPct val="90000"/>
              </a:lnSpc>
            </a:pPr>
            <a:r>
              <a:rPr lang="en-US" dirty="0"/>
              <a:t>CLB3: XXXXX</a:t>
            </a:r>
          </a:p>
          <a:p>
            <a:pPr>
              <a:lnSpc>
                <a:spcPct val="90000"/>
              </a:lnSpc>
            </a:pPr>
            <a:r>
              <a:rPr lang="en-US" dirty="0"/>
              <a:t>SB0: 000000</a:t>
            </a:r>
          </a:p>
          <a:p>
            <a:pPr>
              <a:lnSpc>
                <a:spcPct val="90000"/>
              </a:lnSpc>
            </a:pPr>
            <a:r>
              <a:rPr lang="en-US" dirty="0"/>
              <a:t>SB1: 000010</a:t>
            </a:r>
          </a:p>
          <a:p>
            <a:pPr>
              <a:lnSpc>
                <a:spcPct val="90000"/>
              </a:lnSpc>
            </a:pPr>
            <a:r>
              <a:rPr lang="en-US" dirty="0"/>
              <a:t>SB2: 000000</a:t>
            </a:r>
          </a:p>
          <a:p>
            <a:pPr>
              <a:lnSpc>
                <a:spcPct val="90000"/>
              </a:lnSpc>
            </a:pPr>
            <a:r>
              <a:rPr lang="en-US" dirty="0"/>
              <a:t>SB3: 000000</a:t>
            </a:r>
          </a:p>
          <a:p>
            <a:pPr>
              <a:lnSpc>
                <a:spcPct val="90000"/>
              </a:lnSpc>
            </a:pPr>
            <a:r>
              <a:rPr lang="en-US" dirty="0"/>
              <a:t>SB4: 000001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184302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Routing: Select path</a:t>
            </a:r>
            <a:endParaRPr lang="el-GR" sz="4000"/>
          </a:p>
        </p:txBody>
      </p:sp>
      <p:graphicFrame>
        <p:nvGraphicFramePr>
          <p:cNvPr id="29700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0053203"/>
              </p:ext>
            </p:extLst>
          </p:nvPr>
        </p:nvGraphicFramePr>
        <p:xfrm>
          <a:off x="0" y="1714500"/>
          <a:ext cx="8316913" cy="511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658003" imgH="4095671" progId="Visio.Drawing.11">
                  <p:embed/>
                </p:oleObj>
              </mc:Choice>
              <mc:Fallback>
                <p:oleObj name="Visio" r:id="rId2" imgW="6658003" imgH="4095671" progId="Visio.Drawing.11">
                  <p:embed/>
                  <p:pic>
                    <p:nvPicPr>
                      <p:cNvPr id="29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14500"/>
                        <a:ext cx="8316913" cy="511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0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863094257"/>
              </p:ext>
            </p:extLst>
          </p:nvPr>
        </p:nvGraphicFramePr>
        <p:xfrm>
          <a:off x="5364162" y="2146300"/>
          <a:ext cx="1630363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123891" imgH="5124424" progId="Visio.Drawing.11">
                  <p:embed/>
                </p:oleObj>
              </mc:Choice>
              <mc:Fallback>
                <p:oleObj name="Visio" r:id="rId4" imgW="2123891" imgH="5124424" progId="Visio.Drawing.11">
                  <p:embed/>
                  <p:pic>
                    <p:nvPicPr>
                      <p:cNvPr id="297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2" y="2146300"/>
                        <a:ext cx="1630363" cy="3933825"/>
                      </a:xfrm>
                      <a:prstGeom prst="rect">
                        <a:avLst/>
                      </a:prstGeom>
                      <a:extLst>
                        <a:ext uri="{FAA26D3D-D897-4be2-8F04-BA451C77F1D7}">
                          <ma14:placeholderFlag xmlns:ma14="http://schemas.microsoft.com/office/mac/drawingml/2011/main" xmlns="" val="1"/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228600" y="6363329"/>
            <a:ext cx="364816" cy="365125"/>
          </a:xfrm>
        </p:spPr>
        <p:txBody>
          <a:bodyPr/>
          <a:lstStyle/>
          <a:p>
            <a:fld id="{38E280DA-B14F-CC4F-BCB5-BD52643537A5}" type="slidenum">
              <a:rPr lang="en-US" smtClean="0"/>
              <a:t>16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404177" y="3000375"/>
            <a:ext cx="1676400" cy="2336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CLB0: 00011</a:t>
            </a:r>
          </a:p>
          <a:p>
            <a:pPr>
              <a:lnSpc>
                <a:spcPct val="90000"/>
              </a:lnSpc>
            </a:pPr>
            <a:r>
              <a:rPr lang="en-US" dirty="0"/>
              <a:t>CLB1: ?????</a:t>
            </a:r>
          </a:p>
          <a:p>
            <a:pPr>
              <a:lnSpc>
                <a:spcPct val="90000"/>
              </a:lnSpc>
            </a:pPr>
            <a:r>
              <a:rPr lang="en-US" dirty="0"/>
              <a:t>CLB2: 01100</a:t>
            </a:r>
          </a:p>
          <a:p>
            <a:pPr>
              <a:lnSpc>
                <a:spcPct val="90000"/>
              </a:lnSpc>
            </a:pPr>
            <a:r>
              <a:rPr lang="en-US" dirty="0"/>
              <a:t>CLB3: XXXXX</a:t>
            </a:r>
          </a:p>
          <a:p>
            <a:pPr>
              <a:lnSpc>
                <a:spcPct val="90000"/>
              </a:lnSpc>
            </a:pPr>
            <a:r>
              <a:rPr lang="en-US" dirty="0"/>
              <a:t>SB0: 000000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SB1: 000010</a:t>
            </a:r>
          </a:p>
          <a:p>
            <a:pPr>
              <a:lnSpc>
                <a:spcPct val="90000"/>
              </a:lnSpc>
            </a:pPr>
            <a:r>
              <a:rPr lang="en-US" dirty="0"/>
              <a:t>SB2: 000000</a:t>
            </a:r>
          </a:p>
          <a:p>
            <a:pPr>
              <a:lnSpc>
                <a:spcPct val="90000"/>
              </a:lnSpc>
            </a:pPr>
            <a:r>
              <a:rPr lang="en-US" dirty="0"/>
              <a:t>SB3: 000000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SB4: 000001</a:t>
            </a:r>
            <a:endParaRPr lang="el-G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018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Configuration Bitstream</a:t>
            </a:r>
            <a:endParaRPr lang="el-GR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The configuration </a:t>
            </a:r>
            <a:r>
              <a:rPr lang="en-US" sz="2400" dirty="0" err="1"/>
              <a:t>bitstream</a:t>
            </a:r>
            <a:r>
              <a:rPr lang="en-US" sz="2400" dirty="0"/>
              <a:t> must include ALL CLBs and SBs, even unused ones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CLB0: 00011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CLB1: ?????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CLB2: 01100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CLB3: XXXXX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SB0: 000000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SB1: 000010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SB2: 000000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SB3: 000000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SB4: 000001</a:t>
            </a:r>
            <a:endParaRPr lang="el-GR" sz="240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228600" y="6248400"/>
            <a:ext cx="364816" cy="365125"/>
          </a:xfrm>
        </p:spPr>
        <p:txBody>
          <a:bodyPr/>
          <a:lstStyle/>
          <a:p>
            <a:fld id="{38E280DA-B14F-CC4F-BCB5-BD52643537A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452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bit-stream is loaded into the FPGA serially through some special input pins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2667000"/>
            <a:ext cx="6828792" cy="38290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1825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of the SRAM configuration cells as comprising a long shift register.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62225"/>
            <a:ext cx="606425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7319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SRAM-based FPGAs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3657600" cy="5029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reasonably high-end device could easily contain 25 million such cells!</a:t>
            </a:r>
          </a:p>
          <a:p>
            <a:r>
              <a:rPr lang="en-US" dirty="0"/>
              <a:t>Solution: group flip-flops into shorter—say 1,024— shift registers</a:t>
            </a:r>
          </a:p>
          <a:p>
            <a:r>
              <a:rPr lang="en-US" dirty="0"/>
              <a:t>This group is called a </a:t>
            </a:r>
            <a:r>
              <a:rPr lang="en-US" i="1" dirty="0"/>
              <a:t>frame</a:t>
            </a:r>
            <a:r>
              <a:rPr lang="en-US" dirty="0"/>
              <a:t>.</a:t>
            </a:r>
          </a:p>
          <a:p>
            <a:r>
              <a:rPr lang="en-US" dirty="0"/>
              <a:t>special-purpose internal circuitry automatically parallel copies/loads this data into the frames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642" y="2057400"/>
            <a:ext cx="4463758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069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Propagation delay through the routing is a major factor in FPGA performance.</a:t>
            </a:r>
          </a:p>
          <a:p>
            <a:pPr>
              <a:lnSpc>
                <a:spcPct val="90000"/>
              </a:lnSpc>
            </a:pPr>
            <a:r>
              <a:rPr lang="en-US" dirty="0"/>
              <a:t>After routing an FPGA, the exact segments and switches used to establish the net are known and the delay from the driving output to each input can be computed.</a:t>
            </a:r>
          </a:p>
          <a:p>
            <a:pPr>
              <a:lnSpc>
                <a:spcPct val="90000"/>
              </a:lnSpc>
            </a:pPr>
            <a:r>
              <a:rPr lang="en-US" dirty="0"/>
              <a:t>Any programmable switch (EPROM, pass-transistor, or </a:t>
            </a:r>
            <a:r>
              <a:rPr lang="en-US" dirty="0" err="1"/>
              <a:t>antifuse</a:t>
            </a:r>
            <a:r>
              <a:rPr lang="en-US" dirty="0"/>
              <a:t>) has a significant resistance and capacitance. Each time a signal passes through a programmable switch, another RC stage is added to the propagation delay.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47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fixed R and C, the propagation delay mounts </a:t>
            </a:r>
            <a:r>
              <a:rPr lang="en-US" dirty="0" err="1"/>
              <a:t>quadratically</a:t>
            </a:r>
            <a:r>
              <a:rPr lang="en-US" dirty="0"/>
              <a:t> with the number of series RC stages. </a:t>
            </a:r>
          </a:p>
          <a:p>
            <a:r>
              <a:rPr lang="en-US" dirty="0"/>
              <a:t>The use of a low resistance switch, such as </a:t>
            </a:r>
            <a:r>
              <a:rPr lang="en-US" dirty="0" err="1"/>
              <a:t>antifuse</a:t>
            </a:r>
            <a:r>
              <a:rPr lang="en-US" dirty="0"/>
              <a:t>, keeps the delay low and its distribution tight. </a:t>
            </a:r>
          </a:p>
          <a:p>
            <a:r>
              <a:rPr lang="en-US" dirty="0"/>
              <a:t>Of equal significance is optimization of the routing architecture.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76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interconnects- wires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914400" y="1447800"/>
            <a:ext cx="7772400" cy="3276600"/>
          </a:xfrm>
          <a:prstGeom prst="rect">
            <a:avLst/>
          </a:prstGeom>
        </p:spPr>
        <p:txBody>
          <a:bodyPr/>
          <a:lstStyle/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600" dirty="0"/>
              <a:t>Typically, an FPGA contains a mix of segment lengths:</a:t>
            </a:r>
          </a:p>
          <a:p>
            <a:pPr marL="731520" lvl="1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400" dirty="0"/>
              <a:t>Some wires that span only one logic block</a:t>
            </a:r>
          </a:p>
          <a:p>
            <a:pPr marL="731520" lvl="1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400" dirty="0"/>
              <a:t>Some wires that span more than one logic block</a:t>
            </a:r>
          </a:p>
          <a:p>
            <a:pPr marL="731520" lvl="1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400" dirty="0"/>
              <a:t>Some wires that span the whole chip</a:t>
            </a:r>
          </a:p>
          <a:p>
            <a:pPr marL="274320" lvl="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600" dirty="0"/>
              <a:t>If a segment is too short, must traverse many segments to reach your destination</a:t>
            </a:r>
          </a:p>
          <a:p>
            <a:pPr marL="731520" lvl="1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400" dirty="0"/>
              <a:t>If a segment is too long, waste routing capacity, extra capacitance: too slow!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34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4648200"/>
            <a:ext cx="195262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interconnects- wires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371600"/>
            <a:ext cx="3124200" cy="207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0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3581400"/>
            <a:ext cx="5057060" cy="277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867400" y="1600200"/>
            <a:ext cx="327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/>
              <a:t>Short segments are good for local connections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Long segments are good for global connections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Most FPGA’s have a variety of segment lengths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74" y="1295400"/>
            <a:ext cx="8742363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wires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51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Interconnects in modern FPGAs</a:t>
            </a:r>
            <a:endParaRPr lang="en-CA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3657600" cy="4724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Example: Artix-7</a:t>
            </a:r>
          </a:p>
          <a:p>
            <a:r>
              <a:rPr lang="en-US" dirty="0"/>
              <a:t>Connections between CLBs and other resources use the fabric routing resources</a:t>
            </a:r>
          </a:p>
          <a:p>
            <a:r>
              <a:rPr lang="en-US" dirty="0"/>
              <a:t>Routes connect resources vertically, horizontally, and </a:t>
            </a:r>
            <a:r>
              <a:rPr lang="en-US" dirty="0">
                <a:solidFill>
                  <a:srgbClr val="FF0000"/>
                </a:solidFill>
              </a:rPr>
              <a:t>diagonally</a:t>
            </a:r>
          </a:p>
          <a:p>
            <a:r>
              <a:rPr lang="en-US" dirty="0"/>
              <a:t>Wires have different lengths Horizontal: Single, Dual, Quad, Long (12) </a:t>
            </a:r>
          </a:p>
          <a:p>
            <a:pPr lvl="1"/>
            <a:r>
              <a:rPr lang="en-US" dirty="0"/>
              <a:t>Vertical: Single, Dual, Hex, Long (18)</a:t>
            </a:r>
          </a:p>
          <a:p>
            <a:pPr lvl="1"/>
            <a:r>
              <a:rPr lang="en-US" dirty="0"/>
              <a:t>Diagonal: Single, Dual, Hex</a:t>
            </a:r>
          </a:p>
          <a:p>
            <a:endParaRPr lang="en-CA" dirty="0"/>
          </a:p>
        </p:txBody>
      </p:sp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828800"/>
            <a:ext cx="3895725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69976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technology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143000"/>
          </a:xfrm>
        </p:spPr>
        <p:txBody>
          <a:bodyPr/>
          <a:lstStyle/>
          <a:p>
            <a:r>
              <a:rPr lang="en-US" dirty="0"/>
              <a:t>Must use a programmable technology to implement the reconfigurable parts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2650" y="3505200"/>
            <a:ext cx="19621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215"/>
          <p:cNvGrpSpPr>
            <a:grpSpLocks/>
          </p:cNvGrpSpPr>
          <p:nvPr/>
        </p:nvGrpSpPr>
        <p:grpSpPr bwMode="auto">
          <a:xfrm>
            <a:off x="457200" y="2514600"/>
            <a:ext cx="3727450" cy="3084512"/>
            <a:chOff x="2738" y="1337"/>
            <a:chExt cx="2818" cy="2172"/>
          </a:xfrm>
        </p:grpSpPr>
        <p:sp>
          <p:nvSpPr>
            <p:cNvPr id="7" name="Rectangle 216"/>
            <p:cNvSpPr>
              <a:spLocks noChangeArrowheads="1"/>
            </p:cNvSpPr>
            <p:nvPr/>
          </p:nvSpPr>
          <p:spPr bwMode="auto">
            <a:xfrm>
              <a:off x="3200" y="1349"/>
              <a:ext cx="501" cy="1341"/>
            </a:xfrm>
            <a:prstGeom prst="rect">
              <a:avLst/>
            </a:prstGeom>
            <a:noFill/>
            <a:ln w="333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217"/>
            <p:cNvSpPr>
              <a:spLocks noChangeShapeType="1"/>
            </p:cNvSpPr>
            <p:nvPr/>
          </p:nvSpPr>
          <p:spPr bwMode="auto">
            <a:xfrm>
              <a:off x="2933" y="2154"/>
              <a:ext cx="256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218"/>
            <p:cNvSpPr>
              <a:spLocks noChangeShapeType="1"/>
            </p:cNvSpPr>
            <p:nvPr/>
          </p:nvSpPr>
          <p:spPr bwMode="auto">
            <a:xfrm>
              <a:off x="2933" y="2355"/>
              <a:ext cx="256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19"/>
            <p:cNvSpPr>
              <a:spLocks noChangeShapeType="1"/>
            </p:cNvSpPr>
            <p:nvPr/>
          </p:nvSpPr>
          <p:spPr bwMode="auto">
            <a:xfrm>
              <a:off x="2933" y="2556"/>
              <a:ext cx="256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220"/>
            <p:cNvSpPr>
              <a:spLocks noChangeArrowheads="1"/>
            </p:cNvSpPr>
            <p:nvPr/>
          </p:nvSpPr>
          <p:spPr bwMode="auto">
            <a:xfrm>
              <a:off x="3477" y="1416"/>
              <a:ext cx="124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D7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12" name="Rectangle 221"/>
            <p:cNvSpPr>
              <a:spLocks noChangeArrowheads="1"/>
            </p:cNvSpPr>
            <p:nvPr/>
          </p:nvSpPr>
          <p:spPr bwMode="auto">
            <a:xfrm>
              <a:off x="3477" y="1560"/>
              <a:ext cx="124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D6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13" name="Rectangle 222"/>
            <p:cNvSpPr>
              <a:spLocks noChangeArrowheads="1"/>
            </p:cNvSpPr>
            <p:nvPr/>
          </p:nvSpPr>
          <p:spPr bwMode="auto">
            <a:xfrm>
              <a:off x="3477" y="1732"/>
              <a:ext cx="124" cy="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D5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14" name="Rectangle 223"/>
            <p:cNvSpPr>
              <a:spLocks noChangeArrowheads="1"/>
            </p:cNvSpPr>
            <p:nvPr/>
          </p:nvSpPr>
          <p:spPr bwMode="auto">
            <a:xfrm>
              <a:off x="3477" y="1876"/>
              <a:ext cx="124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D4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15" name="Rectangle 224"/>
            <p:cNvSpPr>
              <a:spLocks noChangeArrowheads="1"/>
            </p:cNvSpPr>
            <p:nvPr/>
          </p:nvSpPr>
          <p:spPr bwMode="auto">
            <a:xfrm>
              <a:off x="3477" y="2020"/>
              <a:ext cx="124" cy="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D3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16" name="Rectangle 225"/>
            <p:cNvSpPr>
              <a:spLocks noChangeArrowheads="1"/>
            </p:cNvSpPr>
            <p:nvPr/>
          </p:nvSpPr>
          <p:spPr bwMode="auto">
            <a:xfrm>
              <a:off x="3477" y="2164"/>
              <a:ext cx="124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D2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17" name="Rectangle 226"/>
            <p:cNvSpPr>
              <a:spLocks noChangeArrowheads="1"/>
            </p:cNvSpPr>
            <p:nvPr/>
          </p:nvSpPr>
          <p:spPr bwMode="auto">
            <a:xfrm>
              <a:off x="3477" y="2307"/>
              <a:ext cx="124" cy="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D1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18" name="Rectangle 227"/>
            <p:cNvSpPr>
              <a:spLocks noChangeArrowheads="1"/>
            </p:cNvSpPr>
            <p:nvPr/>
          </p:nvSpPr>
          <p:spPr bwMode="auto">
            <a:xfrm>
              <a:off x="3477" y="2451"/>
              <a:ext cx="124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D0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19" name="Rectangle 228"/>
            <p:cNvSpPr>
              <a:spLocks noChangeArrowheads="1"/>
            </p:cNvSpPr>
            <p:nvPr/>
          </p:nvSpPr>
          <p:spPr bwMode="auto">
            <a:xfrm>
              <a:off x="3253" y="2077"/>
              <a:ext cx="125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A2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20" name="Rectangle 229"/>
            <p:cNvSpPr>
              <a:spLocks noChangeArrowheads="1"/>
            </p:cNvSpPr>
            <p:nvPr/>
          </p:nvSpPr>
          <p:spPr bwMode="auto">
            <a:xfrm>
              <a:off x="3253" y="2279"/>
              <a:ext cx="125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A1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21" name="Rectangle 230"/>
            <p:cNvSpPr>
              <a:spLocks noChangeArrowheads="1"/>
            </p:cNvSpPr>
            <p:nvPr/>
          </p:nvSpPr>
          <p:spPr bwMode="auto">
            <a:xfrm>
              <a:off x="3253" y="2451"/>
              <a:ext cx="125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A0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22" name="Rectangle 231"/>
            <p:cNvSpPr>
              <a:spLocks noChangeArrowheads="1"/>
            </p:cNvSpPr>
            <p:nvPr/>
          </p:nvSpPr>
          <p:spPr bwMode="auto">
            <a:xfrm>
              <a:off x="2744" y="2079"/>
              <a:ext cx="70" cy="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A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23" name="Rectangle 232"/>
            <p:cNvSpPr>
              <a:spLocks noChangeArrowheads="1"/>
            </p:cNvSpPr>
            <p:nvPr/>
          </p:nvSpPr>
          <p:spPr bwMode="auto">
            <a:xfrm>
              <a:off x="2744" y="2278"/>
              <a:ext cx="7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B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24" name="Rectangle 233"/>
            <p:cNvSpPr>
              <a:spLocks noChangeArrowheads="1"/>
            </p:cNvSpPr>
            <p:nvPr/>
          </p:nvSpPr>
          <p:spPr bwMode="auto">
            <a:xfrm>
              <a:off x="2738" y="2494"/>
              <a:ext cx="70" cy="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C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25" name="Line 234"/>
            <p:cNvSpPr>
              <a:spLocks noChangeShapeType="1"/>
            </p:cNvSpPr>
            <p:nvPr/>
          </p:nvSpPr>
          <p:spPr bwMode="auto">
            <a:xfrm>
              <a:off x="3701" y="2499"/>
              <a:ext cx="1855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35"/>
            <p:cNvSpPr>
              <a:spLocks noChangeShapeType="1"/>
            </p:cNvSpPr>
            <p:nvPr/>
          </p:nvSpPr>
          <p:spPr bwMode="auto">
            <a:xfrm>
              <a:off x="3701" y="2355"/>
              <a:ext cx="1855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36"/>
            <p:cNvSpPr>
              <a:spLocks noChangeShapeType="1"/>
            </p:cNvSpPr>
            <p:nvPr/>
          </p:nvSpPr>
          <p:spPr bwMode="auto">
            <a:xfrm>
              <a:off x="3701" y="2211"/>
              <a:ext cx="1855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37"/>
            <p:cNvSpPr>
              <a:spLocks noChangeShapeType="1"/>
            </p:cNvSpPr>
            <p:nvPr/>
          </p:nvSpPr>
          <p:spPr bwMode="auto">
            <a:xfrm>
              <a:off x="3701" y="2067"/>
              <a:ext cx="1855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38"/>
            <p:cNvSpPr>
              <a:spLocks noChangeShapeType="1"/>
            </p:cNvSpPr>
            <p:nvPr/>
          </p:nvSpPr>
          <p:spPr bwMode="auto">
            <a:xfrm>
              <a:off x="3701" y="1924"/>
              <a:ext cx="1855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39"/>
            <p:cNvSpPr>
              <a:spLocks noChangeShapeType="1"/>
            </p:cNvSpPr>
            <p:nvPr/>
          </p:nvSpPr>
          <p:spPr bwMode="auto">
            <a:xfrm>
              <a:off x="3701" y="1780"/>
              <a:ext cx="1855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40"/>
            <p:cNvSpPr>
              <a:spLocks noChangeShapeType="1"/>
            </p:cNvSpPr>
            <p:nvPr/>
          </p:nvSpPr>
          <p:spPr bwMode="auto">
            <a:xfrm>
              <a:off x="3701" y="1636"/>
              <a:ext cx="1855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41"/>
            <p:cNvSpPr>
              <a:spLocks noChangeShapeType="1"/>
            </p:cNvSpPr>
            <p:nvPr/>
          </p:nvSpPr>
          <p:spPr bwMode="auto">
            <a:xfrm>
              <a:off x="3701" y="1484"/>
              <a:ext cx="1855" cy="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242"/>
            <p:cNvSpPr>
              <a:spLocks noChangeShapeType="1"/>
            </p:cNvSpPr>
            <p:nvPr/>
          </p:nvSpPr>
          <p:spPr bwMode="auto">
            <a:xfrm flipV="1">
              <a:off x="4468" y="1349"/>
              <a:ext cx="1" cy="1519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43"/>
            <p:cNvSpPr>
              <a:spLocks noChangeShapeType="1"/>
            </p:cNvSpPr>
            <p:nvPr/>
          </p:nvSpPr>
          <p:spPr bwMode="auto">
            <a:xfrm flipV="1">
              <a:off x="4852" y="1349"/>
              <a:ext cx="1" cy="150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44"/>
            <p:cNvSpPr>
              <a:spLocks noChangeShapeType="1"/>
            </p:cNvSpPr>
            <p:nvPr/>
          </p:nvSpPr>
          <p:spPr bwMode="auto">
            <a:xfrm flipV="1">
              <a:off x="5220" y="1349"/>
              <a:ext cx="1" cy="1496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245"/>
            <p:cNvSpPr>
              <a:spLocks noChangeArrowheads="1"/>
            </p:cNvSpPr>
            <p:nvPr/>
          </p:nvSpPr>
          <p:spPr bwMode="auto">
            <a:xfrm>
              <a:off x="5161" y="3375"/>
              <a:ext cx="114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F0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37" name="Rectangle 246"/>
            <p:cNvSpPr>
              <a:spLocks noChangeArrowheads="1"/>
            </p:cNvSpPr>
            <p:nvPr/>
          </p:nvSpPr>
          <p:spPr bwMode="auto">
            <a:xfrm>
              <a:off x="4766" y="3382"/>
              <a:ext cx="114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F1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38" name="Rectangle 247"/>
            <p:cNvSpPr>
              <a:spLocks noChangeArrowheads="1"/>
            </p:cNvSpPr>
            <p:nvPr/>
          </p:nvSpPr>
          <p:spPr bwMode="auto">
            <a:xfrm>
              <a:off x="4383" y="3382"/>
              <a:ext cx="114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F2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39" name="Rectangle 248"/>
            <p:cNvSpPr>
              <a:spLocks noChangeArrowheads="1"/>
            </p:cNvSpPr>
            <p:nvPr/>
          </p:nvSpPr>
          <p:spPr bwMode="auto">
            <a:xfrm>
              <a:off x="3986" y="3383"/>
              <a:ext cx="114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600" b="1">
                  <a:solidFill>
                    <a:srgbClr val="000000"/>
                  </a:solidFill>
                  <a:latin typeface="SWISS" charset="0"/>
                </a:rPr>
                <a:t>F3</a:t>
              </a:r>
              <a:endParaRPr lang="en-US" sz="3200" b="1">
                <a:latin typeface="Times New Roman" pitchFamily="18" charset="0"/>
              </a:endParaRPr>
            </a:p>
          </p:txBody>
        </p:sp>
        <p:sp>
          <p:nvSpPr>
            <p:cNvPr id="40" name="Line 249"/>
            <p:cNvSpPr>
              <a:spLocks noChangeShapeType="1"/>
            </p:cNvSpPr>
            <p:nvPr/>
          </p:nvSpPr>
          <p:spPr bwMode="auto">
            <a:xfrm>
              <a:off x="4087" y="3164"/>
              <a:ext cx="0" cy="1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250"/>
            <p:cNvSpPr>
              <a:spLocks noChangeShapeType="1"/>
            </p:cNvSpPr>
            <p:nvPr/>
          </p:nvSpPr>
          <p:spPr bwMode="auto">
            <a:xfrm>
              <a:off x="4476" y="3150"/>
              <a:ext cx="0" cy="1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251"/>
            <p:cNvSpPr>
              <a:spLocks noChangeShapeType="1"/>
            </p:cNvSpPr>
            <p:nvPr/>
          </p:nvSpPr>
          <p:spPr bwMode="auto">
            <a:xfrm>
              <a:off x="4864" y="3155"/>
              <a:ext cx="0" cy="1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252"/>
            <p:cNvSpPr>
              <a:spLocks noChangeShapeType="1"/>
            </p:cNvSpPr>
            <p:nvPr/>
          </p:nvSpPr>
          <p:spPr bwMode="auto">
            <a:xfrm>
              <a:off x="5243" y="3151"/>
              <a:ext cx="0" cy="1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Box 253"/>
            <p:cNvSpPr txBox="1">
              <a:spLocks noChangeArrowheads="1"/>
            </p:cNvSpPr>
            <p:nvPr/>
          </p:nvSpPr>
          <p:spPr bwMode="auto">
            <a:xfrm>
              <a:off x="3986" y="1380"/>
              <a:ext cx="21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1600" b="1">
                  <a:latin typeface="Helvetica" pitchFamily="34" charset="0"/>
                </a:rPr>
                <a:t>X</a:t>
              </a:r>
            </a:p>
          </p:txBody>
        </p:sp>
        <p:sp>
          <p:nvSpPr>
            <p:cNvPr id="45" name="Text Box 254"/>
            <p:cNvSpPr txBox="1">
              <a:spLocks noChangeArrowheads="1"/>
            </p:cNvSpPr>
            <p:nvPr/>
          </p:nvSpPr>
          <p:spPr bwMode="auto">
            <a:xfrm>
              <a:off x="5125" y="1386"/>
              <a:ext cx="21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1600" b="1">
                  <a:latin typeface="Helvetica" pitchFamily="34" charset="0"/>
                </a:rPr>
                <a:t>X</a:t>
              </a:r>
            </a:p>
          </p:txBody>
        </p:sp>
        <p:sp>
          <p:nvSpPr>
            <p:cNvPr id="46" name="Text Box 255"/>
            <p:cNvSpPr txBox="1">
              <a:spLocks noChangeArrowheads="1"/>
            </p:cNvSpPr>
            <p:nvPr/>
          </p:nvSpPr>
          <p:spPr bwMode="auto">
            <a:xfrm>
              <a:off x="4370" y="1380"/>
              <a:ext cx="21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1600" b="1">
                  <a:latin typeface="Helvetica" pitchFamily="34" charset="0"/>
                </a:rPr>
                <a:t>X</a:t>
              </a:r>
            </a:p>
          </p:txBody>
        </p:sp>
        <p:sp>
          <p:nvSpPr>
            <p:cNvPr id="47" name="Text Box 256"/>
            <p:cNvSpPr txBox="1">
              <a:spLocks noChangeArrowheads="1"/>
            </p:cNvSpPr>
            <p:nvPr/>
          </p:nvSpPr>
          <p:spPr bwMode="auto">
            <a:xfrm>
              <a:off x="3989" y="1677"/>
              <a:ext cx="21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1600" b="1">
                  <a:latin typeface="Helvetica" pitchFamily="34" charset="0"/>
                </a:rPr>
                <a:t>X</a:t>
              </a:r>
            </a:p>
          </p:txBody>
        </p:sp>
        <p:sp>
          <p:nvSpPr>
            <p:cNvPr id="48" name="Text Box 257"/>
            <p:cNvSpPr txBox="1">
              <a:spLocks noChangeArrowheads="1"/>
            </p:cNvSpPr>
            <p:nvPr/>
          </p:nvSpPr>
          <p:spPr bwMode="auto">
            <a:xfrm>
              <a:off x="4769" y="1819"/>
              <a:ext cx="21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1600" b="1">
                  <a:latin typeface="Helvetica" pitchFamily="34" charset="0"/>
                </a:rPr>
                <a:t>X</a:t>
              </a:r>
            </a:p>
          </p:txBody>
        </p:sp>
        <p:sp>
          <p:nvSpPr>
            <p:cNvPr id="49" name="Text Box 258"/>
            <p:cNvSpPr txBox="1">
              <a:spLocks noChangeArrowheads="1"/>
            </p:cNvSpPr>
            <p:nvPr/>
          </p:nvSpPr>
          <p:spPr bwMode="auto">
            <a:xfrm>
              <a:off x="5134" y="1677"/>
              <a:ext cx="21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1600" b="1">
                  <a:latin typeface="Helvetica" pitchFamily="34" charset="0"/>
                </a:rPr>
                <a:t>X</a:t>
              </a:r>
            </a:p>
          </p:txBody>
        </p:sp>
        <p:sp>
          <p:nvSpPr>
            <p:cNvPr id="50" name="Text Box 259"/>
            <p:cNvSpPr txBox="1">
              <a:spLocks noChangeArrowheads="1"/>
            </p:cNvSpPr>
            <p:nvPr/>
          </p:nvSpPr>
          <p:spPr bwMode="auto">
            <a:xfrm>
              <a:off x="3986" y="2093"/>
              <a:ext cx="21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1600" b="1">
                  <a:latin typeface="Helvetica" pitchFamily="34" charset="0"/>
                </a:rPr>
                <a:t>X</a:t>
              </a:r>
            </a:p>
          </p:txBody>
        </p:sp>
        <p:sp>
          <p:nvSpPr>
            <p:cNvPr id="51" name="Text Box 260"/>
            <p:cNvSpPr txBox="1">
              <a:spLocks noChangeArrowheads="1"/>
            </p:cNvSpPr>
            <p:nvPr/>
          </p:nvSpPr>
          <p:spPr bwMode="auto">
            <a:xfrm>
              <a:off x="4766" y="2242"/>
              <a:ext cx="21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1600" b="1">
                  <a:latin typeface="Helvetica" pitchFamily="34" charset="0"/>
                </a:rPr>
                <a:t>X</a:t>
              </a:r>
            </a:p>
          </p:txBody>
        </p:sp>
        <p:sp>
          <p:nvSpPr>
            <p:cNvPr id="52" name="Text Box 261"/>
            <p:cNvSpPr txBox="1">
              <a:spLocks noChangeArrowheads="1"/>
            </p:cNvSpPr>
            <p:nvPr/>
          </p:nvSpPr>
          <p:spPr bwMode="auto">
            <a:xfrm>
              <a:off x="4370" y="2386"/>
              <a:ext cx="21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1600" b="1">
                  <a:latin typeface="Helvetica" pitchFamily="34" charset="0"/>
                </a:rPr>
                <a:t>X</a:t>
              </a:r>
            </a:p>
          </p:txBody>
        </p:sp>
        <p:sp>
          <p:nvSpPr>
            <p:cNvPr id="53" name="Text Box 262"/>
            <p:cNvSpPr txBox="1">
              <a:spLocks noChangeArrowheads="1"/>
            </p:cNvSpPr>
            <p:nvPr/>
          </p:nvSpPr>
          <p:spPr bwMode="auto">
            <a:xfrm>
              <a:off x="5126" y="2245"/>
              <a:ext cx="219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sz="1600" b="1">
                  <a:latin typeface="Helvetica" pitchFamily="34" charset="0"/>
                </a:rPr>
                <a:t>X</a:t>
              </a:r>
            </a:p>
          </p:txBody>
        </p:sp>
        <p:sp>
          <p:nvSpPr>
            <p:cNvPr id="54" name="Freeform 263"/>
            <p:cNvSpPr>
              <a:spLocks/>
            </p:cNvSpPr>
            <p:nvPr/>
          </p:nvSpPr>
          <p:spPr bwMode="auto">
            <a:xfrm rot="5400000">
              <a:off x="3912" y="2876"/>
              <a:ext cx="356" cy="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" y="40"/>
                </a:cxn>
                <a:cxn ang="0">
                  <a:pos x="39" y="95"/>
                </a:cxn>
                <a:cxn ang="0">
                  <a:pos x="54" y="157"/>
                </a:cxn>
                <a:cxn ang="0">
                  <a:pos x="66" y="227"/>
                </a:cxn>
                <a:cxn ang="0">
                  <a:pos x="74" y="284"/>
                </a:cxn>
                <a:cxn ang="0">
                  <a:pos x="69" y="338"/>
                </a:cxn>
                <a:cxn ang="0">
                  <a:pos x="58" y="399"/>
                </a:cxn>
                <a:cxn ang="0">
                  <a:pos x="45" y="458"/>
                </a:cxn>
                <a:cxn ang="0">
                  <a:pos x="28" y="512"/>
                </a:cxn>
                <a:cxn ang="0">
                  <a:pos x="0" y="572"/>
                </a:cxn>
                <a:cxn ang="0">
                  <a:pos x="210" y="576"/>
                </a:cxn>
                <a:cxn ang="0">
                  <a:pos x="297" y="570"/>
                </a:cxn>
                <a:cxn ang="0">
                  <a:pos x="342" y="567"/>
                </a:cxn>
                <a:cxn ang="0">
                  <a:pos x="375" y="559"/>
                </a:cxn>
                <a:cxn ang="0">
                  <a:pos x="409" y="549"/>
                </a:cxn>
                <a:cxn ang="0">
                  <a:pos x="445" y="533"/>
                </a:cxn>
                <a:cxn ang="0">
                  <a:pos x="486" y="515"/>
                </a:cxn>
                <a:cxn ang="0">
                  <a:pos x="526" y="490"/>
                </a:cxn>
                <a:cxn ang="0">
                  <a:pos x="552" y="470"/>
                </a:cxn>
                <a:cxn ang="0">
                  <a:pos x="577" y="447"/>
                </a:cxn>
                <a:cxn ang="0">
                  <a:pos x="604" y="420"/>
                </a:cxn>
                <a:cxn ang="0">
                  <a:pos x="628" y="398"/>
                </a:cxn>
                <a:cxn ang="0">
                  <a:pos x="651" y="370"/>
                </a:cxn>
                <a:cxn ang="0">
                  <a:pos x="680" y="333"/>
                </a:cxn>
                <a:cxn ang="0">
                  <a:pos x="708" y="286"/>
                </a:cxn>
                <a:cxn ang="0">
                  <a:pos x="682" y="245"/>
                </a:cxn>
                <a:cxn ang="0">
                  <a:pos x="658" y="210"/>
                </a:cxn>
                <a:cxn ang="0">
                  <a:pos x="638" y="185"/>
                </a:cxn>
                <a:cxn ang="0">
                  <a:pos x="616" y="161"/>
                </a:cxn>
                <a:cxn ang="0">
                  <a:pos x="592" y="138"/>
                </a:cxn>
                <a:cxn ang="0">
                  <a:pos x="572" y="120"/>
                </a:cxn>
                <a:cxn ang="0">
                  <a:pos x="552" y="103"/>
                </a:cxn>
                <a:cxn ang="0">
                  <a:pos x="528" y="85"/>
                </a:cxn>
                <a:cxn ang="0">
                  <a:pos x="506" y="72"/>
                </a:cxn>
                <a:cxn ang="0">
                  <a:pos x="480" y="58"/>
                </a:cxn>
                <a:cxn ang="0">
                  <a:pos x="451" y="43"/>
                </a:cxn>
                <a:cxn ang="0">
                  <a:pos x="415" y="29"/>
                </a:cxn>
                <a:cxn ang="0">
                  <a:pos x="385" y="20"/>
                </a:cxn>
                <a:cxn ang="0">
                  <a:pos x="350" y="11"/>
                </a:cxn>
                <a:cxn ang="0">
                  <a:pos x="313" y="5"/>
                </a:cxn>
                <a:cxn ang="0">
                  <a:pos x="278" y="1"/>
                </a:cxn>
                <a:cxn ang="0">
                  <a:pos x="253" y="1"/>
                </a:cxn>
                <a:cxn ang="0">
                  <a:pos x="227" y="0"/>
                </a:cxn>
                <a:cxn ang="0">
                  <a:pos x="0" y="0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64"/>
            <p:cNvSpPr>
              <a:spLocks/>
            </p:cNvSpPr>
            <p:nvPr/>
          </p:nvSpPr>
          <p:spPr bwMode="auto">
            <a:xfrm rot="5400000">
              <a:off x="4296" y="2876"/>
              <a:ext cx="356" cy="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" y="40"/>
                </a:cxn>
                <a:cxn ang="0">
                  <a:pos x="39" y="95"/>
                </a:cxn>
                <a:cxn ang="0">
                  <a:pos x="54" y="157"/>
                </a:cxn>
                <a:cxn ang="0">
                  <a:pos x="66" y="227"/>
                </a:cxn>
                <a:cxn ang="0">
                  <a:pos x="74" y="284"/>
                </a:cxn>
                <a:cxn ang="0">
                  <a:pos x="69" y="338"/>
                </a:cxn>
                <a:cxn ang="0">
                  <a:pos x="58" y="399"/>
                </a:cxn>
                <a:cxn ang="0">
                  <a:pos x="45" y="458"/>
                </a:cxn>
                <a:cxn ang="0">
                  <a:pos x="28" y="512"/>
                </a:cxn>
                <a:cxn ang="0">
                  <a:pos x="0" y="572"/>
                </a:cxn>
                <a:cxn ang="0">
                  <a:pos x="210" y="576"/>
                </a:cxn>
                <a:cxn ang="0">
                  <a:pos x="297" y="570"/>
                </a:cxn>
                <a:cxn ang="0">
                  <a:pos x="342" y="567"/>
                </a:cxn>
                <a:cxn ang="0">
                  <a:pos x="375" y="559"/>
                </a:cxn>
                <a:cxn ang="0">
                  <a:pos x="409" y="549"/>
                </a:cxn>
                <a:cxn ang="0">
                  <a:pos x="445" y="533"/>
                </a:cxn>
                <a:cxn ang="0">
                  <a:pos x="486" y="515"/>
                </a:cxn>
                <a:cxn ang="0">
                  <a:pos x="526" y="490"/>
                </a:cxn>
                <a:cxn ang="0">
                  <a:pos x="552" y="470"/>
                </a:cxn>
                <a:cxn ang="0">
                  <a:pos x="577" y="447"/>
                </a:cxn>
                <a:cxn ang="0">
                  <a:pos x="604" y="420"/>
                </a:cxn>
                <a:cxn ang="0">
                  <a:pos x="628" y="398"/>
                </a:cxn>
                <a:cxn ang="0">
                  <a:pos x="651" y="370"/>
                </a:cxn>
                <a:cxn ang="0">
                  <a:pos x="680" y="333"/>
                </a:cxn>
                <a:cxn ang="0">
                  <a:pos x="708" y="286"/>
                </a:cxn>
                <a:cxn ang="0">
                  <a:pos x="682" y="245"/>
                </a:cxn>
                <a:cxn ang="0">
                  <a:pos x="658" y="210"/>
                </a:cxn>
                <a:cxn ang="0">
                  <a:pos x="638" y="185"/>
                </a:cxn>
                <a:cxn ang="0">
                  <a:pos x="616" y="161"/>
                </a:cxn>
                <a:cxn ang="0">
                  <a:pos x="592" y="138"/>
                </a:cxn>
                <a:cxn ang="0">
                  <a:pos x="572" y="120"/>
                </a:cxn>
                <a:cxn ang="0">
                  <a:pos x="552" y="103"/>
                </a:cxn>
                <a:cxn ang="0">
                  <a:pos x="528" y="85"/>
                </a:cxn>
                <a:cxn ang="0">
                  <a:pos x="506" y="72"/>
                </a:cxn>
                <a:cxn ang="0">
                  <a:pos x="480" y="58"/>
                </a:cxn>
                <a:cxn ang="0">
                  <a:pos x="451" y="43"/>
                </a:cxn>
                <a:cxn ang="0">
                  <a:pos x="415" y="29"/>
                </a:cxn>
                <a:cxn ang="0">
                  <a:pos x="385" y="20"/>
                </a:cxn>
                <a:cxn ang="0">
                  <a:pos x="350" y="11"/>
                </a:cxn>
                <a:cxn ang="0">
                  <a:pos x="313" y="5"/>
                </a:cxn>
                <a:cxn ang="0">
                  <a:pos x="278" y="1"/>
                </a:cxn>
                <a:cxn ang="0">
                  <a:pos x="253" y="1"/>
                </a:cxn>
                <a:cxn ang="0">
                  <a:pos x="227" y="0"/>
                </a:cxn>
                <a:cxn ang="0">
                  <a:pos x="0" y="0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65"/>
            <p:cNvSpPr>
              <a:spLocks/>
            </p:cNvSpPr>
            <p:nvPr/>
          </p:nvSpPr>
          <p:spPr bwMode="auto">
            <a:xfrm rot="5400000">
              <a:off x="4680" y="2868"/>
              <a:ext cx="356" cy="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" y="40"/>
                </a:cxn>
                <a:cxn ang="0">
                  <a:pos x="39" y="95"/>
                </a:cxn>
                <a:cxn ang="0">
                  <a:pos x="54" y="157"/>
                </a:cxn>
                <a:cxn ang="0">
                  <a:pos x="66" y="227"/>
                </a:cxn>
                <a:cxn ang="0">
                  <a:pos x="74" y="284"/>
                </a:cxn>
                <a:cxn ang="0">
                  <a:pos x="69" y="338"/>
                </a:cxn>
                <a:cxn ang="0">
                  <a:pos x="58" y="399"/>
                </a:cxn>
                <a:cxn ang="0">
                  <a:pos x="45" y="458"/>
                </a:cxn>
                <a:cxn ang="0">
                  <a:pos x="28" y="512"/>
                </a:cxn>
                <a:cxn ang="0">
                  <a:pos x="0" y="572"/>
                </a:cxn>
                <a:cxn ang="0">
                  <a:pos x="210" y="576"/>
                </a:cxn>
                <a:cxn ang="0">
                  <a:pos x="297" y="570"/>
                </a:cxn>
                <a:cxn ang="0">
                  <a:pos x="342" y="567"/>
                </a:cxn>
                <a:cxn ang="0">
                  <a:pos x="375" y="559"/>
                </a:cxn>
                <a:cxn ang="0">
                  <a:pos x="409" y="549"/>
                </a:cxn>
                <a:cxn ang="0">
                  <a:pos x="445" y="533"/>
                </a:cxn>
                <a:cxn ang="0">
                  <a:pos x="486" y="515"/>
                </a:cxn>
                <a:cxn ang="0">
                  <a:pos x="526" y="490"/>
                </a:cxn>
                <a:cxn ang="0">
                  <a:pos x="552" y="470"/>
                </a:cxn>
                <a:cxn ang="0">
                  <a:pos x="577" y="447"/>
                </a:cxn>
                <a:cxn ang="0">
                  <a:pos x="604" y="420"/>
                </a:cxn>
                <a:cxn ang="0">
                  <a:pos x="628" y="398"/>
                </a:cxn>
                <a:cxn ang="0">
                  <a:pos x="651" y="370"/>
                </a:cxn>
                <a:cxn ang="0">
                  <a:pos x="680" y="333"/>
                </a:cxn>
                <a:cxn ang="0">
                  <a:pos x="708" y="286"/>
                </a:cxn>
                <a:cxn ang="0">
                  <a:pos x="682" y="245"/>
                </a:cxn>
                <a:cxn ang="0">
                  <a:pos x="658" y="210"/>
                </a:cxn>
                <a:cxn ang="0">
                  <a:pos x="638" y="185"/>
                </a:cxn>
                <a:cxn ang="0">
                  <a:pos x="616" y="161"/>
                </a:cxn>
                <a:cxn ang="0">
                  <a:pos x="592" y="138"/>
                </a:cxn>
                <a:cxn ang="0">
                  <a:pos x="572" y="120"/>
                </a:cxn>
                <a:cxn ang="0">
                  <a:pos x="552" y="103"/>
                </a:cxn>
                <a:cxn ang="0">
                  <a:pos x="528" y="85"/>
                </a:cxn>
                <a:cxn ang="0">
                  <a:pos x="506" y="72"/>
                </a:cxn>
                <a:cxn ang="0">
                  <a:pos x="480" y="58"/>
                </a:cxn>
                <a:cxn ang="0">
                  <a:pos x="451" y="43"/>
                </a:cxn>
                <a:cxn ang="0">
                  <a:pos x="415" y="29"/>
                </a:cxn>
                <a:cxn ang="0">
                  <a:pos x="385" y="20"/>
                </a:cxn>
                <a:cxn ang="0">
                  <a:pos x="350" y="11"/>
                </a:cxn>
                <a:cxn ang="0">
                  <a:pos x="313" y="5"/>
                </a:cxn>
                <a:cxn ang="0">
                  <a:pos x="278" y="1"/>
                </a:cxn>
                <a:cxn ang="0">
                  <a:pos x="253" y="1"/>
                </a:cxn>
                <a:cxn ang="0">
                  <a:pos x="227" y="0"/>
                </a:cxn>
                <a:cxn ang="0">
                  <a:pos x="0" y="0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266"/>
            <p:cNvSpPr>
              <a:spLocks/>
            </p:cNvSpPr>
            <p:nvPr/>
          </p:nvSpPr>
          <p:spPr bwMode="auto">
            <a:xfrm rot="5400000">
              <a:off x="5064" y="2868"/>
              <a:ext cx="356" cy="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" y="40"/>
                </a:cxn>
                <a:cxn ang="0">
                  <a:pos x="39" y="95"/>
                </a:cxn>
                <a:cxn ang="0">
                  <a:pos x="54" y="157"/>
                </a:cxn>
                <a:cxn ang="0">
                  <a:pos x="66" y="227"/>
                </a:cxn>
                <a:cxn ang="0">
                  <a:pos x="74" y="284"/>
                </a:cxn>
                <a:cxn ang="0">
                  <a:pos x="69" y="338"/>
                </a:cxn>
                <a:cxn ang="0">
                  <a:pos x="58" y="399"/>
                </a:cxn>
                <a:cxn ang="0">
                  <a:pos x="45" y="458"/>
                </a:cxn>
                <a:cxn ang="0">
                  <a:pos x="28" y="512"/>
                </a:cxn>
                <a:cxn ang="0">
                  <a:pos x="0" y="572"/>
                </a:cxn>
                <a:cxn ang="0">
                  <a:pos x="210" y="576"/>
                </a:cxn>
                <a:cxn ang="0">
                  <a:pos x="297" y="570"/>
                </a:cxn>
                <a:cxn ang="0">
                  <a:pos x="342" y="567"/>
                </a:cxn>
                <a:cxn ang="0">
                  <a:pos x="375" y="559"/>
                </a:cxn>
                <a:cxn ang="0">
                  <a:pos x="409" y="549"/>
                </a:cxn>
                <a:cxn ang="0">
                  <a:pos x="445" y="533"/>
                </a:cxn>
                <a:cxn ang="0">
                  <a:pos x="486" y="515"/>
                </a:cxn>
                <a:cxn ang="0">
                  <a:pos x="526" y="490"/>
                </a:cxn>
                <a:cxn ang="0">
                  <a:pos x="552" y="470"/>
                </a:cxn>
                <a:cxn ang="0">
                  <a:pos x="577" y="447"/>
                </a:cxn>
                <a:cxn ang="0">
                  <a:pos x="604" y="420"/>
                </a:cxn>
                <a:cxn ang="0">
                  <a:pos x="628" y="398"/>
                </a:cxn>
                <a:cxn ang="0">
                  <a:pos x="651" y="370"/>
                </a:cxn>
                <a:cxn ang="0">
                  <a:pos x="680" y="333"/>
                </a:cxn>
                <a:cxn ang="0">
                  <a:pos x="708" y="286"/>
                </a:cxn>
                <a:cxn ang="0">
                  <a:pos x="682" y="245"/>
                </a:cxn>
                <a:cxn ang="0">
                  <a:pos x="658" y="210"/>
                </a:cxn>
                <a:cxn ang="0">
                  <a:pos x="638" y="185"/>
                </a:cxn>
                <a:cxn ang="0">
                  <a:pos x="616" y="161"/>
                </a:cxn>
                <a:cxn ang="0">
                  <a:pos x="592" y="138"/>
                </a:cxn>
                <a:cxn ang="0">
                  <a:pos x="572" y="120"/>
                </a:cxn>
                <a:cxn ang="0">
                  <a:pos x="552" y="103"/>
                </a:cxn>
                <a:cxn ang="0">
                  <a:pos x="528" y="85"/>
                </a:cxn>
                <a:cxn ang="0">
                  <a:pos x="506" y="72"/>
                </a:cxn>
                <a:cxn ang="0">
                  <a:pos x="480" y="58"/>
                </a:cxn>
                <a:cxn ang="0">
                  <a:pos x="451" y="43"/>
                </a:cxn>
                <a:cxn ang="0">
                  <a:pos x="415" y="29"/>
                </a:cxn>
                <a:cxn ang="0">
                  <a:pos x="385" y="20"/>
                </a:cxn>
                <a:cxn ang="0">
                  <a:pos x="350" y="11"/>
                </a:cxn>
                <a:cxn ang="0">
                  <a:pos x="313" y="5"/>
                </a:cxn>
                <a:cxn ang="0">
                  <a:pos x="278" y="1"/>
                </a:cxn>
                <a:cxn ang="0">
                  <a:pos x="253" y="1"/>
                </a:cxn>
                <a:cxn ang="0">
                  <a:pos x="227" y="0"/>
                </a:cxn>
                <a:cxn ang="0">
                  <a:pos x="0" y="0"/>
                </a:cxn>
              </a:cxnLst>
              <a:rect l="0" t="0" r="r" b="b"/>
              <a:pathLst>
                <a:path w="708" h="576">
                  <a:moveTo>
                    <a:pt x="0" y="0"/>
                  </a:moveTo>
                  <a:lnTo>
                    <a:pt x="17" y="40"/>
                  </a:lnTo>
                  <a:lnTo>
                    <a:pt x="39" y="95"/>
                  </a:lnTo>
                  <a:lnTo>
                    <a:pt x="54" y="157"/>
                  </a:lnTo>
                  <a:lnTo>
                    <a:pt x="66" y="227"/>
                  </a:lnTo>
                  <a:lnTo>
                    <a:pt x="74" y="284"/>
                  </a:lnTo>
                  <a:lnTo>
                    <a:pt x="69" y="338"/>
                  </a:lnTo>
                  <a:lnTo>
                    <a:pt x="58" y="399"/>
                  </a:lnTo>
                  <a:lnTo>
                    <a:pt x="45" y="458"/>
                  </a:lnTo>
                  <a:lnTo>
                    <a:pt x="28" y="512"/>
                  </a:lnTo>
                  <a:lnTo>
                    <a:pt x="0" y="572"/>
                  </a:lnTo>
                  <a:lnTo>
                    <a:pt x="210" y="576"/>
                  </a:lnTo>
                  <a:lnTo>
                    <a:pt x="297" y="570"/>
                  </a:lnTo>
                  <a:lnTo>
                    <a:pt x="342" y="567"/>
                  </a:lnTo>
                  <a:lnTo>
                    <a:pt x="375" y="559"/>
                  </a:lnTo>
                  <a:lnTo>
                    <a:pt x="409" y="549"/>
                  </a:lnTo>
                  <a:lnTo>
                    <a:pt x="445" y="533"/>
                  </a:lnTo>
                  <a:lnTo>
                    <a:pt x="486" y="515"/>
                  </a:lnTo>
                  <a:lnTo>
                    <a:pt x="526" y="490"/>
                  </a:lnTo>
                  <a:lnTo>
                    <a:pt x="552" y="470"/>
                  </a:lnTo>
                  <a:lnTo>
                    <a:pt x="577" y="447"/>
                  </a:lnTo>
                  <a:lnTo>
                    <a:pt x="604" y="420"/>
                  </a:lnTo>
                  <a:lnTo>
                    <a:pt x="628" y="398"/>
                  </a:lnTo>
                  <a:lnTo>
                    <a:pt x="651" y="370"/>
                  </a:lnTo>
                  <a:lnTo>
                    <a:pt x="680" y="333"/>
                  </a:lnTo>
                  <a:lnTo>
                    <a:pt x="708" y="286"/>
                  </a:lnTo>
                  <a:lnTo>
                    <a:pt x="682" y="245"/>
                  </a:lnTo>
                  <a:lnTo>
                    <a:pt x="658" y="210"/>
                  </a:lnTo>
                  <a:lnTo>
                    <a:pt x="638" y="185"/>
                  </a:lnTo>
                  <a:lnTo>
                    <a:pt x="616" y="161"/>
                  </a:lnTo>
                  <a:lnTo>
                    <a:pt x="592" y="138"/>
                  </a:lnTo>
                  <a:lnTo>
                    <a:pt x="572" y="120"/>
                  </a:lnTo>
                  <a:lnTo>
                    <a:pt x="552" y="103"/>
                  </a:lnTo>
                  <a:lnTo>
                    <a:pt x="528" y="85"/>
                  </a:lnTo>
                  <a:lnTo>
                    <a:pt x="506" y="72"/>
                  </a:lnTo>
                  <a:lnTo>
                    <a:pt x="480" y="58"/>
                  </a:lnTo>
                  <a:lnTo>
                    <a:pt x="451" y="43"/>
                  </a:lnTo>
                  <a:lnTo>
                    <a:pt x="415" y="29"/>
                  </a:lnTo>
                  <a:lnTo>
                    <a:pt x="385" y="20"/>
                  </a:lnTo>
                  <a:lnTo>
                    <a:pt x="350" y="11"/>
                  </a:lnTo>
                  <a:lnTo>
                    <a:pt x="313" y="5"/>
                  </a:lnTo>
                  <a:lnTo>
                    <a:pt x="278" y="1"/>
                  </a:lnTo>
                  <a:lnTo>
                    <a:pt x="253" y="1"/>
                  </a:lnTo>
                  <a:lnTo>
                    <a:pt x="227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267"/>
            <p:cNvSpPr>
              <a:spLocks noChangeShapeType="1"/>
            </p:cNvSpPr>
            <p:nvPr/>
          </p:nvSpPr>
          <p:spPr bwMode="auto">
            <a:xfrm flipV="1">
              <a:off x="4090" y="1337"/>
              <a:ext cx="1" cy="1519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9" name="Oval 58"/>
          <p:cNvSpPr/>
          <p:nvPr/>
        </p:nvSpPr>
        <p:spPr>
          <a:xfrm>
            <a:off x="3581400" y="3429000"/>
            <a:ext cx="304800" cy="2286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3962400" y="3657600"/>
            <a:ext cx="1447800" cy="3048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5334000" y="3200400"/>
            <a:ext cx="3124200" cy="228600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28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Programmable parts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PAL and PLA connection points</a:t>
            </a:r>
          </a:p>
          <a:p>
            <a:r>
              <a:rPr lang="en-US" dirty="0"/>
              <a:t>Multiplexers</a:t>
            </a:r>
          </a:p>
          <a:p>
            <a:r>
              <a:rPr lang="en-US" dirty="0"/>
              <a:t>Interconnects among different components in a programmable chip</a:t>
            </a:r>
          </a:p>
          <a:p>
            <a:r>
              <a:rPr lang="en-US" dirty="0"/>
              <a:t>Lookup table entries 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These parts will be introduced soon!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019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technologies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the programmable parts are constructed</a:t>
            </a:r>
          </a:p>
          <a:p>
            <a:r>
              <a:rPr lang="en-US" dirty="0"/>
              <a:t>Three major technologies</a:t>
            </a:r>
          </a:p>
          <a:p>
            <a:pPr lvl="1"/>
            <a:r>
              <a:rPr lang="en-US" dirty="0"/>
              <a:t>SRAM+ transistor switches</a:t>
            </a:r>
          </a:p>
          <a:p>
            <a:pPr lvl="1"/>
            <a:r>
              <a:rPr lang="en-US" dirty="0"/>
              <a:t>ROM</a:t>
            </a:r>
          </a:p>
          <a:p>
            <a:pPr lvl="1"/>
            <a:r>
              <a:rPr lang="en-US" dirty="0" err="1"/>
              <a:t>Antifuse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430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technology- SRAM</a:t>
            </a:r>
          </a:p>
        </p:txBody>
      </p:sp>
      <p:graphicFrame>
        <p:nvGraphicFramePr>
          <p:cNvPr id="240644" name="Object 4"/>
          <p:cNvGraphicFramePr>
            <a:graphicFrameLocks noChangeAspect="1"/>
          </p:cNvGraphicFramePr>
          <p:nvPr/>
        </p:nvGraphicFramePr>
        <p:xfrm>
          <a:off x="1600200" y="2819400"/>
          <a:ext cx="5562600" cy="360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105160" imgH="3305160" progId="Visio.Drawing.11">
                  <p:embed/>
                </p:oleObj>
              </mc:Choice>
              <mc:Fallback>
                <p:oleObj name="VISIO" r:id="rId3" imgW="5105160" imgH="3305160" progId="Visio.Drawing.11">
                  <p:embed/>
                  <p:pic>
                    <p:nvPicPr>
                      <p:cNvPr id="2406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819400"/>
                        <a:ext cx="5562600" cy="3601097"/>
                      </a:xfrm>
                      <a:prstGeom prst="rect">
                        <a:avLst/>
                      </a:prstGeom>
                      <a:noFill/>
                      <a:ln w="25400" cap="sq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Recall the transistor functionality as a switch</a:t>
            </a:r>
          </a:p>
        </p:txBody>
      </p:sp>
    </p:spTree>
    <p:extLst>
      <p:ext uri="{BB962C8B-B14F-4D97-AF65-F5344CB8AC3E}">
        <p14:creationId xmlns:p14="http://schemas.microsoft.com/office/powerpoint/2010/main" val="3140912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technology- SRAM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590800"/>
          </a:xfrm>
        </p:spPr>
        <p:txBody>
          <a:bodyPr>
            <a:normAutofit/>
          </a:bodyPr>
          <a:lstStyle/>
          <a:p>
            <a:r>
              <a:rPr lang="en-US" dirty="0"/>
              <a:t>The switch should be controlled by some memory element</a:t>
            </a:r>
          </a:p>
          <a:p>
            <a:pPr lvl="1"/>
            <a:r>
              <a:rPr lang="en-US" dirty="0"/>
              <a:t>To keep the configuration</a:t>
            </a:r>
          </a:p>
          <a:p>
            <a:pPr>
              <a:lnSpc>
                <a:spcPct val="90000"/>
              </a:lnSpc>
            </a:pPr>
            <a:r>
              <a:rPr lang="en-US" dirty="0"/>
              <a:t>A Static Random Access Memory (SRAM) is used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Each switch is a pass transistor controlled by the state of an SRAM bit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Needs to be configured at power-on</a:t>
            </a:r>
          </a:p>
          <a:p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4572000"/>
            <a:ext cx="2820894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5105400" y="4724400"/>
            <a:ext cx="2819400" cy="1524000"/>
            <a:chOff x="2928" y="2304"/>
            <a:chExt cx="1776" cy="960"/>
          </a:xfrm>
        </p:grpSpPr>
        <p:sp>
          <p:nvSpPr>
            <p:cNvPr id="7" name="Rectangle 27"/>
            <p:cNvSpPr>
              <a:spLocks noChangeArrowheads="1"/>
            </p:cNvSpPr>
            <p:nvPr/>
          </p:nvSpPr>
          <p:spPr bwMode="auto">
            <a:xfrm>
              <a:off x="2928" y="2543"/>
              <a:ext cx="672" cy="24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2928" y="2783"/>
              <a:ext cx="672" cy="24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AutoShape 29"/>
            <p:cNvSpPr>
              <a:spLocks noChangeArrowheads="1"/>
            </p:cNvSpPr>
            <p:nvPr/>
          </p:nvSpPr>
          <p:spPr bwMode="auto">
            <a:xfrm>
              <a:off x="3840" y="2592"/>
              <a:ext cx="864" cy="384"/>
            </a:xfrm>
            <a:custGeom>
              <a:avLst/>
              <a:gdLst>
                <a:gd name="T0" fmla="*/ 756 w 21600"/>
                <a:gd name="T1" fmla="*/ 192 h 21600"/>
                <a:gd name="T2" fmla="*/ 432 w 21600"/>
                <a:gd name="T3" fmla="*/ 384 h 21600"/>
                <a:gd name="T4" fmla="*/ 108 w 21600"/>
                <a:gd name="T5" fmla="*/ 192 h 21600"/>
                <a:gd name="T6" fmla="*/ 432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30"/>
            <p:cNvSpPr>
              <a:spLocks noChangeShapeType="1"/>
            </p:cNvSpPr>
            <p:nvPr/>
          </p:nvSpPr>
          <p:spPr bwMode="auto">
            <a:xfrm>
              <a:off x="3600" y="264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31"/>
            <p:cNvSpPr>
              <a:spLocks noChangeShapeType="1"/>
            </p:cNvSpPr>
            <p:nvPr/>
          </p:nvSpPr>
          <p:spPr bwMode="auto">
            <a:xfrm>
              <a:off x="3600" y="2880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32"/>
            <p:cNvSpPr>
              <a:spLocks noChangeShapeType="1"/>
            </p:cNvSpPr>
            <p:nvPr/>
          </p:nvSpPr>
          <p:spPr bwMode="auto">
            <a:xfrm>
              <a:off x="4272" y="2976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33"/>
            <p:cNvSpPr>
              <a:spLocks noChangeShapeType="1"/>
            </p:cNvSpPr>
            <p:nvPr/>
          </p:nvSpPr>
          <p:spPr bwMode="auto">
            <a:xfrm>
              <a:off x="3984" y="230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34"/>
            <p:cNvSpPr>
              <a:spLocks noChangeShapeType="1"/>
            </p:cNvSpPr>
            <p:nvPr/>
          </p:nvSpPr>
          <p:spPr bwMode="auto">
            <a:xfrm>
              <a:off x="4176" y="230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35"/>
            <p:cNvSpPr>
              <a:spLocks noChangeShapeType="1"/>
            </p:cNvSpPr>
            <p:nvPr/>
          </p:nvSpPr>
          <p:spPr bwMode="auto">
            <a:xfrm>
              <a:off x="4560" y="230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36"/>
            <p:cNvSpPr>
              <a:spLocks noChangeShapeType="1"/>
            </p:cNvSpPr>
            <p:nvPr/>
          </p:nvSpPr>
          <p:spPr bwMode="auto">
            <a:xfrm>
              <a:off x="4368" y="230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Text Box 37"/>
            <p:cNvSpPr txBox="1">
              <a:spLocks noChangeArrowheads="1"/>
            </p:cNvSpPr>
            <p:nvPr/>
          </p:nvSpPr>
          <p:spPr bwMode="auto">
            <a:xfrm>
              <a:off x="2976" y="2544"/>
              <a:ext cx="672" cy="21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/>
                <a:t>SRAM Bit 0</a:t>
              </a:r>
            </a:p>
          </p:txBody>
        </p:sp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2976" y="2812"/>
              <a:ext cx="672" cy="21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/>
                <a:t>SRAM Bit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304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0EB5FEE-196B-487D-99DF-29F2D6A7D61B}" type="slidenum">
              <a:rPr lang="th-TH">
                <a:latin typeface="Arial" charset="0"/>
              </a:rPr>
              <a:pPr/>
              <a:t>32</a:t>
            </a:fld>
            <a:endParaRPr lang="th-TH">
              <a:latin typeface="Arial" charset="0"/>
            </a:endParaRPr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technology- ROM</a:t>
            </a:r>
          </a:p>
        </p:txBody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Flash Erasable Programmable ROM (Flash)</a:t>
            </a:r>
          </a:p>
          <a:p>
            <a:pPr lvl="1" eaLnBrk="1" hangingPunct="1"/>
            <a:r>
              <a:rPr lang="en-US" dirty="0"/>
              <a:t>Device itself holds the program</a:t>
            </a:r>
          </a:p>
          <a:p>
            <a:pPr lvl="1" eaLnBrk="1" hangingPunct="1"/>
            <a:r>
              <a:rPr lang="en-US" dirty="0"/>
              <a:t>Reprogrammable, even in-circuit </a:t>
            </a:r>
          </a:p>
          <a:p>
            <a:pPr lvl="1" eaLnBrk="1" hangingPunct="1"/>
            <a:r>
              <a:rPr lang="en-US" dirty="0"/>
              <a:t>The configuration is kept, even if the circuit is shut down</a:t>
            </a:r>
          </a:p>
        </p:txBody>
      </p:sp>
      <p:sp>
        <p:nvSpPr>
          <p:cNvPr id="5" name="Slide Number Placeholder 2"/>
          <p:cNvSpPr txBox="1">
            <a:spLocks/>
          </p:cNvSpPr>
          <p:nvPr/>
        </p:nvSpPr>
        <p:spPr>
          <a:xfrm>
            <a:off x="152400" y="6362700"/>
            <a:ext cx="310896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789569" y="3810000"/>
            <a:ext cx="7259056" cy="2286000"/>
            <a:chOff x="789569" y="3810000"/>
            <a:chExt cx="7259056" cy="2286000"/>
          </a:xfrm>
        </p:grpSpPr>
        <p:grpSp>
          <p:nvGrpSpPr>
            <p:cNvPr id="7" name="Group 6"/>
            <p:cNvGrpSpPr/>
            <p:nvPr/>
          </p:nvGrpSpPr>
          <p:grpSpPr>
            <a:xfrm>
              <a:off x="990600" y="3810000"/>
              <a:ext cx="7058025" cy="2286000"/>
              <a:chOff x="533400" y="2590800"/>
              <a:chExt cx="7058025" cy="2286000"/>
            </a:xfrm>
          </p:grpSpPr>
          <p:pic>
            <p:nvPicPr>
              <p:cNvPr id="8" name="Picture 3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533400" y="2971800"/>
                <a:ext cx="3028950" cy="1790700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pic>
          <p:grpSp>
            <p:nvGrpSpPr>
              <p:cNvPr id="9" name="Group 14"/>
              <p:cNvGrpSpPr/>
              <p:nvPr/>
            </p:nvGrpSpPr>
            <p:grpSpPr>
              <a:xfrm>
                <a:off x="2057400" y="2590800"/>
                <a:ext cx="5534025" cy="2286000"/>
                <a:chOff x="2057400" y="2590800"/>
                <a:chExt cx="5534025" cy="2286000"/>
              </a:xfrm>
            </p:grpSpPr>
            <p:pic>
              <p:nvPicPr>
                <p:cNvPr id="10" name="Picture 2"/>
                <p:cNvPicPr>
                  <a:picLocks noChangeAspect="1" noChangeArrowheads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4114800" y="2743200"/>
                  <a:ext cx="3476625" cy="1914525"/>
                </a:xfrm>
                <a:prstGeom prst="rect">
                  <a:avLst/>
                </a:prstGeom>
                <a:noFill/>
                <a:ln w="38100" cap="flat" cmpd="sng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pic>
            <p:sp>
              <p:nvSpPr>
                <p:cNvPr id="11" name="Oval 10"/>
                <p:cNvSpPr/>
                <p:nvPr/>
              </p:nvSpPr>
              <p:spPr bwMode="auto">
                <a:xfrm>
                  <a:off x="4114800" y="2667000"/>
                  <a:ext cx="3276600" cy="2133600"/>
                </a:xfrm>
                <a:prstGeom prst="ellips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Lotus" pitchFamily="2" charset="-78"/>
                  </a:endParaRPr>
                </a:p>
              </p:txBody>
            </p:sp>
            <p:sp>
              <p:nvSpPr>
                <p:cNvPr id="12" name="Oval 11"/>
                <p:cNvSpPr/>
                <p:nvPr/>
              </p:nvSpPr>
              <p:spPr bwMode="auto">
                <a:xfrm>
                  <a:off x="2057400" y="3505200"/>
                  <a:ext cx="762000" cy="685800"/>
                </a:xfrm>
                <a:prstGeom prst="ellips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Lotus" pitchFamily="2" charset="-78"/>
                  </a:endParaRPr>
                </a:p>
              </p:txBody>
            </p:sp>
            <p:cxnSp>
              <p:nvCxnSpPr>
                <p:cNvPr id="13" name="Straight Connector 12"/>
                <p:cNvCxnSpPr/>
                <p:nvPr/>
              </p:nvCxnSpPr>
              <p:spPr bwMode="auto">
                <a:xfrm flipV="1">
                  <a:off x="2514600" y="2590800"/>
                  <a:ext cx="2895600" cy="83820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tx1"/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" name="Straight Connector 13"/>
                <p:cNvCxnSpPr/>
                <p:nvPr/>
              </p:nvCxnSpPr>
              <p:spPr bwMode="auto">
                <a:xfrm>
                  <a:off x="2438400" y="4191000"/>
                  <a:ext cx="2971800" cy="68580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tx1"/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sp>
          <p:nvSpPr>
            <p:cNvPr id="15" name="TextBox 14"/>
            <p:cNvSpPr txBox="1"/>
            <p:nvPr/>
          </p:nvSpPr>
          <p:spPr>
            <a:xfrm rot="20039047">
              <a:off x="1801743" y="4634646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Wire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 rot="1466289">
              <a:off x="789569" y="4794189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Wire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581152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technology- ROM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ROM: a transistor switch has and additional floating-gate </a:t>
            </a:r>
          </a:p>
          <a:p>
            <a:pPr lvl="1"/>
            <a:r>
              <a:rPr lang="en-US" dirty="0"/>
              <a:t>Can be turned off by injecting negative charge onto the floating gate: negative charge prevent channel formation</a:t>
            </a:r>
          </a:p>
          <a:p>
            <a:pPr lvl="1"/>
            <a:r>
              <a:rPr lang="en-US" dirty="0"/>
              <a:t>Can be turned on by discharging the floating gate </a:t>
            </a:r>
          </a:p>
          <a:p>
            <a:r>
              <a:rPr lang="en-US" dirty="0"/>
              <a:t>EPROM: discharging by UV light</a:t>
            </a:r>
          </a:p>
          <a:p>
            <a:r>
              <a:rPr lang="en-US" dirty="0"/>
              <a:t>EEPROM: discharging by electrical voltage</a:t>
            </a:r>
          </a:p>
          <a:p>
            <a:endParaRPr lang="en-US" dirty="0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762000" y="2197100"/>
            <a:ext cx="15240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9" name="Picture 7" descr="F:\Electronic Books\~msmith\ASICs\HTML\Book2\CH04\CH04-6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3962400"/>
            <a:ext cx="7076408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00930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technology- </a:t>
            </a:r>
            <a:r>
              <a:rPr lang="en-US" dirty="0" err="1"/>
              <a:t>Antifuse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133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500" dirty="0"/>
              <a:t>Fusible Links (“</a:t>
            </a:r>
            <a:r>
              <a:rPr lang="en-US" sz="2500" dirty="0" err="1"/>
              <a:t>Antifuse</a:t>
            </a:r>
            <a:r>
              <a:rPr lang="en-US" sz="2500" dirty="0"/>
              <a:t>”)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Forms a low resistance path when electrically programmed</a:t>
            </a:r>
          </a:p>
          <a:p>
            <a:pPr>
              <a:lnSpc>
                <a:spcPct val="90000"/>
              </a:lnSpc>
            </a:pPr>
            <a:r>
              <a:rPr lang="en-US" dirty="0"/>
              <a:t>Lower area and higher speed than SRAM and ROM</a:t>
            </a:r>
          </a:p>
          <a:p>
            <a:pPr>
              <a:lnSpc>
                <a:spcPct val="90000"/>
              </a:lnSpc>
            </a:pPr>
            <a:r>
              <a:rPr lang="en-US" dirty="0"/>
              <a:t>Once the fuse is programmed, the state never changes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One-time programmable</a:t>
            </a:r>
          </a:p>
          <a:p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838200" y="3962400"/>
            <a:ext cx="7116466" cy="2286000"/>
            <a:chOff x="304800" y="2590800"/>
            <a:chExt cx="7116466" cy="2286000"/>
          </a:xfrm>
        </p:grpSpPr>
        <p:grpSp>
          <p:nvGrpSpPr>
            <p:cNvPr id="7" name="Group 21"/>
            <p:cNvGrpSpPr/>
            <p:nvPr/>
          </p:nvGrpSpPr>
          <p:grpSpPr>
            <a:xfrm>
              <a:off x="304800" y="2590800"/>
              <a:ext cx="7116466" cy="2286000"/>
              <a:chOff x="351134" y="2743200"/>
              <a:chExt cx="7116466" cy="2286000"/>
            </a:xfrm>
          </p:grpSpPr>
          <p:pic>
            <p:nvPicPr>
              <p:cNvPr id="9" name="Picture 5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571500" y="3048000"/>
                <a:ext cx="2552700" cy="1685925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pic>
          <p:sp>
            <p:nvSpPr>
              <p:cNvPr id="10" name="Oval 9"/>
              <p:cNvSpPr/>
              <p:nvPr/>
            </p:nvSpPr>
            <p:spPr bwMode="auto">
              <a:xfrm>
                <a:off x="4191000" y="2819400"/>
                <a:ext cx="3276600" cy="2133600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Lotus" pitchFamily="2" charset="-78"/>
                </a:endParaRPr>
              </a:p>
            </p:txBody>
          </p:sp>
          <p:sp>
            <p:nvSpPr>
              <p:cNvPr id="11" name="Oval 10"/>
              <p:cNvSpPr/>
              <p:nvPr/>
            </p:nvSpPr>
            <p:spPr bwMode="auto">
              <a:xfrm>
                <a:off x="2133600" y="3581400"/>
                <a:ext cx="762000" cy="762000"/>
              </a:xfrm>
              <a:prstGeom prst="ellips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Lotus" pitchFamily="2" charset="-78"/>
                </a:endParaRPr>
              </a:p>
            </p:txBody>
          </p:sp>
          <p:cxnSp>
            <p:nvCxnSpPr>
              <p:cNvPr id="12" name="Straight Connector 11"/>
              <p:cNvCxnSpPr/>
              <p:nvPr/>
            </p:nvCxnSpPr>
            <p:spPr bwMode="auto">
              <a:xfrm flipV="1">
                <a:off x="2590800" y="2743200"/>
                <a:ext cx="2895600" cy="83820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Straight Connector 12"/>
              <p:cNvCxnSpPr/>
              <p:nvPr/>
            </p:nvCxnSpPr>
            <p:spPr bwMode="auto">
              <a:xfrm>
                <a:off x="2514600" y="4343400"/>
                <a:ext cx="2971800" cy="68580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" name="TextBox 13"/>
              <p:cNvSpPr txBox="1"/>
              <p:nvPr/>
            </p:nvSpPr>
            <p:spPr>
              <a:xfrm>
                <a:off x="2895600" y="3733800"/>
                <a:ext cx="1066800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900" dirty="0" err="1"/>
                  <a:t>Antifuse</a:t>
                </a:r>
                <a:endParaRPr lang="en-US" sz="1900" dirty="0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 rot="20019918">
                <a:off x="351134" y="3942950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/>
                  <a:t>Wire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 rot="1184554">
                <a:off x="1340523" y="4157986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/>
                  <a:t>Wire</a:t>
                </a:r>
              </a:p>
            </p:txBody>
          </p:sp>
        </p:grpSp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495800" y="3200400"/>
              <a:ext cx="2667000" cy="1049311"/>
            </a:xfrm>
            <a:prstGeom prst="rect">
              <a:avLst/>
            </a:prstGeom>
            <a:noFill/>
            <a:ln w="38100" cap="flat" cmpd="sng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8510796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market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2438400" cy="4953000"/>
          </a:xfrm>
        </p:spPr>
        <p:txBody>
          <a:bodyPr>
            <a:normAutofit/>
          </a:bodyPr>
          <a:lstStyle/>
          <a:p>
            <a:r>
              <a:rPr lang="en-US" dirty="0"/>
              <a:t>Several companies produce FPGAs and CPLDs</a:t>
            </a:r>
          </a:p>
          <a:p>
            <a:r>
              <a:rPr lang="en-US" dirty="0"/>
              <a:t>Two major companies: Altera (Intel) and Xilinx</a:t>
            </a:r>
          </a:p>
          <a:p>
            <a:pPr lvl="1"/>
            <a:endParaRPr lang="en-US" dirty="0"/>
          </a:p>
        </p:txBody>
      </p:sp>
      <p:pic>
        <p:nvPicPr>
          <p:cNvPr id="22530" name="Picture 2" descr="Image result for fpga market share 2016  xilin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535926"/>
            <a:ext cx="5144923" cy="509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21123e6-474d-4e64-97c9-226fab8a3e61"/>
  <p:tag name="AUDIO_ID" val="386"/>
  <p:tag name="ELAPSEDTIME" val="55.4"/>
  <p:tag name="ARTICULATE_SLIDE_NAV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BULLET_2" val="8226"/>
  <p:tag name="BULLET_3" val="8226"/>
  <p:tag name="BULLET_4" val="8226"/>
  <p:tag name="BULLET_5" val="8226"/>
  <p:tag name="MARGIN_1" val="0"/>
  <p:tag name="MARGIN_2" val="36"/>
  <p:tag name="MARGIN_3" val="72"/>
  <p:tag name="MARGIN_4" val="108"/>
  <p:tag name="MARGIN_5" val="144"/>
  <p:tag name="FONT_SIZE" val="1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4284</TotalTime>
  <Words>1229</Words>
  <Application>Microsoft Office PowerPoint</Application>
  <PresentationFormat>On-screen Show (4:3)</PresentationFormat>
  <Paragraphs>260</Paragraphs>
  <Slides>35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9" baseType="lpstr">
      <vt:lpstr>MS PGothic</vt:lpstr>
      <vt:lpstr>Arial</vt:lpstr>
      <vt:lpstr>Calibri</vt:lpstr>
      <vt:lpstr>Comic Sans MS</vt:lpstr>
      <vt:lpstr>Franklin Gothic Book</vt:lpstr>
      <vt:lpstr>Helvetica</vt:lpstr>
      <vt:lpstr>Perpetua</vt:lpstr>
      <vt:lpstr>SWISS</vt:lpstr>
      <vt:lpstr>Times New Roman</vt:lpstr>
      <vt:lpstr>Wingdings</vt:lpstr>
      <vt:lpstr>Wingdings 2</vt:lpstr>
      <vt:lpstr>Equity</vt:lpstr>
      <vt:lpstr>Visio</vt:lpstr>
      <vt:lpstr>VISIO</vt:lpstr>
      <vt:lpstr>FPGAs – Part 2: Interconnects and hardwired resources</vt:lpstr>
      <vt:lpstr>PowerPoint Presentation</vt:lpstr>
      <vt:lpstr>FPGA interconnects</vt:lpstr>
      <vt:lpstr>PowerPoint Presentation</vt:lpstr>
      <vt:lpstr>Connection box</vt:lpstr>
      <vt:lpstr>FPGA interconnects- switch box</vt:lpstr>
      <vt:lpstr>PowerPoint Presentation</vt:lpstr>
      <vt:lpstr>Switch Matrix Operation</vt:lpstr>
      <vt:lpstr>FPGA interconnects</vt:lpstr>
      <vt:lpstr>Digital design flow for FPGAs</vt:lpstr>
      <vt:lpstr>Example </vt:lpstr>
      <vt:lpstr>CLB structure </vt:lpstr>
      <vt:lpstr>Switch box structure</vt:lpstr>
      <vt:lpstr>CLBs configuration</vt:lpstr>
      <vt:lpstr>Placement: Select CLBs</vt:lpstr>
      <vt:lpstr>Routing: Select path</vt:lpstr>
      <vt:lpstr>Configuration Bitstream</vt:lpstr>
      <vt:lpstr>FPGA configuration</vt:lpstr>
      <vt:lpstr>FPGA configuration</vt:lpstr>
      <vt:lpstr>SRAM-based FPGAs</vt:lpstr>
      <vt:lpstr>Routing Architecture</vt:lpstr>
      <vt:lpstr>Routing Architecture</vt:lpstr>
      <vt:lpstr>FPGA interconnects- wires </vt:lpstr>
      <vt:lpstr>FPGA interconnects- wires </vt:lpstr>
      <vt:lpstr>Long wires</vt:lpstr>
      <vt:lpstr>Interconnects in modern FPGAs</vt:lpstr>
      <vt:lpstr>Programming technology</vt:lpstr>
      <vt:lpstr>Programmable parts</vt:lpstr>
      <vt:lpstr>Programming technologies</vt:lpstr>
      <vt:lpstr>Programming technology- SRAM</vt:lpstr>
      <vt:lpstr>Programming technology- SRAM</vt:lpstr>
      <vt:lpstr>Programming technology- ROM</vt:lpstr>
      <vt:lpstr>Programming technology- ROM</vt:lpstr>
      <vt:lpstr>Programming technology- Antifuse</vt:lpstr>
      <vt:lpstr>FPGA market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Statements in Verilog</dc:title>
  <dc:creator>mehdi</dc:creator>
  <cp:lastModifiedBy>user</cp:lastModifiedBy>
  <cp:revision>328</cp:revision>
  <cp:lastPrinted>2015-10-02T19:19:58Z</cp:lastPrinted>
  <dcterms:created xsi:type="dcterms:W3CDTF">2011-11-11T14:48:38Z</dcterms:created>
  <dcterms:modified xsi:type="dcterms:W3CDTF">2025-01-12T07:54:08Z</dcterms:modified>
</cp:coreProperties>
</file>