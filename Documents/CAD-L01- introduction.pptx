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48"/>
  </p:notesMasterIdLst>
  <p:handoutMasterIdLst>
    <p:handoutMasterId r:id="rId49"/>
  </p:handoutMasterIdLst>
  <p:sldIdLst>
    <p:sldId id="256" r:id="rId2"/>
    <p:sldId id="271" r:id="rId3"/>
    <p:sldId id="295" r:id="rId4"/>
    <p:sldId id="296" r:id="rId5"/>
    <p:sldId id="297" r:id="rId6"/>
    <p:sldId id="298" r:id="rId7"/>
    <p:sldId id="299" r:id="rId8"/>
    <p:sldId id="300" r:id="rId9"/>
    <p:sldId id="301" r:id="rId10"/>
    <p:sldId id="302" r:id="rId11"/>
    <p:sldId id="272" r:id="rId12"/>
    <p:sldId id="275" r:id="rId13"/>
    <p:sldId id="276" r:id="rId14"/>
    <p:sldId id="277" r:id="rId15"/>
    <p:sldId id="278" r:id="rId16"/>
    <p:sldId id="279" r:id="rId17"/>
    <p:sldId id="290" r:id="rId18"/>
    <p:sldId id="303" r:id="rId19"/>
    <p:sldId id="304" r:id="rId20"/>
    <p:sldId id="305" r:id="rId21"/>
    <p:sldId id="306" r:id="rId22"/>
    <p:sldId id="307" r:id="rId23"/>
    <p:sldId id="308" r:id="rId24"/>
    <p:sldId id="309" r:id="rId25"/>
    <p:sldId id="310" r:id="rId26"/>
    <p:sldId id="328" r:id="rId27"/>
    <p:sldId id="329" r:id="rId28"/>
    <p:sldId id="330" r:id="rId29"/>
    <p:sldId id="316" r:id="rId30"/>
    <p:sldId id="313" r:id="rId31"/>
    <p:sldId id="314" r:id="rId32"/>
    <p:sldId id="315" r:id="rId33"/>
    <p:sldId id="331" r:id="rId34"/>
    <p:sldId id="311" r:id="rId35"/>
    <p:sldId id="317" r:id="rId36"/>
    <p:sldId id="318" r:id="rId37"/>
    <p:sldId id="319" r:id="rId38"/>
    <p:sldId id="320" r:id="rId39"/>
    <p:sldId id="321" r:id="rId40"/>
    <p:sldId id="312" r:id="rId41"/>
    <p:sldId id="327" r:id="rId42"/>
    <p:sldId id="322" r:id="rId43"/>
    <p:sldId id="323" r:id="rId44"/>
    <p:sldId id="324" r:id="rId45"/>
    <p:sldId id="325" r:id="rId46"/>
    <p:sldId id="326" r:id="rId4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690" y="78"/>
      </p:cViewPr>
      <p:guideLst>
        <p:guide orient="horz" pos="2160"/>
        <p:guide pos="2880"/>
      </p:guideLst>
    </p:cSldViewPr>
  </p:slideViewPr>
  <p:notesTextViewPr>
    <p:cViewPr>
      <p:scale>
        <a:sx n="100" d="100"/>
        <a:sy n="100" d="100"/>
      </p:scale>
      <p:origin x="0" y="0"/>
    </p:cViewPr>
  </p:notesTextViewPr>
  <p:notesViewPr>
    <p:cSldViewPr>
      <p:cViewPr varScale="1">
        <p:scale>
          <a:sx n="54" d="100"/>
          <a:sy n="54" d="100"/>
        </p:scale>
        <p:origin x="-2448"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7CB4CAA0-44A1-4D40-A467-1026E3626641}" type="datetimeFigureOut">
              <a:rPr lang="en-US" smtClean="0"/>
              <a:pPr/>
              <a:t>9/30/2024</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555151BC-E257-4E7B-ACCC-5BE5550D2A05}" type="slidenum">
              <a:rPr lang="en-US" smtClean="0"/>
              <a:pPr/>
              <a:t>‹#›</a:t>
            </a:fld>
            <a:endParaRPr lang="en-US"/>
          </a:p>
        </p:txBody>
      </p:sp>
    </p:spTree>
    <p:extLst>
      <p:ext uri="{BB962C8B-B14F-4D97-AF65-F5344CB8AC3E}">
        <p14:creationId xmlns:p14="http://schemas.microsoft.com/office/powerpoint/2010/main" val="24440464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6AE210BC-ECDC-4C50-9E7D-895EA1A07AD3}" type="datetimeFigureOut">
              <a:rPr lang="en-US" smtClean="0"/>
              <a:pPr/>
              <a:t>9/30/2024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5C4CA39B-6811-4A09-B2EF-CF371A139D97}" type="slidenum">
              <a:rPr lang="en-US" smtClean="0"/>
              <a:pPr/>
              <a:t>‹#›</a:t>
            </a:fld>
            <a:endParaRPr lang="en-US"/>
          </a:p>
        </p:txBody>
      </p:sp>
      <p:sp>
        <p:nvSpPr>
          <p:cNvPr id="8" name="Slide Number Placeholder 2"/>
          <p:cNvSpPr txBox="1">
            <a:spLocks/>
          </p:cNvSpPr>
          <p:nvPr/>
        </p:nvSpPr>
        <p:spPr>
          <a:xfrm>
            <a:off x="228600" y="9144000"/>
            <a:ext cx="457200" cy="457200"/>
          </a:xfrm>
          <a:prstGeom prst="ellipse">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800" b="0" i="0" u="none" strike="noStrike" kern="1200" cap="none" spc="0" normalizeH="0" baseline="0" noProof="0" smtClean="0">
                <a:ln>
                  <a:noFill/>
                </a:ln>
                <a:solidFill>
                  <a:schemeClr val="tx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22784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4CA39B-6811-4A09-B2EF-CF371A139D9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p:spPr>
        <p:txBody>
          <a:bodyPr/>
          <a:lstStyle/>
          <a:p>
            <a:endParaRPr lang="en-US" smtClean="0"/>
          </a:p>
        </p:txBody>
      </p:sp>
      <p:sp>
        <p:nvSpPr>
          <p:cNvPr id="77828" name="Slide Number Placeholder 3"/>
          <p:cNvSpPr>
            <a:spLocks noGrp="1"/>
          </p:cNvSpPr>
          <p:nvPr>
            <p:ph type="sldNum" sz="quarter" idx="5"/>
          </p:nvPr>
        </p:nvSpPr>
        <p:spPr>
          <a:noFill/>
        </p:spPr>
        <p:txBody>
          <a:bodyPr/>
          <a:lstStyle/>
          <a:p>
            <a:fld id="{3BB6573F-AF07-4D17-9C43-7729F43AA9FC}" type="slidenum">
              <a:rPr lang="en-US" smtClean="0"/>
              <a:pPr/>
              <a:t>2</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1709863-3611-470B-91CB-38F307EC46E3}" type="slidenum">
              <a:rPr lang="zh-TW" altLang="en-US"/>
              <a:pPr/>
              <a:t>4</a:t>
            </a:fld>
            <a:endParaRPr lang="en-US" altLang="zh-TW"/>
          </a:p>
        </p:txBody>
      </p:sp>
      <p:sp>
        <p:nvSpPr>
          <p:cNvPr id="987138" name="Rectangle 2"/>
          <p:cNvSpPr>
            <a:spLocks noChangeArrowheads="1"/>
          </p:cNvSpPr>
          <p:nvPr/>
        </p:nvSpPr>
        <p:spPr bwMode="auto">
          <a:xfrm>
            <a:off x="4144484"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39" name="Rectangle 3"/>
          <p:cNvSpPr>
            <a:spLocks noChangeArrowheads="1"/>
          </p:cNvSpPr>
          <p:nvPr/>
        </p:nvSpPr>
        <p:spPr bwMode="auto">
          <a:xfrm>
            <a:off x="4144484" y="9121140"/>
            <a:ext cx="3170717" cy="480060"/>
          </a:xfrm>
          <a:prstGeom prst="rect">
            <a:avLst/>
          </a:prstGeom>
          <a:noFill/>
          <a:ln w="12700">
            <a:noFill/>
            <a:miter lim="800000"/>
            <a:headEnd/>
            <a:tailEnd/>
          </a:ln>
          <a:effectLst/>
        </p:spPr>
        <p:txBody>
          <a:bodyPr lIns="95654" tIns="46988" rIns="95654" bIns="46988" anchor="b"/>
          <a:lstStyle/>
          <a:p>
            <a:pPr algn="r" eaLnBrk="0" hangingPunct="0"/>
            <a:r>
              <a:rPr lang="en-US" altLang="en-US" sz="1300" dirty="0">
                <a:latin typeface="Times" charset="0"/>
              </a:rPr>
              <a:t>18</a:t>
            </a:r>
          </a:p>
        </p:txBody>
      </p:sp>
      <p:sp>
        <p:nvSpPr>
          <p:cNvPr id="987140" name="Rectangle 4"/>
          <p:cNvSpPr>
            <a:spLocks noChangeArrowheads="1"/>
          </p:cNvSpPr>
          <p:nvPr/>
        </p:nvSpPr>
        <p:spPr bwMode="auto">
          <a:xfrm>
            <a:off x="0" y="9121140"/>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1" name="Rectangle 5"/>
          <p:cNvSpPr>
            <a:spLocks noChangeArrowheads="1"/>
          </p:cNvSpPr>
          <p:nvPr/>
        </p:nvSpPr>
        <p:spPr bwMode="auto">
          <a:xfrm>
            <a:off x="0"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2" name="Rectangle 6"/>
          <p:cNvSpPr>
            <a:spLocks noGrp="1" noRot="1" noChangeAspect="1" noChangeArrowheads="1" noTextEdit="1"/>
          </p:cNvSpPr>
          <p:nvPr>
            <p:ph type="sldImg"/>
          </p:nvPr>
        </p:nvSpPr>
        <p:spPr>
          <a:xfrm>
            <a:off x="1263650" y="723900"/>
            <a:ext cx="4791075" cy="3594100"/>
          </a:xfrm>
          <a:ln w="12700" cap="flat"/>
        </p:spPr>
      </p:sp>
      <p:sp>
        <p:nvSpPr>
          <p:cNvPr id="987143" name="Rectangle 7"/>
          <p:cNvSpPr>
            <a:spLocks noGrp="1" noChangeArrowheads="1"/>
          </p:cNvSpPr>
          <p:nvPr>
            <p:ph type="body" idx="1"/>
          </p:nvPr>
        </p:nvSpPr>
        <p:spPr>
          <a:xfrm>
            <a:off x="970350" y="4559799"/>
            <a:ext cx="5374502" cy="4326715"/>
          </a:xfrm>
          <a:ln/>
        </p:spPr>
        <p:txBody>
          <a:bodyPr lIns="95654" tIns="46988" rIns="95654" bIns="46988"/>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1709863-3611-470B-91CB-38F307EC46E3}" type="slidenum">
              <a:rPr lang="zh-TW" altLang="en-US"/>
              <a:pPr/>
              <a:t>5</a:t>
            </a:fld>
            <a:endParaRPr lang="en-US" altLang="zh-TW"/>
          </a:p>
        </p:txBody>
      </p:sp>
      <p:sp>
        <p:nvSpPr>
          <p:cNvPr id="987138" name="Rectangle 2"/>
          <p:cNvSpPr>
            <a:spLocks noChangeArrowheads="1"/>
          </p:cNvSpPr>
          <p:nvPr/>
        </p:nvSpPr>
        <p:spPr bwMode="auto">
          <a:xfrm>
            <a:off x="4144484"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39" name="Rectangle 3"/>
          <p:cNvSpPr>
            <a:spLocks noChangeArrowheads="1"/>
          </p:cNvSpPr>
          <p:nvPr/>
        </p:nvSpPr>
        <p:spPr bwMode="auto">
          <a:xfrm>
            <a:off x="4144484" y="9121140"/>
            <a:ext cx="3170717" cy="480060"/>
          </a:xfrm>
          <a:prstGeom prst="rect">
            <a:avLst/>
          </a:prstGeom>
          <a:noFill/>
          <a:ln w="12700">
            <a:noFill/>
            <a:miter lim="800000"/>
            <a:headEnd/>
            <a:tailEnd/>
          </a:ln>
          <a:effectLst/>
        </p:spPr>
        <p:txBody>
          <a:bodyPr lIns="95654" tIns="46988" rIns="95654" bIns="46988" anchor="b"/>
          <a:lstStyle/>
          <a:p>
            <a:pPr algn="r" eaLnBrk="0" hangingPunct="0"/>
            <a:r>
              <a:rPr lang="en-US" altLang="en-US" sz="1300" dirty="0">
                <a:latin typeface="Times" charset="0"/>
              </a:rPr>
              <a:t>18</a:t>
            </a:r>
          </a:p>
        </p:txBody>
      </p:sp>
      <p:sp>
        <p:nvSpPr>
          <p:cNvPr id="987140" name="Rectangle 4"/>
          <p:cNvSpPr>
            <a:spLocks noChangeArrowheads="1"/>
          </p:cNvSpPr>
          <p:nvPr/>
        </p:nvSpPr>
        <p:spPr bwMode="auto">
          <a:xfrm>
            <a:off x="0" y="9121140"/>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1" name="Rectangle 5"/>
          <p:cNvSpPr>
            <a:spLocks noChangeArrowheads="1"/>
          </p:cNvSpPr>
          <p:nvPr/>
        </p:nvSpPr>
        <p:spPr bwMode="auto">
          <a:xfrm>
            <a:off x="0"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2" name="Rectangle 6"/>
          <p:cNvSpPr>
            <a:spLocks noGrp="1" noRot="1" noChangeAspect="1" noChangeArrowheads="1" noTextEdit="1"/>
          </p:cNvSpPr>
          <p:nvPr>
            <p:ph type="sldImg"/>
          </p:nvPr>
        </p:nvSpPr>
        <p:spPr>
          <a:xfrm>
            <a:off x="1263650" y="723900"/>
            <a:ext cx="4791075" cy="3594100"/>
          </a:xfrm>
          <a:ln w="12700" cap="flat"/>
        </p:spPr>
      </p:sp>
      <p:sp>
        <p:nvSpPr>
          <p:cNvPr id="987143" name="Rectangle 7"/>
          <p:cNvSpPr>
            <a:spLocks noGrp="1" noChangeArrowheads="1"/>
          </p:cNvSpPr>
          <p:nvPr>
            <p:ph type="body" idx="1"/>
          </p:nvPr>
        </p:nvSpPr>
        <p:spPr>
          <a:xfrm>
            <a:off x="970350" y="4559799"/>
            <a:ext cx="5374502" cy="4326715"/>
          </a:xfrm>
          <a:ln/>
        </p:spPr>
        <p:txBody>
          <a:bodyPr lIns="95654" tIns="46988" rIns="95654" bIns="46988"/>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1709863-3611-470B-91CB-38F307EC46E3}" type="slidenum">
              <a:rPr lang="zh-TW" altLang="en-US"/>
              <a:pPr/>
              <a:t>6</a:t>
            </a:fld>
            <a:endParaRPr lang="en-US" altLang="zh-TW"/>
          </a:p>
        </p:txBody>
      </p:sp>
      <p:sp>
        <p:nvSpPr>
          <p:cNvPr id="987138" name="Rectangle 2"/>
          <p:cNvSpPr>
            <a:spLocks noChangeArrowheads="1"/>
          </p:cNvSpPr>
          <p:nvPr/>
        </p:nvSpPr>
        <p:spPr bwMode="auto">
          <a:xfrm>
            <a:off x="4144484"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39" name="Rectangle 3"/>
          <p:cNvSpPr>
            <a:spLocks noChangeArrowheads="1"/>
          </p:cNvSpPr>
          <p:nvPr/>
        </p:nvSpPr>
        <p:spPr bwMode="auto">
          <a:xfrm>
            <a:off x="4144484" y="9121140"/>
            <a:ext cx="3170717" cy="480060"/>
          </a:xfrm>
          <a:prstGeom prst="rect">
            <a:avLst/>
          </a:prstGeom>
          <a:noFill/>
          <a:ln w="12700">
            <a:noFill/>
            <a:miter lim="800000"/>
            <a:headEnd/>
            <a:tailEnd/>
          </a:ln>
          <a:effectLst/>
        </p:spPr>
        <p:txBody>
          <a:bodyPr lIns="95654" tIns="46988" rIns="95654" bIns="46988" anchor="b"/>
          <a:lstStyle/>
          <a:p>
            <a:pPr algn="r" eaLnBrk="0" hangingPunct="0"/>
            <a:r>
              <a:rPr lang="en-US" altLang="en-US" sz="1300" dirty="0">
                <a:latin typeface="Times" charset="0"/>
              </a:rPr>
              <a:t>18</a:t>
            </a:r>
          </a:p>
        </p:txBody>
      </p:sp>
      <p:sp>
        <p:nvSpPr>
          <p:cNvPr id="987140" name="Rectangle 4"/>
          <p:cNvSpPr>
            <a:spLocks noChangeArrowheads="1"/>
          </p:cNvSpPr>
          <p:nvPr/>
        </p:nvSpPr>
        <p:spPr bwMode="auto">
          <a:xfrm>
            <a:off x="0" y="9121140"/>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1" name="Rectangle 5"/>
          <p:cNvSpPr>
            <a:spLocks noChangeArrowheads="1"/>
          </p:cNvSpPr>
          <p:nvPr/>
        </p:nvSpPr>
        <p:spPr bwMode="auto">
          <a:xfrm>
            <a:off x="0"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2" name="Rectangle 6"/>
          <p:cNvSpPr>
            <a:spLocks noGrp="1" noRot="1" noChangeAspect="1" noChangeArrowheads="1" noTextEdit="1"/>
          </p:cNvSpPr>
          <p:nvPr>
            <p:ph type="sldImg"/>
          </p:nvPr>
        </p:nvSpPr>
        <p:spPr>
          <a:xfrm>
            <a:off x="1263650" y="723900"/>
            <a:ext cx="4791075" cy="3594100"/>
          </a:xfrm>
          <a:ln w="12700" cap="flat"/>
        </p:spPr>
      </p:sp>
      <p:sp>
        <p:nvSpPr>
          <p:cNvPr id="987143" name="Rectangle 7"/>
          <p:cNvSpPr>
            <a:spLocks noGrp="1" noChangeArrowheads="1"/>
          </p:cNvSpPr>
          <p:nvPr>
            <p:ph type="body" idx="1"/>
          </p:nvPr>
        </p:nvSpPr>
        <p:spPr>
          <a:xfrm>
            <a:off x="970350" y="4559799"/>
            <a:ext cx="5374502" cy="4326715"/>
          </a:xfrm>
          <a:ln/>
        </p:spPr>
        <p:txBody>
          <a:bodyPr lIns="95654" tIns="46988" rIns="95654" bIns="46988"/>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1709863-3611-470B-91CB-38F307EC46E3}" type="slidenum">
              <a:rPr lang="zh-TW" altLang="en-US"/>
              <a:pPr/>
              <a:t>7</a:t>
            </a:fld>
            <a:endParaRPr lang="en-US" altLang="zh-TW"/>
          </a:p>
        </p:txBody>
      </p:sp>
      <p:sp>
        <p:nvSpPr>
          <p:cNvPr id="987138" name="Rectangle 2"/>
          <p:cNvSpPr>
            <a:spLocks noChangeArrowheads="1"/>
          </p:cNvSpPr>
          <p:nvPr/>
        </p:nvSpPr>
        <p:spPr bwMode="auto">
          <a:xfrm>
            <a:off x="4144484"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39" name="Rectangle 3"/>
          <p:cNvSpPr>
            <a:spLocks noChangeArrowheads="1"/>
          </p:cNvSpPr>
          <p:nvPr/>
        </p:nvSpPr>
        <p:spPr bwMode="auto">
          <a:xfrm>
            <a:off x="4144484" y="9121140"/>
            <a:ext cx="3170717" cy="480060"/>
          </a:xfrm>
          <a:prstGeom prst="rect">
            <a:avLst/>
          </a:prstGeom>
          <a:noFill/>
          <a:ln w="12700">
            <a:noFill/>
            <a:miter lim="800000"/>
            <a:headEnd/>
            <a:tailEnd/>
          </a:ln>
          <a:effectLst/>
        </p:spPr>
        <p:txBody>
          <a:bodyPr lIns="95654" tIns="46988" rIns="95654" bIns="46988" anchor="b"/>
          <a:lstStyle/>
          <a:p>
            <a:pPr algn="r" eaLnBrk="0" hangingPunct="0"/>
            <a:r>
              <a:rPr lang="en-US" altLang="en-US" sz="1300" dirty="0">
                <a:latin typeface="Times" charset="0"/>
              </a:rPr>
              <a:t>18</a:t>
            </a:r>
          </a:p>
        </p:txBody>
      </p:sp>
      <p:sp>
        <p:nvSpPr>
          <p:cNvPr id="987140" name="Rectangle 4"/>
          <p:cNvSpPr>
            <a:spLocks noChangeArrowheads="1"/>
          </p:cNvSpPr>
          <p:nvPr/>
        </p:nvSpPr>
        <p:spPr bwMode="auto">
          <a:xfrm>
            <a:off x="0" y="9121140"/>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1" name="Rectangle 5"/>
          <p:cNvSpPr>
            <a:spLocks noChangeArrowheads="1"/>
          </p:cNvSpPr>
          <p:nvPr/>
        </p:nvSpPr>
        <p:spPr bwMode="auto">
          <a:xfrm>
            <a:off x="0"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2" name="Rectangle 6"/>
          <p:cNvSpPr>
            <a:spLocks noGrp="1" noRot="1" noChangeAspect="1" noChangeArrowheads="1" noTextEdit="1"/>
          </p:cNvSpPr>
          <p:nvPr>
            <p:ph type="sldImg"/>
          </p:nvPr>
        </p:nvSpPr>
        <p:spPr>
          <a:xfrm>
            <a:off x="1263650" y="723900"/>
            <a:ext cx="4791075" cy="3594100"/>
          </a:xfrm>
          <a:ln w="12700" cap="flat"/>
        </p:spPr>
      </p:sp>
      <p:sp>
        <p:nvSpPr>
          <p:cNvPr id="987143" name="Rectangle 7"/>
          <p:cNvSpPr>
            <a:spLocks noGrp="1" noChangeArrowheads="1"/>
          </p:cNvSpPr>
          <p:nvPr>
            <p:ph type="body" idx="1"/>
          </p:nvPr>
        </p:nvSpPr>
        <p:spPr>
          <a:xfrm>
            <a:off x="970350" y="4559799"/>
            <a:ext cx="5374502" cy="4326715"/>
          </a:xfrm>
          <a:ln/>
        </p:spPr>
        <p:txBody>
          <a:bodyPr lIns="95654" tIns="46988" rIns="95654" bIns="46988"/>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1709863-3611-470B-91CB-38F307EC46E3}" type="slidenum">
              <a:rPr lang="zh-TW" altLang="en-US"/>
              <a:pPr/>
              <a:t>8</a:t>
            </a:fld>
            <a:endParaRPr lang="en-US" altLang="zh-TW"/>
          </a:p>
        </p:txBody>
      </p:sp>
      <p:sp>
        <p:nvSpPr>
          <p:cNvPr id="987138" name="Rectangle 2"/>
          <p:cNvSpPr>
            <a:spLocks noChangeArrowheads="1"/>
          </p:cNvSpPr>
          <p:nvPr/>
        </p:nvSpPr>
        <p:spPr bwMode="auto">
          <a:xfrm>
            <a:off x="4144484"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39" name="Rectangle 3"/>
          <p:cNvSpPr>
            <a:spLocks noChangeArrowheads="1"/>
          </p:cNvSpPr>
          <p:nvPr/>
        </p:nvSpPr>
        <p:spPr bwMode="auto">
          <a:xfrm>
            <a:off x="4144484" y="9121140"/>
            <a:ext cx="3170717" cy="480060"/>
          </a:xfrm>
          <a:prstGeom prst="rect">
            <a:avLst/>
          </a:prstGeom>
          <a:noFill/>
          <a:ln w="12700">
            <a:noFill/>
            <a:miter lim="800000"/>
            <a:headEnd/>
            <a:tailEnd/>
          </a:ln>
          <a:effectLst/>
        </p:spPr>
        <p:txBody>
          <a:bodyPr lIns="95654" tIns="46988" rIns="95654" bIns="46988" anchor="b"/>
          <a:lstStyle/>
          <a:p>
            <a:pPr algn="r" eaLnBrk="0" hangingPunct="0"/>
            <a:r>
              <a:rPr lang="en-US" altLang="en-US" sz="1300" dirty="0">
                <a:latin typeface="Times" charset="0"/>
              </a:rPr>
              <a:t>18</a:t>
            </a:r>
          </a:p>
        </p:txBody>
      </p:sp>
      <p:sp>
        <p:nvSpPr>
          <p:cNvPr id="987140" name="Rectangle 4"/>
          <p:cNvSpPr>
            <a:spLocks noChangeArrowheads="1"/>
          </p:cNvSpPr>
          <p:nvPr/>
        </p:nvSpPr>
        <p:spPr bwMode="auto">
          <a:xfrm>
            <a:off x="0" y="9121140"/>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1" name="Rectangle 5"/>
          <p:cNvSpPr>
            <a:spLocks noChangeArrowheads="1"/>
          </p:cNvSpPr>
          <p:nvPr/>
        </p:nvSpPr>
        <p:spPr bwMode="auto">
          <a:xfrm>
            <a:off x="0"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2" name="Rectangle 6"/>
          <p:cNvSpPr>
            <a:spLocks noGrp="1" noRot="1" noChangeAspect="1" noChangeArrowheads="1" noTextEdit="1"/>
          </p:cNvSpPr>
          <p:nvPr>
            <p:ph type="sldImg"/>
          </p:nvPr>
        </p:nvSpPr>
        <p:spPr>
          <a:xfrm>
            <a:off x="1263650" y="723900"/>
            <a:ext cx="4791075" cy="3594100"/>
          </a:xfrm>
          <a:ln w="12700" cap="flat"/>
        </p:spPr>
      </p:sp>
      <p:sp>
        <p:nvSpPr>
          <p:cNvPr id="987143" name="Rectangle 7"/>
          <p:cNvSpPr>
            <a:spLocks noGrp="1" noChangeArrowheads="1"/>
          </p:cNvSpPr>
          <p:nvPr>
            <p:ph type="body" idx="1"/>
          </p:nvPr>
        </p:nvSpPr>
        <p:spPr>
          <a:xfrm>
            <a:off x="970350" y="4559799"/>
            <a:ext cx="5374502" cy="4326715"/>
          </a:xfrm>
          <a:ln/>
        </p:spPr>
        <p:txBody>
          <a:bodyPr lIns="95654" tIns="46988" rIns="95654" bIns="46988"/>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1709863-3611-470B-91CB-38F307EC46E3}" type="slidenum">
              <a:rPr lang="zh-TW" altLang="en-US"/>
              <a:pPr/>
              <a:t>9</a:t>
            </a:fld>
            <a:endParaRPr lang="en-US" altLang="zh-TW"/>
          </a:p>
        </p:txBody>
      </p:sp>
      <p:sp>
        <p:nvSpPr>
          <p:cNvPr id="987138" name="Rectangle 2"/>
          <p:cNvSpPr>
            <a:spLocks noChangeArrowheads="1"/>
          </p:cNvSpPr>
          <p:nvPr/>
        </p:nvSpPr>
        <p:spPr bwMode="auto">
          <a:xfrm>
            <a:off x="4144484"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39" name="Rectangle 3"/>
          <p:cNvSpPr>
            <a:spLocks noChangeArrowheads="1"/>
          </p:cNvSpPr>
          <p:nvPr/>
        </p:nvSpPr>
        <p:spPr bwMode="auto">
          <a:xfrm>
            <a:off x="4144484" y="9121140"/>
            <a:ext cx="3170717" cy="480060"/>
          </a:xfrm>
          <a:prstGeom prst="rect">
            <a:avLst/>
          </a:prstGeom>
          <a:noFill/>
          <a:ln w="12700">
            <a:noFill/>
            <a:miter lim="800000"/>
            <a:headEnd/>
            <a:tailEnd/>
          </a:ln>
          <a:effectLst/>
        </p:spPr>
        <p:txBody>
          <a:bodyPr lIns="95654" tIns="46988" rIns="95654" bIns="46988" anchor="b"/>
          <a:lstStyle/>
          <a:p>
            <a:pPr algn="r" eaLnBrk="0" hangingPunct="0"/>
            <a:r>
              <a:rPr lang="en-US" altLang="en-US" sz="1300" dirty="0">
                <a:latin typeface="Times" charset="0"/>
              </a:rPr>
              <a:t>18</a:t>
            </a:r>
          </a:p>
        </p:txBody>
      </p:sp>
      <p:sp>
        <p:nvSpPr>
          <p:cNvPr id="987140" name="Rectangle 4"/>
          <p:cNvSpPr>
            <a:spLocks noChangeArrowheads="1"/>
          </p:cNvSpPr>
          <p:nvPr/>
        </p:nvSpPr>
        <p:spPr bwMode="auto">
          <a:xfrm>
            <a:off x="0" y="9121140"/>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1" name="Rectangle 5"/>
          <p:cNvSpPr>
            <a:spLocks noChangeArrowheads="1"/>
          </p:cNvSpPr>
          <p:nvPr/>
        </p:nvSpPr>
        <p:spPr bwMode="auto">
          <a:xfrm>
            <a:off x="0"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2" name="Rectangle 6"/>
          <p:cNvSpPr>
            <a:spLocks noGrp="1" noRot="1" noChangeAspect="1" noChangeArrowheads="1" noTextEdit="1"/>
          </p:cNvSpPr>
          <p:nvPr>
            <p:ph type="sldImg"/>
          </p:nvPr>
        </p:nvSpPr>
        <p:spPr>
          <a:xfrm>
            <a:off x="1263650" y="723900"/>
            <a:ext cx="4791075" cy="3594100"/>
          </a:xfrm>
          <a:ln w="12700" cap="flat"/>
        </p:spPr>
      </p:sp>
      <p:sp>
        <p:nvSpPr>
          <p:cNvPr id="987143" name="Rectangle 7"/>
          <p:cNvSpPr>
            <a:spLocks noGrp="1" noChangeArrowheads="1"/>
          </p:cNvSpPr>
          <p:nvPr>
            <p:ph type="body" idx="1"/>
          </p:nvPr>
        </p:nvSpPr>
        <p:spPr>
          <a:xfrm>
            <a:off x="970350" y="4559799"/>
            <a:ext cx="5374502" cy="4326715"/>
          </a:xfrm>
          <a:ln/>
        </p:spPr>
        <p:txBody>
          <a:bodyPr lIns="95654" tIns="46988" rIns="95654" bIns="46988"/>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1709863-3611-470B-91CB-38F307EC46E3}" type="slidenum">
              <a:rPr lang="zh-TW" altLang="en-US"/>
              <a:pPr/>
              <a:t>10</a:t>
            </a:fld>
            <a:endParaRPr lang="en-US" altLang="zh-TW"/>
          </a:p>
        </p:txBody>
      </p:sp>
      <p:sp>
        <p:nvSpPr>
          <p:cNvPr id="987138" name="Rectangle 2"/>
          <p:cNvSpPr>
            <a:spLocks noChangeArrowheads="1"/>
          </p:cNvSpPr>
          <p:nvPr/>
        </p:nvSpPr>
        <p:spPr bwMode="auto">
          <a:xfrm>
            <a:off x="4144484"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39" name="Rectangle 3"/>
          <p:cNvSpPr>
            <a:spLocks noChangeArrowheads="1"/>
          </p:cNvSpPr>
          <p:nvPr/>
        </p:nvSpPr>
        <p:spPr bwMode="auto">
          <a:xfrm>
            <a:off x="4144484" y="9121140"/>
            <a:ext cx="3170717" cy="480060"/>
          </a:xfrm>
          <a:prstGeom prst="rect">
            <a:avLst/>
          </a:prstGeom>
          <a:noFill/>
          <a:ln w="12700">
            <a:noFill/>
            <a:miter lim="800000"/>
            <a:headEnd/>
            <a:tailEnd/>
          </a:ln>
          <a:effectLst/>
        </p:spPr>
        <p:txBody>
          <a:bodyPr lIns="95654" tIns="46988" rIns="95654" bIns="46988" anchor="b"/>
          <a:lstStyle/>
          <a:p>
            <a:pPr algn="r" eaLnBrk="0" hangingPunct="0"/>
            <a:r>
              <a:rPr lang="en-US" altLang="en-US" sz="1300" dirty="0">
                <a:latin typeface="Times" charset="0"/>
              </a:rPr>
              <a:t>18</a:t>
            </a:r>
          </a:p>
        </p:txBody>
      </p:sp>
      <p:sp>
        <p:nvSpPr>
          <p:cNvPr id="987140" name="Rectangle 4"/>
          <p:cNvSpPr>
            <a:spLocks noChangeArrowheads="1"/>
          </p:cNvSpPr>
          <p:nvPr/>
        </p:nvSpPr>
        <p:spPr bwMode="auto">
          <a:xfrm>
            <a:off x="0" y="9121140"/>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1" name="Rectangle 5"/>
          <p:cNvSpPr>
            <a:spLocks noChangeArrowheads="1"/>
          </p:cNvSpPr>
          <p:nvPr/>
        </p:nvSpPr>
        <p:spPr bwMode="auto">
          <a:xfrm>
            <a:off x="0" y="1"/>
            <a:ext cx="3170717" cy="480060"/>
          </a:xfrm>
          <a:prstGeom prst="rect">
            <a:avLst/>
          </a:prstGeom>
          <a:noFill/>
          <a:ln w="12700">
            <a:noFill/>
            <a:miter lim="800000"/>
            <a:headEnd/>
            <a:tailEnd/>
          </a:ln>
          <a:effectLst/>
        </p:spPr>
        <p:txBody>
          <a:bodyPr wrap="none" lIns="96661" tIns="48331" rIns="96661" bIns="48331" anchor="ctr"/>
          <a:lstStyle/>
          <a:p>
            <a:endParaRPr lang="en-US"/>
          </a:p>
        </p:txBody>
      </p:sp>
      <p:sp>
        <p:nvSpPr>
          <p:cNvPr id="987142" name="Rectangle 6"/>
          <p:cNvSpPr>
            <a:spLocks noGrp="1" noRot="1" noChangeAspect="1" noChangeArrowheads="1" noTextEdit="1"/>
          </p:cNvSpPr>
          <p:nvPr>
            <p:ph type="sldImg"/>
          </p:nvPr>
        </p:nvSpPr>
        <p:spPr>
          <a:xfrm>
            <a:off x="1263650" y="723900"/>
            <a:ext cx="4791075" cy="3594100"/>
          </a:xfrm>
          <a:ln w="12700" cap="flat"/>
        </p:spPr>
      </p:sp>
      <p:sp>
        <p:nvSpPr>
          <p:cNvPr id="987143" name="Rectangle 7"/>
          <p:cNvSpPr>
            <a:spLocks noGrp="1" noChangeArrowheads="1"/>
          </p:cNvSpPr>
          <p:nvPr>
            <p:ph type="body" idx="1"/>
          </p:nvPr>
        </p:nvSpPr>
        <p:spPr>
          <a:xfrm>
            <a:off x="970350" y="4559799"/>
            <a:ext cx="5374502" cy="4326715"/>
          </a:xfrm>
          <a:ln/>
        </p:spPr>
        <p:txBody>
          <a:bodyPr lIns="95654" tIns="46988" rIns="95654" bIns="46988"/>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p:spPr>
        <p:txBody>
          <a:bodyPr/>
          <a:lstStyle/>
          <a:p>
            <a:endParaRPr lang="en-US" smtClean="0"/>
          </a:p>
        </p:txBody>
      </p:sp>
      <p:sp>
        <p:nvSpPr>
          <p:cNvPr id="78852" name="Slide Number Placeholder 3"/>
          <p:cNvSpPr>
            <a:spLocks noGrp="1"/>
          </p:cNvSpPr>
          <p:nvPr>
            <p:ph type="sldNum" sz="quarter" idx="5"/>
          </p:nvPr>
        </p:nvSpPr>
        <p:spPr>
          <a:noFill/>
        </p:spPr>
        <p:txBody>
          <a:bodyPr/>
          <a:lstStyle/>
          <a:p>
            <a:fld id="{DE8D0F47-8ABC-48A7-975A-2EC3A282894F}" type="slidenum">
              <a:rPr lang="en-US" smtClean="0"/>
              <a:pPr/>
              <a:t>11</a:t>
            </a:fld>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p:spPr>
        <p:txBody>
          <a:bodyPr/>
          <a:lstStyle/>
          <a:p>
            <a:endParaRPr lang="en-US" smtClean="0"/>
          </a:p>
        </p:txBody>
      </p:sp>
      <p:sp>
        <p:nvSpPr>
          <p:cNvPr id="81924" name="Slide Number Placeholder 3"/>
          <p:cNvSpPr>
            <a:spLocks noGrp="1"/>
          </p:cNvSpPr>
          <p:nvPr>
            <p:ph type="sldNum" sz="quarter" idx="5"/>
          </p:nvPr>
        </p:nvSpPr>
        <p:spPr>
          <a:noFill/>
        </p:spPr>
        <p:txBody>
          <a:bodyPr/>
          <a:lstStyle/>
          <a:p>
            <a:fld id="{39784A6C-655E-464C-A326-AE814E84B64E}" type="slidenum">
              <a:rPr lang="en-US" smtClean="0"/>
              <a:pPr/>
              <a:t>12</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p:spPr>
        <p:txBody>
          <a:bodyPr/>
          <a:lstStyle/>
          <a:p>
            <a:endParaRPr lang="en-US" smtClean="0"/>
          </a:p>
        </p:txBody>
      </p:sp>
      <p:sp>
        <p:nvSpPr>
          <p:cNvPr id="82948" name="Slide Number Placeholder 3"/>
          <p:cNvSpPr>
            <a:spLocks noGrp="1"/>
          </p:cNvSpPr>
          <p:nvPr>
            <p:ph type="sldNum" sz="quarter" idx="5"/>
          </p:nvPr>
        </p:nvSpPr>
        <p:spPr>
          <a:noFill/>
        </p:spPr>
        <p:txBody>
          <a:bodyPr/>
          <a:lstStyle/>
          <a:p>
            <a:fld id="{978472F4-10CE-4C05-AE57-8448C5C4C0DF}" type="slidenum">
              <a:rPr lang="en-US" smtClean="0"/>
              <a:pPr/>
              <a:t>13</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p:spPr>
        <p:txBody>
          <a:bodyPr/>
          <a:lstStyle/>
          <a:p>
            <a:endParaRPr lang="en-US" smtClean="0"/>
          </a:p>
        </p:txBody>
      </p:sp>
      <p:sp>
        <p:nvSpPr>
          <p:cNvPr id="83972" name="Slide Number Placeholder 3"/>
          <p:cNvSpPr>
            <a:spLocks noGrp="1"/>
          </p:cNvSpPr>
          <p:nvPr>
            <p:ph type="sldNum" sz="quarter" idx="5"/>
          </p:nvPr>
        </p:nvSpPr>
        <p:spPr>
          <a:noFill/>
        </p:spPr>
        <p:txBody>
          <a:bodyPr/>
          <a:lstStyle/>
          <a:p>
            <a:fld id="{E2C5D20D-C252-420B-B4A5-6537E5D6D219}" type="slidenum">
              <a:rPr lang="en-US" smtClean="0"/>
              <a:pPr/>
              <a:t>14</a:t>
            </a:fld>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p:spPr>
        <p:txBody>
          <a:bodyPr/>
          <a:lstStyle/>
          <a:p>
            <a:endParaRPr lang="en-US" smtClean="0"/>
          </a:p>
        </p:txBody>
      </p:sp>
      <p:sp>
        <p:nvSpPr>
          <p:cNvPr id="84996" name="Slide Number Placeholder 3"/>
          <p:cNvSpPr>
            <a:spLocks noGrp="1"/>
          </p:cNvSpPr>
          <p:nvPr>
            <p:ph type="sldNum" sz="quarter" idx="5"/>
          </p:nvPr>
        </p:nvSpPr>
        <p:spPr>
          <a:noFill/>
        </p:spPr>
        <p:txBody>
          <a:bodyPr/>
          <a:lstStyle/>
          <a:p>
            <a:fld id="{8B65C953-0C4C-4312-86AE-CD3FFC18525C}" type="slidenum">
              <a:rPr lang="en-US" smtClean="0"/>
              <a:pPr/>
              <a:t>15</a:t>
            </a:fld>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p:spPr>
        <p:txBody>
          <a:bodyPr/>
          <a:lstStyle/>
          <a:p>
            <a:endParaRPr lang="en-US" smtClean="0"/>
          </a:p>
        </p:txBody>
      </p:sp>
      <p:sp>
        <p:nvSpPr>
          <p:cNvPr id="86020" name="Slide Number Placeholder 3"/>
          <p:cNvSpPr>
            <a:spLocks noGrp="1"/>
          </p:cNvSpPr>
          <p:nvPr>
            <p:ph type="sldNum" sz="quarter" idx="5"/>
          </p:nvPr>
        </p:nvSpPr>
        <p:spPr>
          <a:noFill/>
        </p:spPr>
        <p:txBody>
          <a:bodyPr/>
          <a:lstStyle/>
          <a:p>
            <a:fld id="{FF018E86-0BBD-4B1A-B94B-09BD5943F6A6}" type="slidenum">
              <a:rPr lang="en-US" smtClean="0"/>
              <a:pPr/>
              <a:t>16</a:t>
            </a:fld>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p:spPr>
        <p:txBody>
          <a:bodyPr/>
          <a:lstStyle/>
          <a:p>
            <a:endParaRPr lang="en-US" smtClean="0"/>
          </a:p>
        </p:txBody>
      </p:sp>
      <p:sp>
        <p:nvSpPr>
          <p:cNvPr id="83972" name="Slide Number Placeholder 3"/>
          <p:cNvSpPr>
            <a:spLocks noGrp="1"/>
          </p:cNvSpPr>
          <p:nvPr>
            <p:ph type="sldNum" sz="quarter" idx="5"/>
          </p:nvPr>
        </p:nvSpPr>
        <p:spPr>
          <a:noFill/>
        </p:spPr>
        <p:txBody>
          <a:bodyPr/>
          <a:lstStyle/>
          <a:p>
            <a:fld id="{E2C5D20D-C252-420B-B4A5-6537E5D6D219}" type="slidenum">
              <a:rPr lang="en-US" smtClean="0"/>
              <a:pPr/>
              <a:t>17</a:t>
            </a:fld>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4CA39B-6811-4A09-B2EF-CF371A139D97}" type="slidenum">
              <a:rPr lang="en-US" smtClean="0"/>
              <a:pPr/>
              <a:t>21</a:t>
            </a:fld>
            <a:endParaRPr lang="en-US"/>
          </a:p>
        </p:txBody>
      </p:sp>
    </p:spTree>
    <p:extLst>
      <p:ext uri="{BB962C8B-B14F-4D97-AF65-F5344CB8AC3E}">
        <p14:creationId xmlns:p14="http://schemas.microsoft.com/office/powerpoint/2010/main" val="926231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1D6179-4969-40DB-84C2-4CEF5ABD9C87}" type="slidenum">
              <a:rPr lang="en-US" smtClean="0"/>
              <a:pPr/>
              <a:t>23</a:t>
            </a:fld>
            <a:endParaRPr lang="en-US"/>
          </a:p>
        </p:txBody>
      </p:sp>
    </p:spTree>
    <p:extLst>
      <p:ext uri="{BB962C8B-B14F-4D97-AF65-F5344CB8AC3E}">
        <p14:creationId xmlns:p14="http://schemas.microsoft.com/office/powerpoint/2010/main" val="677900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6572BA-7FDB-4C60-BDAB-D3AFD2CE0D00}" type="slidenum">
              <a:rPr lang="en-US"/>
              <a:pPr/>
              <a:t>25</a:t>
            </a:fld>
            <a:endParaRPr lang="en-US"/>
          </a:p>
        </p:txBody>
      </p:sp>
      <p:sp>
        <p:nvSpPr>
          <p:cNvPr id="49154" name="Rectangle 1026"/>
          <p:cNvSpPr>
            <a:spLocks noGrp="1" noRot="1" noChangeAspect="1" noChangeArrowheads="1" noTextEdit="1"/>
          </p:cNvSpPr>
          <p:nvPr>
            <p:ph type="sldImg"/>
          </p:nvPr>
        </p:nvSpPr>
        <p:spPr>
          <a:ln/>
        </p:spPr>
      </p:sp>
      <p:sp>
        <p:nvSpPr>
          <p:cNvPr id="49155"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154960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35</a:t>
            </a:fld>
            <a:endParaRPr lang="en-US"/>
          </a:p>
        </p:txBody>
      </p:sp>
    </p:spTree>
    <p:extLst>
      <p:ext uri="{BB962C8B-B14F-4D97-AF65-F5344CB8AC3E}">
        <p14:creationId xmlns:p14="http://schemas.microsoft.com/office/powerpoint/2010/main" val="3723503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2"/>
          <p:cNvSpPr>
            <a:spLocks noGrp="1" noRot="1" noChangeAspect="1" noChangeArrowheads="1" noTextEdit="1"/>
          </p:cNvSpPr>
          <p:nvPr>
            <p:ph type="sldImg"/>
          </p:nvPr>
        </p:nvSpPr>
        <p:spPr>
          <a:xfrm>
            <a:off x="1089025" y="501650"/>
            <a:ext cx="5138738" cy="3854450"/>
          </a:xfrm>
          <a:ln/>
        </p:spPr>
      </p:sp>
      <p:sp>
        <p:nvSpPr>
          <p:cNvPr id="14339" name="Rectangle 13"/>
          <p:cNvSpPr>
            <a:spLocks noGrp="1" noChangeArrowheads="1"/>
          </p:cNvSpPr>
          <p:nvPr>
            <p:ph type="body" idx="1"/>
          </p:nvPr>
        </p:nvSpPr>
        <p:spPr>
          <a:noFill/>
          <a:ln/>
        </p:spPr>
        <p:txBody>
          <a:bodyPr/>
          <a:lstStyle/>
          <a:p>
            <a:r>
              <a:rPr lang="en-US" dirty="0" smtClean="0"/>
              <a:t>The class and the labs will provide you with the opportunity to create an embedded design.</a:t>
            </a:r>
          </a:p>
        </p:txBody>
      </p:sp>
    </p:spTree>
    <p:extLst>
      <p:ext uri="{BB962C8B-B14F-4D97-AF65-F5344CB8AC3E}">
        <p14:creationId xmlns:p14="http://schemas.microsoft.com/office/powerpoint/2010/main" val="4047841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C520C4F8-21FA-4392-9F98-52C1029664EA}" type="slidenum">
              <a:rPr lang="en-US">
                <a:latin typeface="Arial" pitchFamily="34" charset="0"/>
              </a:rPr>
              <a:pPr/>
              <a:t>37</a:t>
            </a:fld>
            <a:endParaRPr lang="en-US">
              <a:latin typeface="Arial" pitchFamily="34" charset="0"/>
            </a:endParaRPr>
          </a:p>
        </p:txBody>
      </p:sp>
      <p:sp>
        <p:nvSpPr>
          <p:cNvPr id="147459" name="Rectangle 2"/>
          <p:cNvSpPr>
            <a:spLocks noGrp="1" noRot="1" noChangeAspect="1" noChangeArrowheads="1" noTextEdit="1"/>
          </p:cNvSpPr>
          <p:nvPr>
            <p:ph type="sldImg"/>
          </p:nvPr>
        </p:nvSpPr>
        <p:spPr>
          <a:xfrm>
            <a:off x="1258888" y="719138"/>
            <a:ext cx="4802187" cy="3600450"/>
          </a:xfrm>
          <a:ln/>
        </p:spPr>
      </p:sp>
      <p:sp>
        <p:nvSpPr>
          <p:cNvPr id="147460" name="Rectangle 3"/>
          <p:cNvSpPr>
            <a:spLocks noGrp="1" noChangeArrowheads="1"/>
          </p:cNvSpPr>
          <p:nvPr>
            <p:ph type="body" idx="1"/>
          </p:nvPr>
        </p:nvSpPr>
        <p:spPr>
          <a:noFill/>
          <a:ln/>
        </p:spPr>
        <p:txBody>
          <a:bodyPr/>
          <a:lstStyle/>
          <a:p>
            <a:pPr lvl="4">
              <a:buFontTx/>
              <a:buChar char="•"/>
            </a:pPr>
            <a:r>
              <a:rPr lang="en-US" sz="1900" dirty="0" err="1" smtClean="0"/>
              <a:t>Nios</a:t>
            </a:r>
            <a:r>
              <a:rPr lang="en-US" sz="1900" dirty="0" smtClean="0"/>
              <a:t> has been one of </a:t>
            </a:r>
            <a:r>
              <a:rPr lang="en-US" sz="1900" dirty="0" err="1" smtClean="0"/>
              <a:t>Altera’s</a:t>
            </a:r>
            <a:r>
              <a:rPr lang="en-US" sz="1900" dirty="0" smtClean="0"/>
              <a:t> most successful products</a:t>
            </a:r>
          </a:p>
          <a:p>
            <a:pPr lvl="4">
              <a:buFontTx/>
              <a:buChar char="•"/>
            </a:pPr>
            <a:r>
              <a:rPr lang="en-US" sz="1900" dirty="0" smtClean="0"/>
              <a:t>Over 20,000 </a:t>
            </a:r>
            <a:r>
              <a:rPr lang="en-US" sz="1900" dirty="0" err="1" smtClean="0"/>
              <a:t>Nios</a:t>
            </a:r>
            <a:r>
              <a:rPr lang="en-US" sz="1900" dirty="0" smtClean="0"/>
              <a:t> Development Kits have been shipped</a:t>
            </a:r>
          </a:p>
          <a:p>
            <a:pPr lvl="4">
              <a:buFontTx/>
              <a:buChar char="•"/>
            </a:pPr>
            <a:endParaRPr lang="en-US" sz="1900" dirty="0" smtClean="0"/>
          </a:p>
        </p:txBody>
      </p:sp>
    </p:spTree>
    <p:extLst>
      <p:ext uri="{BB962C8B-B14F-4D97-AF65-F5344CB8AC3E}">
        <p14:creationId xmlns:p14="http://schemas.microsoft.com/office/powerpoint/2010/main" val="3202335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38</a:t>
            </a:fld>
            <a:endParaRPr lang="en-US"/>
          </a:p>
        </p:txBody>
      </p:sp>
    </p:spTree>
    <p:extLst>
      <p:ext uri="{BB962C8B-B14F-4D97-AF65-F5344CB8AC3E}">
        <p14:creationId xmlns:p14="http://schemas.microsoft.com/office/powerpoint/2010/main" val="36604437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42</a:t>
            </a:fld>
            <a:endParaRPr lang="en-US"/>
          </a:p>
        </p:txBody>
      </p:sp>
    </p:spTree>
    <p:extLst>
      <p:ext uri="{BB962C8B-B14F-4D97-AF65-F5344CB8AC3E}">
        <p14:creationId xmlns:p14="http://schemas.microsoft.com/office/powerpoint/2010/main" val="21238610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44</a:t>
            </a:fld>
            <a:endParaRPr lang="en-US"/>
          </a:p>
        </p:txBody>
      </p:sp>
    </p:spTree>
    <p:extLst>
      <p:ext uri="{BB962C8B-B14F-4D97-AF65-F5344CB8AC3E}">
        <p14:creationId xmlns:p14="http://schemas.microsoft.com/office/powerpoint/2010/main" val="6588850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FDE67EC-7E65-4C49-9A16-F37A27B22E15}" type="slidenum">
              <a:rPr lang="en-US" smtClean="0"/>
              <a:pPr/>
              <a:t>45</a:t>
            </a:fld>
            <a:endParaRPr lang="en-US"/>
          </a:p>
        </p:txBody>
      </p:sp>
    </p:spTree>
    <p:extLst>
      <p:ext uri="{BB962C8B-B14F-4D97-AF65-F5344CB8AC3E}">
        <p14:creationId xmlns:p14="http://schemas.microsoft.com/office/powerpoint/2010/main" val="1088433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AE976FBE-58CA-438F-A6DB-3322263ECFD5}" type="datetime1">
              <a:rPr lang="en-US" smtClean="0"/>
              <a:pPr/>
              <a:t>9/30/2024</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A2562B3-D0CE-4577-91B6-4E6EE48DB6CD}" type="datetime1">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46304" y="6324600"/>
            <a:ext cx="310896" cy="342900"/>
          </a:xfrm>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71388D0-B408-4B10-B37A-3F71A2746CB1}" type="datetime1">
              <a:rPr lang="en-US" smtClean="0"/>
              <a:pPr/>
              <a:t>9/30/2024</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2C4764F-BEC2-4E6D-9906-EC31044D4B52}" type="datetime1">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18DB97A-FC40-4EC6-8C5D-1DEE687F844F}" type="datetime1">
              <a:rPr lang="en-US" smtClean="0"/>
              <a:pPr/>
              <a:t>9/30/2024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4C4D707-1E0D-41A5-A2A9-A1A72EF52D8D}" type="datetime1">
              <a:rPr lang="en-US" smtClean="0"/>
              <a:pPr/>
              <a:t>9/30/2024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117627-038C-47A6-830E-A3BE5E6D3C39}" type="datetime1">
              <a:rPr lang="en-US" smtClean="0"/>
              <a:pPr/>
              <a:t>9/30/2024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06D7382-7EFB-4D47-8682-F695F6A7A2DB}" type="datetime1">
              <a:rPr lang="en-US" smtClean="0"/>
              <a:pPr/>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47785C6-1897-4ADC-AFE2-C9D663CD1808}" type="datetime1">
              <a:rPr lang="en-US" smtClean="0"/>
              <a:pPr/>
              <a:t>9/30/2024</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F939164-FDFC-4B13-8026-D184F725BB3D}" type="datetime1">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C86CE4E-93C5-4D78-ADA8-970C294EB2A2}" type="datetime1">
              <a:rPr lang="en-US" smtClean="0"/>
              <a:pPr/>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5B29CCD-B764-499B-ACDE-2C081D461DD3}" type="datetime1">
              <a:rPr lang="en-US" smtClean="0"/>
              <a:pPr/>
              <a:t>9/30/2024</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2.jpeg"/><Relationship Id="rId5" Type="http://schemas.openxmlformats.org/officeDocument/2006/relationships/hyperlink" Target="ftp://download.intel.com/pressroom/images/events/idffall_2005/idf_fall05_gelsingerkey05.tif" TargetMode="Externa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3810000"/>
            <a:ext cx="7162800" cy="1600200"/>
          </a:xfrm>
        </p:spPr>
        <p:txBody>
          <a:bodyPr>
            <a:normAutofit/>
          </a:bodyPr>
          <a:lstStyle/>
          <a:p>
            <a:r>
              <a:rPr lang="en-US" sz="2400" dirty="0" err="1" smtClean="0">
                <a:latin typeface="Times New Roman" pitchFamily="18" charset="0"/>
                <a:cs typeface="Times New Roman" pitchFamily="18" charset="0"/>
              </a:rPr>
              <a:t>Mehdi</a:t>
            </a:r>
            <a:r>
              <a:rPr lang="en-US" sz="2400" dirty="0" smtClean="0">
                <a:latin typeface="Times New Roman" pitchFamily="18" charset="0"/>
                <a:cs typeface="Times New Roman" pitchFamily="18" charset="0"/>
              </a:rPr>
              <a:t> Modarressi</a:t>
            </a:r>
          </a:p>
          <a:p>
            <a:r>
              <a:rPr lang="en-US" sz="2200" dirty="0" smtClean="0">
                <a:latin typeface="Times New Roman" pitchFamily="18" charset="0"/>
                <a:cs typeface="Times New Roman" pitchFamily="18" charset="0"/>
              </a:rPr>
              <a:t>Department of Electrical and Computer Engineering, </a:t>
            </a:r>
          </a:p>
          <a:p>
            <a:r>
              <a:rPr lang="en-US" sz="2200" dirty="0" smtClean="0">
                <a:latin typeface="Times New Roman" pitchFamily="18" charset="0"/>
                <a:cs typeface="Times New Roman" pitchFamily="18" charset="0"/>
              </a:rPr>
              <a:t>University of  Tehran</a:t>
            </a:r>
          </a:p>
          <a:p>
            <a:endParaRPr lang="en-US" dirty="0"/>
          </a:p>
        </p:txBody>
      </p:sp>
      <p:sp>
        <p:nvSpPr>
          <p:cNvPr id="2" name="Title 1"/>
          <p:cNvSpPr>
            <a:spLocks noGrp="1"/>
          </p:cNvSpPr>
          <p:nvPr>
            <p:ph type="ctrTitle"/>
          </p:nvPr>
        </p:nvSpPr>
        <p:spPr/>
        <p:txBody>
          <a:bodyPr/>
          <a:lstStyle/>
          <a:p>
            <a:r>
              <a:rPr lang="en-US" dirty="0" smtClean="0"/>
              <a:t>Computer-Aided Design of Digital Systems (CAD)</a:t>
            </a:r>
          </a:p>
        </p:txBody>
      </p:sp>
      <p:sp>
        <p:nvSpPr>
          <p:cNvPr id="4" name="Subtitle 2"/>
          <p:cNvSpPr txBox="1">
            <a:spLocks/>
          </p:cNvSpPr>
          <p:nvPr/>
        </p:nvSpPr>
        <p:spPr>
          <a:xfrm>
            <a:off x="76200" y="990600"/>
            <a:ext cx="2819400" cy="381000"/>
          </a:xfrm>
          <a:prstGeom prst="rect">
            <a:avLst/>
          </a:prstGeom>
        </p:spPr>
        <p:txBody>
          <a:bodyPr>
            <a:normAutofit fontScale="77500" lnSpcReduction="20000"/>
          </a:bodyPr>
          <a:lstStyle/>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en-US" sz="2200" b="0" i="0" u="none" strike="noStrike" kern="1200" cap="none" spc="0" normalizeH="0" baseline="0" noProof="0" dirty="0" smtClean="0">
                <a:ln>
                  <a:noFill/>
                </a:ln>
                <a:solidFill>
                  <a:schemeClr val="tx2"/>
                </a:solidFill>
                <a:effectLst/>
                <a:uLnTx/>
                <a:uFillTx/>
                <a:latin typeface="+mn-lt"/>
                <a:ea typeface="+mn-ea"/>
                <a:cs typeface="+mn-cs"/>
              </a:rPr>
              <a:t>ECE381(CAD), Lecture 1:</a:t>
            </a: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US" sz="2600" b="0" i="0" u="none" strike="noStrike" kern="1200" cap="none" spc="0" normalizeH="0" baseline="0" noProof="0" dirty="0">
              <a:ln>
                <a:noFill/>
              </a:ln>
              <a:solidFill>
                <a:schemeClr val="tx2"/>
              </a:solidFill>
              <a:effectLst/>
              <a:uLnTx/>
              <a:uFillTx/>
              <a:latin typeface="+mn-lt"/>
              <a:ea typeface="+mn-ea"/>
              <a:cs typeface="+mn-cs"/>
            </a:endParaRPr>
          </a:p>
        </p:txBody>
      </p:sp>
      <p:pic>
        <p:nvPicPr>
          <p:cNvPr id="5" name="Picture 3"/>
          <p:cNvPicPr>
            <a:picLocks noChangeAspect="1" noChangeArrowheads="1"/>
          </p:cNvPicPr>
          <p:nvPr/>
        </p:nvPicPr>
        <p:blipFill>
          <a:blip r:embed="rId3" cstate="print"/>
          <a:srcRect/>
          <a:stretch>
            <a:fillRect/>
          </a:stretch>
        </p:blipFill>
        <p:spPr bwMode="auto">
          <a:xfrm>
            <a:off x="3886200" y="102476"/>
            <a:ext cx="990600" cy="8881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mtClean="0"/>
              <a:t>Full-custom ICs</a:t>
            </a:r>
          </a:p>
        </p:txBody>
      </p:sp>
      <p:sp>
        <p:nvSpPr>
          <p:cNvPr id="16387" name="Content Placeholder 2"/>
          <p:cNvSpPr>
            <a:spLocks noGrp="1"/>
          </p:cNvSpPr>
          <p:nvPr>
            <p:ph sz="quarter" idx="1"/>
          </p:nvPr>
        </p:nvSpPr>
        <p:spPr>
          <a:xfrm>
            <a:off x="914400" y="1447800"/>
            <a:ext cx="5257800" cy="4648200"/>
          </a:xfrm>
        </p:spPr>
        <p:txBody>
          <a:bodyPr>
            <a:normAutofit/>
          </a:bodyPr>
          <a:lstStyle/>
          <a:p>
            <a:r>
              <a:rPr lang="en-US" dirty="0" smtClean="0"/>
              <a:t>General-purpose processors</a:t>
            </a:r>
          </a:p>
          <a:p>
            <a:pPr lvl="1"/>
            <a:r>
              <a:rPr lang="en-US" dirty="0" smtClean="0"/>
              <a:t>Example: Intel and AMD microprocessors</a:t>
            </a:r>
          </a:p>
          <a:p>
            <a:r>
              <a:rPr lang="en-US" dirty="0" smtClean="0"/>
              <a:t>Application-specific processors</a:t>
            </a:r>
          </a:p>
          <a:p>
            <a:pPr lvl="1"/>
            <a:r>
              <a:rPr lang="en-US" dirty="0" smtClean="0"/>
              <a:t>Example: Embedded processor of a digital camera</a:t>
            </a:r>
          </a:p>
          <a:p>
            <a:r>
              <a:rPr lang="en-US" dirty="0" smtClean="0"/>
              <a:t>Requires establishing a fabrication line</a:t>
            </a:r>
          </a:p>
          <a:p>
            <a:pPr lvl="1"/>
            <a:r>
              <a:rPr lang="en-US" dirty="0" smtClean="0"/>
              <a:t>You will learn more about this in the </a:t>
            </a:r>
            <a:r>
              <a:rPr lang="en-US" i="1" dirty="0" smtClean="0"/>
              <a:t>VLSI</a:t>
            </a:r>
            <a:r>
              <a:rPr lang="en-US" dirty="0" smtClean="0"/>
              <a:t> course</a:t>
            </a:r>
          </a:p>
          <a:p>
            <a:pPr lvl="1">
              <a:buFont typeface="Wingdings 2" pitchFamily="18" charset="2"/>
              <a:buNone/>
            </a:pPr>
            <a:endParaRPr lang="en-US" dirty="0" smtClean="0"/>
          </a:p>
        </p:txBody>
      </p:sp>
      <p:pic>
        <p:nvPicPr>
          <p:cNvPr id="16388" name="Picture 3" descr="C:\Users\dell\Desktop\processor-24megabytes.jpg"/>
          <p:cNvPicPr>
            <a:picLocks noChangeAspect="1" noChangeArrowheads="1"/>
          </p:cNvPicPr>
          <p:nvPr/>
        </p:nvPicPr>
        <p:blipFill>
          <a:blip r:embed="rId3" cstate="print"/>
          <a:srcRect/>
          <a:stretch>
            <a:fillRect/>
          </a:stretch>
        </p:blipFill>
        <p:spPr bwMode="auto">
          <a:xfrm>
            <a:off x="5867400" y="1143000"/>
            <a:ext cx="2976563" cy="1955800"/>
          </a:xfrm>
          <a:prstGeom prst="rect">
            <a:avLst/>
          </a:prstGeom>
          <a:noFill/>
          <a:ln w="9525">
            <a:noFill/>
            <a:miter lim="800000"/>
            <a:headEnd/>
            <a:tailEnd/>
          </a:ln>
        </p:spPr>
      </p:pic>
      <p:pic>
        <p:nvPicPr>
          <p:cNvPr id="16389" name="Picture 4" descr="C:\Users\dell\Desktop\ADI Blackfin Series BF504_BF506F-350.jpg"/>
          <p:cNvPicPr>
            <a:picLocks noChangeAspect="1" noChangeArrowheads="1"/>
          </p:cNvPicPr>
          <p:nvPr/>
        </p:nvPicPr>
        <p:blipFill>
          <a:blip r:embed="rId4" cstate="print"/>
          <a:srcRect/>
          <a:stretch>
            <a:fillRect/>
          </a:stretch>
        </p:blipFill>
        <p:spPr bwMode="auto">
          <a:xfrm>
            <a:off x="6096000" y="3352800"/>
            <a:ext cx="2590800" cy="2147888"/>
          </a:xfrm>
          <a:prstGeom prst="rect">
            <a:avLst/>
          </a:prstGeom>
          <a:noFill/>
          <a:ln w="9525">
            <a:noFill/>
            <a:miter lim="800000"/>
            <a:headEnd/>
            <a:tailEnd/>
          </a:ln>
        </p:spPr>
      </p:pic>
      <p:sp>
        <p:nvSpPr>
          <p:cNvPr id="6" name="Slide Number Placeholder 2"/>
          <p:cNvSpPr>
            <a:spLocks noGrp="1"/>
          </p:cNvSpPr>
          <p:nvPr>
            <p:ph type="sldNum" sz="quarter" idx="12"/>
          </p:nvPr>
        </p:nvSpPr>
        <p:spPr>
          <a:xfrm>
            <a:off x="146304" y="6210300"/>
            <a:ext cx="457200" cy="457200"/>
          </a:xfrm>
        </p:spPr>
        <p:txBody>
          <a:bodyPr/>
          <a:lstStyle/>
          <a:p>
            <a:fld id="{B6F15528-21DE-4FAA-801E-634DDDAF4B2B}" type="slidenum">
              <a:rPr lang="en-US" smtClean="0"/>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IC fabrication process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
        <p:nvSpPr>
          <p:cNvPr id="4" name="Content Placeholder 3"/>
          <p:cNvSpPr>
            <a:spLocks noGrp="1"/>
          </p:cNvSpPr>
          <p:nvPr>
            <p:ph sz="quarter" idx="1"/>
          </p:nvPr>
        </p:nvSpPr>
        <p:spPr>
          <a:xfrm>
            <a:off x="914400" y="1447800"/>
            <a:ext cx="7772400" cy="1371600"/>
          </a:xfrm>
        </p:spPr>
        <p:txBody>
          <a:bodyPr/>
          <a:lstStyle/>
          <a:p>
            <a:r>
              <a:rPr lang="en-US" dirty="0" smtClean="0"/>
              <a:t>Silicon fabrication lab</a:t>
            </a:r>
            <a:endParaRPr lang="en-US" dirty="0"/>
          </a:p>
        </p:txBody>
      </p:sp>
      <p:pic>
        <p:nvPicPr>
          <p:cNvPr id="46082" name="Picture 2" descr="http://images.dailytech.com/nimage/294_large_AMD_Fab36_17.jpg"/>
          <p:cNvPicPr>
            <a:picLocks noChangeAspect="1" noChangeArrowheads="1"/>
          </p:cNvPicPr>
          <p:nvPr/>
        </p:nvPicPr>
        <p:blipFill>
          <a:blip r:embed="rId3"/>
          <a:srcRect/>
          <a:stretch>
            <a:fillRect/>
          </a:stretch>
        </p:blipFill>
        <p:spPr bwMode="auto">
          <a:xfrm>
            <a:off x="457200" y="2362200"/>
            <a:ext cx="3810000" cy="2534920"/>
          </a:xfrm>
          <a:prstGeom prst="rect">
            <a:avLst/>
          </a:prstGeom>
          <a:noFill/>
        </p:spPr>
      </p:pic>
      <p:sp>
        <p:nvSpPr>
          <p:cNvPr id="7" name="Rectangle 6"/>
          <p:cNvSpPr/>
          <p:nvPr/>
        </p:nvSpPr>
        <p:spPr>
          <a:xfrm>
            <a:off x="457200" y="6488668"/>
            <a:ext cx="3177408" cy="369332"/>
          </a:xfrm>
          <a:prstGeom prst="rect">
            <a:avLst/>
          </a:prstGeom>
        </p:spPr>
        <p:txBody>
          <a:bodyPr wrap="none">
            <a:spAutoFit/>
          </a:bodyPr>
          <a:lstStyle/>
          <a:p>
            <a:r>
              <a:rPr lang="en-US" dirty="0" smtClean="0"/>
              <a:t>Source: http://www.dailytech.com</a:t>
            </a:r>
            <a:endParaRPr lang="en-US" dirty="0"/>
          </a:p>
        </p:txBody>
      </p:sp>
      <p:pic>
        <p:nvPicPr>
          <p:cNvPr id="46084" name="Picture 4" descr="http://images.dailytech.com/nimage/296_large_start_of_first_wafers_amd_fab36_084.JPG"/>
          <p:cNvPicPr>
            <a:picLocks noChangeAspect="1" noChangeArrowheads="1"/>
          </p:cNvPicPr>
          <p:nvPr/>
        </p:nvPicPr>
        <p:blipFill>
          <a:blip r:embed="rId4"/>
          <a:srcRect/>
          <a:stretch>
            <a:fillRect/>
          </a:stretch>
        </p:blipFill>
        <p:spPr bwMode="auto">
          <a:xfrm>
            <a:off x="4648201" y="2362201"/>
            <a:ext cx="3810000" cy="2534920"/>
          </a:xfrm>
          <a:prstGeom prst="rect">
            <a:avLst/>
          </a:prstGeom>
          <a:noFill/>
        </p:spPr>
      </p:pic>
      <p:sp>
        <p:nvSpPr>
          <p:cNvPr id="9" name="Rectangle 8"/>
          <p:cNvSpPr/>
          <p:nvPr/>
        </p:nvSpPr>
        <p:spPr>
          <a:xfrm>
            <a:off x="2286000" y="5181600"/>
            <a:ext cx="4729243" cy="369332"/>
          </a:xfrm>
          <a:prstGeom prst="rect">
            <a:avLst/>
          </a:prstGeom>
        </p:spPr>
        <p:txBody>
          <a:bodyPr wrap="none">
            <a:spAutoFit/>
          </a:bodyPr>
          <a:lstStyle/>
          <a:p>
            <a:r>
              <a:rPr lang="en-US" dirty="0" smtClean="0"/>
              <a:t>AMD’s 65 nm fabrication lab (control and clean room)</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DEB14547-37DB-4F27-9FA9-FDCC90421BF5}" type="slidenum">
              <a:rPr lang="en-US" altLang="zh-TW"/>
              <a:pPr/>
              <a:t>4</a:t>
            </a:fld>
            <a:endParaRPr lang="en-US" altLang="zh-TW"/>
          </a:p>
        </p:txBody>
      </p:sp>
      <p:sp>
        <p:nvSpPr>
          <p:cNvPr id="986114" name="Rectangle 2"/>
          <p:cNvSpPr>
            <a:spLocks noGrp="1" noChangeArrowheads="1"/>
          </p:cNvSpPr>
          <p:nvPr>
            <p:ph type="title"/>
          </p:nvPr>
        </p:nvSpPr>
        <p:spPr/>
        <p:txBody>
          <a:bodyPr/>
          <a:lstStyle/>
          <a:p>
            <a:r>
              <a:rPr lang="en-US" altLang="en-US" dirty="0"/>
              <a:t>VLSI p</a:t>
            </a:r>
            <a:r>
              <a:rPr lang="en-US" altLang="en-US" dirty="0" smtClean="0"/>
              <a:t>rocess for full custom ICs</a:t>
            </a:r>
            <a:endParaRPr lang="en-US" altLang="en-US" dirty="0"/>
          </a:p>
        </p:txBody>
      </p:sp>
      <p:pic>
        <p:nvPicPr>
          <p:cNvPr id="986115" name="Picture 3"/>
          <p:cNvPicPr>
            <a:picLocks noChangeAspect="1" noChangeArrowheads="1"/>
          </p:cNvPicPr>
          <p:nvPr/>
        </p:nvPicPr>
        <p:blipFill>
          <a:blip r:embed="rId3"/>
          <a:srcRect/>
          <a:stretch>
            <a:fillRect/>
          </a:stretch>
        </p:blipFill>
        <p:spPr bwMode="auto">
          <a:xfrm>
            <a:off x="430213" y="1447800"/>
            <a:ext cx="8281987" cy="4597400"/>
          </a:xfrm>
          <a:prstGeom prst="rect">
            <a:avLst/>
          </a:prstGeom>
          <a:noFill/>
        </p:spPr>
      </p:pic>
      <p:pic>
        <p:nvPicPr>
          <p:cNvPr id="19458" name="Picture 2"/>
          <p:cNvPicPr>
            <a:picLocks noChangeAspect="1" noChangeArrowheads="1"/>
          </p:cNvPicPr>
          <p:nvPr/>
        </p:nvPicPr>
        <p:blipFill>
          <a:blip r:embed="rId4"/>
          <a:srcRect/>
          <a:stretch>
            <a:fillRect/>
          </a:stretch>
        </p:blipFill>
        <p:spPr bwMode="auto">
          <a:xfrm>
            <a:off x="1295400" y="3124200"/>
            <a:ext cx="3408544" cy="236220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box(in)">
                                      <p:cBhvr>
                                        <p:cTn id="7" dur="500"/>
                                        <p:tgtEl>
                                          <p:spTgt spid="194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19458"/>
                                        </p:tgtEl>
                                      </p:cBhvr>
                                    </p:animEffect>
                                    <p:set>
                                      <p:cBhvr>
                                        <p:cTn id="12" dur="1" fill="hold">
                                          <p:stCondLst>
                                            <p:cond delay="499"/>
                                          </p:stCondLst>
                                        </p:cTn>
                                        <p:tgtEl>
                                          <p:spTgt spid="194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DEB14547-37DB-4F27-9FA9-FDCC90421BF5}" type="slidenum">
              <a:rPr lang="en-US" altLang="zh-TW"/>
              <a:pPr/>
              <a:t>5</a:t>
            </a:fld>
            <a:endParaRPr lang="en-US" altLang="zh-TW"/>
          </a:p>
        </p:txBody>
      </p:sp>
      <p:sp>
        <p:nvSpPr>
          <p:cNvPr id="986114" name="Rectangle 2"/>
          <p:cNvSpPr>
            <a:spLocks noGrp="1" noChangeArrowheads="1"/>
          </p:cNvSpPr>
          <p:nvPr>
            <p:ph type="title"/>
          </p:nvPr>
        </p:nvSpPr>
        <p:spPr/>
        <p:txBody>
          <a:bodyPr/>
          <a:lstStyle/>
          <a:p>
            <a:r>
              <a:rPr lang="en-US" altLang="en-US" dirty="0"/>
              <a:t>VLSI p</a:t>
            </a:r>
            <a:r>
              <a:rPr lang="en-US" altLang="en-US" dirty="0" smtClean="0"/>
              <a:t>rocess for full custom ICs</a:t>
            </a:r>
            <a:endParaRPr lang="en-US" altLang="en-US" dirty="0"/>
          </a:p>
        </p:txBody>
      </p:sp>
      <p:pic>
        <p:nvPicPr>
          <p:cNvPr id="986115" name="Picture 3"/>
          <p:cNvPicPr>
            <a:picLocks noChangeAspect="1" noChangeArrowheads="1"/>
          </p:cNvPicPr>
          <p:nvPr/>
        </p:nvPicPr>
        <p:blipFill>
          <a:blip r:embed="rId3"/>
          <a:srcRect/>
          <a:stretch>
            <a:fillRect/>
          </a:stretch>
        </p:blipFill>
        <p:spPr bwMode="auto">
          <a:xfrm>
            <a:off x="430213" y="1447800"/>
            <a:ext cx="8281987" cy="4597400"/>
          </a:xfrm>
          <a:prstGeom prst="rect">
            <a:avLst/>
          </a:prstGeom>
          <a:noFill/>
        </p:spPr>
      </p:pic>
      <p:pic>
        <p:nvPicPr>
          <p:cNvPr id="2" name="Picture 2"/>
          <p:cNvPicPr>
            <a:picLocks noChangeAspect="1" noChangeArrowheads="1"/>
          </p:cNvPicPr>
          <p:nvPr/>
        </p:nvPicPr>
        <p:blipFill>
          <a:blip r:embed="rId4"/>
          <a:srcRect/>
          <a:stretch>
            <a:fillRect/>
          </a:stretch>
        </p:blipFill>
        <p:spPr bwMode="auto">
          <a:xfrm>
            <a:off x="3124200" y="3200400"/>
            <a:ext cx="3200400" cy="2776347"/>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DEB14547-37DB-4F27-9FA9-FDCC90421BF5}" type="slidenum">
              <a:rPr lang="en-US" altLang="zh-TW"/>
              <a:pPr/>
              <a:t>6</a:t>
            </a:fld>
            <a:endParaRPr lang="en-US" altLang="zh-TW"/>
          </a:p>
        </p:txBody>
      </p:sp>
      <p:sp>
        <p:nvSpPr>
          <p:cNvPr id="986114" name="Rectangle 2"/>
          <p:cNvSpPr>
            <a:spLocks noGrp="1" noChangeArrowheads="1"/>
          </p:cNvSpPr>
          <p:nvPr>
            <p:ph type="title"/>
          </p:nvPr>
        </p:nvSpPr>
        <p:spPr/>
        <p:txBody>
          <a:bodyPr/>
          <a:lstStyle/>
          <a:p>
            <a:r>
              <a:rPr lang="en-US" altLang="en-US" dirty="0"/>
              <a:t>VLSI </a:t>
            </a:r>
            <a:r>
              <a:rPr lang="en-US" altLang="en-US" dirty="0" smtClean="0"/>
              <a:t>process for full custom ICs</a:t>
            </a:r>
            <a:endParaRPr lang="en-US" altLang="en-US" dirty="0"/>
          </a:p>
        </p:txBody>
      </p:sp>
      <p:pic>
        <p:nvPicPr>
          <p:cNvPr id="986115" name="Picture 3"/>
          <p:cNvPicPr>
            <a:picLocks noChangeAspect="1" noChangeArrowheads="1"/>
          </p:cNvPicPr>
          <p:nvPr/>
        </p:nvPicPr>
        <p:blipFill>
          <a:blip r:embed="rId3"/>
          <a:srcRect/>
          <a:stretch>
            <a:fillRect/>
          </a:stretch>
        </p:blipFill>
        <p:spPr bwMode="auto">
          <a:xfrm>
            <a:off x="430213" y="1447800"/>
            <a:ext cx="8281987" cy="4597400"/>
          </a:xfrm>
          <a:prstGeom prst="rect">
            <a:avLst/>
          </a:prstGeom>
          <a:noFill/>
        </p:spPr>
      </p:pic>
      <p:pic>
        <p:nvPicPr>
          <p:cNvPr id="3" name="Picture 3"/>
          <p:cNvPicPr>
            <a:picLocks noChangeAspect="1" noChangeArrowheads="1"/>
          </p:cNvPicPr>
          <p:nvPr/>
        </p:nvPicPr>
        <p:blipFill>
          <a:blip r:embed="rId4"/>
          <a:srcRect/>
          <a:stretch>
            <a:fillRect/>
          </a:stretch>
        </p:blipFill>
        <p:spPr bwMode="auto">
          <a:xfrm>
            <a:off x="2209800" y="1828800"/>
            <a:ext cx="3275076" cy="4198815"/>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DEB14547-37DB-4F27-9FA9-FDCC90421BF5}" type="slidenum">
              <a:rPr lang="en-US" altLang="zh-TW"/>
              <a:pPr/>
              <a:t>7</a:t>
            </a:fld>
            <a:endParaRPr lang="en-US" altLang="zh-TW"/>
          </a:p>
        </p:txBody>
      </p:sp>
      <p:sp>
        <p:nvSpPr>
          <p:cNvPr id="986114" name="Rectangle 2"/>
          <p:cNvSpPr>
            <a:spLocks noGrp="1" noChangeArrowheads="1"/>
          </p:cNvSpPr>
          <p:nvPr>
            <p:ph type="title"/>
          </p:nvPr>
        </p:nvSpPr>
        <p:spPr/>
        <p:txBody>
          <a:bodyPr/>
          <a:lstStyle/>
          <a:p>
            <a:r>
              <a:rPr lang="en-US" altLang="en-US" dirty="0"/>
              <a:t>VLSI p</a:t>
            </a:r>
            <a:r>
              <a:rPr lang="en-US" altLang="en-US" dirty="0" smtClean="0"/>
              <a:t>rocess for full custom ICs</a:t>
            </a:r>
            <a:endParaRPr lang="en-US" altLang="en-US" dirty="0"/>
          </a:p>
        </p:txBody>
      </p:sp>
      <p:pic>
        <p:nvPicPr>
          <p:cNvPr id="986115" name="Picture 3"/>
          <p:cNvPicPr>
            <a:picLocks noChangeAspect="1" noChangeArrowheads="1"/>
          </p:cNvPicPr>
          <p:nvPr/>
        </p:nvPicPr>
        <p:blipFill>
          <a:blip r:embed="rId3"/>
          <a:srcRect/>
          <a:stretch>
            <a:fillRect/>
          </a:stretch>
        </p:blipFill>
        <p:spPr bwMode="auto">
          <a:xfrm>
            <a:off x="430213" y="1447800"/>
            <a:ext cx="8281987" cy="4597400"/>
          </a:xfrm>
          <a:prstGeom prst="rect">
            <a:avLst/>
          </a:prstGeom>
          <a:noFill/>
        </p:spPr>
      </p:pic>
      <p:pic>
        <p:nvPicPr>
          <p:cNvPr id="12" name="Picture 4" descr="wafer-400"/>
          <p:cNvPicPr>
            <a:picLocks noChangeAspect="1" noChangeArrowheads="1"/>
          </p:cNvPicPr>
          <p:nvPr/>
        </p:nvPicPr>
        <p:blipFill>
          <a:blip r:embed="rId4" cstate="print"/>
          <a:srcRect/>
          <a:stretch>
            <a:fillRect/>
          </a:stretch>
        </p:blipFill>
        <p:spPr bwMode="auto">
          <a:xfrm>
            <a:off x="4191000" y="2057400"/>
            <a:ext cx="3429000" cy="3222753"/>
          </a:xfrm>
          <a:prstGeom prst="rect">
            <a:avLst/>
          </a:prstGeom>
          <a:noFill/>
          <a:ln w="9525">
            <a:noFill/>
            <a:miter lim="800000"/>
            <a:headEnd/>
            <a:tailEnd/>
          </a:ln>
        </p:spPr>
      </p:pic>
      <p:pic>
        <p:nvPicPr>
          <p:cNvPr id="7" name="Picture 10" descr="Intel's Pat Gelsinger, cq, Senior Vice President, General Manager, Digital Enterprise Group, shows attendees The Next Generation:Tulsa silicon wafer during the Digital Enterprise keynote at the Fall Intel Developer Forum held at Moscone West on Wednesday, August 24, 2005 in San Francisco, Calif. (Photo by Intel Press Relations)">
            <a:hlinkClick r:id="rId5"/>
          </p:cNvPr>
          <p:cNvPicPr>
            <a:picLocks noChangeAspect="1" noChangeArrowheads="1"/>
          </p:cNvPicPr>
          <p:nvPr/>
        </p:nvPicPr>
        <p:blipFill>
          <a:blip r:embed="rId6" cstate="print"/>
          <a:srcRect/>
          <a:stretch>
            <a:fillRect/>
          </a:stretch>
        </p:blipFill>
        <p:spPr bwMode="auto">
          <a:xfrm>
            <a:off x="1524000" y="2667000"/>
            <a:ext cx="1882140" cy="209126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4"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ox(i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DEB14547-37DB-4F27-9FA9-FDCC90421BF5}" type="slidenum">
              <a:rPr lang="en-US" altLang="zh-TW"/>
              <a:pPr/>
              <a:t>8</a:t>
            </a:fld>
            <a:endParaRPr lang="en-US" altLang="zh-TW"/>
          </a:p>
        </p:txBody>
      </p:sp>
      <p:sp>
        <p:nvSpPr>
          <p:cNvPr id="986114" name="Rectangle 2"/>
          <p:cNvSpPr>
            <a:spLocks noGrp="1" noChangeArrowheads="1"/>
          </p:cNvSpPr>
          <p:nvPr>
            <p:ph type="title"/>
          </p:nvPr>
        </p:nvSpPr>
        <p:spPr/>
        <p:txBody>
          <a:bodyPr/>
          <a:lstStyle/>
          <a:p>
            <a:r>
              <a:rPr lang="en-US" altLang="en-US" dirty="0"/>
              <a:t>VLSI p</a:t>
            </a:r>
            <a:r>
              <a:rPr lang="en-US" altLang="en-US" dirty="0" smtClean="0"/>
              <a:t>rocess for full custom ICs</a:t>
            </a:r>
            <a:endParaRPr lang="en-US" altLang="en-US" dirty="0"/>
          </a:p>
        </p:txBody>
      </p:sp>
      <p:pic>
        <p:nvPicPr>
          <p:cNvPr id="986115" name="Picture 3"/>
          <p:cNvPicPr>
            <a:picLocks noChangeAspect="1" noChangeArrowheads="1"/>
          </p:cNvPicPr>
          <p:nvPr/>
        </p:nvPicPr>
        <p:blipFill>
          <a:blip r:embed="rId3"/>
          <a:srcRect/>
          <a:stretch>
            <a:fillRect/>
          </a:stretch>
        </p:blipFill>
        <p:spPr bwMode="auto">
          <a:xfrm>
            <a:off x="430213" y="1447800"/>
            <a:ext cx="8281987" cy="4597400"/>
          </a:xfrm>
          <a:prstGeom prst="rect">
            <a:avLst/>
          </a:prstGeom>
          <a:noFill/>
        </p:spPr>
      </p:pic>
      <p:pic>
        <p:nvPicPr>
          <p:cNvPr id="13" name="Picture 4"/>
          <p:cNvPicPr>
            <a:picLocks noChangeAspect="1" noChangeArrowheads="1"/>
          </p:cNvPicPr>
          <p:nvPr/>
        </p:nvPicPr>
        <p:blipFill>
          <a:blip r:embed="rId4"/>
          <a:srcRect/>
          <a:stretch>
            <a:fillRect/>
          </a:stretch>
        </p:blipFill>
        <p:spPr bwMode="auto">
          <a:xfrm>
            <a:off x="381000" y="1447800"/>
            <a:ext cx="3971925" cy="2240059"/>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DEB14547-37DB-4F27-9FA9-FDCC90421BF5}" type="slidenum">
              <a:rPr lang="en-US" altLang="zh-TW"/>
              <a:pPr/>
              <a:t>9</a:t>
            </a:fld>
            <a:endParaRPr lang="en-US" altLang="zh-TW"/>
          </a:p>
        </p:txBody>
      </p:sp>
      <p:sp>
        <p:nvSpPr>
          <p:cNvPr id="986114" name="Rectangle 2"/>
          <p:cNvSpPr>
            <a:spLocks noGrp="1" noChangeArrowheads="1"/>
          </p:cNvSpPr>
          <p:nvPr>
            <p:ph type="title"/>
          </p:nvPr>
        </p:nvSpPr>
        <p:spPr/>
        <p:txBody>
          <a:bodyPr/>
          <a:lstStyle/>
          <a:p>
            <a:r>
              <a:rPr lang="en-US" altLang="en-US" dirty="0"/>
              <a:t>VLSI p</a:t>
            </a:r>
            <a:r>
              <a:rPr lang="en-US" altLang="en-US" dirty="0" smtClean="0"/>
              <a:t>rocess for full custom ICs</a:t>
            </a:r>
            <a:endParaRPr lang="en-US" altLang="en-US" dirty="0"/>
          </a:p>
        </p:txBody>
      </p:sp>
      <p:pic>
        <p:nvPicPr>
          <p:cNvPr id="986115" name="Picture 3"/>
          <p:cNvPicPr>
            <a:picLocks noChangeAspect="1" noChangeArrowheads="1"/>
          </p:cNvPicPr>
          <p:nvPr/>
        </p:nvPicPr>
        <p:blipFill>
          <a:blip r:embed="rId3"/>
          <a:srcRect/>
          <a:stretch>
            <a:fillRect/>
          </a:stretch>
        </p:blipFill>
        <p:spPr bwMode="auto">
          <a:xfrm>
            <a:off x="430213" y="1447800"/>
            <a:ext cx="8281987" cy="4597400"/>
          </a:xfrm>
          <a:prstGeom prst="rect">
            <a:avLst/>
          </a:prstGeom>
          <a:noFill/>
        </p:spPr>
      </p:pic>
      <p:pic>
        <p:nvPicPr>
          <p:cNvPr id="19461" name="Picture 5"/>
          <p:cNvPicPr>
            <a:picLocks noChangeAspect="1" noChangeArrowheads="1"/>
          </p:cNvPicPr>
          <p:nvPr/>
        </p:nvPicPr>
        <p:blipFill>
          <a:blip r:embed="rId4"/>
          <a:srcRect/>
          <a:stretch>
            <a:fillRect/>
          </a:stretch>
        </p:blipFill>
        <p:spPr bwMode="auto">
          <a:xfrm>
            <a:off x="1676400" y="1981200"/>
            <a:ext cx="2671654" cy="3005076"/>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blinds(horizontal)">
                                      <p:cBhvr>
                                        <p:cTn id="7"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DEB14547-37DB-4F27-9FA9-FDCC90421BF5}" type="slidenum">
              <a:rPr lang="en-US" altLang="zh-TW"/>
              <a:pPr/>
              <a:t>10</a:t>
            </a:fld>
            <a:endParaRPr lang="en-US" altLang="zh-TW"/>
          </a:p>
        </p:txBody>
      </p:sp>
      <p:sp>
        <p:nvSpPr>
          <p:cNvPr id="986114" name="Rectangle 2"/>
          <p:cNvSpPr>
            <a:spLocks noGrp="1" noChangeArrowheads="1"/>
          </p:cNvSpPr>
          <p:nvPr>
            <p:ph type="title"/>
          </p:nvPr>
        </p:nvSpPr>
        <p:spPr/>
        <p:txBody>
          <a:bodyPr/>
          <a:lstStyle/>
          <a:p>
            <a:r>
              <a:rPr lang="en-US" altLang="en-US" dirty="0"/>
              <a:t>VLSI p</a:t>
            </a:r>
            <a:r>
              <a:rPr lang="en-US" altLang="en-US" dirty="0" smtClean="0"/>
              <a:t>rocess for full custom ICs</a:t>
            </a:r>
            <a:endParaRPr lang="en-US" altLang="en-US" dirty="0"/>
          </a:p>
        </p:txBody>
      </p:sp>
      <p:pic>
        <p:nvPicPr>
          <p:cNvPr id="986115" name="Picture 3"/>
          <p:cNvPicPr>
            <a:picLocks noChangeAspect="1" noChangeArrowheads="1"/>
          </p:cNvPicPr>
          <p:nvPr/>
        </p:nvPicPr>
        <p:blipFill>
          <a:blip r:embed="rId3"/>
          <a:srcRect/>
          <a:stretch>
            <a:fillRect/>
          </a:stretch>
        </p:blipFill>
        <p:spPr bwMode="auto">
          <a:xfrm>
            <a:off x="430213" y="1447800"/>
            <a:ext cx="8281987" cy="4597400"/>
          </a:xfrm>
          <a:prstGeom prst="rect">
            <a:avLst/>
          </a:prstGeom>
          <a:noFill/>
        </p:spPr>
      </p:pic>
      <p:pic>
        <p:nvPicPr>
          <p:cNvPr id="7" name="Picture 3" descr="C:\Users\dell\Desktop\processor-24megabytes.jpg"/>
          <p:cNvPicPr>
            <a:picLocks noChangeAspect="1" noChangeArrowheads="1"/>
          </p:cNvPicPr>
          <p:nvPr/>
        </p:nvPicPr>
        <p:blipFill>
          <a:blip r:embed="rId4" cstate="print"/>
          <a:srcRect/>
          <a:stretch>
            <a:fillRect/>
          </a:stretch>
        </p:blipFill>
        <p:spPr bwMode="auto">
          <a:xfrm>
            <a:off x="1981200" y="1981200"/>
            <a:ext cx="5410200" cy="3554861"/>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mtClean="0"/>
              <a:t>Full-custom ICs</a:t>
            </a:r>
          </a:p>
        </p:txBody>
      </p:sp>
      <p:sp>
        <p:nvSpPr>
          <p:cNvPr id="17411" name="Content Placeholder 2"/>
          <p:cNvSpPr>
            <a:spLocks noGrp="1"/>
          </p:cNvSpPr>
          <p:nvPr>
            <p:ph sz="quarter" idx="1"/>
          </p:nvPr>
        </p:nvSpPr>
        <p:spPr/>
        <p:txBody>
          <a:bodyPr/>
          <a:lstStyle/>
          <a:p>
            <a:r>
              <a:rPr lang="en-US" dirty="0" smtClean="0"/>
              <a:t>Very efficient in terms of performance, but:</a:t>
            </a:r>
          </a:p>
          <a:p>
            <a:pPr lvl="1"/>
            <a:r>
              <a:rPr lang="en-US" dirty="0" smtClean="0"/>
              <a:t>Long design and manufacturing cycles</a:t>
            </a:r>
          </a:p>
          <a:p>
            <a:pPr lvl="1"/>
            <a:r>
              <a:rPr lang="en-US" dirty="0" smtClean="0"/>
              <a:t>Very expensive, sometimes several million dollars</a:t>
            </a:r>
          </a:p>
          <a:p>
            <a:pPr lvl="1">
              <a:buFont typeface="Wingdings 2" pitchFamily="18" charset="2"/>
              <a:buNone/>
            </a:pPr>
            <a:r>
              <a:rPr lang="en-US" sz="2000" dirty="0" smtClean="0">
                <a:sym typeface="Wingdings" pitchFamily="2" charset="2"/>
              </a:rPr>
              <a:t> </a:t>
            </a:r>
            <a:r>
              <a:rPr lang="en-US" dirty="0" smtClean="0">
                <a:sym typeface="Wingdings" pitchFamily="2" charset="2"/>
              </a:rPr>
              <a:t>Suitable for large volume production</a:t>
            </a:r>
            <a:endParaRPr lang="en-US" dirty="0" smtClean="0"/>
          </a:p>
          <a:p>
            <a:pPr lvl="1"/>
            <a:r>
              <a:rPr lang="en-US" dirty="0" smtClean="0"/>
              <a:t>Once manufactured, the logic can’t simply be altered</a:t>
            </a:r>
          </a:p>
          <a:p>
            <a:pPr lvl="2"/>
            <a:r>
              <a:rPr lang="en-US" sz="2400" dirty="0" smtClean="0"/>
              <a:t>Large penalty if a bug is found</a:t>
            </a:r>
          </a:p>
          <a:p>
            <a:endParaRPr lang="en-US" dirty="0" smtClean="0"/>
          </a:p>
        </p:txBody>
      </p:sp>
      <p:sp>
        <p:nvSpPr>
          <p:cNvPr id="4" name="Slide Number Placeholder 2"/>
          <p:cNvSpPr>
            <a:spLocks noGrp="1"/>
          </p:cNvSpPr>
          <p:nvPr>
            <p:ph type="sldNum" sz="quarter" idx="12"/>
          </p:nvPr>
        </p:nvSpPr>
        <p:spPr>
          <a:xfrm>
            <a:off x="146304" y="6210300"/>
            <a:ext cx="457200" cy="457200"/>
          </a:xfrm>
        </p:spPr>
        <p:txBody>
          <a:bodyPr/>
          <a:lstStyle/>
          <a:p>
            <a:fld id="{B6F15528-21DE-4FAA-801E-634DDDAF4B2B}" type="slidenum">
              <a:rPr lang="en-US" smtClean="0"/>
              <a:pPr/>
              <a:t>11</a:t>
            </a:fld>
            <a:endParaRPr lang="en-US" dirty="0"/>
          </a:p>
        </p:txBody>
      </p:sp>
      <p:pic>
        <p:nvPicPr>
          <p:cNvPr id="2050" name="Picture 2" descr="iot-circuit-die-pl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3962400"/>
            <a:ext cx="2514600" cy="25079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mtClean="0"/>
              <a:t>Programmable devices</a:t>
            </a:r>
          </a:p>
        </p:txBody>
      </p:sp>
      <p:sp>
        <p:nvSpPr>
          <p:cNvPr id="20483" name="Content Placeholder 2"/>
          <p:cNvSpPr>
            <a:spLocks noGrp="1"/>
          </p:cNvSpPr>
          <p:nvPr>
            <p:ph sz="quarter" idx="1"/>
          </p:nvPr>
        </p:nvSpPr>
        <p:spPr>
          <a:xfrm>
            <a:off x="914400" y="2133600"/>
            <a:ext cx="2971800" cy="3886200"/>
          </a:xfrm>
        </p:spPr>
        <p:txBody>
          <a:bodyPr>
            <a:normAutofit fontScale="85000" lnSpcReduction="10000"/>
          </a:bodyPr>
          <a:lstStyle/>
          <a:p>
            <a:r>
              <a:rPr lang="en-US" dirty="0" smtClean="0"/>
              <a:t>You know simple PLDs from the Logic Design course</a:t>
            </a:r>
          </a:p>
          <a:p>
            <a:r>
              <a:rPr lang="en-US" i="1" dirty="0" smtClean="0">
                <a:solidFill>
                  <a:srgbClr val="FF0000"/>
                </a:solidFill>
              </a:rPr>
              <a:t>We will review them again shortly</a:t>
            </a:r>
          </a:p>
          <a:p>
            <a:r>
              <a:rPr lang="en-US" dirty="0" smtClean="0"/>
              <a:t>Example: PAL </a:t>
            </a:r>
          </a:p>
          <a:p>
            <a:pPr lvl="1"/>
            <a:r>
              <a:rPr lang="en-US" dirty="0" smtClean="0"/>
              <a:t>Very simple programmable IC</a:t>
            </a:r>
          </a:p>
          <a:p>
            <a:pPr lvl="1"/>
            <a:r>
              <a:rPr lang="en-US" dirty="0" smtClean="0"/>
              <a:t>The base of more complex programmable ICs </a:t>
            </a:r>
          </a:p>
        </p:txBody>
      </p:sp>
      <p:pic>
        <p:nvPicPr>
          <p:cNvPr id="20484" name="Picture 2"/>
          <p:cNvPicPr>
            <a:picLocks noChangeAspect="1" noChangeArrowheads="1"/>
          </p:cNvPicPr>
          <p:nvPr/>
        </p:nvPicPr>
        <p:blipFill>
          <a:blip r:embed="rId3" cstate="print"/>
          <a:srcRect/>
          <a:stretch>
            <a:fillRect/>
          </a:stretch>
        </p:blipFill>
        <p:spPr bwMode="auto">
          <a:xfrm>
            <a:off x="3910012" y="1905000"/>
            <a:ext cx="5157788" cy="4114800"/>
          </a:xfrm>
          <a:prstGeom prst="rect">
            <a:avLst/>
          </a:prstGeom>
          <a:noFill/>
          <a:ln w="9525" algn="ctr">
            <a:noFill/>
            <a:miter lim="800000"/>
            <a:headEnd/>
            <a:tailEnd/>
          </a:ln>
        </p:spPr>
      </p:pic>
      <p:sp>
        <p:nvSpPr>
          <p:cNvPr id="5" name="Slide Number Placeholder 2"/>
          <p:cNvSpPr>
            <a:spLocks noGrp="1"/>
          </p:cNvSpPr>
          <p:nvPr>
            <p:ph type="sldNum" sz="quarter" idx="12"/>
          </p:nvPr>
        </p:nvSpPr>
        <p:spPr>
          <a:xfrm>
            <a:off x="146304" y="6210300"/>
            <a:ext cx="457200" cy="457200"/>
          </a:xfrm>
        </p:spPr>
        <p:txBody>
          <a:bodyPr/>
          <a:lstStyle/>
          <a:p>
            <a:fld id="{B6F15528-21DE-4FAA-801E-634DDDAF4B2B}" type="slidenum">
              <a:rPr lang="en-US" smtClean="0"/>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mtClean="0"/>
              <a:t>FPGA</a:t>
            </a:r>
          </a:p>
        </p:txBody>
      </p:sp>
      <p:sp>
        <p:nvSpPr>
          <p:cNvPr id="21507" name="Content Placeholder 2"/>
          <p:cNvSpPr>
            <a:spLocks noGrp="1"/>
          </p:cNvSpPr>
          <p:nvPr>
            <p:ph sz="quarter" idx="1"/>
          </p:nvPr>
        </p:nvSpPr>
        <p:spPr>
          <a:xfrm>
            <a:off x="914400" y="1447800"/>
            <a:ext cx="7772400" cy="609600"/>
          </a:xfrm>
        </p:spPr>
        <p:txBody>
          <a:bodyPr>
            <a:noAutofit/>
          </a:bodyPr>
          <a:lstStyle/>
          <a:p>
            <a:r>
              <a:rPr lang="en-US" sz="2400" dirty="0" smtClean="0"/>
              <a:t>FPGA: Filed Programmable Gate Array</a:t>
            </a:r>
          </a:p>
        </p:txBody>
      </p:sp>
      <p:pic>
        <p:nvPicPr>
          <p:cNvPr id="21508" name="Picture 2"/>
          <p:cNvPicPr>
            <a:picLocks noChangeAspect="1" noChangeArrowheads="1"/>
          </p:cNvPicPr>
          <p:nvPr/>
        </p:nvPicPr>
        <p:blipFill>
          <a:blip r:embed="rId3" cstate="print"/>
          <a:srcRect/>
          <a:stretch>
            <a:fillRect/>
          </a:stretch>
        </p:blipFill>
        <p:spPr bwMode="auto">
          <a:xfrm>
            <a:off x="2286000" y="2057400"/>
            <a:ext cx="4495800" cy="4270650"/>
          </a:xfrm>
          <a:prstGeom prst="rect">
            <a:avLst/>
          </a:prstGeom>
          <a:noFill/>
          <a:ln w="9525" algn="ctr">
            <a:noFill/>
            <a:miter lim="800000"/>
            <a:headEnd/>
            <a:tailEnd/>
          </a:ln>
        </p:spPr>
      </p:pic>
      <p:sp>
        <p:nvSpPr>
          <p:cNvPr id="5" name="Slide Number Placeholder 2"/>
          <p:cNvSpPr>
            <a:spLocks noGrp="1"/>
          </p:cNvSpPr>
          <p:nvPr>
            <p:ph type="sldNum" sz="quarter" idx="12"/>
          </p:nvPr>
        </p:nvSpPr>
        <p:spPr>
          <a:xfrm>
            <a:off x="146304" y="6210300"/>
            <a:ext cx="457200" cy="457200"/>
          </a:xfrm>
        </p:spPr>
        <p:txBody>
          <a:bodyPr/>
          <a:lstStyle/>
          <a:p>
            <a:fld id="{B6F15528-21DE-4FAA-801E-634DDDAF4B2B}" type="slidenum">
              <a:rPr lang="en-US" smtClean="0"/>
              <a:pPr/>
              <a:t>13</a:t>
            </a:fld>
            <a:endParaRPr lang="en-US" dirty="0"/>
          </a:p>
        </p:txBody>
      </p:sp>
      <p:sp>
        <p:nvSpPr>
          <p:cNvPr id="6" name="Rectangle 5"/>
          <p:cNvSpPr/>
          <p:nvPr/>
        </p:nvSpPr>
        <p:spPr>
          <a:xfrm>
            <a:off x="6477000" y="3124200"/>
            <a:ext cx="2514600" cy="707886"/>
          </a:xfrm>
          <a:prstGeom prst="rect">
            <a:avLst/>
          </a:prstGeom>
        </p:spPr>
        <p:txBody>
          <a:bodyPr wrap="square">
            <a:spAutoFit/>
          </a:bodyPr>
          <a:lstStyle/>
          <a:p>
            <a:pPr lvl="1"/>
            <a:r>
              <a:rPr lang="en-US" sz="2000" dirty="0" smtClean="0"/>
              <a:t>LC= logic cell, can be a PAL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smtClean="0"/>
              <a:t>Digital design flow for FPGAs</a:t>
            </a:r>
          </a:p>
        </p:txBody>
      </p:sp>
      <p:sp>
        <p:nvSpPr>
          <p:cNvPr id="22531" name="Content Placeholder 2"/>
          <p:cNvSpPr>
            <a:spLocks noGrp="1"/>
          </p:cNvSpPr>
          <p:nvPr>
            <p:ph sz="quarter" idx="1"/>
          </p:nvPr>
        </p:nvSpPr>
        <p:spPr/>
        <p:txBody>
          <a:bodyPr/>
          <a:lstStyle/>
          <a:p>
            <a:r>
              <a:rPr lang="en-US" dirty="0" smtClean="0"/>
              <a:t>Design entry</a:t>
            </a:r>
          </a:p>
          <a:p>
            <a:r>
              <a:rPr lang="en-US" dirty="0" smtClean="0"/>
              <a:t>Logic synthesis</a:t>
            </a:r>
          </a:p>
          <a:p>
            <a:r>
              <a:rPr lang="en-US" dirty="0" smtClean="0"/>
              <a:t>Partitioning</a:t>
            </a:r>
          </a:p>
          <a:p>
            <a:r>
              <a:rPr lang="en-US" dirty="0" smtClean="0"/>
              <a:t>Placement </a:t>
            </a:r>
          </a:p>
          <a:p>
            <a:r>
              <a:rPr lang="en-US" dirty="0" smtClean="0"/>
              <a:t>Routing</a:t>
            </a:r>
          </a:p>
          <a:p>
            <a:r>
              <a:rPr lang="en-US" dirty="0" smtClean="0"/>
              <a:t>Pin assignment</a:t>
            </a:r>
          </a:p>
          <a:p>
            <a:pPr>
              <a:buFont typeface="Wingdings 2" pitchFamily="18" charset="2"/>
              <a:buNone/>
            </a:pPr>
            <a:endParaRPr lang="en-US" dirty="0" smtClean="0"/>
          </a:p>
        </p:txBody>
      </p:sp>
      <p:sp>
        <p:nvSpPr>
          <p:cNvPr id="4" name="Slide Number Placeholder 2"/>
          <p:cNvSpPr>
            <a:spLocks noGrp="1"/>
          </p:cNvSpPr>
          <p:nvPr>
            <p:ph type="sldNum" sz="quarter" idx="12"/>
          </p:nvPr>
        </p:nvSpPr>
        <p:spPr>
          <a:xfrm>
            <a:off x="146304" y="6210300"/>
            <a:ext cx="457200" cy="457200"/>
          </a:xfrm>
        </p:spPr>
        <p:txBody>
          <a:bodyPr/>
          <a:lstStyle/>
          <a:p>
            <a:fld id="{B6F15528-21DE-4FAA-801E-634DDDAF4B2B}" type="slidenum">
              <a:rPr lang="en-US" smtClean="0"/>
              <a:pPr/>
              <a:t>14</a:t>
            </a:fld>
            <a:endParaRPr lang="en-US" dirty="0"/>
          </a:p>
        </p:txBody>
      </p:sp>
      <p:sp>
        <p:nvSpPr>
          <p:cNvPr id="5" name="Oval 4"/>
          <p:cNvSpPr/>
          <p:nvPr/>
        </p:nvSpPr>
        <p:spPr>
          <a:xfrm>
            <a:off x="457200" y="2362200"/>
            <a:ext cx="3124200" cy="2133600"/>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flipV="1">
            <a:off x="3733800" y="3810000"/>
            <a:ext cx="1600200" cy="6858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029200" y="4572000"/>
            <a:ext cx="1981200" cy="461665"/>
          </a:xfrm>
          <a:prstGeom prst="rect">
            <a:avLst/>
          </a:prstGeom>
          <a:noFill/>
        </p:spPr>
        <p:txBody>
          <a:bodyPr wrap="square" rtlCol="0">
            <a:spAutoFit/>
          </a:bodyPr>
          <a:lstStyle/>
          <a:p>
            <a:r>
              <a:rPr lang="en-US" sz="2400" dirty="0" smtClean="0"/>
              <a:t>Physical Design</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14400" y="274638"/>
            <a:ext cx="7772400" cy="868362"/>
          </a:xfrm>
        </p:spPr>
        <p:txBody>
          <a:bodyPr>
            <a:noAutofit/>
          </a:bodyPr>
          <a:lstStyle/>
          <a:p>
            <a:r>
              <a:rPr lang="en-US" dirty="0" smtClean="0"/>
              <a:t>Digital design flow for FPGAs</a:t>
            </a:r>
          </a:p>
        </p:txBody>
      </p:sp>
      <p:pic>
        <p:nvPicPr>
          <p:cNvPr id="23555" name="Picture 3"/>
          <p:cNvPicPr>
            <a:picLocks noChangeAspect="1" noChangeArrowheads="1"/>
          </p:cNvPicPr>
          <p:nvPr/>
        </p:nvPicPr>
        <p:blipFill>
          <a:blip r:embed="rId3" cstate="print"/>
          <a:srcRect/>
          <a:stretch>
            <a:fillRect/>
          </a:stretch>
        </p:blipFill>
        <p:spPr bwMode="auto">
          <a:xfrm>
            <a:off x="304800" y="3048000"/>
            <a:ext cx="8534400" cy="3349625"/>
          </a:xfrm>
          <a:prstGeom prst="rect">
            <a:avLst/>
          </a:prstGeom>
          <a:noFill/>
          <a:ln w="28575">
            <a:noFill/>
            <a:miter lim="800000"/>
            <a:headEnd/>
            <a:tailEnd/>
          </a:ln>
        </p:spPr>
      </p:pic>
      <p:sp>
        <p:nvSpPr>
          <p:cNvPr id="23556" name="Rectangle 4"/>
          <p:cNvSpPr>
            <a:spLocks noChangeArrowheads="1"/>
          </p:cNvSpPr>
          <p:nvPr/>
        </p:nvSpPr>
        <p:spPr bwMode="auto">
          <a:xfrm>
            <a:off x="7315200" y="4800600"/>
            <a:ext cx="1447800" cy="685800"/>
          </a:xfrm>
          <a:prstGeom prst="rect">
            <a:avLst/>
          </a:prstGeom>
          <a:solidFill>
            <a:schemeClr val="bg1"/>
          </a:solidFill>
          <a:ln w="28575">
            <a:noFill/>
            <a:miter lim="800000"/>
            <a:headEnd/>
            <a:tailEnd/>
          </a:ln>
        </p:spPr>
        <p:txBody>
          <a:bodyPr wrap="none" anchor="ctr">
            <a:spAutoFit/>
          </a:bodyPr>
          <a:lstStyle/>
          <a:p>
            <a:endParaRPr lang="en-US"/>
          </a:p>
        </p:txBody>
      </p:sp>
      <p:sp>
        <p:nvSpPr>
          <p:cNvPr id="6" name="Slide Number Placeholder 2"/>
          <p:cNvSpPr>
            <a:spLocks noGrp="1"/>
          </p:cNvSpPr>
          <p:nvPr>
            <p:ph type="sldNum" sz="quarter" idx="12"/>
          </p:nvPr>
        </p:nvSpPr>
        <p:spPr>
          <a:xfrm>
            <a:off x="146304" y="6210300"/>
            <a:ext cx="457200" cy="457200"/>
          </a:xfrm>
        </p:spPr>
        <p:txBody>
          <a:bodyPr/>
          <a:lstStyle/>
          <a:p>
            <a:fld id="{B6F15528-21DE-4FAA-801E-634DDDAF4B2B}" type="slidenum">
              <a:rPr lang="en-US" smtClean="0"/>
              <a:pPr/>
              <a:t>15</a:t>
            </a:fld>
            <a:endParaRPr lang="en-US" dirty="0"/>
          </a:p>
        </p:txBody>
      </p:sp>
      <p:sp>
        <p:nvSpPr>
          <p:cNvPr id="7" name="Footer Placeholder 3"/>
          <p:cNvSpPr>
            <a:spLocks noGrp="1"/>
          </p:cNvSpPr>
          <p:nvPr>
            <p:ph type="ftr" sz="quarter" idx="11"/>
          </p:nvPr>
        </p:nvSpPr>
        <p:spPr bwMode="auto">
          <a:xfrm>
            <a:off x="609600" y="6248400"/>
            <a:ext cx="8077200" cy="457200"/>
          </a:xfrm>
          <a:noFill/>
          <a:ln>
            <a:miter lim="800000"/>
            <a:headEnd/>
            <a:tailEnd/>
          </a:ln>
        </p:spPr>
        <p:txBody>
          <a:bodyPr vert="horz" wrap="square" lIns="91440" tIns="45720" rIns="91440" bIns="45720" numCol="1" compatLnSpc="1">
            <a:prstTxWarp prst="textNoShape">
              <a:avLst/>
            </a:prstTxWarp>
          </a:bodyPr>
          <a:lstStyle/>
          <a:p>
            <a:r>
              <a:rPr lang="en-US" dirty="0" smtClean="0">
                <a:solidFill>
                  <a:schemeClr val="tx1"/>
                </a:solidFill>
              </a:rPr>
              <a:t>Picture Source: CEIT212 at </a:t>
            </a:r>
            <a:r>
              <a:rPr lang="en-US" dirty="0" err="1" smtClean="0">
                <a:solidFill>
                  <a:schemeClr val="tx1"/>
                </a:solidFill>
              </a:rPr>
              <a:t>Amirkabir</a:t>
            </a:r>
            <a:r>
              <a:rPr lang="en-US" dirty="0" smtClean="0">
                <a:solidFill>
                  <a:schemeClr val="tx1"/>
                </a:solidFill>
              </a:rPr>
              <a:t> U. of Tech., Lecture 10, by Dr </a:t>
            </a:r>
            <a:r>
              <a:rPr lang="en-US" dirty="0" err="1" smtClean="0">
                <a:solidFill>
                  <a:schemeClr val="tx1"/>
                </a:solidFill>
              </a:rPr>
              <a:t>Saheb-zamani</a:t>
            </a:r>
            <a:r>
              <a:rPr lang="en-US" dirty="0" smtClean="0">
                <a:solidFill>
                  <a:schemeClr val="tx1"/>
                </a:solidFill>
              </a:rPr>
              <a:t>, with modifications</a:t>
            </a:r>
          </a:p>
        </p:txBody>
      </p:sp>
      <p:sp>
        <p:nvSpPr>
          <p:cNvPr id="8" name="TextBox 7"/>
          <p:cNvSpPr txBox="1"/>
          <p:nvPr/>
        </p:nvSpPr>
        <p:spPr>
          <a:xfrm>
            <a:off x="2514600" y="1371600"/>
            <a:ext cx="762000" cy="1200329"/>
          </a:xfrm>
          <a:prstGeom prst="rect">
            <a:avLst/>
          </a:prstGeom>
          <a:ln w="25400" cap="rnd"/>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VHDL</a:t>
            </a:r>
          </a:p>
          <a:p>
            <a:r>
              <a:rPr lang="en-US" dirty="0" smtClean="0"/>
              <a:t>…..</a:t>
            </a:r>
          </a:p>
          <a:p>
            <a:r>
              <a:rPr lang="en-US" dirty="0" smtClean="0"/>
              <a:t>…..</a:t>
            </a:r>
          </a:p>
          <a:p>
            <a:r>
              <a:rPr lang="en-US" dirty="0" smtClean="0"/>
              <a:t>…..</a:t>
            </a:r>
          </a:p>
        </p:txBody>
      </p:sp>
      <p:cxnSp>
        <p:nvCxnSpPr>
          <p:cNvPr id="10" name="Straight Arrow Connector 9"/>
          <p:cNvCxnSpPr/>
          <p:nvPr/>
        </p:nvCxnSpPr>
        <p:spPr>
          <a:xfrm flipH="1">
            <a:off x="914400" y="2286000"/>
            <a:ext cx="1447800" cy="1295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304800" y="4953000"/>
            <a:ext cx="14478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i="1" dirty="0" smtClean="0"/>
              <a:t>Logic synthesis</a:t>
            </a:r>
            <a:endParaRPr lang="en-US" b="1" i="1" dirty="0"/>
          </a:p>
        </p:txBody>
      </p:sp>
      <p:sp>
        <p:nvSpPr>
          <p:cNvPr id="13" name="TextBox 12"/>
          <p:cNvSpPr txBox="1"/>
          <p:nvPr/>
        </p:nvSpPr>
        <p:spPr>
          <a:xfrm>
            <a:off x="2133600" y="2667000"/>
            <a:ext cx="1524000" cy="369332"/>
          </a:xfrm>
          <a:prstGeom prst="rect">
            <a:avLst/>
          </a:prstGeom>
          <a:ln>
            <a:solidFill>
              <a:schemeClr val="tx1">
                <a:lumMod val="75000"/>
                <a:lumOff val="2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i="1" dirty="0" smtClean="0">
                <a:solidFill>
                  <a:schemeClr val="tx1">
                    <a:lumMod val="75000"/>
                    <a:lumOff val="25000"/>
                  </a:schemeClr>
                </a:solidFill>
              </a:rPr>
              <a:t>Design entry</a:t>
            </a:r>
            <a:endParaRPr lang="en-US" b="1" i="1" dirty="0">
              <a:solidFill>
                <a:schemeClr val="tx1">
                  <a:lumMod val="75000"/>
                  <a:lumOff val="25000"/>
                </a:schemeClr>
              </a:solidFill>
            </a:endParaRPr>
          </a:p>
        </p:txBody>
      </p:sp>
      <p:sp>
        <p:nvSpPr>
          <p:cNvPr id="14" name="TextBox 13"/>
          <p:cNvSpPr txBox="1"/>
          <p:nvPr/>
        </p:nvSpPr>
        <p:spPr>
          <a:xfrm>
            <a:off x="1981200" y="5029200"/>
            <a:ext cx="1447800" cy="57708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200000"/>
              </a:lnSpc>
              <a:spcBef>
                <a:spcPts val="600"/>
              </a:spcBef>
              <a:spcAft>
                <a:spcPts val="600"/>
              </a:spcAft>
            </a:pPr>
            <a:r>
              <a:rPr lang="en-US" b="1" i="1" dirty="0" smtClean="0"/>
              <a:t>Partitioning</a:t>
            </a:r>
            <a:endParaRPr lang="en-US" b="1" i="1" dirty="0"/>
          </a:p>
        </p:txBody>
      </p:sp>
      <p:sp>
        <p:nvSpPr>
          <p:cNvPr id="17" name="TextBox 16"/>
          <p:cNvSpPr txBox="1"/>
          <p:nvPr/>
        </p:nvSpPr>
        <p:spPr>
          <a:xfrm>
            <a:off x="3810000" y="5029200"/>
            <a:ext cx="1447800" cy="57708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200000"/>
              </a:lnSpc>
              <a:spcBef>
                <a:spcPts val="600"/>
              </a:spcBef>
              <a:spcAft>
                <a:spcPts val="600"/>
              </a:spcAft>
            </a:pPr>
            <a:r>
              <a:rPr lang="en-US" b="1" i="1" dirty="0" smtClean="0"/>
              <a:t>Placement</a:t>
            </a:r>
            <a:endParaRPr lang="en-US" b="1" i="1" dirty="0"/>
          </a:p>
        </p:txBody>
      </p:sp>
      <p:sp>
        <p:nvSpPr>
          <p:cNvPr id="18" name="TextBox 17"/>
          <p:cNvSpPr txBox="1"/>
          <p:nvPr/>
        </p:nvSpPr>
        <p:spPr>
          <a:xfrm>
            <a:off x="5562600" y="5029200"/>
            <a:ext cx="1447800" cy="57708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200000"/>
              </a:lnSpc>
              <a:spcBef>
                <a:spcPts val="600"/>
              </a:spcBef>
              <a:spcAft>
                <a:spcPts val="600"/>
              </a:spcAft>
            </a:pPr>
            <a:r>
              <a:rPr lang="en-US" b="1" i="1" dirty="0" smtClean="0"/>
              <a:t>Routing</a:t>
            </a:r>
            <a:endParaRPr lang="en-US" b="1" i="1" dirty="0"/>
          </a:p>
        </p:txBody>
      </p:sp>
      <p:sp>
        <p:nvSpPr>
          <p:cNvPr id="21" name="TextBox 20"/>
          <p:cNvSpPr txBox="1"/>
          <p:nvPr/>
        </p:nvSpPr>
        <p:spPr>
          <a:xfrm>
            <a:off x="2362200" y="5943600"/>
            <a:ext cx="4191000" cy="36933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spcBef>
                <a:spcPts val="600"/>
              </a:spcBef>
              <a:spcAft>
                <a:spcPts val="600"/>
              </a:spcAft>
            </a:pPr>
            <a:r>
              <a:rPr lang="en-US" b="1" i="1" dirty="0" smtClean="0"/>
              <a:t>Physical Design (Layout Synthesis)</a:t>
            </a:r>
            <a:endParaRPr lang="en-US" b="1" i="1" dirty="0"/>
          </a:p>
        </p:txBody>
      </p:sp>
      <p:pic>
        <p:nvPicPr>
          <p:cNvPr id="3" name="Picture 2"/>
          <p:cNvPicPr>
            <a:picLocks noChangeAspect="1"/>
          </p:cNvPicPr>
          <p:nvPr/>
        </p:nvPicPr>
        <p:blipFill>
          <a:blip r:embed="rId4"/>
          <a:stretch>
            <a:fillRect/>
          </a:stretch>
        </p:blipFill>
        <p:spPr>
          <a:xfrm>
            <a:off x="5500687" y="1300163"/>
            <a:ext cx="3019425" cy="15144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14400" y="274638"/>
            <a:ext cx="7772400" cy="792162"/>
          </a:xfrm>
        </p:spPr>
        <p:txBody>
          <a:bodyPr/>
          <a:lstStyle/>
          <a:p>
            <a:pPr eaLnBrk="1" hangingPunct="1"/>
            <a:r>
              <a:rPr lang="en-US" dirty="0" smtClean="0"/>
              <a:t>FPGA physical </a:t>
            </a:r>
            <a:r>
              <a:rPr lang="en-US" dirty="0"/>
              <a:t>d</a:t>
            </a:r>
            <a:r>
              <a:rPr lang="en-US" dirty="0" smtClean="0"/>
              <a:t>esign</a:t>
            </a:r>
          </a:p>
        </p:txBody>
      </p:sp>
      <p:pic>
        <p:nvPicPr>
          <p:cNvPr id="24579" name="Picture 3"/>
          <p:cNvPicPr>
            <a:picLocks noChangeAspect="1" noChangeArrowheads="1"/>
          </p:cNvPicPr>
          <p:nvPr/>
        </p:nvPicPr>
        <p:blipFill>
          <a:blip r:embed="rId3" cstate="print"/>
          <a:srcRect/>
          <a:stretch>
            <a:fillRect/>
          </a:stretch>
        </p:blipFill>
        <p:spPr bwMode="auto">
          <a:xfrm>
            <a:off x="2667000" y="942975"/>
            <a:ext cx="5334000" cy="5153025"/>
          </a:xfrm>
          <a:prstGeom prst="rect">
            <a:avLst/>
          </a:prstGeom>
          <a:noFill/>
          <a:ln w="28575">
            <a:noFill/>
            <a:miter lim="800000"/>
            <a:headEnd/>
            <a:tailEnd/>
          </a:ln>
        </p:spPr>
      </p:pic>
      <p:sp>
        <p:nvSpPr>
          <p:cNvPr id="5" name="Slide Number Placeholder 2"/>
          <p:cNvSpPr>
            <a:spLocks noGrp="1"/>
          </p:cNvSpPr>
          <p:nvPr>
            <p:ph type="sldNum" sz="quarter" idx="12"/>
          </p:nvPr>
        </p:nvSpPr>
        <p:spPr>
          <a:xfrm>
            <a:off x="146304" y="6210300"/>
            <a:ext cx="457200" cy="457200"/>
          </a:xfrm>
        </p:spPr>
        <p:txBody>
          <a:bodyPr/>
          <a:lstStyle/>
          <a:p>
            <a:fld id="{B6F15528-21DE-4FAA-801E-634DDDAF4B2B}" type="slidenum">
              <a:rPr lang="en-US" smtClean="0"/>
              <a:pPr/>
              <a:t>16</a:t>
            </a:fld>
            <a:endParaRPr lang="en-US" dirty="0"/>
          </a:p>
        </p:txBody>
      </p:sp>
      <p:sp>
        <p:nvSpPr>
          <p:cNvPr id="6" name="Footer Placeholder 3"/>
          <p:cNvSpPr>
            <a:spLocks noGrp="1"/>
          </p:cNvSpPr>
          <p:nvPr>
            <p:ph type="ftr" sz="quarter" idx="11"/>
          </p:nvPr>
        </p:nvSpPr>
        <p:spPr bwMode="auto">
          <a:xfrm>
            <a:off x="609600" y="6248400"/>
            <a:ext cx="8077200" cy="457200"/>
          </a:xfrm>
          <a:noFill/>
          <a:ln>
            <a:miter lim="800000"/>
            <a:headEnd/>
            <a:tailEnd/>
          </a:ln>
        </p:spPr>
        <p:txBody>
          <a:bodyPr vert="horz" wrap="square" lIns="91440" tIns="45720" rIns="91440" bIns="45720" numCol="1" compatLnSpc="1">
            <a:prstTxWarp prst="textNoShape">
              <a:avLst/>
            </a:prstTxWarp>
          </a:bodyPr>
          <a:lstStyle/>
          <a:p>
            <a:r>
              <a:rPr lang="en-US" dirty="0" smtClean="0">
                <a:solidFill>
                  <a:schemeClr val="tx1"/>
                </a:solidFill>
              </a:rPr>
              <a:t>Picture Source: CEIT212 at </a:t>
            </a:r>
            <a:r>
              <a:rPr lang="en-US" dirty="0" err="1" smtClean="0">
                <a:solidFill>
                  <a:schemeClr val="tx1"/>
                </a:solidFill>
              </a:rPr>
              <a:t>Amirkabir</a:t>
            </a:r>
            <a:r>
              <a:rPr lang="en-US" dirty="0" smtClean="0">
                <a:solidFill>
                  <a:schemeClr val="tx1"/>
                </a:solidFill>
              </a:rPr>
              <a:t> U. of Tech., Lecture 10, by Dr </a:t>
            </a:r>
            <a:r>
              <a:rPr lang="en-US" dirty="0" err="1" smtClean="0">
                <a:solidFill>
                  <a:schemeClr val="tx1"/>
                </a:solidFill>
              </a:rPr>
              <a:t>Saheb-zamani</a:t>
            </a:r>
            <a:endParaRPr lang="en-US" dirty="0" smtClean="0">
              <a:solidFill>
                <a:schemeClr val="tx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smtClean="0"/>
              <a:t>Synthesis objectives</a:t>
            </a:r>
          </a:p>
        </p:txBody>
      </p:sp>
      <p:sp>
        <p:nvSpPr>
          <p:cNvPr id="22531" name="Content Placeholder 2"/>
          <p:cNvSpPr>
            <a:spLocks noGrp="1"/>
          </p:cNvSpPr>
          <p:nvPr>
            <p:ph sz="quarter" idx="1"/>
          </p:nvPr>
        </p:nvSpPr>
        <p:spPr>
          <a:xfrm>
            <a:off x="914400" y="1447800"/>
            <a:ext cx="7772400" cy="2362200"/>
          </a:xfrm>
        </p:spPr>
        <p:txBody>
          <a:bodyPr>
            <a:normAutofit lnSpcReduction="10000"/>
          </a:bodyPr>
          <a:lstStyle/>
          <a:p>
            <a:r>
              <a:rPr lang="en-US" dirty="0" smtClean="0"/>
              <a:t>Synthesized code should meet several constraints:</a:t>
            </a:r>
          </a:p>
          <a:p>
            <a:pPr lvl="1"/>
            <a:r>
              <a:rPr lang="en-US" dirty="0" smtClean="0"/>
              <a:t>Performance </a:t>
            </a:r>
          </a:p>
          <a:p>
            <a:pPr lvl="1"/>
            <a:r>
              <a:rPr lang="en-US" dirty="0" smtClean="0"/>
              <a:t>Area</a:t>
            </a:r>
          </a:p>
          <a:p>
            <a:pPr lvl="1"/>
            <a:r>
              <a:rPr lang="en-US" dirty="0" smtClean="0"/>
              <a:t>Power</a:t>
            </a:r>
          </a:p>
          <a:p>
            <a:pPr lvl="1"/>
            <a:r>
              <a:rPr lang="en-US" dirty="0" smtClean="0"/>
              <a:t>Any combination of the above</a:t>
            </a:r>
          </a:p>
          <a:p>
            <a:endParaRPr lang="en-US" dirty="0" smtClean="0"/>
          </a:p>
        </p:txBody>
      </p:sp>
      <p:sp>
        <p:nvSpPr>
          <p:cNvPr id="4" name="Slide Number Placeholder 2"/>
          <p:cNvSpPr>
            <a:spLocks noGrp="1"/>
          </p:cNvSpPr>
          <p:nvPr>
            <p:ph type="sldNum" sz="quarter" idx="12"/>
          </p:nvPr>
        </p:nvSpPr>
        <p:spPr>
          <a:xfrm>
            <a:off x="146304" y="6210300"/>
            <a:ext cx="457200" cy="457200"/>
          </a:xfrm>
        </p:spPr>
        <p:txBody>
          <a:bodyPr/>
          <a:lstStyle/>
          <a:p>
            <a:fld id="{B6F15528-21DE-4FAA-801E-634DDDAF4B2B}" type="slidenum">
              <a:rPr lang="en-US" smtClean="0"/>
              <a:pPr/>
              <a:t>17</a:t>
            </a:fld>
            <a:endParaRPr lang="en-US" dirty="0"/>
          </a:p>
        </p:txBody>
      </p:sp>
      <p:sp>
        <p:nvSpPr>
          <p:cNvPr id="5" name="Oval 4"/>
          <p:cNvSpPr/>
          <p:nvPr/>
        </p:nvSpPr>
        <p:spPr>
          <a:xfrm>
            <a:off x="3429000" y="4114800"/>
            <a:ext cx="1981200" cy="1143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Synthesis tool</a:t>
            </a:r>
            <a:endParaRPr lang="en-US" sz="2400" dirty="0"/>
          </a:p>
        </p:txBody>
      </p:sp>
      <p:sp>
        <p:nvSpPr>
          <p:cNvPr id="7" name="TextBox 6"/>
          <p:cNvSpPr txBox="1"/>
          <p:nvPr/>
        </p:nvSpPr>
        <p:spPr>
          <a:xfrm>
            <a:off x="1371600" y="3657600"/>
            <a:ext cx="762000" cy="1200329"/>
          </a:xfrm>
          <a:prstGeom prst="rect">
            <a:avLst/>
          </a:prstGeom>
          <a:ln w="25400" cap="rnd"/>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VHDL</a:t>
            </a:r>
          </a:p>
          <a:p>
            <a:r>
              <a:rPr lang="en-US" dirty="0" smtClean="0"/>
              <a:t>…..</a:t>
            </a:r>
          </a:p>
          <a:p>
            <a:r>
              <a:rPr lang="en-US" dirty="0" smtClean="0"/>
              <a:t>…..</a:t>
            </a:r>
          </a:p>
          <a:p>
            <a:r>
              <a:rPr lang="en-US" dirty="0" smtClean="0"/>
              <a:t>…..</a:t>
            </a:r>
          </a:p>
        </p:txBody>
      </p:sp>
      <p:sp>
        <p:nvSpPr>
          <p:cNvPr id="8" name="TextBox 7"/>
          <p:cNvSpPr txBox="1"/>
          <p:nvPr/>
        </p:nvSpPr>
        <p:spPr>
          <a:xfrm>
            <a:off x="1371600" y="5638800"/>
            <a:ext cx="1295400" cy="707886"/>
          </a:xfrm>
          <a:prstGeom prst="rect">
            <a:avLst/>
          </a:prstGeom>
          <a:noFill/>
          <a:ln w="19050">
            <a:solidFill>
              <a:schemeClr val="tx1"/>
            </a:solidFill>
          </a:ln>
        </p:spPr>
        <p:txBody>
          <a:bodyPr wrap="square" rtlCol="0">
            <a:spAutoFit/>
          </a:bodyPr>
          <a:lstStyle/>
          <a:p>
            <a:r>
              <a:rPr lang="en-US" sz="2000" dirty="0" smtClean="0"/>
              <a:t>set of constraints</a:t>
            </a:r>
            <a:endParaRPr lang="en-US" sz="2000" dirty="0"/>
          </a:p>
        </p:txBody>
      </p:sp>
      <p:cxnSp>
        <p:nvCxnSpPr>
          <p:cNvPr id="12" name="Straight Arrow Connector 11"/>
          <p:cNvCxnSpPr/>
          <p:nvPr/>
        </p:nvCxnSpPr>
        <p:spPr>
          <a:xfrm>
            <a:off x="2438400" y="4114800"/>
            <a:ext cx="762000" cy="381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2971800" y="5257800"/>
            <a:ext cx="533400" cy="609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638800" y="4648200"/>
            <a:ext cx="914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6553200" y="4191000"/>
            <a:ext cx="1905000" cy="1066800"/>
            <a:chOff x="266700" y="4619625"/>
            <a:chExt cx="2874963" cy="1338263"/>
          </a:xfrm>
        </p:grpSpPr>
        <p:grpSp>
          <p:nvGrpSpPr>
            <p:cNvPr id="18" name="Group 33"/>
            <p:cNvGrpSpPr>
              <a:grpSpLocks/>
            </p:cNvGrpSpPr>
            <p:nvPr/>
          </p:nvGrpSpPr>
          <p:grpSpPr bwMode="auto">
            <a:xfrm>
              <a:off x="1212850" y="4619625"/>
              <a:ext cx="230188" cy="306388"/>
              <a:chOff x="1344" y="1968"/>
              <a:chExt cx="288" cy="384"/>
            </a:xfrm>
          </p:grpSpPr>
          <p:sp>
            <p:nvSpPr>
              <p:cNvPr id="60" name="AutoShape 34"/>
              <p:cNvSpPr>
                <a:spLocks noChangeArrowheads="1"/>
              </p:cNvSpPr>
              <p:nvPr/>
            </p:nvSpPr>
            <p:spPr bwMode="auto">
              <a:xfrm>
                <a:off x="1344" y="1968"/>
                <a:ext cx="240" cy="384"/>
              </a:xfrm>
              <a:prstGeom prst="flowChartDelay">
                <a:avLst/>
              </a:prstGeom>
              <a:solidFill>
                <a:srgbClr val="FFCC66"/>
              </a:solidFill>
              <a:ln w="19050">
                <a:solidFill>
                  <a:srgbClr val="000066"/>
                </a:solidFill>
                <a:miter lim="800000"/>
                <a:headEnd/>
                <a:tailEnd/>
              </a:ln>
              <a:effectLst/>
            </p:spPr>
            <p:txBody>
              <a:bodyPr wrap="none" anchor="ctr"/>
              <a:lstStyle/>
              <a:p>
                <a:endParaRPr lang="en-US"/>
              </a:p>
            </p:txBody>
          </p:sp>
          <p:sp>
            <p:nvSpPr>
              <p:cNvPr id="61" name="AutoShape 35"/>
              <p:cNvSpPr>
                <a:spLocks noChangeArrowheads="1"/>
              </p:cNvSpPr>
              <p:nvPr/>
            </p:nvSpPr>
            <p:spPr bwMode="auto">
              <a:xfrm>
                <a:off x="1584" y="2139"/>
                <a:ext cx="48" cy="48"/>
              </a:xfrm>
              <a:prstGeom prst="flowChartDelay">
                <a:avLst/>
              </a:prstGeom>
              <a:noFill/>
              <a:ln w="19050">
                <a:solidFill>
                  <a:srgbClr val="000066"/>
                </a:solidFill>
                <a:miter lim="800000"/>
                <a:headEnd/>
                <a:tailEnd/>
              </a:ln>
              <a:effectLst/>
            </p:spPr>
            <p:txBody>
              <a:bodyPr wrap="none" anchor="ctr"/>
              <a:lstStyle/>
              <a:p>
                <a:endParaRPr lang="en-US">
                  <a:effectLst>
                    <a:outerShdw blurRad="38100" dist="38100" dir="2700000" algn="tl">
                      <a:srgbClr val="C0C0C0"/>
                    </a:outerShdw>
                  </a:effectLst>
                  <a:latin typeface="Arial" charset="0"/>
                </a:endParaRPr>
              </a:p>
            </p:txBody>
          </p:sp>
        </p:grpSp>
        <p:grpSp>
          <p:nvGrpSpPr>
            <p:cNvPr id="19" name="Group 36"/>
            <p:cNvGrpSpPr>
              <a:grpSpLocks/>
            </p:cNvGrpSpPr>
            <p:nvPr/>
          </p:nvGrpSpPr>
          <p:grpSpPr bwMode="auto">
            <a:xfrm>
              <a:off x="674688" y="4892675"/>
              <a:ext cx="230187" cy="306388"/>
              <a:chOff x="1344" y="1968"/>
              <a:chExt cx="288" cy="384"/>
            </a:xfrm>
          </p:grpSpPr>
          <p:sp>
            <p:nvSpPr>
              <p:cNvPr id="58" name="AutoShape 37"/>
              <p:cNvSpPr>
                <a:spLocks noChangeArrowheads="1"/>
              </p:cNvSpPr>
              <p:nvPr/>
            </p:nvSpPr>
            <p:spPr bwMode="auto">
              <a:xfrm>
                <a:off x="1344" y="1968"/>
                <a:ext cx="240" cy="384"/>
              </a:xfrm>
              <a:prstGeom prst="flowChartDelay">
                <a:avLst/>
              </a:prstGeom>
              <a:solidFill>
                <a:srgbClr val="FFCC66"/>
              </a:solidFill>
              <a:ln w="19050">
                <a:solidFill>
                  <a:srgbClr val="000066"/>
                </a:solidFill>
                <a:miter lim="800000"/>
                <a:headEnd/>
                <a:tailEnd/>
              </a:ln>
              <a:effectLst/>
            </p:spPr>
            <p:txBody>
              <a:bodyPr wrap="none" anchor="ctr"/>
              <a:lstStyle/>
              <a:p>
                <a:endParaRPr lang="en-US"/>
              </a:p>
            </p:txBody>
          </p:sp>
          <p:sp>
            <p:nvSpPr>
              <p:cNvPr id="59" name="Oval 38"/>
              <p:cNvSpPr>
                <a:spLocks noChangeArrowheads="1"/>
              </p:cNvSpPr>
              <p:nvPr/>
            </p:nvSpPr>
            <p:spPr bwMode="auto">
              <a:xfrm>
                <a:off x="1584" y="2139"/>
                <a:ext cx="48" cy="48"/>
              </a:xfrm>
              <a:prstGeom prst="ellipse">
                <a:avLst/>
              </a:prstGeom>
              <a:noFill/>
              <a:ln w="19050">
                <a:solidFill>
                  <a:srgbClr val="000066"/>
                </a:solidFill>
                <a:round/>
                <a:headEnd/>
                <a:tailEnd/>
              </a:ln>
              <a:effectLst/>
            </p:spPr>
            <p:txBody>
              <a:bodyPr wrap="none" anchor="ctr"/>
              <a:lstStyle/>
              <a:p>
                <a:endParaRPr lang="en-US">
                  <a:effectLst>
                    <a:outerShdw blurRad="38100" dist="38100" dir="2700000" algn="tl">
                      <a:srgbClr val="C0C0C0"/>
                    </a:outerShdw>
                  </a:effectLst>
                  <a:latin typeface="Arial" charset="0"/>
                </a:endParaRPr>
              </a:p>
            </p:txBody>
          </p:sp>
        </p:grpSp>
        <p:grpSp>
          <p:nvGrpSpPr>
            <p:cNvPr id="20" name="Group 39"/>
            <p:cNvGrpSpPr>
              <a:grpSpLocks/>
            </p:cNvGrpSpPr>
            <p:nvPr/>
          </p:nvGrpSpPr>
          <p:grpSpPr bwMode="auto">
            <a:xfrm>
              <a:off x="1212850" y="5192713"/>
              <a:ext cx="230188" cy="306387"/>
              <a:chOff x="1344" y="1968"/>
              <a:chExt cx="288" cy="384"/>
            </a:xfrm>
          </p:grpSpPr>
          <p:sp>
            <p:nvSpPr>
              <p:cNvPr id="56" name="AutoShape 40"/>
              <p:cNvSpPr>
                <a:spLocks noChangeArrowheads="1"/>
              </p:cNvSpPr>
              <p:nvPr/>
            </p:nvSpPr>
            <p:spPr bwMode="auto">
              <a:xfrm>
                <a:off x="1344" y="1968"/>
                <a:ext cx="240" cy="384"/>
              </a:xfrm>
              <a:prstGeom prst="flowChartDelay">
                <a:avLst/>
              </a:prstGeom>
              <a:solidFill>
                <a:srgbClr val="FFCC66"/>
              </a:solidFill>
              <a:ln w="19050">
                <a:solidFill>
                  <a:srgbClr val="000066"/>
                </a:solidFill>
                <a:miter lim="800000"/>
                <a:headEnd/>
                <a:tailEnd/>
              </a:ln>
              <a:effectLst/>
            </p:spPr>
            <p:txBody>
              <a:bodyPr wrap="none" anchor="ctr"/>
              <a:lstStyle/>
              <a:p>
                <a:endParaRPr lang="en-US"/>
              </a:p>
            </p:txBody>
          </p:sp>
          <p:sp>
            <p:nvSpPr>
              <p:cNvPr id="57" name="Oval 41"/>
              <p:cNvSpPr>
                <a:spLocks noChangeArrowheads="1"/>
              </p:cNvSpPr>
              <p:nvPr/>
            </p:nvSpPr>
            <p:spPr bwMode="auto">
              <a:xfrm>
                <a:off x="1584" y="2139"/>
                <a:ext cx="48" cy="48"/>
              </a:xfrm>
              <a:prstGeom prst="ellipse">
                <a:avLst/>
              </a:prstGeom>
              <a:noFill/>
              <a:ln w="19050">
                <a:solidFill>
                  <a:srgbClr val="000066"/>
                </a:solidFill>
                <a:round/>
                <a:headEnd/>
                <a:tailEnd/>
              </a:ln>
              <a:effectLst/>
            </p:spPr>
            <p:txBody>
              <a:bodyPr wrap="none" anchor="ctr"/>
              <a:lstStyle/>
              <a:p>
                <a:endParaRPr lang="en-US">
                  <a:effectLst>
                    <a:outerShdw blurRad="38100" dist="38100" dir="2700000" algn="tl">
                      <a:srgbClr val="C0C0C0"/>
                    </a:outerShdw>
                  </a:effectLst>
                  <a:latin typeface="Arial" charset="0"/>
                </a:endParaRPr>
              </a:p>
            </p:txBody>
          </p:sp>
        </p:grpSp>
        <p:sp>
          <p:nvSpPr>
            <p:cNvPr id="21" name="Rectangle 42"/>
            <p:cNvSpPr>
              <a:spLocks noChangeArrowheads="1"/>
            </p:cNvSpPr>
            <p:nvPr/>
          </p:nvSpPr>
          <p:spPr bwMode="auto">
            <a:xfrm>
              <a:off x="2387600" y="4913313"/>
              <a:ext cx="269875" cy="496887"/>
            </a:xfrm>
            <a:prstGeom prst="rect">
              <a:avLst/>
            </a:prstGeom>
            <a:solidFill>
              <a:srgbClr val="FFCC66"/>
            </a:solidFill>
            <a:ln w="19050">
              <a:solidFill>
                <a:srgbClr val="000066"/>
              </a:solidFill>
              <a:miter lim="800000"/>
              <a:headEnd/>
              <a:tailEnd/>
            </a:ln>
            <a:effectLst/>
          </p:spPr>
          <p:txBody>
            <a:bodyPr wrap="none" anchor="ctr"/>
            <a:lstStyle/>
            <a:p>
              <a:endParaRPr lang="en-US"/>
            </a:p>
          </p:txBody>
        </p:sp>
        <p:sp>
          <p:nvSpPr>
            <p:cNvPr id="22" name="Line 43"/>
            <p:cNvSpPr>
              <a:spLocks noChangeShapeType="1"/>
            </p:cNvSpPr>
            <p:nvPr/>
          </p:nvSpPr>
          <p:spPr bwMode="auto">
            <a:xfrm>
              <a:off x="2387600" y="5253038"/>
              <a:ext cx="0" cy="0"/>
            </a:xfrm>
            <a:prstGeom prst="line">
              <a:avLst/>
            </a:prstGeom>
            <a:noFill/>
            <a:ln w="19050">
              <a:solidFill>
                <a:srgbClr val="000066"/>
              </a:solidFill>
              <a:round/>
              <a:headEnd/>
              <a:tailEnd/>
            </a:ln>
            <a:effectLst/>
          </p:spPr>
          <p:txBody>
            <a:bodyPr wrap="none" anchor="ctr"/>
            <a:lstStyle/>
            <a:p>
              <a:endParaRPr lang="en-US"/>
            </a:p>
          </p:txBody>
        </p:sp>
        <p:sp>
          <p:nvSpPr>
            <p:cNvPr id="23" name="Line 44"/>
            <p:cNvSpPr>
              <a:spLocks noChangeShapeType="1"/>
            </p:cNvSpPr>
            <p:nvPr/>
          </p:nvSpPr>
          <p:spPr bwMode="auto">
            <a:xfrm>
              <a:off x="2387600" y="5214938"/>
              <a:ext cx="77788" cy="38100"/>
            </a:xfrm>
            <a:prstGeom prst="line">
              <a:avLst/>
            </a:prstGeom>
            <a:noFill/>
            <a:ln w="19050">
              <a:solidFill>
                <a:srgbClr val="000066"/>
              </a:solidFill>
              <a:round/>
              <a:headEnd/>
              <a:tailEnd/>
            </a:ln>
            <a:effectLst/>
          </p:spPr>
          <p:txBody>
            <a:bodyPr wrap="none" anchor="ctr"/>
            <a:lstStyle/>
            <a:p>
              <a:endParaRPr lang="en-US"/>
            </a:p>
          </p:txBody>
        </p:sp>
        <p:sp>
          <p:nvSpPr>
            <p:cNvPr id="24" name="Line 45"/>
            <p:cNvSpPr>
              <a:spLocks noChangeShapeType="1"/>
            </p:cNvSpPr>
            <p:nvPr/>
          </p:nvSpPr>
          <p:spPr bwMode="auto">
            <a:xfrm flipH="1">
              <a:off x="2387600" y="5253038"/>
              <a:ext cx="77788" cy="38100"/>
            </a:xfrm>
            <a:prstGeom prst="line">
              <a:avLst/>
            </a:prstGeom>
            <a:noFill/>
            <a:ln w="19050">
              <a:solidFill>
                <a:srgbClr val="000066"/>
              </a:solidFill>
              <a:round/>
              <a:headEnd/>
              <a:tailEnd/>
            </a:ln>
            <a:effectLst/>
          </p:spPr>
          <p:txBody>
            <a:bodyPr wrap="none" anchor="ctr"/>
            <a:lstStyle/>
            <a:p>
              <a:endParaRPr lang="en-US"/>
            </a:p>
          </p:txBody>
        </p:sp>
        <p:sp>
          <p:nvSpPr>
            <p:cNvPr id="25" name="AutoShape 46"/>
            <p:cNvSpPr>
              <a:spLocks noChangeArrowheads="1"/>
            </p:cNvSpPr>
            <p:nvPr/>
          </p:nvSpPr>
          <p:spPr bwMode="auto">
            <a:xfrm>
              <a:off x="1789113" y="4892675"/>
              <a:ext cx="192087" cy="306388"/>
            </a:xfrm>
            <a:prstGeom prst="flowChartDelay">
              <a:avLst/>
            </a:prstGeom>
            <a:solidFill>
              <a:srgbClr val="FFCC66"/>
            </a:solidFill>
            <a:ln w="19050">
              <a:solidFill>
                <a:srgbClr val="000066"/>
              </a:solidFill>
              <a:miter lim="800000"/>
              <a:headEnd/>
              <a:tailEnd/>
            </a:ln>
            <a:effectLst/>
          </p:spPr>
          <p:txBody>
            <a:bodyPr wrap="none" anchor="ctr"/>
            <a:lstStyle/>
            <a:p>
              <a:endParaRPr lang="en-US"/>
            </a:p>
          </p:txBody>
        </p:sp>
        <p:sp>
          <p:nvSpPr>
            <p:cNvPr id="26" name="Oval 47"/>
            <p:cNvSpPr>
              <a:spLocks noChangeArrowheads="1"/>
            </p:cNvSpPr>
            <p:nvPr/>
          </p:nvSpPr>
          <p:spPr bwMode="auto">
            <a:xfrm>
              <a:off x="1981200" y="5029200"/>
              <a:ext cx="38100" cy="38100"/>
            </a:xfrm>
            <a:prstGeom prst="ellipse">
              <a:avLst/>
            </a:prstGeom>
            <a:noFill/>
            <a:ln w="19050">
              <a:solidFill>
                <a:srgbClr val="000066"/>
              </a:solidFill>
              <a:round/>
              <a:headEnd/>
              <a:tailEnd/>
            </a:ln>
            <a:effectLst/>
          </p:spPr>
          <p:txBody>
            <a:bodyPr wrap="none" anchor="ctr"/>
            <a:lstStyle/>
            <a:p>
              <a:endParaRPr lang="en-US">
                <a:effectLst>
                  <a:outerShdw blurRad="38100" dist="38100" dir="2700000" algn="tl">
                    <a:srgbClr val="C0C0C0"/>
                  </a:outerShdw>
                </a:effectLst>
                <a:latin typeface="Arial" charset="0"/>
              </a:endParaRPr>
            </a:p>
          </p:txBody>
        </p:sp>
        <p:sp>
          <p:nvSpPr>
            <p:cNvPr id="27" name="Line 48"/>
            <p:cNvSpPr>
              <a:spLocks noChangeShapeType="1"/>
            </p:cNvSpPr>
            <p:nvPr/>
          </p:nvSpPr>
          <p:spPr bwMode="auto">
            <a:xfrm>
              <a:off x="304800" y="4691063"/>
              <a:ext cx="908050" cy="0"/>
            </a:xfrm>
            <a:prstGeom prst="line">
              <a:avLst/>
            </a:prstGeom>
            <a:noFill/>
            <a:ln w="19050">
              <a:solidFill>
                <a:srgbClr val="000066"/>
              </a:solidFill>
              <a:round/>
              <a:headEnd/>
              <a:tailEnd/>
            </a:ln>
            <a:effectLst/>
          </p:spPr>
          <p:txBody>
            <a:bodyPr wrap="none" anchor="ctr"/>
            <a:lstStyle/>
            <a:p>
              <a:endParaRPr lang="en-US"/>
            </a:p>
          </p:txBody>
        </p:sp>
        <p:sp>
          <p:nvSpPr>
            <p:cNvPr id="28" name="Line 49"/>
            <p:cNvSpPr>
              <a:spLocks noChangeShapeType="1"/>
            </p:cNvSpPr>
            <p:nvPr/>
          </p:nvSpPr>
          <p:spPr bwMode="auto">
            <a:xfrm>
              <a:off x="1023938" y="5253038"/>
              <a:ext cx="188912" cy="0"/>
            </a:xfrm>
            <a:prstGeom prst="line">
              <a:avLst/>
            </a:prstGeom>
            <a:noFill/>
            <a:ln w="19050">
              <a:solidFill>
                <a:srgbClr val="000066"/>
              </a:solidFill>
              <a:round/>
              <a:headEnd/>
              <a:tailEnd/>
            </a:ln>
            <a:effectLst/>
          </p:spPr>
          <p:txBody>
            <a:bodyPr wrap="none" anchor="ctr"/>
            <a:lstStyle/>
            <a:p>
              <a:endParaRPr lang="en-US"/>
            </a:p>
          </p:txBody>
        </p:sp>
        <p:sp>
          <p:nvSpPr>
            <p:cNvPr id="29" name="Line 50"/>
            <p:cNvSpPr>
              <a:spLocks noChangeShapeType="1"/>
            </p:cNvSpPr>
            <p:nvPr/>
          </p:nvSpPr>
          <p:spPr bwMode="auto">
            <a:xfrm>
              <a:off x="525463" y="5432425"/>
              <a:ext cx="687387" cy="0"/>
            </a:xfrm>
            <a:prstGeom prst="line">
              <a:avLst/>
            </a:prstGeom>
            <a:noFill/>
            <a:ln w="19050">
              <a:solidFill>
                <a:srgbClr val="000066"/>
              </a:solidFill>
              <a:round/>
              <a:headEnd/>
              <a:tailEnd/>
            </a:ln>
            <a:effectLst/>
          </p:spPr>
          <p:txBody>
            <a:bodyPr wrap="none" anchor="ctr"/>
            <a:lstStyle/>
            <a:p>
              <a:endParaRPr lang="en-US"/>
            </a:p>
          </p:txBody>
        </p:sp>
        <p:sp>
          <p:nvSpPr>
            <p:cNvPr id="30" name="Line 51"/>
            <p:cNvSpPr>
              <a:spLocks noChangeShapeType="1"/>
            </p:cNvSpPr>
            <p:nvPr/>
          </p:nvSpPr>
          <p:spPr bwMode="auto">
            <a:xfrm>
              <a:off x="525463" y="5154613"/>
              <a:ext cx="0" cy="612775"/>
            </a:xfrm>
            <a:prstGeom prst="line">
              <a:avLst/>
            </a:prstGeom>
            <a:noFill/>
            <a:ln w="19050">
              <a:solidFill>
                <a:srgbClr val="000066"/>
              </a:solidFill>
              <a:round/>
              <a:headEnd/>
              <a:tailEnd/>
            </a:ln>
            <a:effectLst/>
          </p:spPr>
          <p:txBody>
            <a:bodyPr wrap="none" anchor="ctr"/>
            <a:lstStyle/>
            <a:p>
              <a:endParaRPr lang="en-US"/>
            </a:p>
          </p:txBody>
        </p:sp>
        <p:sp>
          <p:nvSpPr>
            <p:cNvPr id="31" name="Line 52"/>
            <p:cNvSpPr>
              <a:spLocks noChangeShapeType="1"/>
            </p:cNvSpPr>
            <p:nvPr/>
          </p:nvSpPr>
          <p:spPr bwMode="auto">
            <a:xfrm>
              <a:off x="525463" y="5149850"/>
              <a:ext cx="149225" cy="0"/>
            </a:xfrm>
            <a:prstGeom prst="line">
              <a:avLst/>
            </a:prstGeom>
            <a:noFill/>
            <a:ln w="19050">
              <a:solidFill>
                <a:srgbClr val="000066"/>
              </a:solidFill>
              <a:round/>
              <a:headEnd/>
              <a:tailEnd/>
            </a:ln>
            <a:effectLst/>
          </p:spPr>
          <p:txBody>
            <a:bodyPr wrap="none" anchor="ctr"/>
            <a:lstStyle/>
            <a:p>
              <a:endParaRPr lang="en-US"/>
            </a:p>
          </p:txBody>
        </p:sp>
        <p:sp>
          <p:nvSpPr>
            <p:cNvPr id="32" name="Line 53"/>
            <p:cNvSpPr>
              <a:spLocks noChangeShapeType="1"/>
            </p:cNvSpPr>
            <p:nvPr/>
          </p:nvSpPr>
          <p:spPr bwMode="auto">
            <a:xfrm>
              <a:off x="525463" y="4953000"/>
              <a:ext cx="149225" cy="0"/>
            </a:xfrm>
            <a:prstGeom prst="line">
              <a:avLst/>
            </a:prstGeom>
            <a:noFill/>
            <a:ln w="19050">
              <a:solidFill>
                <a:srgbClr val="000066"/>
              </a:solidFill>
              <a:round/>
              <a:headEnd/>
              <a:tailEnd/>
            </a:ln>
            <a:effectLst/>
          </p:spPr>
          <p:txBody>
            <a:bodyPr wrap="none" anchor="ctr"/>
            <a:lstStyle/>
            <a:p>
              <a:endParaRPr lang="en-US"/>
            </a:p>
          </p:txBody>
        </p:sp>
        <p:sp>
          <p:nvSpPr>
            <p:cNvPr id="33" name="Line 54"/>
            <p:cNvSpPr>
              <a:spLocks noChangeShapeType="1"/>
            </p:cNvSpPr>
            <p:nvPr/>
          </p:nvSpPr>
          <p:spPr bwMode="auto">
            <a:xfrm>
              <a:off x="530225" y="4691063"/>
              <a:ext cx="0" cy="268287"/>
            </a:xfrm>
            <a:prstGeom prst="line">
              <a:avLst/>
            </a:prstGeom>
            <a:noFill/>
            <a:ln w="19050">
              <a:solidFill>
                <a:srgbClr val="000066"/>
              </a:solidFill>
              <a:round/>
              <a:headEnd/>
              <a:tailEnd/>
            </a:ln>
            <a:effectLst/>
          </p:spPr>
          <p:txBody>
            <a:bodyPr wrap="none" anchor="ctr"/>
            <a:lstStyle/>
            <a:p>
              <a:endParaRPr lang="en-US"/>
            </a:p>
          </p:txBody>
        </p:sp>
        <p:sp>
          <p:nvSpPr>
            <p:cNvPr id="34" name="Oval 55"/>
            <p:cNvSpPr>
              <a:spLocks noChangeArrowheads="1"/>
            </p:cNvSpPr>
            <p:nvPr/>
          </p:nvSpPr>
          <p:spPr bwMode="auto">
            <a:xfrm>
              <a:off x="508000" y="5410200"/>
              <a:ext cx="39688" cy="38100"/>
            </a:xfrm>
            <a:prstGeom prst="ellipse">
              <a:avLst/>
            </a:prstGeom>
            <a:solidFill>
              <a:srgbClr val="000066"/>
            </a:solidFill>
            <a:ln w="19050">
              <a:solidFill>
                <a:srgbClr val="000066"/>
              </a:solidFill>
              <a:round/>
              <a:headEnd/>
              <a:tailEnd/>
            </a:ln>
            <a:effectLst/>
          </p:spPr>
          <p:txBody>
            <a:bodyPr wrap="none" anchor="ctr"/>
            <a:lstStyle/>
            <a:p>
              <a:endParaRPr lang="en-US">
                <a:effectLst>
                  <a:outerShdw blurRad="38100" dist="38100" dir="2700000" algn="tl">
                    <a:srgbClr val="000000"/>
                  </a:outerShdw>
                </a:effectLst>
                <a:latin typeface="Arial" charset="0"/>
              </a:endParaRPr>
            </a:p>
          </p:txBody>
        </p:sp>
        <p:sp>
          <p:nvSpPr>
            <p:cNvPr id="35" name="Oval 56"/>
            <p:cNvSpPr>
              <a:spLocks noChangeArrowheads="1"/>
            </p:cNvSpPr>
            <p:nvPr/>
          </p:nvSpPr>
          <p:spPr bwMode="auto">
            <a:xfrm>
              <a:off x="512763" y="4672013"/>
              <a:ext cx="38100" cy="39687"/>
            </a:xfrm>
            <a:prstGeom prst="ellipse">
              <a:avLst/>
            </a:prstGeom>
            <a:solidFill>
              <a:srgbClr val="000066"/>
            </a:solidFill>
            <a:ln w="19050">
              <a:solidFill>
                <a:srgbClr val="000066"/>
              </a:solidFill>
              <a:round/>
              <a:headEnd/>
              <a:tailEnd/>
            </a:ln>
            <a:effectLst/>
          </p:spPr>
          <p:txBody>
            <a:bodyPr wrap="none" anchor="ctr"/>
            <a:lstStyle/>
            <a:p>
              <a:endParaRPr lang="en-US">
                <a:effectLst>
                  <a:outerShdw blurRad="38100" dist="38100" dir="2700000" algn="tl">
                    <a:srgbClr val="000000"/>
                  </a:outerShdw>
                </a:effectLst>
                <a:latin typeface="Arial" charset="0"/>
              </a:endParaRPr>
            </a:p>
          </p:txBody>
        </p:sp>
        <p:sp>
          <p:nvSpPr>
            <p:cNvPr id="36" name="Line 57"/>
            <p:cNvSpPr>
              <a:spLocks noChangeShapeType="1"/>
            </p:cNvSpPr>
            <p:nvPr/>
          </p:nvSpPr>
          <p:spPr bwMode="auto">
            <a:xfrm>
              <a:off x="1023938" y="4870450"/>
              <a:ext cx="0" cy="382588"/>
            </a:xfrm>
            <a:prstGeom prst="line">
              <a:avLst/>
            </a:prstGeom>
            <a:noFill/>
            <a:ln w="19050">
              <a:solidFill>
                <a:srgbClr val="000066"/>
              </a:solidFill>
              <a:round/>
              <a:headEnd/>
              <a:tailEnd/>
            </a:ln>
            <a:effectLst/>
          </p:spPr>
          <p:txBody>
            <a:bodyPr wrap="none" anchor="ctr"/>
            <a:lstStyle/>
            <a:p>
              <a:endParaRPr lang="en-US"/>
            </a:p>
          </p:txBody>
        </p:sp>
        <p:sp>
          <p:nvSpPr>
            <p:cNvPr id="37" name="Line 58"/>
            <p:cNvSpPr>
              <a:spLocks noChangeShapeType="1"/>
            </p:cNvSpPr>
            <p:nvPr/>
          </p:nvSpPr>
          <p:spPr bwMode="auto">
            <a:xfrm>
              <a:off x="1023938" y="4870450"/>
              <a:ext cx="188912" cy="0"/>
            </a:xfrm>
            <a:prstGeom prst="line">
              <a:avLst/>
            </a:prstGeom>
            <a:noFill/>
            <a:ln w="19050">
              <a:solidFill>
                <a:srgbClr val="000066"/>
              </a:solidFill>
              <a:round/>
              <a:headEnd/>
              <a:tailEnd/>
            </a:ln>
            <a:effectLst/>
          </p:spPr>
          <p:txBody>
            <a:bodyPr wrap="none" anchor="ctr"/>
            <a:lstStyle/>
            <a:p>
              <a:endParaRPr lang="en-US"/>
            </a:p>
          </p:txBody>
        </p:sp>
        <p:sp>
          <p:nvSpPr>
            <p:cNvPr id="38" name="Line 59"/>
            <p:cNvSpPr>
              <a:spLocks noChangeShapeType="1"/>
            </p:cNvSpPr>
            <p:nvPr/>
          </p:nvSpPr>
          <p:spPr bwMode="auto">
            <a:xfrm>
              <a:off x="904875" y="5053013"/>
              <a:ext cx="119063" cy="0"/>
            </a:xfrm>
            <a:prstGeom prst="line">
              <a:avLst/>
            </a:prstGeom>
            <a:noFill/>
            <a:ln w="19050">
              <a:solidFill>
                <a:srgbClr val="000066"/>
              </a:solidFill>
              <a:round/>
              <a:headEnd/>
              <a:tailEnd/>
            </a:ln>
            <a:effectLst/>
          </p:spPr>
          <p:txBody>
            <a:bodyPr wrap="none" anchor="ctr"/>
            <a:lstStyle/>
            <a:p>
              <a:endParaRPr lang="en-US"/>
            </a:p>
          </p:txBody>
        </p:sp>
        <p:sp>
          <p:nvSpPr>
            <p:cNvPr id="39" name="Oval 60"/>
            <p:cNvSpPr>
              <a:spLocks noChangeArrowheads="1"/>
            </p:cNvSpPr>
            <p:nvPr/>
          </p:nvSpPr>
          <p:spPr bwMode="auto">
            <a:xfrm>
              <a:off x="995363" y="5033963"/>
              <a:ext cx="39687" cy="38100"/>
            </a:xfrm>
            <a:prstGeom prst="ellipse">
              <a:avLst/>
            </a:prstGeom>
            <a:solidFill>
              <a:srgbClr val="000066"/>
            </a:solidFill>
            <a:ln w="19050">
              <a:solidFill>
                <a:srgbClr val="000066"/>
              </a:solidFill>
              <a:round/>
              <a:headEnd/>
              <a:tailEnd/>
            </a:ln>
            <a:effectLst/>
          </p:spPr>
          <p:txBody>
            <a:bodyPr wrap="none" anchor="ctr"/>
            <a:lstStyle/>
            <a:p>
              <a:endParaRPr lang="en-US">
                <a:effectLst>
                  <a:outerShdw blurRad="38100" dist="38100" dir="2700000" algn="tl">
                    <a:srgbClr val="000000"/>
                  </a:outerShdw>
                </a:effectLst>
                <a:latin typeface="Arial" charset="0"/>
              </a:endParaRPr>
            </a:p>
          </p:txBody>
        </p:sp>
        <p:sp>
          <p:nvSpPr>
            <p:cNvPr id="40" name="Line 61"/>
            <p:cNvSpPr>
              <a:spLocks noChangeShapeType="1"/>
            </p:cNvSpPr>
            <p:nvPr/>
          </p:nvSpPr>
          <p:spPr bwMode="auto">
            <a:xfrm>
              <a:off x="1443038" y="4772025"/>
              <a:ext cx="192087" cy="0"/>
            </a:xfrm>
            <a:prstGeom prst="line">
              <a:avLst/>
            </a:prstGeom>
            <a:noFill/>
            <a:ln w="19050">
              <a:solidFill>
                <a:srgbClr val="000066"/>
              </a:solidFill>
              <a:round/>
              <a:headEnd/>
              <a:tailEnd/>
            </a:ln>
            <a:effectLst/>
          </p:spPr>
          <p:txBody>
            <a:bodyPr wrap="none" anchor="ctr"/>
            <a:lstStyle/>
            <a:p>
              <a:endParaRPr lang="en-US"/>
            </a:p>
          </p:txBody>
        </p:sp>
        <p:sp>
          <p:nvSpPr>
            <p:cNvPr id="41" name="Line 62"/>
            <p:cNvSpPr>
              <a:spLocks noChangeShapeType="1"/>
            </p:cNvSpPr>
            <p:nvPr/>
          </p:nvSpPr>
          <p:spPr bwMode="auto">
            <a:xfrm>
              <a:off x="1443038" y="5346700"/>
              <a:ext cx="192087" cy="0"/>
            </a:xfrm>
            <a:prstGeom prst="line">
              <a:avLst/>
            </a:prstGeom>
            <a:noFill/>
            <a:ln w="19050">
              <a:solidFill>
                <a:srgbClr val="000066"/>
              </a:solidFill>
              <a:round/>
              <a:headEnd/>
              <a:tailEnd/>
            </a:ln>
            <a:effectLst/>
          </p:spPr>
          <p:txBody>
            <a:bodyPr wrap="none" anchor="ctr"/>
            <a:lstStyle/>
            <a:p>
              <a:endParaRPr lang="en-US"/>
            </a:p>
          </p:txBody>
        </p:sp>
        <p:sp>
          <p:nvSpPr>
            <p:cNvPr id="42" name="Line 63"/>
            <p:cNvSpPr>
              <a:spLocks noChangeShapeType="1"/>
            </p:cNvSpPr>
            <p:nvPr/>
          </p:nvSpPr>
          <p:spPr bwMode="auto">
            <a:xfrm>
              <a:off x="1635125" y="4772025"/>
              <a:ext cx="0" cy="187325"/>
            </a:xfrm>
            <a:prstGeom prst="line">
              <a:avLst/>
            </a:prstGeom>
            <a:noFill/>
            <a:ln w="19050">
              <a:solidFill>
                <a:srgbClr val="000066"/>
              </a:solidFill>
              <a:round/>
              <a:headEnd/>
              <a:tailEnd/>
            </a:ln>
            <a:effectLst/>
          </p:spPr>
          <p:txBody>
            <a:bodyPr wrap="none" anchor="ctr"/>
            <a:lstStyle/>
            <a:p>
              <a:endParaRPr lang="en-US"/>
            </a:p>
          </p:txBody>
        </p:sp>
        <p:sp>
          <p:nvSpPr>
            <p:cNvPr id="43" name="Line 64"/>
            <p:cNvSpPr>
              <a:spLocks noChangeShapeType="1"/>
            </p:cNvSpPr>
            <p:nvPr/>
          </p:nvSpPr>
          <p:spPr bwMode="auto">
            <a:xfrm>
              <a:off x="1635125" y="4959350"/>
              <a:ext cx="153988" cy="0"/>
            </a:xfrm>
            <a:prstGeom prst="line">
              <a:avLst/>
            </a:prstGeom>
            <a:noFill/>
            <a:ln w="19050">
              <a:solidFill>
                <a:srgbClr val="000066"/>
              </a:solidFill>
              <a:round/>
              <a:headEnd/>
              <a:tailEnd/>
            </a:ln>
            <a:effectLst/>
          </p:spPr>
          <p:txBody>
            <a:bodyPr wrap="none" anchor="ctr"/>
            <a:lstStyle/>
            <a:p>
              <a:endParaRPr lang="en-US"/>
            </a:p>
          </p:txBody>
        </p:sp>
        <p:sp>
          <p:nvSpPr>
            <p:cNvPr id="44" name="Line 65"/>
            <p:cNvSpPr>
              <a:spLocks noChangeShapeType="1"/>
            </p:cNvSpPr>
            <p:nvPr/>
          </p:nvSpPr>
          <p:spPr bwMode="auto">
            <a:xfrm>
              <a:off x="1635125" y="5149850"/>
              <a:ext cx="153988" cy="0"/>
            </a:xfrm>
            <a:prstGeom prst="line">
              <a:avLst/>
            </a:prstGeom>
            <a:noFill/>
            <a:ln w="19050">
              <a:solidFill>
                <a:srgbClr val="000066"/>
              </a:solidFill>
              <a:round/>
              <a:headEnd/>
              <a:tailEnd/>
            </a:ln>
            <a:effectLst/>
          </p:spPr>
          <p:txBody>
            <a:bodyPr wrap="none" anchor="ctr"/>
            <a:lstStyle/>
            <a:p>
              <a:endParaRPr lang="en-US"/>
            </a:p>
          </p:txBody>
        </p:sp>
        <p:sp>
          <p:nvSpPr>
            <p:cNvPr id="45" name="Line 66"/>
            <p:cNvSpPr>
              <a:spLocks noChangeShapeType="1"/>
            </p:cNvSpPr>
            <p:nvPr/>
          </p:nvSpPr>
          <p:spPr bwMode="auto">
            <a:xfrm>
              <a:off x="1635125" y="5141913"/>
              <a:ext cx="0" cy="204787"/>
            </a:xfrm>
            <a:prstGeom prst="line">
              <a:avLst/>
            </a:prstGeom>
            <a:noFill/>
            <a:ln w="19050">
              <a:solidFill>
                <a:srgbClr val="000066"/>
              </a:solidFill>
              <a:round/>
              <a:headEnd/>
              <a:tailEnd/>
            </a:ln>
            <a:effectLst/>
          </p:spPr>
          <p:txBody>
            <a:bodyPr wrap="none" anchor="ctr"/>
            <a:lstStyle/>
            <a:p>
              <a:endParaRPr lang="en-US"/>
            </a:p>
          </p:txBody>
        </p:sp>
        <p:sp>
          <p:nvSpPr>
            <p:cNvPr id="46" name="Line 67"/>
            <p:cNvSpPr>
              <a:spLocks noChangeShapeType="1"/>
            </p:cNvSpPr>
            <p:nvPr/>
          </p:nvSpPr>
          <p:spPr bwMode="auto">
            <a:xfrm>
              <a:off x="2019300" y="5045075"/>
              <a:ext cx="368300" cy="0"/>
            </a:xfrm>
            <a:prstGeom prst="line">
              <a:avLst/>
            </a:prstGeom>
            <a:noFill/>
            <a:ln w="19050">
              <a:solidFill>
                <a:srgbClr val="000066"/>
              </a:solidFill>
              <a:round/>
              <a:headEnd/>
              <a:tailEnd/>
            </a:ln>
            <a:effectLst/>
          </p:spPr>
          <p:txBody>
            <a:bodyPr wrap="none" anchor="ctr"/>
            <a:lstStyle/>
            <a:p>
              <a:endParaRPr lang="en-US"/>
            </a:p>
          </p:txBody>
        </p:sp>
        <p:sp>
          <p:nvSpPr>
            <p:cNvPr id="47" name="Line 68"/>
            <p:cNvSpPr>
              <a:spLocks noChangeShapeType="1"/>
            </p:cNvSpPr>
            <p:nvPr/>
          </p:nvSpPr>
          <p:spPr bwMode="auto">
            <a:xfrm>
              <a:off x="2657475" y="5154613"/>
              <a:ext cx="446088" cy="0"/>
            </a:xfrm>
            <a:prstGeom prst="line">
              <a:avLst/>
            </a:prstGeom>
            <a:noFill/>
            <a:ln w="19050">
              <a:solidFill>
                <a:srgbClr val="000066"/>
              </a:solidFill>
              <a:round/>
              <a:headEnd/>
              <a:tailEnd/>
            </a:ln>
            <a:effectLst/>
          </p:spPr>
          <p:txBody>
            <a:bodyPr wrap="none" anchor="ctr"/>
            <a:lstStyle/>
            <a:p>
              <a:endParaRPr lang="en-US"/>
            </a:p>
          </p:txBody>
        </p:sp>
        <p:sp>
          <p:nvSpPr>
            <p:cNvPr id="48" name="Line 69"/>
            <p:cNvSpPr>
              <a:spLocks noChangeShapeType="1"/>
            </p:cNvSpPr>
            <p:nvPr/>
          </p:nvSpPr>
          <p:spPr bwMode="auto">
            <a:xfrm>
              <a:off x="2892425" y="5149850"/>
              <a:ext cx="0" cy="617538"/>
            </a:xfrm>
            <a:prstGeom prst="line">
              <a:avLst/>
            </a:prstGeom>
            <a:noFill/>
            <a:ln w="19050">
              <a:solidFill>
                <a:srgbClr val="000066"/>
              </a:solidFill>
              <a:round/>
              <a:headEnd/>
              <a:tailEnd/>
            </a:ln>
            <a:effectLst/>
          </p:spPr>
          <p:txBody>
            <a:bodyPr wrap="none" anchor="ctr"/>
            <a:lstStyle/>
            <a:p>
              <a:endParaRPr lang="en-US"/>
            </a:p>
          </p:txBody>
        </p:sp>
        <p:sp>
          <p:nvSpPr>
            <p:cNvPr id="49" name="Line 70"/>
            <p:cNvSpPr>
              <a:spLocks noChangeShapeType="1"/>
            </p:cNvSpPr>
            <p:nvPr/>
          </p:nvSpPr>
          <p:spPr bwMode="auto">
            <a:xfrm>
              <a:off x="525463" y="5767388"/>
              <a:ext cx="2366962" cy="0"/>
            </a:xfrm>
            <a:prstGeom prst="line">
              <a:avLst/>
            </a:prstGeom>
            <a:noFill/>
            <a:ln w="19050">
              <a:solidFill>
                <a:srgbClr val="000066"/>
              </a:solidFill>
              <a:round/>
              <a:headEnd/>
              <a:tailEnd/>
            </a:ln>
            <a:effectLst/>
          </p:spPr>
          <p:txBody>
            <a:bodyPr wrap="none" anchor="ctr"/>
            <a:lstStyle/>
            <a:p>
              <a:endParaRPr lang="en-US"/>
            </a:p>
          </p:txBody>
        </p:sp>
        <p:sp>
          <p:nvSpPr>
            <p:cNvPr id="50" name="Oval 71"/>
            <p:cNvSpPr>
              <a:spLocks noChangeArrowheads="1"/>
            </p:cNvSpPr>
            <p:nvPr/>
          </p:nvSpPr>
          <p:spPr bwMode="auto">
            <a:xfrm>
              <a:off x="266700" y="4672013"/>
              <a:ext cx="38100" cy="39687"/>
            </a:xfrm>
            <a:prstGeom prst="ellipse">
              <a:avLst/>
            </a:prstGeom>
            <a:noFill/>
            <a:ln w="19050">
              <a:solidFill>
                <a:srgbClr val="000066"/>
              </a:solidFill>
              <a:round/>
              <a:headEnd/>
              <a:tailEnd/>
            </a:ln>
            <a:effectLst/>
          </p:spPr>
          <p:txBody>
            <a:bodyPr wrap="none" anchor="ctr"/>
            <a:lstStyle/>
            <a:p>
              <a:endParaRPr lang="en-US">
                <a:effectLst>
                  <a:outerShdw blurRad="38100" dist="38100" dir="2700000" algn="tl">
                    <a:srgbClr val="C0C0C0"/>
                  </a:outerShdw>
                </a:effectLst>
                <a:latin typeface="Arial" charset="0"/>
              </a:endParaRPr>
            </a:p>
          </p:txBody>
        </p:sp>
        <p:sp>
          <p:nvSpPr>
            <p:cNvPr id="51" name="Oval 72"/>
            <p:cNvSpPr>
              <a:spLocks noChangeArrowheads="1"/>
            </p:cNvSpPr>
            <p:nvPr/>
          </p:nvSpPr>
          <p:spPr bwMode="auto">
            <a:xfrm>
              <a:off x="3103563" y="5130800"/>
              <a:ext cx="38100" cy="38100"/>
            </a:xfrm>
            <a:prstGeom prst="ellipse">
              <a:avLst/>
            </a:prstGeom>
            <a:noFill/>
            <a:ln w="19050">
              <a:solidFill>
                <a:srgbClr val="000066"/>
              </a:solidFill>
              <a:round/>
              <a:headEnd/>
              <a:tailEnd/>
            </a:ln>
            <a:effectLst/>
          </p:spPr>
          <p:txBody>
            <a:bodyPr wrap="none" anchor="ctr"/>
            <a:lstStyle/>
            <a:p>
              <a:endParaRPr lang="en-US">
                <a:effectLst>
                  <a:outerShdw blurRad="38100" dist="38100" dir="2700000" algn="tl">
                    <a:srgbClr val="C0C0C0"/>
                  </a:outerShdw>
                </a:effectLst>
                <a:latin typeface="Arial" charset="0"/>
              </a:endParaRPr>
            </a:p>
          </p:txBody>
        </p:sp>
        <p:sp>
          <p:nvSpPr>
            <p:cNvPr id="52" name="Oval 73"/>
            <p:cNvSpPr>
              <a:spLocks noChangeArrowheads="1"/>
            </p:cNvSpPr>
            <p:nvPr/>
          </p:nvSpPr>
          <p:spPr bwMode="auto">
            <a:xfrm>
              <a:off x="2870200" y="5130800"/>
              <a:ext cx="38100" cy="38100"/>
            </a:xfrm>
            <a:prstGeom prst="ellipse">
              <a:avLst/>
            </a:prstGeom>
            <a:solidFill>
              <a:srgbClr val="000066"/>
            </a:solidFill>
            <a:ln w="19050">
              <a:solidFill>
                <a:srgbClr val="000066"/>
              </a:solidFill>
              <a:round/>
              <a:headEnd/>
              <a:tailEnd/>
            </a:ln>
            <a:effectLst/>
          </p:spPr>
          <p:txBody>
            <a:bodyPr wrap="none" anchor="ctr"/>
            <a:lstStyle/>
            <a:p>
              <a:endParaRPr lang="en-US">
                <a:effectLst>
                  <a:outerShdw blurRad="38100" dist="38100" dir="2700000" algn="tl">
                    <a:srgbClr val="000000"/>
                  </a:outerShdw>
                </a:effectLst>
                <a:latin typeface="Arial" charset="0"/>
              </a:endParaRPr>
            </a:p>
          </p:txBody>
        </p:sp>
        <p:sp>
          <p:nvSpPr>
            <p:cNvPr id="53" name="Line 74"/>
            <p:cNvSpPr>
              <a:spLocks noChangeShapeType="1"/>
            </p:cNvSpPr>
            <p:nvPr/>
          </p:nvSpPr>
          <p:spPr bwMode="auto">
            <a:xfrm>
              <a:off x="2235200" y="5253038"/>
              <a:ext cx="152400" cy="0"/>
            </a:xfrm>
            <a:prstGeom prst="line">
              <a:avLst/>
            </a:prstGeom>
            <a:noFill/>
            <a:ln w="19050">
              <a:solidFill>
                <a:srgbClr val="000066"/>
              </a:solidFill>
              <a:round/>
              <a:headEnd/>
              <a:tailEnd/>
            </a:ln>
            <a:effectLst/>
          </p:spPr>
          <p:txBody>
            <a:bodyPr wrap="none" anchor="ctr"/>
            <a:lstStyle/>
            <a:p>
              <a:endParaRPr lang="en-US"/>
            </a:p>
          </p:txBody>
        </p:sp>
        <p:sp>
          <p:nvSpPr>
            <p:cNvPr id="54" name="Line 75"/>
            <p:cNvSpPr>
              <a:spLocks noChangeShapeType="1"/>
            </p:cNvSpPr>
            <p:nvPr/>
          </p:nvSpPr>
          <p:spPr bwMode="auto">
            <a:xfrm>
              <a:off x="2235200" y="5245100"/>
              <a:ext cx="0" cy="674688"/>
            </a:xfrm>
            <a:prstGeom prst="line">
              <a:avLst/>
            </a:prstGeom>
            <a:noFill/>
            <a:ln w="19050">
              <a:solidFill>
                <a:srgbClr val="000066"/>
              </a:solidFill>
              <a:round/>
              <a:headEnd/>
              <a:tailEnd/>
            </a:ln>
            <a:effectLst/>
          </p:spPr>
          <p:txBody>
            <a:bodyPr wrap="none" anchor="ctr"/>
            <a:lstStyle/>
            <a:p>
              <a:endParaRPr lang="en-US"/>
            </a:p>
          </p:txBody>
        </p:sp>
        <p:sp>
          <p:nvSpPr>
            <p:cNvPr id="55" name="Oval 76"/>
            <p:cNvSpPr>
              <a:spLocks noChangeArrowheads="1"/>
            </p:cNvSpPr>
            <p:nvPr/>
          </p:nvSpPr>
          <p:spPr bwMode="auto">
            <a:xfrm>
              <a:off x="2212975" y="5919788"/>
              <a:ext cx="39688" cy="38100"/>
            </a:xfrm>
            <a:prstGeom prst="ellipse">
              <a:avLst/>
            </a:prstGeom>
            <a:noFill/>
            <a:ln w="19050">
              <a:solidFill>
                <a:srgbClr val="000066"/>
              </a:solidFill>
              <a:round/>
              <a:headEnd/>
              <a:tailEnd/>
            </a:ln>
            <a:effectLst/>
          </p:spPr>
          <p:txBody>
            <a:bodyPr wrap="none" anchor="ctr"/>
            <a:lstStyle/>
            <a:p>
              <a:endParaRPr lang="en-US">
                <a:effectLst>
                  <a:outerShdw blurRad="38100" dist="38100" dir="2700000" algn="tl">
                    <a:srgbClr val="C0C0C0"/>
                  </a:outerShdw>
                </a:effectLst>
                <a:latin typeface="Arial" charset="0"/>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hardware design?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18</a:t>
            </a:fld>
            <a:endParaRPr lang="en-US"/>
          </a:p>
        </p:txBody>
      </p:sp>
      <p:sp>
        <p:nvSpPr>
          <p:cNvPr id="4" name="Content Placeholder 3"/>
          <p:cNvSpPr>
            <a:spLocks noGrp="1"/>
          </p:cNvSpPr>
          <p:nvPr>
            <p:ph sz="quarter" idx="1"/>
          </p:nvPr>
        </p:nvSpPr>
        <p:spPr>
          <a:xfrm>
            <a:off x="914400" y="1447800"/>
            <a:ext cx="8001000" cy="4800600"/>
          </a:xfrm>
        </p:spPr>
        <p:txBody>
          <a:bodyPr/>
          <a:lstStyle/>
          <a:p>
            <a:r>
              <a:rPr lang="en-US" dirty="0" smtClean="0"/>
              <a:t>Embedded systems may have some non-functional requirements	</a:t>
            </a:r>
          </a:p>
          <a:p>
            <a:r>
              <a:rPr lang="en-US" dirty="0" smtClean="0"/>
              <a:t>Functional requirements: the system must do its job correctly and produce the right results</a:t>
            </a:r>
          </a:p>
          <a:p>
            <a:pPr marL="274320" lvl="1" indent="-274320">
              <a:spcBef>
                <a:spcPts val="580"/>
              </a:spcBef>
              <a:buClr>
                <a:schemeClr val="accent1"/>
              </a:buClr>
            </a:pPr>
            <a:r>
              <a:rPr lang="en-US" dirty="0" smtClean="0"/>
              <a:t>Nonfunctional requirements care about how (with which quality) the work is down</a:t>
            </a:r>
          </a:p>
          <a:p>
            <a:pPr marL="548640" lvl="2" indent="-274320">
              <a:spcBef>
                <a:spcPts val="580"/>
              </a:spcBef>
              <a:buClr>
                <a:schemeClr val="accent1"/>
              </a:buClr>
            </a:pPr>
            <a:r>
              <a:rPr lang="en-US" sz="2400" dirty="0" smtClean="0"/>
              <a:t>Power</a:t>
            </a:r>
            <a:r>
              <a:rPr lang="en-US" sz="2400" dirty="0"/>
              <a:t>, performance, reliability, cost</a:t>
            </a:r>
            <a:r>
              <a:rPr lang="en-US" sz="2400" dirty="0" smtClean="0"/>
              <a:t>,…</a:t>
            </a:r>
          </a:p>
          <a:p>
            <a:pPr marL="274320" lvl="1" indent="-274320">
              <a:spcBef>
                <a:spcPts val="580"/>
              </a:spcBef>
              <a:buClr>
                <a:schemeClr val="accent1"/>
              </a:buClr>
            </a:pPr>
            <a:r>
              <a:rPr lang="en-US" dirty="0" smtClean="0"/>
              <a:t>Sometimes, the best way to meet the power and speed requirements is to use  </a:t>
            </a:r>
            <a:r>
              <a:rPr lang="en-US" b="1" dirty="0" smtClean="0"/>
              <a:t>hardware acceleration</a:t>
            </a:r>
            <a:endParaRPr lang="en-US" b="1" dirty="0"/>
          </a:p>
          <a:p>
            <a:endParaRPr lang="en-GB" dirty="0"/>
          </a:p>
        </p:txBody>
      </p:sp>
    </p:spTree>
    <p:extLst>
      <p:ext uri="{BB962C8B-B14F-4D97-AF65-F5344CB8AC3E}">
        <p14:creationId xmlns:p14="http://schemas.microsoft.com/office/powerpoint/2010/main" val="33871557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acceleration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
        <p:nvSpPr>
          <p:cNvPr id="4" name="Content Placeholder 3"/>
          <p:cNvSpPr>
            <a:spLocks noGrp="1"/>
          </p:cNvSpPr>
          <p:nvPr>
            <p:ph sz="quarter" idx="1"/>
          </p:nvPr>
        </p:nvSpPr>
        <p:spPr/>
        <p:txBody>
          <a:bodyPr/>
          <a:lstStyle/>
          <a:p>
            <a:r>
              <a:rPr lang="en-US" dirty="0" smtClean="0"/>
              <a:t>Acceleration: implementing an algorithm on hardware (rather than on </a:t>
            </a:r>
            <a:r>
              <a:rPr lang="en-US" dirty="0" err="1" smtClean="0"/>
              <a:t>software+CPU</a:t>
            </a:r>
            <a:r>
              <a:rPr lang="en-US" dirty="0" smtClean="0"/>
              <a:t>) to get more speed</a:t>
            </a:r>
          </a:p>
          <a:p>
            <a:r>
              <a:rPr lang="en-US" dirty="0" smtClean="0"/>
              <a:t>Implementing an algorithm on hardware is 10-1000 times faster than the software implementation</a:t>
            </a:r>
          </a:p>
          <a:p>
            <a:endParaRPr lang="en-GB" dirty="0"/>
          </a:p>
        </p:txBody>
      </p:sp>
    </p:spTree>
    <p:extLst>
      <p:ext uri="{BB962C8B-B14F-4D97-AF65-F5344CB8AC3E}">
        <p14:creationId xmlns:p14="http://schemas.microsoft.com/office/powerpoint/2010/main" val="19092365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acceleration?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a:p>
        </p:txBody>
      </p:sp>
      <p:sp>
        <p:nvSpPr>
          <p:cNvPr id="4" name="Content Placeholder 3"/>
          <p:cNvSpPr>
            <a:spLocks noGrp="1"/>
          </p:cNvSpPr>
          <p:nvPr>
            <p:ph sz="quarter" idx="1"/>
          </p:nvPr>
        </p:nvSpPr>
        <p:spPr>
          <a:xfrm>
            <a:off x="914400" y="1447800"/>
            <a:ext cx="7772400" cy="4876800"/>
          </a:xfrm>
        </p:spPr>
        <p:txBody>
          <a:bodyPr>
            <a:normAutofit lnSpcReduction="10000"/>
          </a:bodyPr>
          <a:lstStyle/>
          <a:p>
            <a:r>
              <a:rPr lang="en-US" dirty="0" smtClean="0"/>
              <a:t>By acceleration, we omit the software overhead that a CPU have for the sake of flexibility</a:t>
            </a:r>
          </a:p>
          <a:p>
            <a:pPr lvl="1"/>
            <a:r>
              <a:rPr lang="en-US" dirty="0" smtClean="0"/>
              <a:t>Fetch, decode, register access, ….</a:t>
            </a:r>
          </a:p>
          <a:p>
            <a:r>
              <a:rPr lang="en-US" dirty="0" smtClean="0"/>
              <a:t>By acceleration, the architecture exactly match the processing pattern of the problem</a:t>
            </a:r>
          </a:p>
          <a:p>
            <a:r>
              <a:rPr lang="en-US" dirty="0" smtClean="0"/>
              <a:t>Accelerator is often implemented on FPGA </a:t>
            </a:r>
          </a:p>
          <a:p>
            <a:pPr lvl="1"/>
            <a:r>
              <a:rPr lang="en-US" dirty="0" smtClean="0"/>
              <a:t>Can also be implemented on full custom design </a:t>
            </a:r>
          </a:p>
          <a:p>
            <a:pPr lvl="1"/>
            <a:r>
              <a:rPr lang="en-US" dirty="0" smtClean="0"/>
              <a:t>The architecture has more speed </a:t>
            </a:r>
            <a:r>
              <a:rPr lang="en-US" dirty="0"/>
              <a:t> </a:t>
            </a:r>
            <a:r>
              <a:rPr lang="en-US" dirty="0" smtClean="0"/>
              <a:t>on full custom hardware is faster, but very hard and lengthy to build</a:t>
            </a:r>
          </a:p>
          <a:p>
            <a:pPr lvl="1"/>
            <a:r>
              <a:rPr lang="en-US" dirty="0" smtClean="0"/>
              <a:t>FPGA is more easy-to-reach and faster to design/build</a:t>
            </a:r>
            <a:endParaRPr lang="en-GB" dirty="0"/>
          </a:p>
        </p:txBody>
      </p:sp>
    </p:spTree>
    <p:extLst>
      <p:ext uri="{BB962C8B-B14F-4D97-AF65-F5344CB8AC3E}">
        <p14:creationId xmlns:p14="http://schemas.microsoft.com/office/powerpoint/2010/main" val="12315909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acceleration?</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
        <p:nvSpPr>
          <p:cNvPr id="4" name="Content Placeholder 3"/>
          <p:cNvSpPr>
            <a:spLocks noGrp="1"/>
          </p:cNvSpPr>
          <p:nvPr>
            <p:ph sz="quarter" idx="1"/>
          </p:nvPr>
        </p:nvSpPr>
        <p:spPr>
          <a:xfrm>
            <a:off x="914400" y="1447800"/>
            <a:ext cx="8077200" cy="4572000"/>
          </a:xfrm>
        </p:spPr>
        <p:txBody>
          <a:bodyPr/>
          <a:lstStyle/>
          <a:p>
            <a:r>
              <a:rPr lang="en-US" dirty="0" smtClean="0"/>
              <a:t>In addition to 10-1000 </a:t>
            </a:r>
            <a:r>
              <a:rPr lang="en-US" dirty="0"/>
              <a:t> </a:t>
            </a:r>
            <a:r>
              <a:rPr lang="en-US" dirty="0" smtClean="0"/>
              <a:t>higher speed, hardware implementation is more energy-efficient than software implementation</a:t>
            </a:r>
            <a:endParaRPr lang="en-US" dirty="0"/>
          </a:p>
        </p:txBody>
      </p:sp>
      <p:pic>
        <p:nvPicPr>
          <p:cNvPr id="24578" name="Picture 2"/>
          <p:cNvPicPr>
            <a:picLocks noChangeAspect="1" noChangeArrowheads="1"/>
          </p:cNvPicPr>
          <p:nvPr/>
        </p:nvPicPr>
        <p:blipFill>
          <a:blip r:embed="rId3"/>
          <a:srcRect/>
          <a:stretch>
            <a:fillRect/>
          </a:stretch>
        </p:blipFill>
        <p:spPr bwMode="auto">
          <a:xfrm>
            <a:off x="1295400" y="2667000"/>
            <a:ext cx="6629400" cy="4038600"/>
          </a:xfrm>
          <a:prstGeom prst="rect">
            <a:avLst/>
          </a:prstGeom>
          <a:noFill/>
          <a:ln w="9525">
            <a:noFill/>
            <a:miter lim="800000"/>
            <a:headEnd/>
            <a:tailEnd/>
          </a:ln>
          <a:effectLst/>
        </p:spPr>
      </p:pic>
    </p:spTree>
    <p:extLst>
      <p:ext uri="{BB962C8B-B14F-4D97-AF65-F5344CB8AC3E}">
        <p14:creationId xmlns:p14="http://schemas.microsoft.com/office/powerpoint/2010/main" val="25281105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acceleration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
        <p:nvSpPr>
          <p:cNvPr id="4" name="Content Placeholder 3"/>
          <p:cNvSpPr>
            <a:spLocks noGrp="1"/>
          </p:cNvSpPr>
          <p:nvPr>
            <p:ph sz="quarter" idx="1"/>
          </p:nvPr>
        </p:nvSpPr>
        <p:spPr/>
        <p:txBody>
          <a:bodyPr/>
          <a:lstStyle/>
          <a:p>
            <a:r>
              <a:rPr lang="en-US" sz="2800" dirty="0" smtClean="0"/>
              <a:t>Accelerator can be used as</a:t>
            </a:r>
          </a:p>
          <a:p>
            <a:pPr lvl="1"/>
            <a:r>
              <a:rPr lang="en-US" sz="2800" dirty="0" smtClean="0"/>
              <a:t>An independent chip </a:t>
            </a:r>
          </a:p>
          <a:p>
            <a:pPr lvl="2"/>
            <a:r>
              <a:rPr lang="en-US" dirty="0" smtClean="0"/>
              <a:t>Known as ASIC (Application-Specific IC) chips</a:t>
            </a:r>
          </a:p>
          <a:p>
            <a:pPr lvl="1"/>
            <a:r>
              <a:rPr lang="en-US" sz="2800" dirty="0" smtClean="0"/>
              <a:t>An integrated part of a processor as a core or co-processor</a:t>
            </a:r>
          </a:p>
          <a:p>
            <a:pPr lvl="2"/>
            <a:r>
              <a:rPr lang="en-US" sz="2400" dirty="0" smtClean="0"/>
              <a:t>Example: the cores inside a mobile </a:t>
            </a:r>
            <a:r>
              <a:rPr lang="en-US" sz="2400" dirty="0" err="1" smtClean="0"/>
              <a:t>SoC</a:t>
            </a:r>
            <a:endParaRPr lang="en-US" sz="2400" dirty="0" smtClean="0"/>
          </a:p>
          <a:p>
            <a:pPr marL="0" indent="0">
              <a:buNone/>
            </a:pPr>
            <a:endParaRPr lang="en-GB" dirty="0"/>
          </a:p>
        </p:txBody>
      </p:sp>
    </p:spTree>
    <p:extLst>
      <p:ext uri="{BB962C8B-B14F-4D97-AF65-F5344CB8AC3E}">
        <p14:creationId xmlns:p14="http://schemas.microsoft.com/office/powerpoint/2010/main" val="10179913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a:t>Hardware </a:t>
            </a:r>
            <a:r>
              <a:rPr lang="en-US" dirty="0" smtClean="0"/>
              <a:t>acceleration- ASICs</a:t>
            </a:r>
            <a:endParaRPr lang="en-US" dirty="0"/>
          </a:p>
        </p:txBody>
      </p:sp>
      <p:sp>
        <p:nvSpPr>
          <p:cNvPr id="54275" name="Rectangle 3"/>
          <p:cNvSpPr>
            <a:spLocks noGrp="1" noChangeArrowheads="1"/>
          </p:cNvSpPr>
          <p:nvPr>
            <p:ph type="body" idx="1"/>
          </p:nvPr>
        </p:nvSpPr>
        <p:spPr>
          <a:xfrm>
            <a:off x="457200" y="1600200"/>
            <a:ext cx="8077200" cy="4525963"/>
          </a:xfrm>
        </p:spPr>
        <p:txBody>
          <a:bodyPr>
            <a:normAutofit fontScale="92500" lnSpcReduction="10000"/>
          </a:bodyPr>
          <a:lstStyle/>
          <a:p>
            <a:pPr>
              <a:lnSpc>
                <a:spcPct val="90000"/>
              </a:lnSpc>
            </a:pPr>
            <a:r>
              <a:rPr lang="en-US" sz="2800" dirty="0" smtClean="0">
                <a:effectLst/>
              </a:rPr>
              <a:t>A pure accelerator chip: digital </a:t>
            </a:r>
            <a:r>
              <a:rPr lang="en-US" sz="2800" dirty="0">
                <a:effectLst/>
              </a:rPr>
              <a:t>circuit designed to execute one program</a:t>
            </a:r>
          </a:p>
          <a:p>
            <a:pPr>
              <a:lnSpc>
                <a:spcPct val="90000"/>
              </a:lnSpc>
            </a:pPr>
            <a:r>
              <a:rPr lang="en-US" sz="2800" dirty="0">
                <a:effectLst/>
              </a:rPr>
              <a:t>Features</a:t>
            </a:r>
          </a:p>
          <a:p>
            <a:pPr lvl="1">
              <a:lnSpc>
                <a:spcPct val="90000"/>
              </a:lnSpc>
            </a:pPr>
            <a:r>
              <a:rPr lang="en-US" sz="2400" dirty="0">
                <a:effectLst/>
              </a:rPr>
              <a:t>Contains only the components needed to execute a single program</a:t>
            </a:r>
          </a:p>
          <a:p>
            <a:pPr lvl="1">
              <a:lnSpc>
                <a:spcPct val="90000"/>
              </a:lnSpc>
            </a:pPr>
            <a:r>
              <a:rPr lang="en-US" sz="2400" dirty="0">
                <a:effectLst/>
              </a:rPr>
              <a:t>No </a:t>
            </a:r>
            <a:r>
              <a:rPr lang="en-US" sz="2400" dirty="0" smtClean="0">
                <a:effectLst/>
              </a:rPr>
              <a:t>programmable, do not have the flexibility of CPUs</a:t>
            </a:r>
            <a:endParaRPr lang="en-US" sz="2400" dirty="0">
              <a:effectLst/>
            </a:endParaRPr>
          </a:p>
          <a:p>
            <a:pPr>
              <a:lnSpc>
                <a:spcPct val="90000"/>
              </a:lnSpc>
            </a:pPr>
            <a:r>
              <a:rPr lang="en-US" sz="2800" dirty="0">
                <a:effectLst/>
              </a:rPr>
              <a:t>Benefits</a:t>
            </a:r>
          </a:p>
          <a:p>
            <a:pPr lvl="1">
              <a:lnSpc>
                <a:spcPct val="90000"/>
              </a:lnSpc>
            </a:pPr>
            <a:r>
              <a:rPr lang="en-US" sz="2400" dirty="0">
                <a:effectLst/>
              </a:rPr>
              <a:t>Fast (optimized)</a:t>
            </a:r>
          </a:p>
          <a:p>
            <a:pPr lvl="1">
              <a:lnSpc>
                <a:spcPct val="90000"/>
              </a:lnSpc>
            </a:pPr>
            <a:r>
              <a:rPr lang="en-US" sz="2400" dirty="0">
                <a:effectLst/>
              </a:rPr>
              <a:t>Low power</a:t>
            </a:r>
          </a:p>
          <a:p>
            <a:pPr lvl="1">
              <a:lnSpc>
                <a:spcPct val="90000"/>
              </a:lnSpc>
            </a:pPr>
            <a:r>
              <a:rPr lang="en-US" sz="2400" dirty="0">
                <a:effectLst/>
              </a:rPr>
              <a:t>Small size</a:t>
            </a:r>
          </a:p>
          <a:p>
            <a:pPr>
              <a:lnSpc>
                <a:spcPct val="90000"/>
              </a:lnSpc>
            </a:pPr>
            <a:r>
              <a:rPr lang="en-US" sz="2800" dirty="0" smtClean="0"/>
              <a:t>ASIC can be implemented on FPGA </a:t>
            </a:r>
            <a:r>
              <a:rPr lang="en-US" sz="2800" dirty="0"/>
              <a:t>or full-custom </a:t>
            </a:r>
            <a:r>
              <a:rPr lang="en-US" sz="2800" dirty="0" smtClean="0"/>
              <a:t>design (</a:t>
            </a:r>
            <a:r>
              <a:rPr lang="en-US" sz="2800" u="sng" dirty="0" smtClean="0"/>
              <a:t>refer to the CAD course to remember the difference</a:t>
            </a:r>
            <a:r>
              <a:rPr lang="en-US" sz="2800" dirty="0" smtClean="0"/>
              <a:t>)</a:t>
            </a:r>
            <a:endParaRPr lang="en-US" sz="2800" dirty="0"/>
          </a:p>
          <a:p>
            <a:pPr>
              <a:lnSpc>
                <a:spcPct val="90000"/>
              </a:lnSpc>
            </a:pPr>
            <a:endParaRPr lang="en-US" sz="2800" dirty="0"/>
          </a:p>
        </p:txBody>
      </p:sp>
    </p:spTree>
    <p:extLst>
      <p:ext uri="{BB962C8B-B14F-4D97-AF65-F5344CB8AC3E}">
        <p14:creationId xmlns:p14="http://schemas.microsoft.com/office/powerpoint/2010/main" val="35776158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ASICs</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
        <p:nvSpPr>
          <p:cNvPr id="4" name="Content Placeholder 3"/>
          <p:cNvSpPr>
            <a:spLocks noGrp="1"/>
          </p:cNvSpPr>
          <p:nvPr>
            <p:ph sz="quarter" idx="1"/>
          </p:nvPr>
        </p:nvSpPr>
        <p:spPr>
          <a:xfrm>
            <a:off x="533400" y="1447800"/>
            <a:ext cx="5486400" cy="2895600"/>
          </a:xfrm>
        </p:spPr>
        <p:txBody>
          <a:bodyPr>
            <a:normAutofit fontScale="92500" lnSpcReduction="10000"/>
          </a:bodyPr>
          <a:lstStyle/>
          <a:p>
            <a:r>
              <a:rPr lang="en-US" dirty="0" smtClean="0"/>
              <a:t>ASICs have no instructions</a:t>
            </a:r>
          </a:p>
          <a:p>
            <a:pPr lvl="1"/>
            <a:r>
              <a:rPr lang="en-US" dirty="0" smtClean="0"/>
              <a:t>Have no software</a:t>
            </a:r>
          </a:p>
          <a:p>
            <a:pPr lvl="1"/>
            <a:r>
              <a:rPr lang="en-US" dirty="0" smtClean="0"/>
              <a:t>But they usually get parameters (e.g. the memory addresses to get input data, coefficients, data size,…) from a configuration file</a:t>
            </a:r>
          </a:p>
          <a:p>
            <a:r>
              <a:rPr lang="en-US" dirty="0" smtClean="0"/>
              <a:t>All datapath and control path are hardcoded </a:t>
            </a:r>
            <a:endParaRPr lang="en-GB" dirty="0"/>
          </a:p>
        </p:txBody>
      </p:sp>
      <p:pic>
        <p:nvPicPr>
          <p:cNvPr id="126978" name="Picture 2" descr="http://www.techdesignforums.com/wp-content/uploads/2014/08/goldstrike-arc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2514600"/>
            <a:ext cx="2965938" cy="3124200"/>
          </a:xfrm>
          <a:prstGeom prst="rect">
            <a:avLst/>
          </a:prstGeom>
          <a:noFill/>
          <a:extLst>
            <a:ext uri="{909E8E84-426E-40DD-AFC4-6F175D3DCCD1}">
              <a14:hiddenFill xmlns:a14="http://schemas.microsoft.com/office/drawing/2010/main">
                <a:solidFill>
                  <a:srgbClr val="FFFFFF"/>
                </a:solidFill>
              </a14:hiddenFill>
            </a:ext>
          </a:extLst>
        </p:spPr>
      </p:pic>
      <p:pic>
        <p:nvPicPr>
          <p:cNvPr id="1269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57200"/>
            <a:ext cx="244792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172200" y="5987534"/>
            <a:ext cx="2828925" cy="369332"/>
          </a:xfrm>
          <a:prstGeom prst="rect">
            <a:avLst/>
          </a:prstGeom>
          <a:noFill/>
        </p:spPr>
        <p:txBody>
          <a:bodyPr wrap="square" rtlCol="0">
            <a:spAutoFit/>
          </a:bodyPr>
          <a:lstStyle/>
          <a:p>
            <a:pPr algn="ctr"/>
            <a:r>
              <a:rPr lang="en-US" dirty="0" smtClean="0"/>
              <a:t>ASIC for </a:t>
            </a:r>
            <a:r>
              <a:rPr lang="en-US" dirty="0" err="1" smtClean="0"/>
              <a:t>BitCoin</a:t>
            </a:r>
            <a:r>
              <a:rPr lang="en-US" dirty="0" smtClean="0"/>
              <a:t> mining</a:t>
            </a:r>
            <a:endParaRPr lang="en-GB" dirty="0"/>
          </a:p>
        </p:txBody>
      </p:sp>
      <p:pic>
        <p:nvPicPr>
          <p:cNvPr id="12698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 y="4149725"/>
            <a:ext cx="2752725"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698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5576887"/>
            <a:ext cx="27908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6"/>
          <p:cNvSpPr/>
          <p:nvPr/>
        </p:nvSpPr>
        <p:spPr>
          <a:xfrm>
            <a:off x="257175" y="4076700"/>
            <a:ext cx="2409825" cy="1730375"/>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p:cNvCxnSpPr/>
          <p:nvPr/>
        </p:nvCxnSpPr>
        <p:spPr>
          <a:xfrm flipH="1" flipV="1">
            <a:off x="2464594" y="5517079"/>
            <a:ext cx="888206" cy="350321"/>
          </a:xfrm>
          <a:prstGeom prst="straightConnector1">
            <a:avLst/>
          </a:prstGeom>
          <a:noFill/>
          <a:ln w="254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pic>
        <p:nvPicPr>
          <p:cNvPr id="12698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9563" y="4049177"/>
            <a:ext cx="1643062" cy="164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Straight Arrow Connector 16"/>
          <p:cNvCxnSpPr/>
          <p:nvPr/>
        </p:nvCxnSpPr>
        <p:spPr>
          <a:xfrm flipH="1">
            <a:off x="3733800" y="4769922"/>
            <a:ext cx="1273969" cy="922317"/>
          </a:xfrm>
          <a:prstGeom prst="straightConnector1">
            <a:avLst/>
          </a:prstGeom>
          <a:noFill/>
          <a:ln w="254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7832925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r>
              <a:rPr lang="en-US" dirty="0" smtClean="0"/>
              <a:t>Accelerator example- Deep learning</a:t>
            </a:r>
            <a:endParaRPr lang="en-US" dirty="0"/>
          </a:p>
        </p:txBody>
      </p:sp>
      <p:sp>
        <p:nvSpPr>
          <p:cNvPr id="21507" name="Rectangle 3"/>
          <p:cNvSpPr>
            <a:spLocks noGrp="1" noChangeArrowheads="1"/>
          </p:cNvSpPr>
          <p:nvPr>
            <p:ph type="body" idx="1"/>
          </p:nvPr>
        </p:nvSpPr>
        <p:spPr/>
        <p:txBody>
          <a:bodyPr>
            <a:normAutofit/>
          </a:bodyPr>
          <a:lstStyle/>
          <a:p>
            <a:r>
              <a:rPr lang="en-US" dirty="0" smtClean="0"/>
              <a:t>The internal structure is customized to run large neural networks</a:t>
            </a:r>
          </a:p>
          <a:p>
            <a:r>
              <a:rPr lang="en-US" dirty="0" smtClean="0"/>
              <a:t>Example: Google TPU (tensor processing unit)</a:t>
            </a:r>
          </a:p>
          <a:p>
            <a:r>
              <a:rPr lang="en-US" dirty="0" smtClean="0"/>
              <a:t>Can run 64000 neurons in parallel </a:t>
            </a:r>
          </a:p>
          <a:p>
            <a:r>
              <a:rPr lang="en-US" dirty="0" smtClean="0"/>
              <a:t>Used in most Google services (e.g. Google translate,…) </a:t>
            </a:r>
            <a:endParaRPr lang="en-US" dirty="0"/>
          </a:p>
        </p:txBody>
      </p:sp>
      <p:sp>
        <p:nvSpPr>
          <p:cNvPr id="4" name="Slide Number Placeholder 2"/>
          <p:cNvSpPr>
            <a:spLocks noGrp="1"/>
          </p:cNvSpPr>
          <p:nvPr>
            <p:ph type="sldNum" sz="quarter" idx="12"/>
          </p:nvPr>
        </p:nvSpPr>
        <p:spPr>
          <a:xfrm>
            <a:off x="146304" y="6324600"/>
            <a:ext cx="310896" cy="342900"/>
          </a:xfrm>
        </p:spPr>
        <p:txBody>
          <a:bodyPr/>
          <a:lstStyle/>
          <a:p>
            <a:fld id="{B6F15528-21DE-4FAA-801E-634DDDAF4B2B}" type="slidenum">
              <a:rPr lang="en-US" smtClean="0"/>
              <a:pPr/>
              <a:t>25</a:t>
            </a:fld>
            <a:endParaRPr lang="en-US"/>
          </a:p>
        </p:txBody>
      </p:sp>
      <p:pic>
        <p:nvPicPr>
          <p:cNvPr id="128004" name="Picture 4" descr="Image result for google tpu ch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691" y="4414837"/>
            <a:ext cx="3397538" cy="190976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3987" y="4395137"/>
            <a:ext cx="3452813" cy="1950138"/>
          </a:xfrm>
          <a:prstGeom prst="rect">
            <a:avLst/>
          </a:prstGeom>
        </p:spPr>
      </p:pic>
    </p:spTree>
    <p:extLst>
      <p:ext uri="{BB962C8B-B14F-4D97-AF65-F5344CB8AC3E}">
        <p14:creationId xmlns:p14="http://schemas.microsoft.com/office/powerpoint/2010/main" val="9734432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Google TPU</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sp>
        <p:nvSpPr>
          <p:cNvPr id="4" name="Content Placeholder 3"/>
          <p:cNvSpPr>
            <a:spLocks noGrp="1"/>
          </p:cNvSpPr>
          <p:nvPr>
            <p:ph sz="quarter" idx="1"/>
          </p:nvPr>
        </p:nvSpPr>
        <p:spPr/>
        <p:txBody>
          <a:bodyPr/>
          <a:lstStyle/>
          <a:p>
            <a:endParaRPr lang="en-US"/>
          </a:p>
        </p:txBody>
      </p:sp>
      <p:pic>
        <p:nvPicPr>
          <p:cNvPr id="6" name="Picture 5"/>
          <p:cNvPicPr>
            <a:picLocks noChangeAspect="1"/>
          </p:cNvPicPr>
          <p:nvPr/>
        </p:nvPicPr>
        <p:blipFill>
          <a:blip r:embed="rId2"/>
          <a:stretch>
            <a:fillRect/>
          </a:stretch>
        </p:blipFill>
        <p:spPr>
          <a:xfrm>
            <a:off x="267116" y="2057400"/>
            <a:ext cx="4614863" cy="3586585"/>
          </a:xfrm>
          <a:prstGeom prst="rect">
            <a:avLst/>
          </a:prstGeom>
        </p:spPr>
      </p:pic>
    </p:spTree>
    <p:extLst>
      <p:ext uri="{BB962C8B-B14F-4D97-AF65-F5344CB8AC3E}">
        <p14:creationId xmlns:p14="http://schemas.microsoft.com/office/powerpoint/2010/main" val="35574150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and Hardware accelerators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a:p>
        </p:txBody>
      </p:sp>
      <p:sp>
        <p:nvSpPr>
          <p:cNvPr id="4" name="Content Placeholder 3"/>
          <p:cNvSpPr>
            <a:spLocks noGrp="1"/>
          </p:cNvSpPr>
          <p:nvPr>
            <p:ph sz="quarter" idx="1"/>
          </p:nvPr>
        </p:nvSpPr>
        <p:spPr>
          <a:xfrm>
            <a:off x="914400" y="1447800"/>
            <a:ext cx="6172200" cy="3810000"/>
          </a:xfrm>
        </p:spPr>
        <p:txBody>
          <a:bodyPr>
            <a:normAutofit/>
          </a:bodyPr>
          <a:lstStyle/>
          <a:p>
            <a:r>
              <a:rPr lang="en-US" dirty="0" smtClean="0"/>
              <a:t>Hundreds of commercial products</a:t>
            </a:r>
          </a:p>
          <a:p>
            <a:r>
              <a:rPr lang="en-US" dirty="0" smtClean="0"/>
              <a:t>Google TPU</a:t>
            </a:r>
          </a:p>
          <a:p>
            <a:r>
              <a:rPr lang="en-US" dirty="0" err="1" smtClean="0"/>
              <a:t>nVidia</a:t>
            </a:r>
            <a:r>
              <a:rPr lang="en-US" dirty="0" smtClean="0"/>
              <a:t> Jetson</a:t>
            </a:r>
          </a:p>
          <a:p>
            <a:r>
              <a:rPr lang="en-US" dirty="0" smtClean="0"/>
              <a:t>IBM </a:t>
            </a:r>
            <a:r>
              <a:rPr lang="en-US" dirty="0" err="1" smtClean="0"/>
              <a:t>TrueNorth</a:t>
            </a:r>
            <a:endParaRPr lang="en-US" dirty="0" smtClean="0"/>
          </a:p>
          <a:p>
            <a:r>
              <a:rPr lang="en-US" dirty="0" smtClean="0"/>
              <a:t>Intel </a:t>
            </a:r>
            <a:r>
              <a:rPr lang="en-US" dirty="0" err="1" smtClean="0"/>
              <a:t>Movidios</a:t>
            </a:r>
            <a:endParaRPr lang="en-US" dirty="0" smtClean="0"/>
          </a:p>
          <a:p>
            <a:r>
              <a:rPr lang="en-US" dirty="0" smtClean="0"/>
              <a:t>Qualcomm AI100</a:t>
            </a:r>
          </a:p>
          <a:p>
            <a:r>
              <a:rPr lang="en-US" dirty="0" smtClean="0"/>
              <a:t>….</a:t>
            </a:r>
          </a:p>
          <a:p>
            <a:endParaRPr lang="en-US" dirty="0"/>
          </a:p>
        </p:txBody>
      </p:sp>
    </p:spTree>
    <p:extLst>
      <p:ext uri="{BB962C8B-B14F-4D97-AF65-F5344CB8AC3E}">
        <p14:creationId xmlns:p14="http://schemas.microsoft.com/office/powerpoint/2010/main" val="22312876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and Hardware accelerators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pic>
        <p:nvPicPr>
          <p:cNvPr id="6" name="Picture 5"/>
          <p:cNvPicPr>
            <a:picLocks noChangeAspect="1"/>
          </p:cNvPicPr>
          <p:nvPr/>
        </p:nvPicPr>
        <p:blipFill>
          <a:blip r:embed="rId2"/>
          <a:stretch>
            <a:fillRect/>
          </a:stretch>
        </p:blipFill>
        <p:spPr>
          <a:xfrm>
            <a:off x="336388" y="1241684"/>
            <a:ext cx="5133975" cy="2905125"/>
          </a:xfrm>
          <a:prstGeom prst="rect">
            <a:avLst/>
          </a:prstGeom>
          <a:effectLst>
            <a:outerShdw blurRad="304800" dist="38100" dir="13500000" algn="br" rotWithShape="0">
              <a:prstClr val="black">
                <a:alpha val="40000"/>
              </a:prstClr>
            </a:outerShdw>
          </a:effectLst>
        </p:spPr>
      </p:pic>
      <p:pic>
        <p:nvPicPr>
          <p:cNvPr id="5" name="Picture 4"/>
          <p:cNvPicPr>
            <a:picLocks noChangeAspect="1"/>
          </p:cNvPicPr>
          <p:nvPr/>
        </p:nvPicPr>
        <p:blipFill>
          <a:blip r:embed="rId3"/>
          <a:stretch>
            <a:fillRect/>
          </a:stretch>
        </p:blipFill>
        <p:spPr>
          <a:xfrm>
            <a:off x="3015528" y="3929292"/>
            <a:ext cx="5643563" cy="2752063"/>
          </a:xfrm>
          <a:prstGeom prst="rect">
            <a:avLst/>
          </a:prstGeom>
          <a:effectLst>
            <a:outerShdw blurRad="203200" dist="38100" dir="16200000" rotWithShape="0">
              <a:prstClr val="black">
                <a:alpha val="40000"/>
              </a:prstClr>
            </a:outerShdw>
          </a:effectLst>
        </p:spPr>
      </p:pic>
    </p:spTree>
    <p:extLst>
      <p:ext uri="{BB962C8B-B14F-4D97-AF65-F5344CB8AC3E}">
        <p14:creationId xmlns:p14="http://schemas.microsoft.com/office/powerpoint/2010/main" val="24539425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Accelerator-rich processors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a:p>
        </p:txBody>
      </p:sp>
      <p:sp>
        <p:nvSpPr>
          <p:cNvPr id="4" name="Content Placeholder 3"/>
          <p:cNvSpPr>
            <a:spLocks noGrp="1"/>
          </p:cNvSpPr>
          <p:nvPr>
            <p:ph sz="quarter" idx="1"/>
          </p:nvPr>
        </p:nvSpPr>
        <p:spPr/>
        <p:txBody>
          <a:bodyPr/>
          <a:lstStyle/>
          <a:p>
            <a:r>
              <a:rPr lang="en-US" dirty="0" smtClean="0"/>
              <a:t>System-on-chip</a:t>
            </a:r>
          </a:p>
          <a:p>
            <a:r>
              <a:rPr lang="en-US" dirty="0" smtClean="0"/>
              <a:t>Have many accelerator cores along with the main processing cores</a:t>
            </a:r>
            <a:endParaRPr lang="en-US" dirty="0"/>
          </a:p>
        </p:txBody>
      </p:sp>
    </p:spTree>
    <p:extLst>
      <p:ext uri="{BB962C8B-B14F-4D97-AF65-F5344CB8AC3E}">
        <p14:creationId xmlns:p14="http://schemas.microsoft.com/office/powerpoint/2010/main" val="323706835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Multiprocessor system-on-chips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dirty="0"/>
          </a:p>
        </p:txBody>
      </p:sp>
      <p:sp>
        <p:nvSpPr>
          <p:cNvPr id="4" name="Content Placeholder 3"/>
          <p:cNvSpPr>
            <a:spLocks noGrp="1"/>
          </p:cNvSpPr>
          <p:nvPr>
            <p:ph sz="quarter" idx="1"/>
          </p:nvPr>
        </p:nvSpPr>
        <p:spPr>
          <a:xfrm>
            <a:off x="609600" y="1447800"/>
            <a:ext cx="3505200" cy="4572000"/>
          </a:xfrm>
        </p:spPr>
        <p:txBody>
          <a:bodyPr/>
          <a:lstStyle/>
          <a:p>
            <a:r>
              <a:rPr lang="en-US" dirty="0" err="1" smtClean="0"/>
              <a:t>SoCs</a:t>
            </a:r>
            <a:r>
              <a:rPr lang="en-US" dirty="0" smtClean="0"/>
              <a:t> are the main processing part of tablets and smart phones</a:t>
            </a:r>
          </a:p>
          <a:p>
            <a:pPr lvl="1"/>
            <a:r>
              <a:rPr lang="en-US" dirty="0" smtClean="0"/>
              <a:t>Processor cores and other accelerators are integrated onto a single chip</a:t>
            </a:r>
          </a:p>
          <a:p>
            <a:r>
              <a:rPr lang="en-US" dirty="0" smtClean="0"/>
              <a:t>Example: </a:t>
            </a:r>
            <a:r>
              <a:rPr lang="en-US" dirty="0" err="1" smtClean="0"/>
              <a:t>Tegra</a:t>
            </a:r>
            <a:r>
              <a:rPr lang="en-US" dirty="0" smtClean="0"/>
              <a:t> </a:t>
            </a:r>
            <a:r>
              <a:rPr lang="en-US" dirty="0" err="1" smtClean="0"/>
              <a:t>SoC</a:t>
            </a:r>
            <a:r>
              <a:rPr lang="en-US" dirty="0" smtClean="0"/>
              <a:t> by </a:t>
            </a:r>
            <a:r>
              <a:rPr lang="en-US" dirty="0" err="1" smtClean="0"/>
              <a:t>nVidia</a:t>
            </a:r>
            <a:endParaRPr lang="en-US" dirty="0"/>
          </a:p>
        </p:txBody>
      </p:sp>
      <p:pic>
        <p:nvPicPr>
          <p:cNvPr id="3074" name="Picture 2" descr="http://linuxgizmos.com/files/nvidia_tegrak1_block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5800" y="2286000"/>
            <a:ext cx="4343400" cy="3381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8192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Complex </a:t>
            </a:r>
            <a:r>
              <a:rPr lang="en-US" dirty="0" err="1" smtClean="0"/>
              <a:t>SoCs</a:t>
            </a:r>
            <a:r>
              <a:rPr lang="en-US" dirty="0" smtClean="0"/>
              <a:t>- mobile processor</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31</a:t>
            </a:fld>
            <a:endParaRPr lang="en-US"/>
          </a:p>
        </p:txBody>
      </p:sp>
      <p:sp>
        <p:nvSpPr>
          <p:cNvPr id="4" name="Content Placeholder 3"/>
          <p:cNvSpPr>
            <a:spLocks noGrp="1"/>
          </p:cNvSpPr>
          <p:nvPr>
            <p:ph sz="quarter" idx="1"/>
          </p:nvPr>
        </p:nvSpPr>
        <p:spPr/>
        <p:txBody>
          <a:bodyPr/>
          <a:lstStyle/>
          <a:p>
            <a:r>
              <a:rPr lang="en-US" dirty="0" smtClean="0"/>
              <a:t>Some </a:t>
            </a:r>
            <a:r>
              <a:rPr lang="en-US" dirty="0" err="1" smtClean="0"/>
              <a:t>SoCs</a:t>
            </a:r>
            <a:r>
              <a:rPr lang="en-US" dirty="0" smtClean="0"/>
              <a:t> are very large and complex</a:t>
            </a:r>
          </a:p>
          <a:p>
            <a:pPr lvl="1"/>
            <a:r>
              <a:rPr lang="en-US" dirty="0" smtClean="0"/>
              <a:t>Application processor in mobiles and tablets</a:t>
            </a:r>
          </a:p>
          <a:p>
            <a:pPr lvl="1"/>
            <a:r>
              <a:rPr lang="en-US" dirty="0" smtClean="0"/>
              <a:t>Signal processing </a:t>
            </a:r>
            <a:r>
              <a:rPr lang="en-US" dirty="0" err="1" smtClean="0"/>
              <a:t>SoCs</a:t>
            </a:r>
            <a:endParaRPr lang="en-GB" dirty="0"/>
          </a:p>
        </p:txBody>
      </p:sp>
      <p:pic>
        <p:nvPicPr>
          <p:cNvPr id="6" name="Picture 2" descr="Samsung Semiconductor Block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286" y="1447800"/>
            <a:ext cx="7315200" cy="5101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61514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SoC</a:t>
            </a:r>
            <a:r>
              <a:rPr lang="en-US" dirty="0" smtClean="0"/>
              <a:t> in a tablet</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a:p>
        </p:txBody>
      </p:sp>
      <p:sp>
        <p:nvSpPr>
          <p:cNvPr id="4" name="Content Placeholder 3"/>
          <p:cNvSpPr>
            <a:spLocks noGrp="1"/>
          </p:cNvSpPr>
          <p:nvPr>
            <p:ph sz="quarter" idx="1"/>
          </p:nvPr>
        </p:nvSpPr>
        <p:spPr/>
        <p:txBody>
          <a:bodyPr/>
          <a:lstStyle/>
          <a:p>
            <a:endParaRPr lang="en-GB"/>
          </a:p>
        </p:txBody>
      </p:sp>
      <p:sp>
        <p:nvSpPr>
          <p:cNvPr id="5" name="AutoShape 2" descr="https://i.pinimg.com/originals/83/2a/3e/832a3ee604897c2e5f140359ef6569a8.png"/>
          <p:cNvSpPr>
            <a:spLocks noChangeAspect="1" noChangeArrowheads="1"/>
          </p:cNvSpPr>
          <p:nvPr/>
        </p:nvSpPr>
        <p:spPr bwMode="auto">
          <a:xfrm>
            <a:off x="155575" y="-2362200"/>
            <a:ext cx="7315200" cy="49339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31257"/>
            <a:ext cx="7181850" cy="4848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43974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Apple A15</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33</a:t>
            </a:fld>
            <a:endParaRPr lang="en-US"/>
          </a:p>
        </p:txBody>
      </p:sp>
      <p:sp>
        <p:nvSpPr>
          <p:cNvPr id="4" name="Content Placeholder 3"/>
          <p:cNvSpPr>
            <a:spLocks noGrp="1"/>
          </p:cNvSpPr>
          <p:nvPr>
            <p:ph sz="quarter" idx="1"/>
          </p:nvPr>
        </p:nvSpPr>
        <p:spPr/>
        <p:txBody>
          <a:bodyPr/>
          <a:lstStyle/>
          <a:p>
            <a:endParaRPr lang="en-US"/>
          </a:p>
        </p:txBody>
      </p:sp>
      <p:pic>
        <p:nvPicPr>
          <p:cNvPr id="6" name="Picture 5"/>
          <p:cNvPicPr>
            <a:picLocks noChangeAspect="1"/>
          </p:cNvPicPr>
          <p:nvPr/>
        </p:nvPicPr>
        <p:blipFill>
          <a:blip r:embed="rId2"/>
          <a:stretch>
            <a:fillRect/>
          </a:stretch>
        </p:blipFill>
        <p:spPr>
          <a:xfrm>
            <a:off x="70716" y="2057400"/>
            <a:ext cx="3724275" cy="3724275"/>
          </a:xfrm>
          <a:prstGeom prst="rect">
            <a:avLst/>
          </a:prstGeom>
        </p:spPr>
      </p:pic>
      <p:pic>
        <p:nvPicPr>
          <p:cNvPr id="7" name="Picture 6"/>
          <p:cNvPicPr>
            <a:picLocks noChangeAspect="1"/>
          </p:cNvPicPr>
          <p:nvPr/>
        </p:nvPicPr>
        <p:blipFill>
          <a:blip r:embed="rId3"/>
          <a:stretch>
            <a:fillRect/>
          </a:stretch>
        </p:blipFill>
        <p:spPr>
          <a:xfrm>
            <a:off x="4495800" y="1752600"/>
            <a:ext cx="4191000" cy="2551271"/>
          </a:xfrm>
          <a:prstGeom prst="rect">
            <a:avLst/>
          </a:prstGeom>
        </p:spPr>
      </p:pic>
    </p:spTree>
    <p:extLst>
      <p:ext uri="{BB962C8B-B14F-4D97-AF65-F5344CB8AC3E}">
        <p14:creationId xmlns:p14="http://schemas.microsoft.com/office/powerpoint/2010/main" val="11167279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System-on-</a:t>
            </a:r>
            <a:r>
              <a:rPr lang="en-US" dirty="0" err="1" smtClean="0"/>
              <a:t>programable</a:t>
            </a:r>
            <a:r>
              <a:rPr lang="en-US" dirty="0" smtClean="0"/>
              <a:t> chip</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34</a:t>
            </a:fld>
            <a:endParaRPr lang="en-US"/>
          </a:p>
        </p:txBody>
      </p:sp>
      <p:sp>
        <p:nvSpPr>
          <p:cNvPr id="4" name="Content Placeholder 3"/>
          <p:cNvSpPr>
            <a:spLocks noGrp="1"/>
          </p:cNvSpPr>
          <p:nvPr>
            <p:ph sz="quarter" idx="1"/>
          </p:nvPr>
        </p:nvSpPr>
        <p:spPr>
          <a:xfrm>
            <a:off x="228600" y="1447800"/>
            <a:ext cx="1676400" cy="4572000"/>
          </a:xfrm>
        </p:spPr>
        <p:txBody>
          <a:bodyPr>
            <a:normAutofit fontScale="92500" lnSpcReduction="20000"/>
          </a:bodyPr>
          <a:lstStyle/>
          <a:p>
            <a:endParaRPr lang="en-US" dirty="0" smtClean="0"/>
          </a:p>
          <a:p>
            <a:r>
              <a:rPr lang="en-US" dirty="0" err="1"/>
              <a:t>Zynq</a:t>
            </a:r>
            <a:r>
              <a:rPr lang="en-US" dirty="0"/>
              <a:t> FPGA block </a:t>
            </a:r>
            <a:r>
              <a:rPr lang="en-US" dirty="0" smtClean="0"/>
              <a:t>diagram</a:t>
            </a:r>
          </a:p>
          <a:p>
            <a:r>
              <a:rPr lang="en-US" dirty="0" smtClean="0"/>
              <a:t>FPGA (yellow part) and </a:t>
            </a:r>
            <a:r>
              <a:rPr lang="en-US" dirty="0"/>
              <a:t>ARM </a:t>
            </a:r>
            <a:r>
              <a:rPr lang="en-US" dirty="0" smtClean="0"/>
              <a:t>processor on the same chip</a:t>
            </a:r>
            <a:endParaRPr lang="en-GB" dirty="0"/>
          </a:p>
        </p:txBody>
      </p:sp>
      <p:pic>
        <p:nvPicPr>
          <p:cNvPr id="2050" name="Picture 2" descr="Image result for zynq fpga 7020 block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371600"/>
            <a:ext cx="6700168"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6474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SoPC</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35</a:t>
            </a:fld>
            <a:endParaRPr lang="en-US"/>
          </a:p>
        </p:txBody>
      </p:sp>
      <p:sp>
        <p:nvSpPr>
          <p:cNvPr id="4" name="Content Placeholder 3"/>
          <p:cNvSpPr>
            <a:spLocks noGrp="1"/>
          </p:cNvSpPr>
          <p:nvPr>
            <p:ph sz="quarter" idx="1"/>
          </p:nvPr>
        </p:nvSpPr>
        <p:spPr/>
        <p:txBody>
          <a:bodyPr>
            <a:normAutofit lnSpcReduction="10000"/>
          </a:bodyPr>
          <a:lstStyle/>
          <a:p>
            <a:r>
              <a:rPr lang="en-US" dirty="0" smtClean="0"/>
              <a:t>System-on-Programmable Chip (</a:t>
            </a:r>
            <a:r>
              <a:rPr lang="en-US" dirty="0" err="1" smtClean="0"/>
              <a:t>SoPC</a:t>
            </a:r>
            <a:r>
              <a:rPr lang="en-US" dirty="0" smtClean="0"/>
              <a:t>): FPGA vendors provide an SoC on an FPGA chip</a:t>
            </a:r>
          </a:p>
          <a:p>
            <a:r>
              <a:rPr lang="en-US" dirty="0" smtClean="0"/>
              <a:t>In addition to configurable part there are also:</a:t>
            </a:r>
          </a:p>
          <a:p>
            <a:pPr lvl="1"/>
            <a:r>
              <a:rPr lang="en-US" dirty="0" smtClean="0"/>
              <a:t>Processor cores</a:t>
            </a:r>
          </a:p>
          <a:p>
            <a:pPr lvl="1"/>
            <a:r>
              <a:rPr lang="en-US" dirty="0" smtClean="0"/>
              <a:t>Peripherals</a:t>
            </a:r>
          </a:p>
          <a:p>
            <a:pPr lvl="1"/>
            <a:r>
              <a:rPr lang="en-US" dirty="0" smtClean="0"/>
              <a:t>On-chip buses</a:t>
            </a:r>
          </a:p>
          <a:p>
            <a:pPr lvl="1"/>
            <a:r>
              <a:rPr lang="en-US" dirty="0" smtClean="0"/>
              <a:t>DSP blocks</a:t>
            </a:r>
          </a:p>
          <a:p>
            <a:pPr lvl="1"/>
            <a:r>
              <a:rPr lang="en-US" dirty="0" smtClean="0"/>
              <a:t>A rich range of soft IP cores as a library can be implemented on the configurable part</a:t>
            </a:r>
          </a:p>
          <a:p>
            <a:pPr lvl="1"/>
            <a:r>
              <a:rPr lang="en-US" dirty="0" smtClean="0"/>
              <a:t>Operating systems and software drivers</a:t>
            </a:r>
          </a:p>
          <a:p>
            <a:pPr lvl="1"/>
            <a:r>
              <a:rPr lang="en-US" dirty="0" smtClean="0"/>
              <a:t>… </a:t>
            </a:r>
          </a:p>
          <a:p>
            <a:pPr lvl="1">
              <a:buNone/>
            </a:pPr>
            <a:endParaRPr lang="en-US" dirty="0" smtClean="0"/>
          </a:p>
        </p:txBody>
      </p:sp>
    </p:spTree>
    <p:extLst>
      <p:ext uri="{BB962C8B-B14F-4D97-AF65-F5344CB8AC3E}">
        <p14:creationId xmlns:p14="http://schemas.microsoft.com/office/powerpoint/2010/main" val="24740573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Grp="1" noChangeArrowheads="1"/>
          </p:cNvSpPr>
          <p:nvPr>
            <p:ph type="title"/>
          </p:nvPr>
        </p:nvSpPr>
        <p:spPr/>
        <p:txBody>
          <a:bodyPr>
            <a:normAutofit/>
          </a:bodyPr>
          <a:lstStyle/>
          <a:p>
            <a:r>
              <a:rPr lang="en-US" dirty="0" err="1" smtClean="0"/>
              <a:t>SoPC</a:t>
            </a:r>
            <a:endParaRPr lang="en-US" dirty="0" smtClean="0"/>
          </a:p>
        </p:txBody>
      </p:sp>
      <p:sp>
        <p:nvSpPr>
          <p:cNvPr id="6147" name="Rectangle 9"/>
          <p:cNvSpPr>
            <a:spLocks noGrp="1" noChangeArrowheads="1"/>
          </p:cNvSpPr>
          <p:nvPr>
            <p:ph type="body" idx="1"/>
          </p:nvPr>
        </p:nvSpPr>
        <p:spPr/>
        <p:txBody>
          <a:bodyPr/>
          <a:lstStyle/>
          <a:p>
            <a:r>
              <a:rPr lang="en-US" dirty="0" smtClean="0"/>
              <a:t>Xilinx </a:t>
            </a:r>
            <a:r>
              <a:rPr lang="en-US" dirty="0" err="1" smtClean="0"/>
              <a:t>SoPCs</a:t>
            </a:r>
            <a:r>
              <a:rPr lang="en-US" dirty="0" smtClean="0"/>
              <a:t>:</a:t>
            </a:r>
          </a:p>
          <a:p>
            <a:pPr lvl="1"/>
            <a:r>
              <a:rPr lang="en-US" dirty="0" smtClean="0"/>
              <a:t>2 or 4 PowerPC 405 and 440 cores and many peripherals</a:t>
            </a:r>
          </a:p>
          <a:p>
            <a:pPr lvl="1"/>
            <a:r>
              <a:rPr lang="en-US" dirty="0" smtClean="0"/>
              <a:t>Xilinx EDK for development</a:t>
            </a:r>
          </a:p>
          <a:p>
            <a:r>
              <a:rPr lang="en-US" dirty="0" err="1" smtClean="0"/>
              <a:t>Altera</a:t>
            </a:r>
            <a:r>
              <a:rPr lang="en-US" dirty="0" smtClean="0"/>
              <a:t> </a:t>
            </a:r>
            <a:r>
              <a:rPr lang="en-US" dirty="0" err="1" smtClean="0"/>
              <a:t>SoPCs</a:t>
            </a:r>
            <a:r>
              <a:rPr lang="en-US" dirty="0" smtClean="0"/>
              <a:t>:</a:t>
            </a:r>
          </a:p>
          <a:p>
            <a:pPr lvl="1"/>
            <a:r>
              <a:rPr lang="en-US" dirty="0" smtClean="0"/>
              <a:t>NIOS II or ARM Cortex cores and many peripherals</a:t>
            </a:r>
          </a:p>
          <a:p>
            <a:pPr lvl="2"/>
            <a:r>
              <a:rPr lang="en-US" dirty="0" smtClean="0"/>
              <a:t>ARM Cortex is a dual core processor</a:t>
            </a:r>
          </a:p>
          <a:p>
            <a:pPr lvl="1"/>
            <a:r>
              <a:rPr lang="en-US" dirty="0" err="1" smtClean="0"/>
              <a:t>Altera</a:t>
            </a:r>
            <a:r>
              <a:rPr lang="en-US" dirty="0" smtClean="0"/>
              <a:t> </a:t>
            </a:r>
            <a:r>
              <a:rPr lang="en-US" dirty="0" err="1" smtClean="0"/>
              <a:t>SoPC</a:t>
            </a:r>
            <a:r>
              <a:rPr lang="en-US" dirty="0" smtClean="0"/>
              <a:t> Builder for development</a:t>
            </a:r>
          </a:p>
        </p:txBody>
      </p:sp>
      <p:sp>
        <p:nvSpPr>
          <p:cNvPr id="4" name="Slide Number Placeholder 2"/>
          <p:cNvSpPr>
            <a:spLocks noGrp="1"/>
          </p:cNvSpPr>
          <p:nvPr>
            <p:ph type="sldNum" sz="quarter" idx="12"/>
          </p:nvPr>
        </p:nvSpPr>
        <p:spPr>
          <a:xfrm>
            <a:off x="146304" y="6324600"/>
            <a:ext cx="310896" cy="342900"/>
          </a:xfrm>
        </p:spPr>
        <p:txBody>
          <a:bodyPr/>
          <a:lstStyle/>
          <a:p>
            <a:fld id="{B6F15528-21DE-4FAA-801E-634DDDAF4B2B}" type="slidenum">
              <a:rPr lang="en-US" smtClean="0"/>
              <a:pPr/>
              <a:t>36</a:t>
            </a:fld>
            <a:endParaRPr lang="en-US"/>
          </a:p>
        </p:txBody>
      </p:sp>
      <p:pic>
        <p:nvPicPr>
          <p:cNvPr id="5" name="Picture 3" descr="Nios II Puzzle Pieces"/>
          <p:cNvPicPr>
            <a:picLocks noChangeAspect="1" noChangeArrowheads="1"/>
          </p:cNvPicPr>
          <p:nvPr/>
        </p:nvPicPr>
        <p:blipFill>
          <a:blip r:embed="rId3" cstate="print"/>
          <a:srcRect/>
          <a:stretch>
            <a:fillRect/>
          </a:stretch>
        </p:blipFill>
        <p:spPr bwMode="auto">
          <a:xfrm>
            <a:off x="5562600" y="4395788"/>
            <a:ext cx="3138054" cy="2157412"/>
          </a:xfrm>
          <a:prstGeom prst="rect">
            <a:avLst/>
          </a:prstGeom>
          <a:noFill/>
          <a:effectLst>
            <a:outerShdw dist="35921" dir="2700000" algn="ctr" rotWithShape="0">
              <a:srgbClr val="808080"/>
            </a:outerShdw>
          </a:effectLst>
        </p:spPr>
      </p:pic>
      <p:sp>
        <p:nvSpPr>
          <p:cNvPr id="7" name="Rectangle 6"/>
          <p:cNvSpPr/>
          <p:nvPr/>
        </p:nvSpPr>
        <p:spPr>
          <a:xfrm>
            <a:off x="609600" y="6324600"/>
            <a:ext cx="3152273" cy="338554"/>
          </a:xfrm>
          <a:prstGeom prst="rect">
            <a:avLst/>
          </a:prstGeom>
        </p:spPr>
        <p:txBody>
          <a:bodyPr wrap="none">
            <a:spAutoFit/>
          </a:bodyPr>
          <a:lstStyle/>
          <a:p>
            <a:r>
              <a:rPr lang="en-US" sz="1600" dirty="0" smtClean="0"/>
              <a:t>Picture source: http://www.altera.com</a:t>
            </a:r>
            <a:endParaRPr lang="en-US" sz="1600" dirty="0"/>
          </a:p>
        </p:txBody>
      </p:sp>
    </p:spTree>
    <p:extLst>
      <p:ext uri="{BB962C8B-B14F-4D97-AF65-F5344CB8AC3E}">
        <p14:creationId xmlns:p14="http://schemas.microsoft.com/office/powerpoint/2010/main" val="2190171889"/>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3"/>
          <p:cNvSpPr>
            <a:spLocks noGrp="1" noChangeArrowheads="1"/>
          </p:cNvSpPr>
          <p:nvPr>
            <p:ph type="body" idx="1"/>
          </p:nvPr>
        </p:nvSpPr>
        <p:spPr>
          <a:xfrm>
            <a:off x="366713" y="1898649"/>
            <a:ext cx="4216400" cy="1835151"/>
          </a:xfrm>
        </p:spPr>
        <p:txBody>
          <a:bodyPr/>
          <a:lstStyle/>
          <a:p>
            <a:pPr marL="228600" indent="-228600">
              <a:lnSpc>
                <a:spcPct val="115000"/>
              </a:lnSpc>
              <a:spcBef>
                <a:spcPct val="0"/>
              </a:spcBef>
              <a:spcAft>
                <a:spcPct val="40000"/>
              </a:spcAft>
            </a:pPr>
            <a:r>
              <a:rPr lang="en-US" altLang="ja-JP" sz="2400" dirty="0" smtClean="0">
                <a:ea typeface="MS PGothic" pitchFamily="34" charset="-128"/>
              </a:rPr>
              <a:t>32-bit embedded NIOS-II processor</a:t>
            </a:r>
          </a:p>
        </p:txBody>
      </p:sp>
      <p:sp>
        <p:nvSpPr>
          <p:cNvPr id="53253" name="AutoShape 4"/>
          <p:cNvSpPr>
            <a:spLocks noChangeArrowheads="1"/>
          </p:cNvSpPr>
          <p:nvPr/>
        </p:nvSpPr>
        <p:spPr bwMode="auto">
          <a:xfrm rot="10800000" flipV="1">
            <a:off x="4359275" y="4821237"/>
            <a:ext cx="1814513" cy="1731962"/>
          </a:xfrm>
          <a:prstGeom prst="bevel">
            <a:avLst>
              <a:gd name="adj" fmla="val 3287"/>
            </a:avLst>
          </a:prstGeom>
          <a:gradFill rotWithShape="1">
            <a:gsLst>
              <a:gs pos="0">
                <a:srgbClr val="969696"/>
              </a:gs>
              <a:gs pos="50000">
                <a:srgbClr val="DDDDDD"/>
              </a:gs>
              <a:gs pos="100000">
                <a:srgbClr val="969696"/>
              </a:gs>
            </a:gsLst>
            <a:lin ang="2700000" scaled="1"/>
          </a:gradFill>
          <a:ln w="9525">
            <a:noFill/>
            <a:miter lim="800000"/>
            <a:headEnd/>
            <a:tailEnd/>
          </a:ln>
        </p:spPr>
        <p:txBody>
          <a:bodyPr wrap="none" lIns="91432" tIns="45716" rIns="91432" bIns="45716" anchor="ctr"/>
          <a:lstStyle/>
          <a:p>
            <a:pPr algn="ctr" eaLnBrk="1" hangingPunct="1"/>
            <a:endParaRPr lang="en-GB" sz="1600" b="1">
              <a:solidFill>
                <a:schemeClr val="bg1"/>
              </a:solidFill>
              <a:cs typeface="Arial" pitchFamily="34" charset="0"/>
            </a:endParaRPr>
          </a:p>
        </p:txBody>
      </p:sp>
      <p:sp>
        <p:nvSpPr>
          <p:cNvPr id="53254" name="Text Box 5"/>
          <p:cNvSpPr txBox="1">
            <a:spLocks noChangeArrowheads="1"/>
          </p:cNvSpPr>
          <p:nvPr/>
        </p:nvSpPr>
        <p:spPr bwMode="auto">
          <a:xfrm>
            <a:off x="4876800" y="6054724"/>
            <a:ext cx="803275" cy="336550"/>
          </a:xfrm>
          <a:prstGeom prst="rect">
            <a:avLst/>
          </a:prstGeom>
          <a:noFill/>
          <a:ln w="9525">
            <a:noFill/>
            <a:miter lim="800000"/>
            <a:headEnd/>
            <a:tailEnd/>
          </a:ln>
        </p:spPr>
        <p:txBody>
          <a:bodyPr lIns="91432" tIns="45716" rIns="91432" bIns="45716">
            <a:spAutoFit/>
          </a:bodyPr>
          <a:lstStyle/>
          <a:p>
            <a:pPr algn="ctr" eaLnBrk="1" hangingPunct="1">
              <a:spcBef>
                <a:spcPct val="50000"/>
              </a:spcBef>
            </a:pPr>
            <a:r>
              <a:rPr lang="en-GB" sz="1600" b="1"/>
              <a:t>FPGA</a:t>
            </a:r>
          </a:p>
        </p:txBody>
      </p:sp>
      <p:sp>
        <p:nvSpPr>
          <p:cNvPr id="53255" name="Text Box 6"/>
          <p:cNvSpPr txBox="1">
            <a:spLocks noChangeArrowheads="1"/>
          </p:cNvSpPr>
          <p:nvPr/>
        </p:nvSpPr>
        <p:spPr bwMode="auto">
          <a:xfrm>
            <a:off x="6702425" y="5951537"/>
            <a:ext cx="2632075" cy="300037"/>
          </a:xfrm>
          <a:prstGeom prst="rect">
            <a:avLst/>
          </a:prstGeom>
          <a:noFill/>
          <a:ln w="12700">
            <a:noFill/>
            <a:miter lim="800000"/>
            <a:headEnd/>
            <a:tailEnd/>
          </a:ln>
        </p:spPr>
        <p:txBody>
          <a:bodyPr lIns="91432" tIns="45716" rIns="91432" bIns="45716" anchor="ctr">
            <a:spAutoFit/>
          </a:bodyPr>
          <a:lstStyle/>
          <a:p>
            <a:pPr>
              <a:lnSpc>
                <a:spcPct val="85000"/>
              </a:lnSpc>
            </a:pPr>
            <a:r>
              <a:rPr lang="en-US" altLang="ja-JP" sz="1600" b="1">
                <a:ea typeface="MS PGothic" pitchFamily="34" charset="-128"/>
                <a:cs typeface="Arial" pitchFamily="34" charset="0"/>
              </a:rPr>
              <a:t>Your design here</a:t>
            </a:r>
          </a:p>
        </p:txBody>
      </p:sp>
      <p:sp>
        <p:nvSpPr>
          <p:cNvPr id="53256" name="Line 7"/>
          <p:cNvSpPr>
            <a:spLocks noChangeShapeType="1"/>
          </p:cNvSpPr>
          <p:nvPr/>
        </p:nvSpPr>
        <p:spPr bwMode="auto">
          <a:xfrm>
            <a:off x="5718175" y="5832474"/>
            <a:ext cx="982663" cy="265113"/>
          </a:xfrm>
          <a:prstGeom prst="line">
            <a:avLst/>
          </a:prstGeom>
          <a:noFill/>
          <a:ln w="38100">
            <a:solidFill>
              <a:srgbClr val="000000"/>
            </a:solidFill>
            <a:round/>
            <a:headEnd type="triangle" w="med" len="med"/>
            <a:tailEnd/>
          </a:ln>
        </p:spPr>
        <p:txBody>
          <a:bodyPr anchor="ctr">
            <a:spAutoFit/>
          </a:bodyPr>
          <a:lstStyle/>
          <a:p>
            <a:endParaRPr lang="en-US"/>
          </a:p>
        </p:txBody>
      </p:sp>
      <p:sp>
        <p:nvSpPr>
          <p:cNvPr id="53257" name="Rectangle 8"/>
          <p:cNvSpPr>
            <a:spLocks noChangeArrowheads="1"/>
          </p:cNvSpPr>
          <p:nvPr/>
        </p:nvSpPr>
        <p:spPr bwMode="auto">
          <a:xfrm>
            <a:off x="4449763" y="4916487"/>
            <a:ext cx="990600" cy="844550"/>
          </a:xfrm>
          <a:prstGeom prst="rect">
            <a:avLst/>
          </a:prstGeom>
          <a:solidFill>
            <a:srgbClr val="99CCFF"/>
          </a:solidFill>
          <a:ln w="19050">
            <a:solidFill>
              <a:schemeClr val="hlink"/>
            </a:solidFill>
            <a:miter lim="800000"/>
            <a:headEnd/>
            <a:tailEnd/>
          </a:ln>
        </p:spPr>
        <p:txBody>
          <a:bodyPr wrap="none" anchor="ctr"/>
          <a:lstStyle/>
          <a:p>
            <a:endParaRPr lang="en-US"/>
          </a:p>
        </p:txBody>
      </p:sp>
      <p:pic>
        <p:nvPicPr>
          <p:cNvPr id="53258" name="Picture 9" descr="nios"/>
          <p:cNvPicPr>
            <a:picLocks noChangeAspect="1" noChangeArrowheads="1"/>
          </p:cNvPicPr>
          <p:nvPr/>
        </p:nvPicPr>
        <p:blipFill>
          <a:blip r:embed="rId3" cstate="print"/>
          <a:srcRect/>
          <a:stretch>
            <a:fillRect/>
          </a:stretch>
        </p:blipFill>
        <p:spPr bwMode="auto">
          <a:xfrm>
            <a:off x="4437063" y="5143499"/>
            <a:ext cx="1004887" cy="355600"/>
          </a:xfrm>
          <a:prstGeom prst="rect">
            <a:avLst/>
          </a:prstGeom>
          <a:noFill/>
          <a:ln w="9525">
            <a:noFill/>
            <a:miter lim="800000"/>
            <a:headEnd/>
            <a:tailEnd/>
          </a:ln>
        </p:spPr>
      </p:pic>
      <p:sp>
        <p:nvSpPr>
          <p:cNvPr id="1285130" name="Rectangle 10"/>
          <p:cNvSpPr>
            <a:spLocks noGrp="1" noChangeArrowheads="1"/>
          </p:cNvSpPr>
          <p:nvPr>
            <p:ph type="title"/>
          </p:nvPr>
        </p:nvSpPr>
        <p:spPr/>
        <p:txBody>
          <a:bodyPr/>
          <a:lstStyle/>
          <a:p>
            <a:pPr marL="228600" indent="-228600">
              <a:lnSpc>
                <a:spcPct val="115000"/>
              </a:lnSpc>
              <a:spcAft>
                <a:spcPct val="40000"/>
              </a:spcAft>
            </a:pPr>
            <a:r>
              <a:rPr lang="en-US" dirty="0" err="1" smtClean="0">
                <a:cs typeface="Arial" pitchFamily="34" charset="0"/>
              </a:rPr>
              <a:t>Altera</a:t>
            </a:r>
            <a:r>
              <a:rPr lang="en-US" dirty="0" smtClean="0">
                <a:cs typeface="Arial" pitchFamily="34" charset="0"/>
              </a:rPr>
              <a:t> </a:t>
            </a:r>
            <a:r>
              <a:rPr lang="en-US" dirty="0" err="1" smtClean="0">
                <a:cs typeface="Arial" pitchFamily="34" charset="0"/>
              </a:rPr>
              <a:t>Startix</a:t>
            </a:r>
            <a:endParaRPr lang="en-US" dirty="0" smtClean="0">
              <a:cs typeface="Arial" pitchFamily="34" charset="0"/>
            </a:endParaRPr>
          </a:p>
        </p:txBody>
      </p:sp>
      <p:grpSp>
        <p:nvGrpSpPr>
          <p:cNvPr id="2" name="Group 11"/>
          <p:cNvGrpSpPr>
            <a:grpSpLocks/>
          </p:cNvGrpSpPr>
          <p:nvPr/>
        </p:nvGrpSpPr>
        <p:grpSpPr bwMode="auto">
          <a:xfrm>
            <a:off x="4962525" y="1458912"/>
            <a:ext cx="3765550" cy="3200400"/>
            <a:chOff x="288" y="864"/>
            <a:chExt cx="2372" cy="2016"/>
          </a:xfrm>
        </p:grpSpPr>
        <p:sp useBgFill="1">
          <p:nvSpPr>
            <p:cNvPr id="53261" name="Rectangle 12"/>
            <p:cNvSpPr>
              <a:spLocks noChangeArrowheads="1"/>
            </p:cNvSpPr>
            <p:nvPr/>
          </p:nvSpPr>
          <p:spPr bwMode="auto">
            <a:xfrm>
              <a:off x="562" y="1117"/>
              <a:ext cx="1845" cy="1702"/>
            </a:xfrm>
            <a:prstGeom prst="rect">
              <a:avLst/>
            </a:prstGeom>
            <a:ln w="9525">
              <a:solidFill>
                <a:srgbClr val="99CCFF"/>
              </a:solidFill>
              <a:miter lim="800000"/>
              <a:headEnd/>
              <a:tailEnd/>
            </a:ln>
          </p:spPr>
          <p:txBody>
            <a:bodyPr wrap="none" anchor="ctr"/>
            <a:lstStyle/>
            <a:p>
              <a:endParaRPr lang="en-US"/>
            </a:p>
          </p:txBody>
        </p:sp>
        <p:grpSp>
          <p:nvGrpSpPr>
            <p:cNvPr id="3" name="Group 13"/>
            <p:cNvGrpSpPr>
              <a:grpSpLocks/>
            </p:cNvGrpSpPr>
            <p:nvPr/>
          </p:nvGrpSpPr>
          <p:grpSpPr bwMode="auto">
            <a:xfrm>
              <a:off x="2407" y="1178"/>
              <a:ext cx="61" cy="1580"/>
              <a:chOff x="2160" y="1200"/>
              <a:chExt cx="48" cy="1248"/>
            </a:xfrm>
          </p:grpSpPr>
          <p:sp>
            <p:nvSpPr>
              <p:cNvPr id="53321" name="Rectangle 14"/>
              <p:cNvSpPr>
                <a:spLocks noChangeArrowheads="1"/>
              </p:cNvSpPr>
              <p:nvPr/>
            </p:nvSpPr>
            <p:spPr bwMode="auto">
              <a:xfrm>
                <a:off x="2160" y="120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2" name="Rectangle 15"/>
              <p:cNvSpPr>
                <a:spLocks noChangeArrowheads="1"/>
              </p:cNvSpPr>
              <p:nvPr/>
            </p:nvSpPr>
            <p:spPr bwMode="auto">
              <a:xfrm>
                <a:off x="2160" y="134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3" name="Rectangle 16"/>
              <p:cNvSpPr>
                <a:spLocks noChangeArrowheads="1"/>
              </p:cNvSpPr>
              <p:nvPr/>
            </p:nvSpPr>
            <p:spPr bwMode="auto">
              <a:xfrm>
                <a:off x="2160" y="148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4" name="Rectangle 17"/>
              <p:cNvSpPr>
                <a:spLocks noChangeArrowheads="1"/>
              </p:cNvSpPr>
              <p:nvPr/>
            </p:nvSpPr>
            <p:spPr bwMode="auto">
              <a:xfrm>
                <a:off x="2160" y="163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5" name="Rectangle 18"/>
              <p:cNvSpPr>
                <a:spLocks noChangeArrowheads="1"/>
              </p:cNvSpPr>
              <p:nvPr/>
            </p:nvSpPr>
            <p:spPr bwMode="auto">
              <a:xfrm>
                <a:off x="2160" y="1776"/>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6" name="Rectangle 19"/>
              <p:cNvSpPr>
                <a:spLocks noChangeArrowheads="1"/>
              </p:cNvSpPr>
              <p:nvPr/>
            </p:nvSpPr>
            <p:spPr bwMode="auto">
              <a:xfrm>
                <a:off x="2160" y="192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7" name="Rectangle 20"/>
              <p:cNvSpPr>
                <a:spLocks noChangeArrowheads="1"/>
              </p:cNvSpPr>
              <p:nvPr/>
            </p:nvSpPr>
            <p:spPr bwMode="auto">
              <a:xfrm>
                <a:off x="2160" y="206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8" name="Rectangle 21"/>
              <p:cNvSpPr>
                <a:spLocks noChangeArrowheads="1"/>
              </p:cNvSpPr>
              <p:nvPr/>
            </p:nvSpPr>
            <p:spPr bwMode="auto">
              <a:xfrm>
                <a:off x="2160" y="220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9" name="Rectangle 22"/>
              <p:cNvSpPr>
                <a:spLocks noChangeArrowheads="1"/>
              </p:cNvSpPr>
              <p:nvPr/>
            </p:nvSpPr>
            <p:spPr bwMode="auto">
              <a:xfrm>
                <a:off x="2160" y="235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grpSp>
        <p:grpSp>
          <p:nvGrpSpPr>
            <p:cNvPr id="4" name="Group 23"/>
            <p:cNvGrpSpPr>
              <a:grpSpLocks/>
            </p:cNvGrpSpPr>
            <p:nvPr/>
          </p:nvGrpSpPr>
          <p:grpSpPr bwMode="auto">
            <a:xfrm>
              <a:off x="500" y="1178"/>
              <a:ext cx="62" cy="1580"/>
              <a:chOff x="672" y="1200"/>
              <a:chExt cx="48" cy="1248"/>
            </a:xfrm>
          </p:grpSpPr>
          <p:sp>
            <p:nvSpPr>
              <p:cNvPr id="53312" name="Rectangle 24"/>
              <p:cNvSpPr>
                <a:spLocks noChangeArrowheads="1"/>
              </p:cNvSpPr>
              <p:nvPr/>
            </p:nvSpPr>
            <p:spPr bwMode="auto">
              <a:xfrm>
                <a:off x="672" y="120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3" name="Rectangle 25"/>
              <p:cNvSpPr>
                <a:spLocks noChangeArrowheads="1"/>
              </p:cNvSpPr>
              <p:nvPr/>
            </p:nvSpPr>
            <p:spPr bwMode="auto">
              <a:xfrm>
                <a:off x="672" y="134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4" name="Rectangle 26"/>
              <p:cNvSpPr>
                <a:spLocks noChangeArrowheads="1"/>
              </p:cNvSpPr>
              <p:nvPr/>
            </p:nvSpPr>
            <p:spPr bwMode="auto">
              <a:xfrm>
                <a:off x="672" y="148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5" name="Rectangle 27"/>
              <p:cNvSpPr>
                <a:spLocks noChangeArrowheads="1"/>
              </p:cNvSpPr>
              <p:nvPr/>
            </p:nvSpPr>
            <p:spPr bwMode="auto">
              <a:xfrm>
                <a:off x="672" y="163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6" name="Rectangle 28"/>
              <p:cNvSpPr>
                <a:spLocks noChangeArrowheads="1"/>
              </p:cNvSpPr>
              <p:nvPr/>
            </p:nvSpPr>
            <p:spPr bwMode="auto">
              <a:xfrm>
                <a:off x="672" y="1776"/>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7" name="Rectangle 29"/>
              <p:cNvSpPr>
                <a:spLocks noChangeArrowheads="1"/>
              </p:cNvSpPr>
              <p:nvPr/>
            </p:nvSpPr>
            <p:spPr bwMode="auto">
              <a:xfrm>
                <a:off x="672" y="192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8" name="Rectangle 30"/>
              <p:cNvSpPr>
                <a:spLocks noChangeArrowheads="1"/>
              </p:cNvSpPr>
              <p:nvPr/>
            </p:nvSpPr>
            <p:spPr bwMode="auto">
              <a:xfrm>
                <a:off x="672" y="206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9" name="Rectangle 31"/>
              <p:cNvSpPr>
                <a:spLocks noChangeArrowheads="1"/>
              </p:cNvSpPr>
              <p:nvPr/>
            </p:nvSpPr>
            <p:spPr bwMode="auto">
              <a:xfrm>
                <a:off x="672" y="220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20" name="Rectangle 32"/>
              <p:cNvSpPr>
                <a:spLocks noChangeArrowheads="1"/>
              </p:cNvSpPr>
              <p:nvPr/>
            </p:nvSpPr>
            <p:spPr bwMode="auto">
              <a:xfrm>
                <a:off x="672" y="235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grpSp>
        <p:grpSp>
          <p:nvGrpSpPr>
            <p:cNvPr id="5" name="Group 33"/>
            <p:cNvGrpSpPr>
              <a:grpSpLocks/>
            </p:cNvGrpSpPr>
            <p:nvPr/>
          </p:nvGrpSpPr>
          <p:grpSpPr bwMode="auto">
            <a:xfrm rot="-5400000">
              <a:off x="1454" y="287"/>
              <a:ext cx="61" cy="1599"/>
              <a:chOff x="672" y="1200"/>
              <a:chExt cx="48" cy="1248"/>
            </a:xfrm>
          </p:grpSpPr>
          <p:sp>
            <p:nvSpPr>
              <p:cNvPr id="53303" name="Rectangle 34"/>
              <p:cNvSpPr>
                <a:spLocks noChangeArrowheads="1"/>
              </p:cNvSpPr>
              <p:nvPr/>
            </p:nvSpPr>
            <p:spPr bwMode="auto">
              <a:xfrm>
                <a:off x="672" y="120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4" name="Rectangle 35"/>
              <p:cNvSpPr>
                <a:spLocks noChangeArrowheads="1"/>
              </p:cNvSpPr>
              <p:nvPr/>
            </p:nvSpPr>
            <p:spPr bwMode="auto">
              <a:xfrm>
                <a:off x="672" y="134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5" name="Rectangle 36"/>
              <p:cNvSpPr>
                <a:spLocks noChangeArrowheads="1"/>
              </p:cNvSpPr>
              <p:nvPr/>
            </p:nvSpPr>
            <p:spPr bwMode="auto">
              <a:xfrm>
                <a:off x="672" y="148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6" name="Rectangle 37"/>
              <p:cNvSpPr>
                <a:spLocks noChangeArrowheads="1"/>
              </p:cNvSpPr>
              <p:nvPr/>
            </p:nvSpPr>
            <p:spPr bwMode="auto">
              <a:xfrm>
                <a:off x="672" y="163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7" name="Rectangle 38"/>
              <p:cNvSpPr>
                <a:spLocks noChangeArrowheads="1"/>
              </p:cNvSpPr>
              <p:nvPr/>
            </p:nvSpPr>
            <p:spPr bwMode="auto">
              <a:xfrm>
                <a:off x="672" y="1776"/>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8" name="Rectangle 39"/>
              <p:cNvSpPr>
                <a:spLocks noChangeArrowheads="1"/>
              </p:cNvSpPr>
              <p:nvPr/>
            </p:nvSpPr>
            <p:spPr bwMode="auto">
              <a:xfrm>
                <a:off x="672" y="192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9" name="Rectangle 40"/>
              <p:cNvSpPr>
                <a:spLocks noChangeArrowheads="1"/>
              </p:cNvSpPr>
              <p:nvPr/>
            </p:nvSpPr>
            <p:spPr bwMode="auto">
              <a:xfrm>
                <a:off x="672" y="206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0" name="Rectangle 41"/>
              <p:cNvSpPr>
                <a:spLocks noChangeArrowheads="1"/>
              </p:cNvSpPr>
              <p:nvPr/>
            </p:nvSpPr>
            <p:spPr bwMode="auto">
              <a:xfrm>
                <a:off x="672" y="220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11" name="Rectangle 42"/>
              <p:cNvSpPr>
                <a:spLocks noChangeArrowheads="1"/>
              </p:cNvSpPr>
              <p:nvPr/>
            </p:nvSpPr>
            <p:spPr bwMode="auto">
              <a:xfrm>
                <a:off x="672" y="235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grpSp>
        <p:grpSp>
          <p:nvGrpSpPr>
            <p:cNvPr id="6" name="Group 43"/>
            <p:cNvGrpSpPr>
              <a:grpSpLocks/>
            </p:cNvGrpSpPr>
            <p:nvPr/>
          </p:nvGrpSpPr>
          <p:grpSpPr bwMode="auto">
            <a:xfrm rot="-5400000">
              <a:off x="1454" y="2050"/>
              <a:ext cx="61" cy="1599"/>
              <a:chOff x="672" y="1200"/>
              <a:chExt cx="48" cy="1248"/>
            </a:xfrm>
          </p:grpSpPr>
          <p:sp>
            <p:nvSpPr>
              <p:cNvPr id="53294" name="Rectangle 44"/>
              <p:cNvSpPr>
                <a:spLocks noChangeArrowheads="1"/>
              </p:cNvSpPr>
              <p:nvPr/>
            </p:nvSpPr>
            <p:spPr bwMode="auto">
              <a:xfrm>
                <a:off x="672" y="120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5" name="Rectangle 45"/>
              <p:cNvSpPr>
                <a:spLocks noChangeArrowheads="1"/>
              </p:cNvSpPr>
              <p:nvPr/>
            </p:nvSpPr>
            <p:spPr bwMode="auto">
              <a:xfrm>
                <a:off x="672" y="134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6" name="Rectangle 46"/>
              <p:cNvSpPr>
                <a:spLocks noChangeArrowheads="1"/>
              </p:cNvSpPr>
              <p:nvPr/>
            </p:nvSpPr>
            <p:spPr bwMode="auto">
              <a:xfrm>
                <a:off x="672" y="148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7" name="Rectangle 47"/>
              <p:cNvSpPr>
                <a:spLocks noChangeArrowheads="1"/>
              </p:cNvSpPr>
              <p:nvPr/>
            </p:nvSpPr>
            <p:spPr bwMode="auto">
              <a:xfrm>
                <a:off x="672" y="163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8" name="Rectangle 48"/>
              <p:cNvSpPr>
                <a:spLocks noChangeArrowheads="1"/>
              </p:cNvSpPr>
              <p:nvPr/>
            </p:nvSpPr>
            <p:spPr bwMode="auto">
              <a:xfrm>
                <a:off x="672" y="1776"/>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299" name="Rectangle 49"/>
              <p:cNvSpPr>
                <a:spLocks noChangeArrowheads="1"/>
              </p:cNvSpPr>
              <p:nvPr/>
            </p:nvSpPr>
            <p:spPr bwMode="auto">
              <a:xfrm>
                <a:off x="672" y="1920"/>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0" name="Rectangle 50"/>
              <p:cNvSpPr>
                <a:spLocks noChangeArrowheads="1"/>
              </p:cNvSpPr>
              <p:nvPr/>
            </p:nvSpPr>
            <p:spPr bwMode="auto">
              <a:xfrm>
                <a:off x="672" y="2064"/>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1" name="Rectangle 51"/>
              <p:cNvSpPr>
                <a:spLocks noChangeArrowheads="1"/>
              </p:cNvSpPr>
              <p:nvPr/>
            </p:nvSpPr>
            <p:spPr bwMode="auto">
              <a:xfrm>
                <a:off x="672" y="2208"/>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sp>
            <p:nvSpPr>
              <p:cNvPr id="53302" name="Rectangle 52"/>
              <p:cNvSpPr>
                <a:spLocks noChangeArrowheads="1"/>
              </p:cNvSpPr>
              <p:nvPr/>
            </p:nvSpPr>
            <p:spPr bwMode="auto">
              <a:xfrm>
                <a:off x="672" y="2352"/>
                <a:ext cx="48" cy="96"/>
              </a:xfrm>
              <a:prstGeom prst="rect">
                <a:avLst/>
              </a:prstGeom>
              <a:solidFill>
                <a:srgbClr val="C0C0C0"/>
              </a:solidFill>
              <a:ln w="9525">
                <a:solidFill>
                  <a:srgbClr val="99CCFF"/>
                </a:solidFill>
                <a:miter lim="800000"/>
                <a:headEnd/>
                <a:tailEnd/>
              </a:ln>
            </p:spPr>
            <p:txBody>
              <a:bodyPr wrap="none" anchor="ctr"/>
              <a:lstStyle/>
              <a:p>
                <a:endParaRPr lang="en-US"/>
              </a:p>
            </p:txBody>
          </p:sp>
        </p:grpSp>
        <p:sp>
          <p:nvSpPr>
            <p:cNvPr id="53266" name="Rectangle 53"/>
            <p:cNvSpPr>
              <a:spLocks noChangeArrowheads="1"/>
            </p:cNvSpPr>
            <p:nvPr/>
          </p:nvSpPr>
          <p:spPr bwMode="auto">
            <a:xfrm>
              <a:off x="1192" y="1498"/>
              <a:ext cx="556" cy="432"/>
            </a:xfrm>
            <a:prstGeom prst="rect">
              <a:avLst/>
            </a:prstGeom>
            <a:solidFill>
              <a:srgbClr val="3366FF"/>
            </a:solidFill>
            <a:ln w="9525">
              <a:noFill/>
              <a:miter lim="800000"/>
              <a:headEnd/>
              <a:tailEnd/>
            </a:ln>
          </p:spPr>
          <p:txBody>
            <a:bodyPr wrap="none" anchor="ctr"/>
            <a:lstStyle/>
            <a:p>
              <a:endParaRPr lang="en-US"/>
            </a:p>
          </p:txBody>
        </p:sp>
        <p:sp>
          <p:nvSpPr>
            <p:cNvPr id="53267" name="Rectangle 54"/>
            <p:cNvSpPr>
              <a:spLocks noChangeArrowheads="1"/>
            </p:cNvSpPr>
            <p:nvPr/>
          </p:nvSpPr>
          <p:spPr bwMode="auto">
            <a:xfrm>
              <a:off x="1940" y="1248"/>
              <a:ext cx="288" cy="336"/>
            </a:xfrm>
            <a:prstGeom prst="rect">
              <a:avLst/>
            </a:prstGeom>
            <a:solidFill>
              <a:srgbClr val="3366FF"/>
            </a:solidFill>
            <a:ln w="9525">
              <a:noFill/>
              <a:miter lim="800000"/>
              <a:headEnd/>
              <a:tailEnd/>
            </a:ln>
          </p:spPr>
          <p:txBody>
            <a:bodyPr wrap="none" anchor="ctr"/>
            <a:lstStyle/>
            <a:p>
              <a:pPr algn="ctr"/>
              <a:r>
                <a:rPr lang="en-US" sz="1000" b="1">
                  <a:solidFill>
                    <a:schemeClr val="bg1"/>
                  </a:solidFill>
                </a:rPr>
                <a:t>TCM</a:t>
              </a:r>
            </a:p>
            <a:p>
              <a:pPr algn="ctr"/>
              <a:r>
                <a:rPr lang="en-US" sz="1000" b="1">
                  <a:solidFill>
                    <a:schemeClr val="bg1"/>
                  </a:solidFill>
                </a:rPr>
                <a:t>D-MEM</a:t>
              </a:r>
            </a:p>
          </p:txBody>
        </p:sp>
        <p:sp>
          <p:nvSpPr>
            <p:cNvPr id="53268" name="Rectangle 55"/>
            <p:cNvSpPr>
              <a:spLocks noChangeArrowheads="1"/>
            </p:cNvSpPr>
            <p:nvPr/>
          </p:nvSpPr>
          <p:spPr bwMode="auto">
            <a:xfrm>
              <a:off x="720" y="1268"/>
              <a:ext cx="288" cy="336"/>
            </a:xfrm>
            <a:prstGeom prst="rect">
              <a:avLst/>
            </a:prstGeom>
            <a:solidFill>
              <a:srgbClr val="3366FF"/>
            </a:solidFill>
            <a:ln w="9525">
              <a:noFill/>
              <a:miter lim="800000"/>
              <a:headEnd/>
              <a:tailEnd/>
            </a:ln>
          </p:spPr>
          <p:txBody>
            <a:bodyPr wrap="none" anchor="ctr"/>
            <a:lstStyle/>
            <a:p>
              <a:pPr algn="ctr"/>
              <a:r>
                <a:rPr lang="en-US" sz="1000" b="1">
                  <a:solidFill>
                    <a:schemeClr val="bg1"/>
                  </a:solidFill>
                </a:rPr>
                <a:t>TCM</a:t>
              </a:r>
            </a:p>
            <a:p>
              <a:pPr algn="ctr"/>
              <a:r>
                <a:rPr lang="en-US" sz="1000" b="1">
                  <a:solidFill>
                    <a:schemeClr val="bg1"/>
                  </a:solidFill>
                </a:rPr>
                <a:t>I-MEM</a:t>
              </a:r>
            </a:p>
          </p:txBody>
        </p:sp>
        <p:sp>
          <p:nvSpPr>
            <p:cNvPr id="53269" name="Rectangle 56"/>
            <p:cNvSpPr>
              <a:spLocks noChangeArrowheads="1"/>
            </p:cNvSpPr>
            <p:nvPr/>
          </p:nvSpPr>
          <p:spPr bwMode="auto">
            <a:xfrm rot="5400000">
              <a:off x="1364" y="1076"/>
              <a:ext cx="216" cy="552"/>
            </a:xfrm>
            <a:prstGeom prst="rect">
              <a:avLst/>
            </a:prstGeom>
            <a:solidFill>
              <a:srgbClr val="339966"/>
            </a:solidFill>
            <a:ln w="9525">
              <a:noFill/>
              <a:miter lim="800000"/>
              <a:headEnd/>
              <a:tailEnd/>
            </a:ln>
          </p:spPr>
          <p:txBody>
            <a:bodyPr rot="10800000" vert="eaVert" wrap="none" anchor="ctr"/>
            <a:lstStyle/>
            <a:p>
              <a:pPr algn="ctr"/>
              <a:r>
                <a:rPr lang="en-US" sz="1000" b="1">
                  <a:solidFill>
                    <a:schemeClr val="bg1"/>
                  </a:solidFill>
                </a:rPr>
                <a:t>CUSTOM</a:t>
              </a:r>
            </a:p>
            <a:p>
              <a:pPr algn="ctr"/>
              <a:r>
                <a:rPr lang="en-US" sz="1000" b="1">
                  <a:solidFill>
                    <a:schemeClr val="bg1"/>
                  </a:solidFill>
                </a:rPr>
                <a:t>INSTR IF</a:t>
              </a:r>
            </a:p>
          </p:txBody>
        </p:sp>
        <p:sp>
          <p:nvSpPr>
            <p:cNvPr id="53270" name="Rectangle 57"/>
            <p:cNvSpPr>
              <a:spLocks noChangeArrowheads="1"/>
            </p:cNvSpPr>
            <p:nvPr/>
          </p:nvSpPr>
          <p:spPr bwMode="auto">
            <a:xfrm>
              <a:off x="710" y="1632"/>
              <a:ext cx="288" cy="336"/>
            </a:xfrm>
            <a:prstGeom prst="rect">
              <a:avLst/>
            </a:prstGeom>
            <a:solidFill>
              <a:srgbClr val="3366FF"/>
            </a:solidFill>
            <a:ln w="9525">
              <a:noFill/>
              <a:miter lim="800000"/>
              <a:headEnd/>
              <a:tailEnd/>
            </a:ln>
          </p:spPr>
          <p:txBody>
            <a:bodyPr wrap="none" anchor="ctr"/>
            <a:lstStyle/>
            <a:p>
              <a:pPr algn="ctr"/>
              <a:r>
                <a:rPr lang="en-US" sz="1200" b="1">
                  <a:solidFill>
                    <a:schemeClr val="bg1"/>
                  </a:solidFill>
                </a:rPr>
                <a:t>I$</a:t>
              </a:r>
            </a:p>
          </p:txBody>
        </p:sp>
        <p:sp>
          <p:nvSpPr>
            <p:cNvPr id="53271" name="Rectangle 58"/>
            <p:cNvSpPr>
              <a:spLocks noChangeArrowheads="1"/>
            </p:cNvSpPr>
            <p:nvPr/>
          </p:nvSpPr>
          <p:spPr bwMode="auto">
            <a:xfrm>
              <a:off x="1940" y="1632"/>
              <a:ext cx="288" cy="336"/>
            </a:xfrm>
            <a:prstGeom prst="rect">
              <a:avLst/>
            </a:prstGeom>
            <a:solidFill>
              <a:srgbClr val="3366FF"/>
            </a:solidFill>
            <a:ln w="9525">
              <a:noFill/>
              <a:miter lim="800000"/>
              <a:headEnd/>
              <a:tailEnd/>
            </a:ln>
          </p:spPr>
          <p:txBody>
            <a:bodyPr wrap="none" anchor="ctr"/>
            <a:lstStyle/>
            <a:p>
              <a:pPr algn="ctr"/>
              <a:r>
                <a:rPr lang="en-US" sz="1200" b="1">
                  <a:solidFill>
                    <a:schemeClr val="bg1"/>
                  </a:solidFill>
                </a:rPr>
                <a:t>D$</a:t>
              </a:r>
            </a:p>
          </p:txBody>
        </p:sp>
        <p:sp>
          <p:nvSpPr>
            <p:cNvPr id="53272" name="Rectangle 59"/>
            <p:cNvSpPr>
              <a:spLocks noChangeArrowheads="1"/>
            </p:cNvSpPr>
            <p:nvPr/>
          </p:nvSpPr>
          <p:spPr bwMode="auto">
            <a:xfrm>
              <a:off x="692" y="2304"/>
              <a:ext cx="1584" cy="432"/>
            </a:xfrm>
            <a:prstGeom prst="rect">
              <a:avLst/>
            </a:prstGeom>
            <a:solidFill>
              <a:srgbClr val="EAEAEA"/>
            </a:solidFill>
            <a:ln w="6350" cap="rnd">
              <a:solidFill>
                <a:schemeClr val="hlink"/>
              </a:solidFill>
              <a:prstDash val="sysDot"/>
              <a:miter lim="800000"/>
              <a:headEnd/>
              <a:tailEnd/>
            </a:ln>
          </p:spPr>
          <p:txBody>
            <a:bodyPr wrap="none" anchor="ctr"/>
            <a:lstStyle/>
            <a:p>
              <a:endParaRPr lang="en-US"/>
            </a:p>
          </p:txBody>
        </p:sp>
        <p:sp>
          <p:nvSpPr>
            <p:cNvPr id="53273" name="Rectangle 60"/>
            <p:cNvSpPr>
              <a:spLocks noChangeArrowheads="1"/>
            </p:cNvSpPr>
            <p:nvPr/>
          </p:nvSpPr>
          <p:spPr bwMode="auto">
            <a:xfrm>
              <a:off x="740" y="2016"/>
              <a:ext cx="336" cy="240"/>
            </a:xfrm>
            <a:prstGeom prst="rect">
              <a:avLst/>
            </a:prstGeom>
            <a:solidFill>
              <a:srgbClr val="FFCC00"/>
            </a:solidFill>
            <a:ln w="9525" algn="ctr">
              <a:noFill/>
              <a:miter lim="800000"/>
              <a:headEnd/>
              <a:tailEnd/>
            </a:ln>
          </p:spPr>
          <p:txBody>
            <a:bodyPr wrap="none" anchor="ctr"/>
            <a:lstStyle/>
            <a:p>
              <a:pPr algn="ctr"/>
              <a:r>
                <a:rPr lang="en-US" sz="1000" b="1"/>
                <a:t>INT</a:t>
              </a:r>
            </a:p>
            <a:p>
              <a:pPr algn="ctr"/>
              <a:r>
                <a:rPr lang="en-US" sz="1000" b="1"/>
                <a:t>CNTRL</a:t>
              </a:r>
            </a:p>
          </p:txBody>
        </p:sp>
        <p:sp>
          <p:nvSpPr>
            <p:cNvPr id="53274" name="Rectangle 61"/>
            <p:cNvSpPr>
              <a:spLocks noChangeArrowheads="1"/>
            </p:cNvSpPr>
            <p:nvPr/>
          </p:nvSpPr>
          <p:spPr bwMode="auto">
            <a:xfrm>
              <a:off x="766" y="2448"/>
              <a:ext cx="336" cy="240"/>
            </a:xfrm>
            <a:prstGeom prst="rect">
              <a:avLst/>
            </a:prstGeom>
            <a:solidFill>
              <a:schemeClr val="accent2"/>
            </a:solidFill>
            <a:ln w="9525" algn="ctr">
              <a:solidFill>
                <a:schemeClr val="accent1"/>
              </a:solidFill>
              <a:miter lim="800000"/>
              <a:headEnd/>
              <a:tailEnd/>
            </a:ln>
          </p:spPr>
          <p:txBody>
            <a:bodyPr wrap="none" anchor="ctr"/>
            <a:lstStyle/>
            <a:p>
              <a:pPr algn="ctr"/>
              <a:r>
                <a:rPr lang="en-US" sz="1000" b="1"/>
                <a:t>JTAG</a:t>
              </a:r>
            </a:p>
            <a:p>
              <a:pPr algn="ctr"/>
              <a:r>
                <a:rPr lang="en-US" sz="1000" b="1"/>
                <a:t>DEBUG</a:t>
              </a:r>
            </a:p>
          </p:txBody>
        </p:sp>
        <p:sp>
          <p:nvSpPr>
            <p:cNvPr id="53275" name="Rectangle 62"/>
            <p:cNvSpPr>
              <a:spLocks noChangeArrowheads="1"/>
            </p:cNvSpPr>
            <p:nvPr/>
          </p:nvSpPr>
          <p:spPr bwMode="auto">
            <a:xfrm>
              <a:off x="1198" y="2448"/>
              <a:ext cx="288" cy="240"/>
            </a:xfrm>
            <a:prstGeom prst="rect">
              <a:avLst/>
            </a:prstGeom>
            <a:solidFill>
              <a:schemeClr val="accent2"/>
            </a:solidFill>
            <a:ln w="9525" algn="ctr">
              <a:solidFill>
                <a:schemeClr val="accent1"/>
              </a:solidFill>
              <a:miter lim="800000"/>
              <a:headEnd/>
              <a:tailEnd/>
            </a:ln>
          </p:spPr>
          <p:txBody>
            <a:bodyPr wrap="none" anchor="ctr"/>
            <a:lstStyle/>
            <a:p>
              <a:pPr algn="ctr"/>
              <a:r>
                <a:rPr lang="en-US" sz="1000" b="1"/>
                <a:t>HW</a:t>
              </a:r>
            </a:p>
            <a:p>
              <a:pPr algn="ctr"/>
              <a:r>
                <a:rPr lang="en-US" sz="1000" b="1"/>
                <a:t>BP</a:t>
              </a:r>
            </a:p>
          </p:txBody>
        </p:sp>
        <p:sp>
          <p:nvSpPr>
            <p:cNvPr id="53276" name="Rectangle 63"/>
            <p:cNvSpPr>
              <a:spLocks noChangeArrowheads="1"/>
            </p:cNvSpPr>
            <p:nvPr/>
          </p:nvSpPr>
          <p:spPr bwMode="auto">
            <a:xfrm>
              <a:off x="1564" y="2448"/>
              <a:ext cx="288" cy="240"/>
            </a:xfrm>
            <a:prstGeom prst="rect">
              <a:avLst/>
            </a:prstGeom>
            <a:solidFill>
              <a:schemeClr val="accent2"/>
            </a:solidFill>
            <a:ln w="9525" algn="ctr">
              <a:solidFill>
                <a:schemeClr val="accent1"/>
              </a:solidFill>
              <a:miter lim="800000"/>
              <a:headEnd/>
              <a:tailEnd/>
            </a:ln>
          </p:spPr>
          <p:txBody>
            <a:bodyPr wrap="none" anchor="ctr"/>
            <a:lstStyle/>
            <a:p>
              <a:pPr algn="ctr"/>
              <a:r>
                <a:rPr lang="en-US" sz="1000" b="1"/>
                <a:t>I &amp; D</a:t>
              </a:r>
            </a:p>
            <a:p>
              <a:pPr algn="ctr"/>
              <a:r>
                <a:rPr lang="en-US" sz="1000" b="1"/>
                <a:t>TRCE</a:t>
              </a:r>
            </a:p>
          </p:txBody>
        </p:sp>
        <p:sp>
          <p:nvSpPr>
            <p:cNvPr id="53277" name="Rectangle 64"/>
            <p:cNvSpPr>
              <a:spLocks noChangeArrowheads="1"/>
            </p:cNvSpPr>
            <p:nvPr/>
          </p:nvSpPr>
          <p:spPr bwMode="auto">
            <a:xfrm>
              <a:off x="1940" y="2448"/>
              <a:ext cx="288" cy="240"/>
            </a:xfrm>
            <a:prstGeom prst="rect">
              <a:avLst/>
            </a:prstGeom>
            <a:solidFill>
              <a:schemeClr val="accent2"/>
            </a:solidFill>
            <a:ln w="9525" algn="ctr">
              <a:solidFill>
                <a:schemeClr val="accent1"/>
              </a:solidFill>
              <a:miter lim="800000"/>
              <a:headEnd/>
              <a:tailEnd/>
            </a:ln>
          </p:spPr>
          <p:txBody>
            <a:bodyPr wrap="none" anchor="ctr"/>
            <a:lstStyle/>
            <a:p>
              <a:pPr algn="ctr"/>
              <a:r>
                <a:rPr lang="en-US" sz="1000" b="1"/>
                <a:t>TRCE</a:t>
              </a:r>
            </a:p>
            <a:p>
              <a:pPr algn="ctr"/>
              <a:r>
                <a:rPr lang="en-US" sz="1000" b="1"/>
                <a:t>PORT</a:t>
              </a:r>
            </a:p>
          </p:txBody>
        </p:sp>
        <p:sp>
          <p:nvSpPr>
            <p:cNvPr id="53278" name="Text Box 65"/>
            <p:cNvSpPr txBox="1">
              <a:spLocks noChangeArrowheads="1"/>
            </p:cNvSpPr>
            <p:nvPr/>
          </p:nvSpPr>
          <p:spPr bwMode="auto">
            <a:xfrm>
              <a:off x="1172" y="2274"/>
              <a:ext cx="672" cy="154"/>
            </a:xfrm>
            <a:prstGeom prst="rect">
              <a:avLst/>
            </a:prstGeom>
            <a:noFill/>
            <a:ln w="9525">
              <a:noFill/>
              <a:miter lim="800000"/>
              <a:headEnd/>
              <a:tailEnd/>
            </a:ln>
          </p:spPr>
          <p:txBody>
            <a:bodyPr>
              <a:spAutoFit/>
            </a:bodyPr>
            <a:lstStyle/>
            <a:p>
              <a:pPr algn="ctr">
                <a:spcBef>
                  <a:spcPct val="50000"/>
                </a:spcBef>
              </a:pPr>
              <a:r>
                <a:rPr lang="en-US" sz="1000" b="1"/>
                <a:t>Debug</a:t>
              </a:r>
            </a:p>
          </p:txBody>
        </p:sp>
        <p:sp>
          <p:nvSpPr>
            <p:cNvPr id="53279" name="Rectangle 66"/>
            <p:cNvSpPr>
              <a:spLocks noChangeArrowheads="1"/>
            </p:cNvSpPr>
            <p:nvPr/>
          </p:nvSpPr>
          <p:spPr bwMode="auto">
            <a:xfrm>
              <a:off x="1940" y="2016"/>
              <a:ext cx="336" cy="240"/>
            </a:xfrm>
            <a:prstGeom prst="rect">
              <a:avLst/>
            </a:prstGeom>
            <a:solidFill>
              <a:srgbClr val="FFCC00"/>
            </a:solidFill>
            <a:ln w="9525" algn="ctr">
              <a:noFill/>
              <a:miter lim="800000"/>
              <a:headEnd/>
              <a:tailEnd/>
            </a:ln>
          </p:spPr>
          <p:txBody>
            <a:bodyPr wrap="none" anchor="ctr"/>
            <a:lstStyle/>
            <a:p>
              <a:pPr algn="ctr"/>
              <a:r>
                <a:rPr lang="en-US" sz="1000" b="1"/>
                <a:t>EXP</a:t>
              </a:r>
            </a:p>
            <a:p>
              <a:pPr algn="ctr"/>
              <a:r>
                <a:rPr lang="en-US" sz="1000" b="1"/>
                <a:t>CNTRL</a:t>
              </a:r>
            </a:p>
          </p:txBody>
        </p:sp>
        <p:sp>
          <p:nvSpPr>
            <p:cNvPr id="53280" name="Rectangle 67"/>
            <p:cNvSpPr>
              <a:spLocks noChangeArrowheads="1"/>
            </p:cNvSpPr>
            <p:nvPr/>
          </p:nvSpPr>
          <p:spPr bwMode="auto">
            <a:xfrm>
              <a:off x="1124" y="2016"/>
              <a:ext cx="336" cy="240"/>
            </a:xfrm>
            <a:prstGeom prst="rect">
              <a:avLst/>
            </a:prstGeom>
            <a:solidFill>
              <a:schemeClr val="folHlink"/>
            </a:solidFill>
            <a:ln w="9525" algn="ctr">
              <a:noFill/>
              <a:miter lim="800000"/>
              <a:headEnd/>
              <a:tailEnd/>
            </a:ln>
          </p:spPr>
          <p:txBody>
            <a:bodyPr wrap="none" anchor="ctr"/>
            <a:lstStyle/>
            <a:p>
              <a:pPr algn="ctr"/>
              <a:r>
                <a:rPr lang="en-US" sz="1000" b="1">
                  <a:solidFill>
                    <a:schemeClr val="bg1"/>
                  </a:solidFill>
                </a:rPr>
                <a:t>MMU</a:t>
              </a:r>
            </a:p>
          </p:txBody>
        </p:sp>
        <p:sp>
          <p:nvSpPr>
            <p:cNvPr id="53281" name="Rectangle 68"/>
            <p:cNvSpPr>
              <a:spLocks noChangeArrowheads="1"/>
            </p:cNvSpPr>
            <p:nvPr/>
          </p:nvSpPr>
          <p:spPr bwMode="auto">
            <a:xfrm>
              <a:off x="1508" y="2016"/>
              <a:ext cx="336" cy="240"/>
            </a:xfrm>
            <a:prstGeom prst="rect">
              <a:avLst/>
            </a:prstGeom>
            <a:solidFill>
              <a:schemeClr val="folHlink"/>
            </a:solidFill>
            <a:ln w="9525" algn="ctr">
              <a:noFill/>
              <a:miter lim="800000"/>
              <a:headEnd/>
              <a:tailEnd/>
            </a:ln>
          </p:spPr>
          <p:txBody>
            <a:bodyPr wrap="none" anchor="ctr"/>
            <a:lstStyle/>
            <a:p>
              <a:pPr algn="ctr"/>
              <a:r>
                <a:rPr lang="en-US" sz="1000" b="1">
                  <a:solidFill>
                    <a:schemeClr val="bg1"/>
                  </a:solidFill>
                </a:rPr>
                <a:t>MPU</a:t>
              </a:r>
            </a:p>
          </p:txBody>
        </p:sp>
        <p:sp>
          <p:nvSpPr>
            <p:cNvPr id="53282" name="AutoShape 69"/>
            <p:cNvSpPr>
              <a:spLocks noChangeArrowheads="1"/>
            </p:cNvSpPr>
            <p:nvPr/>
          </p:nvSpPr>
          <p:spPr bwMode="auto">
            <a:xfrm>
              <a:off x="288" y="1412"/>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3" name="AutoShape 70"/>
            <p:cNvSpPr>
              <a:spLocks noChangeArrowheads="1"/>
            </p:cNvSpPr>
            <p:nvPr/>
          </p:nvSpPr>
          <p:spPr bwMode="auto">
            <a:xfrm>
              <a:off x="2228" y="1392"/>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4" name="AutoShape 71"/>
            <p:cNvSpPr>
              <a:spLocks noChangeArrowheads="1"/>
            </p:cNvSpPr>
            <p:nvPr/>
          </p:nvSpPr>
          <p:spPr bwMode="auto">
            <a:xfrm>
              <a:off x="288" y="1748"/>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5" name="AutoShape 72"/>
            <p:cNvSpPr>
              <a:spLocks noChangeArrowheads="1"/>
            </p:cNvSpPr>
            <p:nvPr/>
          </p:nvSpPr>
          <p:spPr bwMode="auto">
            <a:xfrm>
              <a:off x="2228" y="1728"/>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6" name="AutoShape 73"/>
            <p:cNvSpPr>
              <a:spLocks noChangeArrowheads="1"/>
            </p:cNvSpPr>
            <p:nvPr/>
          </p:nvSpPr>
          <p:spPr bwMode="auto">
            <a:xfrm rot="5400000">
              <a:off x="1268" y="1008"/>
              <a:ext cx="384" cy="96"/>
            </a:xfrm>
            <a:prstGeom prst="leftRightArrow">
              <a:avLst>
                <a:gd name="adj1" fmla="val 50000"/>
                <a:gd name="adj2" fmla="val 80000"/>
              </a:avLst>
            </a:prstGeom>
            <a:solidFill>
              <a:srgbClr val="99CCFF"/>
            </a:solidFill>
            <a:ln w="9525">
              <a:noFill/>
              <a:miter lim="800000"/>
              <a:headEnd/>
              <a:tailEnd/>
            </a:ln>
          </p:spPr>
          <p:txBody>
            <a:bodyPr wrap="none" anchor="ctr"/>
            <a:lstStyle/>
            <a:p>
              <a:endParaRPr lang="en-US"/>
            </a:p>
          </p:txBody>
        </p:sp>
        <p:sp>
          <p:nvSpPr>
            <p:cNvPr id="53287" name="AutoShape 74"/>
            <p:cNvSpPr>
              <a:spLocks noChangeArrowheads="1"/>
            </p:cNvSpPr>
            <p:nvPr/>
          </p:nvSpPr>
          <p:spPr bwMode="auto">
            <a:xfrm>
              <a:off x="356" y="2544"/>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8" name="AutoShape 75"/>
            <p:cNvSpPr>
              <a:spLocks noChangeArrowheads="1"/>
            </p:cNvSpPr>
            <p:nvPr/>
          </p:nvSpPr>
          <p:spPr bwMode="auto">
            <a:xfrm>
              <a:off x="2228" y="2544"/>
              <a:ext cx="432" cy="96"/>
            </a:xfrm>
            <a:prstGeom prst="leftRightArrow">
              <a:avLst>
                <a:gd name="adj1" fmla="val 50000"/>
                <a:gd name="adj2" fmla="val 90000"/>
              </a:avLst>
            </a:prstGeom>
            <a:solidFill>
              <a:srgbClr val="99CCFF"/>
            </a:solidFill>
            <a:ln w="9525">
              <a:noFill/>
              <a:miter lim="800000"/>
              <a:headEnd/>
              <a:tailEnd/>
            </a:ln>
          </p:spPr>
          <p:txBody>
            <a:bodyPr wrap="none" anchor="ctr"/>
            <a:lstStyle/>
            <a:p>
              <a:endParaRPr lang="en-US"/>
            </a:p>
          </p:txBody>
        </p:sp>
        <p:sp>
          <p:nvSpPr>
            <p:cNvPr id="53289" name="AutoShape 76"/>
            <p:cNvSpPr>
              <a:spLocks noChangeArrowheads="1"/>
            </p:cNvSpPr>
            <p:nvPr/>
          </p:nvSpPr>
          <p:spPr bwMode="auto">
            <a:xfrm>
              <a:off x="1748" y="1748"/>
              <a:ext cx="192" cy="96"/>
            </a:xfrm>
            <a:prstGeom prst="leftRightArrow">
              <a:avLst>
                <a:gd name="adj1" fmla="val 50000"/>
                <a:gd name="adj2" fmla="val 40000"/>
              </a:avLst>
            </a:prstGeom>
            <a:solidFill>
              <a:srgbClr val="99CCFF"/>
            </a:solidFill>
            <a:ln w="9525">
              <a:noFill/>
              <a:miter lim="800000"/>
              <a:headEnd/>
              <a:tailEnd/>
            </a:ln>
          </p:spPr>
          <p:txBody>
            <a:bodyPr wrap="none" anchor="ctr"/>
            <a:lstStyle/>
            <a:p>
              <a:endParaRPr lang="en-US"/>
            </a:p>
          </p:txBody>
        </p:sp>
        <p:sp>
          <p:nvSpPr>
            <p:cNvPr id="53290" name="AutoShape 77"/>
            <p:cNvSpPr>
              <a:spLocks noChangeArrowheads="1"/>
            </p:cNvSpPr>
            <p:nvPr/>
          </p:nvSpPr>
          <p:spPr bwMode="auto">
            <a:xfrm>
              <a:off x="1748" y="1488"/>
              <a:ext cx="192" cy="96"/>
            </a:xfrm>
            <a:prstGeom prst="leftRightArrow">
              <a:avLst>
                <a:gd name="adj1" fmla="val 50000"/>
                <a:gd name="adj2" fmla="val 40000"/>
              </a:avLst>
            </a:prstGeom>
            <a:solidFill>
              <a:srgbClr val="99CCFF"/>
            </a:solidFill>
            <a:ln w="9525">
              <a:noFill/>
              <a:miter lim="800000"/>
              <a:headEnd/>
              <a:tailEnd/>
            </a:ln>
          </p:spPr>
          <p:txBody>
            <a:bodyPr wrap="none" anchor="ctr"/>
            <a:lstStyle/>
            <a:p>
              <a:endParaRPr lang="en-US"/>
            </a:p>
          </p:txBody>
        </p:sp>
        <p:sp>
          <p:nvSpPr>
            <p:cNvPr id="53291" name="AutoShape 78"/>
            <p:cNvSpPr>
              <a:spLocks noChangeArrowheads="1"/>
            </p:cNvSpPr>
            <p:nvPr/>
          </p:nvSpPr>
          <p:spPr bwMode="auto">
            <a:xfrm>
              <a:off x="1008" y="1508"/>
              <a:ext cx="192" cy="96"/>
            </a:xfrm>
            <a:prstGeom prst="leftRightArrow">
              <a:avLst>
                <a:gd name="adj1" fmla="val 50000"/>
                <a:gd name="adj2" fmla="val 40000"/>
              </a:avLst>
            </a:prstGeom>
            <a:solidFill>
              <a:srgbClr val="99CCFF"/>
            </a:solidFill>
            <a:ln w="9525">
              <a:noFill/>
              <a:miter lim="800000"/>
              <a:headEnd/>
              <a:tailEnd/>
            </a:ln>
          </p:spPr>
          <p:txBody>
            <a:bodyPr wrap="none" anchor="ctr"/>
            <a:lstStyle/>
            <a:p>
              <a:endParaRPr lang="en-US"/>
            </a:p>
          </p:txBody>
        </p:sp>
        <p:sp>
          <p:nvSpPr>
            <p:cNvPr id="53292" name="AutoShape 79"/>
            <p:cNvSpPr>
              <a:spLocks noChangeArrowheads="1"/>
            </p:cNvSpPr>
            <p:nvPr/>
          </p:nvSpPr>
          <p:spPr bwMode="auto">
            <a:xfrm>
              <a:off x="998" y="1748"/>
              <a:ext cx="192" cy="96"/>
            </a:xfrm>
            <a:prstGeom prst="leftRightArrow">
              <a:avLst>
                <a:gd name="adj1" fmla="val 50000"/>
                <a:gd name="adj2" fmla="val 40000"/>
              </a:avLst>
            </a:prstGeom>
            <a:solidFill>
              <a:srgbClr val="99CCFF"/>
            </a:solidFill>
            <a:ln w="9525">
              <a:noFill/>
              <a:miter lim="800000"/>
              <a:headEnd/>
              <a:tailEnd/>
            </a:ln>
          </p:spPr>
          <p:txBody>
            <a:bodyPr wrap="none" anchor="ctr"/>
            <a:lstStyle/>
            <a:p>
              <a:endParaRPr lang="en-US"/>
            </a:p>
          </p:txBody>
        </p:sp>
        <p:pic>
          <p:nvPicPr>
            <p:cNvPr id="53293" name="Picture 80" descr="nios2-logo-260x78"/>
            <p:cNvPicPr>
              <a:picLocks noChangeAspect="1" noChangeArrowheads="1"/>
            </p:cNvPicPr>
            <p:nvPr/>
          </p:nvPicPr>
          <p:blipFill>
            <a:blip r:embed="rId4" cstate="print"/>
            <a:srcRect/>
            <a:stretch>
              <a:fillRect/>
            </a:stretch>
          </p:blipFill>
          <p:spPr bwMode="auto">
            <a:xfrm>
              <a:off x="1240" y="1652"/>
              <a:ext cx="446" cy="134"/>
            </a:xfrm>
            <a:prstGeom prst="rect">
              <a:avLst/>
            </a:prstGeom>
            <a:noFill/>
            <a:ln w="9525">
              <a:noFill/>
              <a:miter lim="800000"/>
              <a:headEnd/>
              <a:tailEnd/>
            </a:ln>
          </p:spPr>
        </p:pic>
      </p:grpSp>
      <p:cxnSp>
        <p:nvCxnSpPr>
          <p:cNvPr id="83" name="Straight Connector 82"/>
          <p:cNvCxnSpPr/>
          <p:nvPr/>
        </p:nvCxnSpPr>
        <p:spPr>
          <a:xfrm flipV="1">
            <a:off x="4495800" y="2590800"/>
            <a:ext cx="304800" cy="2286000"/>
          </a:xfrm>
          <a:prstGeom prst="line">
            <a:avLst/>
          </a:prstGeom>
        </p:spPr>
        <p:style>
          <a:lnRef idx="2">
            <a:schemeClr val="accent2"/>
          </a:lnRef>
          <a:fillRef idx="0">
            <a:schemeClr val="accent2"/>
          </a:fillRef>
          <a:effectRef idx="1">
            <a:schemeClr val="accent2"/>
          </a:effectRef>
          <a:fontRef idx="minor">
            <a:schemeClr val="tx1"/>
          </a:fontRef>
        </p:style>
      </p:cxnSp>
      <p:cxnSp>
        <p:nvCxnSpPr>
          <p:cNvPr id="85" name="Straight Connector 84"/>
          <p:cNvCxnSpPr/>
          <p:nvPr/>
        </p:nvCxnSpPr>
        <p:spPr>
          <a:xfrm flipV="1">
            <a:off x="5410200" y="4800600"/>
            <a:ext cx="2743200" cy="914400"/>
          </a:xfrm>
          <a:prstGeom prst="line">
            <a:avLst/>
          </a:prstGeom>
        </p:spPr>
        <p:style>
          <a:lnRef idx="2">
            <a:schemeClr val="accent2"/>
          </a:lnRef>
          <a:fillRef idx="0">
            <a:schemeClr val="accent2"/>
          </a:fillRef>
          <a:effectRef idx="1">
            <a:schemeClr val="accent2"/>
          </a:effectRef>
          <a:fontRef idx="minor">
            <a:schemeClr val="tx1"/>
          </a:fontRef>
        </p:style>
      </p:cxnSp>
      <p:sp>
        <p:nvSpPr>
          <p:cNvPr id="82" name="Slide Number Placeholder 2"/>
          <p:cNvSpPr>
            <a:spLocks noGrp="1"/>
          </p:cNvSpPr>
          <p:nvPr>
            <p:ph type="sldNum" sz="quarter" idx="12"/>
          </p:nvPr>
        </p:nvSpPr>
        <p:spPr>
          <a:xfrm>
            <a:off x="146304" y="6324600"/>
            <a:ext cx="310896" cy="342900"/>
          </a:xfrm>
        </p:spPr>
        <p:txBody>
          <a:bodyPr/>
          <a:lstStyle/>
          <a:p>
            <a:fld id="{B6F15528-21DE-4FAA-801E-634DDDAF4B2B}" type="slidenum">
              <a:rPr lang="en-US" smtClean="0"/>
              <a:pPr/>
              <a:t>37</a:t>
            </a:fld>
            <a:endParaRPr lang="en-US"/>
          </a:p>
        </p:txBody>
      </p:sp>
      <p:sp>
        <p:nvSpPr>
          <p:cNvPr id="84" name="Rectangle 83"/>
          <p:cNvSpPr/>
          <p:nvPr/>
        </p:nvSpPr>
        <p:spPr>
          <a:xfrm>
            <a:off x="609600" y="6324600"/>
            <a:ext cx="3152273" cy="338554"/>
          </a:xfrm>
          <a:prstGeom prst="rect">
            <a:avLst/>
          </a:prstGeom>
        </p:spPr>
        <p:txBody>
          <a:bodyPr wrap="none">
            <a:spAutoFit/>
          </a:bodyPr>
          <a:lstStyle/>
          <a:p>
            <a:r>
              <a:rPr lang="en-US" sz="1600" dirty="0" smtClean="0"/>
              <a:t>Picture source: http://www.altera.com</a:t>
            </a:r>
            <a:endParaRPr lang="en-US" sz="1600" dirty="0"/>
          </a:p>
        </p:txBody>
      </p:sp>
    </p:spTree>
    <p:extLst>
      <p:ext uri="{BB962C8B-B14F-4D97-AF65-F5344CB8AC3E}">
        <p14:creationId xmlns:p14="http://schemas.microsoft.com/office/powerpoint/2010/main" val="830092764"/>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Xilinx </a:t>
            </a:r>
            <a:r>
              <a:rPr lang="en-US" dirty="0" err="1" smtClean="0"/>
              <a:t>Zynq</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a:p>
        </p:txBody>
      </p:sp>
      <p:sp>
        <p:nvSpPr>
          <p:cNvPr id="4" name="Content Placeholder 3"/>
          <p:cNvSpPr>
            <a:spLocks noGrp="1"/>
          </p:cNvSpPr>
          <p:nvPr>
            <p:ph sz="quarter" idx="1"/>
          </p:nvPr>
        </p:nvSpPr>
        <p:spPr/>
        <p:txBody>
          <a:bodyPr>
            <a:normAutofit/>
          </a:bodyPr>
          <a:lstStyle/>
          <a:p>
            <a:r>
              <a:rPr lang="en-US" dirty="0" smtClean="0"/>
              <a:t>A modern </a:t>
            </a:r>
            <a:r>
              <a:rPr lang="en-US" dirty="0" err="1" smtClean="0"/>
              <a:t>SoPC</a:t>
            </a:r>
            <a:r>
              <a:rPr lang="en-US" dirty="0" smtClean="0"/>
              <a:t> with many hardcore logic</a:t>
            </a:r>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743200"/>
            <a:ext cx="393643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586037"/>
            <a:ext cx="368617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90296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Xilinx </a:t>
            </a:r>
            <a:r>
              <a:rPr lang="en-GB" dirty="0" err="1" smtClean="0"/>
              <a:t>Zynq</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39</a:t>
            </a:fld>
            <a:endParaRPr lang="en-US"/>
          </a:p>
        </p:txBody>
      </p:sp>
      <p:sp>
        <p:nvSpPr>
          <p:cNvPr id="4" name="Content Placeholder 3"/>
          <p:cNvSpPr>
            <a:spLocks noGrp="1"/>
          </p:cNvSpPr>
          <p:nvPr>
            <p:ph sz="quarter" idx="1"/>
          </p:nvPr>
        </p:nvSpPr>
        <p:spPr>
          <a:xfrm>
            <a:off x="914400" y="1447800"/>
            <a:ext cx="7772400" cy="2286000"/>
          </a:xfrm>
        </p:spPr>
        <p:txBody>
          <a:bodyPr>
            <a:normAutofit fontScale="85000" lnSpcReduction="10000"/>
          </a:bodyPr>
          <a:lstStyle/>
          <a:p>
            <a:r>
              <a:rPr lang="en-GB" dirty="0"/>
              <a:t>FPGA fabric with embedded ARM processor on single die</a:t>
            </a:r>
          </a:p>
          <a:p>
            <a:pPr lvl="1"/>
            <a:r>
              <a:rPr lang="en-GB" dirty="0" smtClean="0"/>
              <a:t>Programmable </a:t>
            </a:r>
            <a:r>
              <a:rPr lang="en-GB" dirty="0"/>
              <a:t>logic (PL)</a:t>
            </a:r>
          </a:p>
          <a:p>
            <a:pPr lvl="1"/>
            <a:r>
              <a:rPr lang="en-GB" dirty="0" smtClean="0"/>
              <a:t>Processing </a:t>
            </a:r>
            <a:r>
              <a:rPr lang="en-GB" dirty="0"/>
              <a:t>system (PS</a:t>
            </a:r>
            <a:r>
              <a:rPr lang="en-GB" dirty="0" smtClean="0"/>
              <a:t>)</a:t>
            </a:r>
          </a:p>
          <a:p>
            <a:r>
              <a:rPr lang="en-GB" sz="2800" dirty="0"/>
              <a:t>PS based on dual-core </a:t>
            </a:r>
            <a:r>
              <a:rPr lang="en-GB" sz="2800" dirty="0" smtClean="0"/>
              <a:t>ARM Cortex-A9</a:t>
            </a:r>
            <a:endParaRPr lang="en-GB" sz="2800" dirty="0"/>
          </a:p>
          <a:p>
            <a:pPr lvl="1"/>
            <a:r>
              <a:rPr lang="en-GB" dirty="0" smtClean="0"/>
              <a:t>A rich set of peripherals: USB, CAN, SPI, Flash memory interface, DAM controller, memory controller, …..</a:t>
            </a:r>
            <a:endParaRPr lang="en-GB" dirty="0"/>
          </a:p>
        </p:txBody>
      </p:sp>
    </p:spTree>
    <p:extLst>
      <p:ext uri="{BB962C8B-B14F-4D97-AF65-F5344CB8AC3E}">
        <p14:creationId xmlns:p14="http://schemas.microsoft.com/office/powerpoint/2010/main" val="22307887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CPUs with FPGA</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40</a:t>
            </a:fld>
            <a:endParaRPr lang="en-US"/>
          </a:p>
        </p:txBody>
      </p:sp>
      <p:sp>
        <p:nvSpPr>
          <p:cNvPr id="4" name="Content Placeholder 3"/>
          <p:cNvSpPr>
            <a:spLocks noGrp="1"/>
          </p:cNvSpPr>
          <p:nvPr>
            <p:ph sz="quarter" idx="1"/>
          </p:nvPr>
        </p:nvSpPr>
        <p:spPr/>
        <p:txBody>
          <a:bodyPr/>
          <a:lstStyle/>
          <a:p>
            <a:r>
              <a:rPr lang="en-US" dirty="0" smtClean="0"/>
              <a:t>The latest trend initiated by Intel</a:t>
            </a:r>
          </a:p>
          <a:p>
            <a:r>
              <a:rPr lang="en-US" dirty="0" smtClean="0"/>
              <a:t>A processor that has an embedded FPGA</a:t>
            </a:r>
          </a:p>
          <a:p>
            <a:r>
              <a:rPr lang="en-US" dirty="0" smtClean="0"/>
              <a:t>Can be used to design customized accelerator</a:t>
            </a:r>
          </a:p>
          <a:p>
            <a:endParaRPr lang="en-GB" dirty="0"/>
          </a:p>
        </p:txBody>
      </p:sp>
      <p:pic>
        <p:nvPicPr>
          <p:cNvPr id="1280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752" y="3840162"/>
            <a:ext cx="4255911"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8004" name="Picture 4" descr="https://www.top500.org/static/media/uploads/.thumbnails/xeon-fpga-front.jpg/xeon-fpga-front-360x48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066800"/>
            <a:ext cx="1914146" cy="257878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048125"/>
            <a:ext cx="3429000" cy="227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96157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FPGA-based acceleration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41</a:t>
            </a:fld>
            <a:endParaRPr lang="en-US"/>
          </a:p>
        </p:txBody>
      </p:sp>
      <p:sp>
        <p:nvSpPr>
          <p:cNvPr id="4" name="Content Placeholder 3"/>
          <p:cNvSpPr>
            <a:spLocks noGrp="1"/>
          </p:cNvSpPr>
          <p:nvPr>
            <p:ph sz="quarter" idx="1"/>
          </p:nvPr>
        </p:nvSpPr>
        <p:spPr/>
        <p:txBody>
          <a:bodyPr/>
          <a:lstStyle/>
          <a:p>
            <a:r>
              <a:rPr lang="en-GB" dirty="0"/>
              <a:t>Configurable </a:t>
            </a:r>
            <a:r>
              <a:rPr lang="en-GB" dirty="0" smtClean="0"/>
              <a:t>Cloud in Microsoft Azure system (FPGA+CPU)</a:t>
            </a:r>
          </a:p>
          <a:p>
            <a:r>
              <a:rPr lang="en-GB" dirty="0" smtClean="0"/>
              <a:t>FPGA can accelerate specific computations</a:t>
            </a:r>
            <a:endParaRPr lang="en-GB" dirty="0"/>
          </a:p>
        </p:txBody>
      </p:sp>
      <p:sp>
        <p:nvSpPr>
          <p:cNvPr id="5" name="AutoShape 2" descr="Image result for microsoft azure two-socket server blade"/>
          <p:cNvSpPr>
            <a:spLocks noChangeAspect="1" noChangeArrowheads="1"/>
          </p:cNvSpPr>
          <p:nvPr/>
        </p:nvSpPr>
        <p:spPr bwMode="auto">
          <a:xfrm>
            <a:off x="155575" y="-1265238"/>
            <a:ext cx="8001000" cy="26384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81" y="2971800"/>
            <a:ext cx="8156575" cy="2779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832956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reuse</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42</a:t>
            </a:fld>
            <a:endParaRPr lang="en-US"/>
          </a:p>
        </p:txBody>
      </p:sp>
      <p:sp>
        <p:nvSpPr>
          <p:cNvPr id="4" name="Content Placeholder 3"/>
          <p:cNvSpPr>
            <a:spLocks noGrp="1"/>
          </p:cNvSpPr>
          <p:nvPr>
            <p:ph sz="quarter" idx="1"/>
          </p:nvPr>
        </p:nvSpPr>
        <p:spPr>
          <a:xfrm>
            <a:off x="914400" y="1447800"/>
            <a:ext cx="7772400" cy="4800600"/>
          </a:xfrm>
        </p:spPr>
        <p:txBody>
          <a:bodyPr>
            <a:normAutofit fontScale="92500" lnSpcReduction="20000"/>
          </a:bodyPr>
          <a:lstStyle/>
          <a:p>
            <a:r>
              <a:rPr lang="en-US" dirty="0" smtClean="0"/>
              <a:t>Using IP-cores</a:t>
            </a:r>
          </a:p>
          <a:p>
            <a:pPr lvl="1"/>
            <a:r>
              <a:rPr lang="en-US" dirty="0" smtClean="0"/>
              <a:t>“IP” means “intellectual property”</a:t>
            </a:r>
          </a:p>
          <a:p>
            <a:pPr lvl="1"/>
            <a:r>
              <a:rPr lang="en-US" dirty="0" smtClean="0"/>
              <a:t>Circuit designs cleaned up and made available to other engineers</a:t>
            </a:r>
          </a:p>
          <a:p>
            <a:r>
              <a:rPr lang="en-US" dirty="0" smtClean="0"/>
              <a:t>IP examples:</a:t>
            </a:r>
          </a:p>
          <a:p>
            <a:pPr lvl="1"/>
            <a:r>
              <a:rPr lang="en-US" dirty="0" smtClean="0"/>
              <a:t>Microprocessor cores</a:t>
            </a:r>
          </a:p>
          <a:p>
            <a:pPr lvl="1"/>
            <a:r>
              <a:rPr lang="en-US" dirty="0" smtClean="0"/>
              <a:t>DSP cores</a:t>
            </a:r>
          </a:p>
          <a:p>
            <a:pPr lvl="1"/>
            <a:r>
              <a:rPr lang="en-US" dirty="0" smtClean="0"/>
              <a:t>Ethernet, USB, FireWire, 802.11 cores</a:t>
            </a:r>
          </a:p>
          <a:p>
            <a:pPr lvl="1"/>
            <a:r>
              <a:rPr lang="en-US" dirty="0" smtClean="0"/>
              <a:t>Special-purpose cores</a:t>
            </a:r>
          </a:p>
          <a:p>
            <a:pPr lvl="2"/>
            <a:r>
              <a:rPr lang="en-US" dirty="0" smtClean="0"/>
              <a:t>MPEG-2 compression, decompression, encryption cores, </a:t>
            </a:r>
            <a:r>
              <a:rPr lang="en-US" dirty="0" err="1" smtClean="0"/>
              <a:t>filters,etc</a:t>
            </a:r>
            <a:r>
              <a:rPr lang="en-US" dirty="0" smtClean="0"/>
              <a:t>…</a:t>
            </a:r>
          </a:p>
          <a:p>
            <a:endParaRPr lang="en-GB" dirty="0" smtClean="0"/>
          </a:p>
          <a:p>
            <a:r>
              <a:rPr lang="en-GB" dirty="0" smtClean="0"/>
              <a:t>The </a:t>
            </a:r>
            <a:r>
              <a:rPr lang="en-GB" dirty="0"/>
              <a:t>global semiconductor IP market was valued at $3,434 million in 2017, and is </a:t>
            </a:r>
            <a:r>
              <a:rPr lang="en-GB" dirty="0" smtClean="0"/>
              <a:t>projected </a:t>
            </a:r>
            <a:r>
              <a:rPr lang="en-GB" dirty="0"/>
              <a:t>to reach $5,701 million by 2024</a:t>
            </a:r>
            <a:endParaRPr lang="en-US" dirty="0"/>
          </a:p>
        </p:txBody>
      </p:sp>
    </p:spTree>
    <p:extLst>
      <p:ext uri="{BB962C8B-B14F-4D97-AF65-F5344CB8AC3E}">
        <p14:creationId xmlns:p14="http://schemas.microsoft.com/office/powerpoint/2010/main" val="38243890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IP cores on the internet</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43</a:t>
            </a:fld>
            <a:endParaRPr lang="en-US"/>
          </a:p>
        </p:txBody>
      </p:sp>
      <p:sp>
        <p:nvSpPr>
          <p:cNvPr id="4" name="Content Placeholder 3"/>
          <p:cNvSpPr>
            <a:spLocks noGrp="1"/>
          </p:cNvSpPr>
          <p:nvPr>
            <p:ph sz="quarter" idx="1"/>
          </p:nvPr>
        </p:nvSpPr>
        <p:spPr/>
        <p:txBody>
          <a:bodyPr/>
          <a:lstStyle/>
          <a:p>
            <a:endParaRPr lang="en-GB"/>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200"/>
            <a:ext cx="8449417" cy="458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919111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 IP-cores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44</a:t>
            </a:fld>
            <a:endParaRPr lang="en-US"/>
          </a:p>
        </p:txBody>
      </p:sp>
      <p:sp>
        <p:nvSpPr>
          <p:cNvPr id="4" name="Content Placeholder 3"/>
          <p:cNvSpPr>
            <a:spLocks noGrp="1"/>
          </p:cNvSpPr>
          <p:nvPr>
            <p:ph sz="quarter" idx="1"/>
          </p:nvPr>
        </p:nvSpPr>
        <p:spPr/>
        <p:txBody>
          <a:bodyPr>
            <a:normAutofit/>
          </a:bodyPr>
          <a:lstStyle/>
          <a:p>
            <a:r>
              <a:rPr lang="en-US" dirty="0" smtClean="0"/>
              <a:t>Delivered in physical form</a:t>
            </a:r>
          </a:p>
          <a:p>
            <a:r>
              <a:rPr lang="en-US" dirty="0" smtClean="0"/>
              <a:t>Fully designed, placed and routed, and characterized for timing, power, etc. </a:t>
            </a:r>
          </a:p>
          <a:p>
            <a:r>
              <a:rPr lang="en-US" dirty="0" smtClean="0"/>
              <a:t>Tied to a manufacturing process </a:t>
            </a:r>
          </a:p>
          <a:p>
            <a:r>
              <a:rPr lang="en-US" dirty="0" smtClean="0"/>
              <a:t>Actual physical layout </a:t>
            </a:r>
          </a:p>
          <a:p>
            <a:pPr lvl="1"/>
            <a:r>
              <a:rPr lang="en-US" dirty="0" smtClean="0"/>
              <a:t>Fixed shape </a:t>
            </a:r>
          </a:p>
          <a:p>
            <a:r>
              <a:rPr lang="en-US" dirty="0" smtClean="0"/>
              <a:t>Technology specific layout</a:t>
            </a:r>
          </a:p>
          <a:p>
            <a:pPr lvl="1"/>
            <a:r>
              <a:rPr lang="en-US" dirty="0" smtClean="0"/>
              <a:t>Size and speed determined</a:t>
            </a:r>
            <a:endParaRPr lang="en-US" dirty="0"/>
          </a:p>
        </p:txBody>
      </p:sp>
    </p:spTree>
    <p:extLst>
      <p:ext uri="{BB962C8B-B14F-4D97-AF65-F5344CB8AC3E}">
        <p14:creationId xmlns:p14="http://schemas.microsoft.com/office/powerpoint/2010/main" val="370603668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 IP-cores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45</a:t>
            </a:fld>
            <a:endParaRPr lang="en-US"/>
          </a:p>
        </p:txBody>
      </p:sp>
      <p:sp>
        <p:nvSpPr>
          <p:cNvPr id="4" name="Content Placeholder 3"/>
          <p:cNvSpPr>
            <a:spLocks noGrp="1"/>
          </p:cNvSpPr>
          <p:nvPr>
            <p:ph sz="quarter" idx="1"/>
          </p:nvPr>
        </p:nvSpPr>
        <p:spPr/>
        <p:txBody>
          <a:bodyPr>
            <a:normAutofit lnSpcReduction="10000"/>
          </a:bodyPr>
          <a:lstStyle/>
          <a:p>
            <a:r>
              <a:rPr lang="en-US" dirty="0" smtClean="0"/>
              <a:t>Circuit design delivered in “source code” format instead of physical film or physical-layout information</a:t>
            </a:r>
          </a:p>
          <a:p>
            <a:pPr lvl="1"/>
            <a:r>
              <a:rPr lang="en-US" dirty="0" smtClean="0"/>
              <a:t>In forms of RTL code or </a:t>
            </a:r>
            <a:r>
              <a:rPr lang="en-US" dirty="0" err="1" smtClean="0"/>
              <a:t>netlist</a:t>
            </a:r>
            <a:endParaRPr lang="en-US" dirty="0" smtClean="0"/>
          </a:p>
          <a:p>
            <a:pPr lvl="1"/>
            <a:r>
              <a:rPr lang="en-US" dirty="0" smtClean="0"/>
              <a:t>technology dependent gate-level </a:t>
            </a:r>
            <a:r>
              <a:rPr lang="en-US" dirty="0" err="1" smtClean="0"/>
              <a:t>netlists</a:t>
            </a:r>
            <a:r>
              <a:rPr lang="en-US" dirty="0" smtClean="0"/>
              <a:t> are called firm-core</a:t>
            </a:r>
          </a:p>
          <a:p>
            <a:r>
              <a:rPr lang="en-US" dirty="0" smtClean="0"/>
              <a:t>Functions are fixed, may be </a:t>
            </a:r>
            <a:r>
              <a:rPr lang="en-US" dirty="0" err="1" smtClean="0"/>
              <a:t>parameterizable</a:t>
            </a:r>
            <a:endParaRPr lang="en-US" dirty="0" smtClean="0"/>
          </a:p>
          <a:p>
            <a:pPr lvl="1"/>
            <a:r>
              <a:rPr lang="en-US" dirty="0" smtClean="0"/>
              <a:t>Size and shape are determined when synthesizing</a:t>
            </a:r>
          </a:p>
          <a:p>
            <a:r>
              <a:rPr lang="en-US" dirty="0" smtClean="0"/>
              <a:t>Equivalent to delivering C source code</a:t>
            </a:r>
          </a:p>
          <a:p>
            <a:pPr lvl="1"/>
            <a:r>
              <a:rPr lang="en-US" dirty="0" smtClean="0"/>
              <a:t>The program doesn’t change at all, only the details of the executable binary you create</a:t>
            </a:r>
          </a:p>
        </p:txBody>
      </p:sp>
    </p:spTree>
    <p:extLst>
      <p:ext uri="{BB962C8B-B14F-4D97-AF65-F5344CB8AC3E}">
        <p14:creationId xmlns:p14="http://schemas.microsoft.com/office/powerpoint/2010/main" val="8208762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IP core generation</a:t>
            </a:r>
            <a:endParaRPr lang="en-GB"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46</a:t>
            </a:fld>
            <a:endParaRPr lang="en-US"/>
          </a:p>
        </p:txBody>
      </p:sp>
      <p:sp>
        <p:nvSpPr>
          <p:cNvPr id="4" name="Content Placeholder 3"/>
          <p:cNvSpPr>
            <a:spLocks noGrp="1"/>
          </p:cNvSpPr>
          <p:nvPr>
            <p:ph sz="quarter" idx="1"/>
          </p:nvPr>
        </p:nvSpPr>
        <p:spPr/>
        <p:txBody>
          <a:bodyPr/>
          <a:lstStyle/>
          <a:p>
            <a:r>
              <a:rPr lang="en-GB" dirty="0"/>
              <a:t> </a:t>
            </a:r>
            <a:r>
              <a:rPr lang="en-GB" dirty="0" smtClean="0"/>
              <a:t>can be done in many commercial tools</a:t>
            </a:r>
          </a:p>
          <a:p>
            <a:pPr lvl="1"/>
            <a:r>
              <a:rPr lang="en-GB" dirty="0" smtClean="0"/>
              <a:t>Xilinx </a:t>
            </a:r>
            <a:r>
              <a:rPr lang="en-GB" dirty="0"/>
              <a:t>CORE Generator </a:t>
            </a:r>
            <a:r>
              <a:rPr lang="en-GB" dirty="0" smtClean="0"/>
              <a:t>System</a:t>
            </a:r>
          </a:p>
          <a:p>
            <a:pPr lvl="1"/>
            <a:r>
              <a:rPr lang="en-US" dirty="0" err="1" smtClean="0"/>
              <a:t>Matlab</a:t>
            </a:r>
            <a:r>
              <a:rPr lang="en-US" dirty="0" smtClean="0"/>
              <a:t> HDL Coder</a:t>
            </a:r>
          </a:p>
          <a:p>
            <a:r>
              <a:rPr lang="en-US" dirty="0" smtClean="0"/>
              <a:t>We can use IP cores by some tools</a:t>
            </a:r>
          </a:p>
          <a:p>
            <a:pPr lvl="1"/>
            <a:r>
              <a:rPr lang="en-GB" dirty="0" err="1"/>
              <a:t>Vivado</a:t>
            </a:r>
            <a:r>
              <a:rPr lang="en-GB" dirty="0"/>
              <a:t>® IP </a:t>
            </a:r>
            <a:r>
              <a:rPr lang="en-GB" dirty="0" smtClean="0"/>
              <a:t>Integrator from Xilinx</a:t>
            </a:r>
          </a:p>
          <a:p>
            <a:pPr lvl="1"/>
            <a:r>
              <a:rPr lang="en-US" dirty="0" err="1" smtClean="0"/>
              <a:t>Qsys</a:t>
            </a:r>
            <a:r>
              <a:rPr lang="en-US" dirty="0" smtClean="0"/>
              <a:t> </a:t>
            </a:r>
            <a:r>
              <a:rPr lang="en-US" smtClean="0"/>
              <a:t>from Altera</a:t>
            </a:r>
            <a:endParaRPr lang="en-GB" dirty="0"/>
          </a:p>
          <a:p>
            <a:endParaRPr lang="en-GB" dirty="0"/>
          </a:p>
        </p:txBody>
      </p:sp>
    </p:spTree>
    <p:extLst>
      <p:ext uri="{BB962C8B-B14F-4D97-AF65-F5344CB8AC3E}">
        <p14:creationId xmlns:p14="http://schemas.microsoft.com/office/powerpoint/2010/main" val="281705955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1701</TotalTime>
  <Words>1338</Words>
  <Application>Microsoft Office PowerPoint</Application>
  <PresentationFormat>On-screen Show (4:3)</PresentationFormat>
  <Paragraphs>324</Paragraphs>
  <Slides>46</Slides>
  <Notes>27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46</vt:i4>
      </vt:variant>
    </vt:vector>
  </HeadingPairs>
  <TitlesOfParts>
    <vt:vector size="58" baseType="lpstr">
      <vt:lpstr>微軟正黑體</vt:lpstr>
      <vt:lpstr>MS PGothic</vt:lpstr>
      <vt:lpstr>新細明體</vt:lpstr>
      <vt:lpstr>Arial</vt:lpstr>
      <vt:lpstr>Calibri</vt:lpstr>
      <vt:lpstr>Franklin Gothic Book</vt:lpstr>
      <vt:lpstr>Perpetua</vt:lpstr>
      <vt:lpstr>Times</vt:lpstr>
      <vt:lpstr>Times New Roman</vt:lpstr>
      <vt:lpstr>Wingdings</vt:lpstr>
      <vt:lpstr>Wingdings 2</vt:lpstr>
      <vt:lpstr>Equity</vt:lpstr>
      <vt:lpstr>Computer-Aided Design of Digital Systems (CAD)</vt:lpstr>
      <vt:lpstr>Full-custom ICs</vt:lpstr>
      <vt:lpstr>IC fabrication process</vt:lpstr>
      <vt:lpstr>VLSI process for full custom ICs</vt:lpstr>
      <vt:lpstr>VLSI process for full custom ICs</vt:lpstr>
      <vt:lpstr>VLSI process for full custom ICs</vt:lpstr>
      <vt:lpstr>VLSI process for full custom ICs</vt:lpstr>
      <vt:lpstr>VLSI process for full custom ICs</vt:lpstr>
      <vt:lpstr>VLSI process for full custom ICs</vt:lpstr>
      <vt:lpstr>VLSI process for full custom ICs</vt:lpstr>
      <vt:lpstr>Full-custom ICs</vt:lpstr>
      <vt:lpstr>Programmable devices</vt:lpstr>
      <vt:lpstr>FPGA</vt:lpstr>
      <vt:lpstr>Digital design flow for FPGAs</vt:lpstr>
      <vt:lpstr>Digital design flow for FPGAs</vt:lpstr>
      <vt:lpstr>FPGA physical design</vt:lpstr>
      <vt:lpstr>Synthesis objectives</vt:lpstr>
      <vt:lpstr>Why hardware design?</vt:lpstr>
      <vt:lpstr>Hardware acceleration</vt:lpstr>
      <vt:lpstr>Why acceleration?</vt:lpstr>
      <vt:lpstr>Why acceleration?</vt:lpstr>
      <vt:lpstr>Hardware acceleration</vt:lpstr>
      <vt:lpstr>Hardware acceleration- ASICs</vt:lpstr>
      <vt:lpstr>ASICs</vt:lpstr>
      <vt:lpstr>Accelerator example- Deep learning</vt:lpstr>
      <vt:lpstr>Google TPU</vt:lpstr>
      <vt:lpstr>AI and Hardware accelerators</vt:lpstr>
      <vt:lpstr>AI and Hardware accelerators</vt:lpstr>
      <vt:lpstr>Accelerator-rich processors</vt:lpstr>
      <vt:lpstr>Multiprocessor system-on-chips</vt:lpstr>
      <vt:lpstr>Complex SoCs- mobile processor</vt:lpstr>
      <vt:lpstr>SoC in a tablet</vt:lpstr>
      <vt:lpstr>Apple A15</vt:lpstr>
      <vt:lpstr>System-on-programable chip</vt:lpstr>
      <vt:lpstr>SoPC</vt:lpstr>
      <vt:lpstr>SoPC</vt:lpstr>
      <vt:lpstr>Altera Startix</vt:lpstr>
      <vt:lpstr>Xilinx Zynq</vt:lpstr>
      <vt:lpstr>Xilinx Zynq</vt:lpstr>
      <vt:lpstr>CPUs with FPGA</vt:lpstr>
      <vt:lpstr>FPGA-based acceleration</vt:lpstr>
      <vt:lpstr>Design reuse</vt:lpstr>
      <vt:lpstr>Open IP cores on the internet</vt:lpstr>
      <vt:lpstr>Hard IP-cores</vt:lpstr>
      <vt:lpstr>Soft IP-cores</vt:lpstr>
      <vt:lpstr>IP core generation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Structural Design of Hardware in VHDL</dc:title>
  <dc:creator>mehdi</dc:creator>
  <cp:lastModifiedBy>LENOVO TWIST</cp:lastModifiedBy>
  <cp:revision>118</cp:revision>
  <dcterms:created xsi:type="dcterms:W3CDTF">2006-08-16T00:00:00Z</dcterms:created>
  <dcterms:modified xsi:type="dcterms:W3CDTF">2024-09-30T07:10:39Z</dcterms:modified>
</cp:coreProperties>
</file>