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1"/>
  </p:notesMasterIdLst>
  <p:sldIdLst>
    <p:sldId id="256" r:id="rId2"/>
    <p:sldId id="349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1" r:id="rId11"/>
    <p:sldId id="350" r:id="rId12"/>
    <p:sldId id="330" r:id="rId13"/>
    <p:sldId id="332" r:id="rId14"/>
    <p:sldId id="358" r:id="rId15"/>
    <p:sldId id="333" r:id="rId16"/>
    <p:sldId id="335" r:id="rId17"/>
    <p:sldId id="334" r:id="rId18"/>
    <p:sldId id="342" r:id="rId19"/>
    <p:sldId id="343" r:id="rId20"/>
    <p:sldId id="336" r:id="rId21"/>
    <p:sldId id="337" r:id="rId22"/>
    <p:sldId id="338" r:id="rId23"/>
    <p:sldId id="353" r:id="rId24"/>
    <p:sldId id="354" r:id="rId25"/>
    <p:sldId id="356" r:id="rId26"/>
    <p:sldId id="355" r:id="rId27"/>
    <p:sldId id="339" r:id="rId28"/>
    <p:sldId id="340" r:id="rId29"/>
    <p:sldId id="352" r:id="rId30"/>
    <p:sldId id="351" r:id="rId31"/>
    <p:sldId id="341" r:id="rId32"/>
    <p:sldId id="357" r:id="rId33"/>
    <p:sldId id="359" r:id="rId34"/>
    <p:sldId id="360" r:id="rId35"/>
    <p:sldId id="344" r:id="rId36"/>
    <p:sldId id="345" r:id="rId37"/>
    <p:sldId id="346" r:id="rId38"/>
    <p:sldId id="347" r:id="rId39"/>
    <p:sldId id="348" r:id="rId4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AE210BC-ECDC-4C50-9E7D-895EA1A07AD3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C4CA39B-6811-4A09-B2EF-CF371A139D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1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98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28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25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37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32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34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0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47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7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85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01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74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10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59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24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62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52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1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29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75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447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03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70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758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33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35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40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55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017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318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146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146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405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839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24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61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964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5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7162800" cy="160020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Mehdi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Modarressi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Department of Electrical and Computer Engineering,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University of  Tehran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FSM and FSMD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ECE381(CAD), Lecture </a:t>
            </a:r>
            <a:r>
              <a:rPr lang="en-US" sz="2200">
                <a:solidFill>
                  <a:schemeClr val="tx2"/>
                </a:solidFill>
              </a:rPr>
              <a:t>8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178676"/>
            <a:ext cx="990600" cy="888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914400" y="6019800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Some pictures and examples are taken from “FPGA Prototyping By VHDL Examples- Xilinx Spartan-3 Version”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and FSMD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Reading:</a:t>
            </a:r>
          </a:p>
          <a:p>
            <a:pPr lvl="1"/>
            <a:r>
              <a:rPr lang="en-US" dirty="0"/>
              <a:t>“FPGA Prototyping By VHDL Examples- Xilinx Spartan-3 Version”, Chapters 5 and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FSM (finite state machine)</a:t>
            </a:r>
          </a:p>
          <a:p>
            <a:r>
              <a:rPr lang="en-US" dirty="0"/>
              <a:t>FSMD (finite state machine with datapath)</a:t>
            </a:r>
          </a:p>
          <a:p>
            <a:r>
              <a:rPr lang="en-US" dirty="0"/>
              <a:t>Some design examples</a:t>
            </a:r>
          </a:p>
          <a:p>
            <a:pPr lvl="1"/>
            <a:r>
              <a:rPr lang="en-US" dirty="0"/>
              <a:t>Pipeline</a:t>
            </a:r>
          </a:p>
          <a:p>
            <a:pPr lvl="1"/>
            <a:r>
              <a:rPr lang="en-US" dirty="0"/>
              <a:t>Bus</a:t>
            </a:r>
          </a:p>
          <a:p>
            <a:pPr lvl="1"/>
            <a:r>
              <a:rPr lang="en-US" dirty="0" err="1"/>
              <a:t>Debouncer</a:t>
            </a:r>
            <a:endParaRPr lang="en-US" dirty="0"/>
          </a:p>
          <a:p>
            <a:pPr lvl="1"/>
            <a:r>
              <a:rPr lang="en-US" dirty="0"/>
              <a:t>….</a:t>
            </a: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Datapath and control path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Each digital circuit is composed of two parts</a:t>
            </a:r>
          </a:p>
          <a:p>
            <a:pPr lvl="1"/>
            <a:r>
              <a:rPr lang="en-US" dirty="0"/>
              <a:t>Control path</a:t>
            </a:r>
          </a:p>
          <a:p>
            <a:pPr lvl="1"/>
            <a:r>
              <a:rPr lang="en-US" dirty="0"/>
              <a:t>Data path</a:t>
            </a:r>
          </a:p>
          <a:p>
            <a:r>
              <a:rPr lang="en-US" dirty="0"/>
              <a:t>Datapath is the functional units that implement the computation or required operations and services</a:t>
            </a:r>
          </a:p>
          <a:p>
            <a:pPr lvl="1"/>
            <a:r>
              <a:rPr lang="en-US" dirty="0"/>
              <a:t>Like ALU in a CPU</a:t>
            </a:r>
          </a:p>
          <a:p>
            <a:r>
              <a:rPr lang="en-US" dirty="0"/>
              <a:t>Control path controls the behavior of the functional units</a:t>
            </a:r>
          </a:p>
          <a:p>
            <a:pPr lvl="1"/>
            <a:r>
              <a:rPr lang="en-US" dirty="0"/>
              <a:t>Activating datapath components, feeding data to them,…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Control path operation: Examines the external commands and also the current status of the system and activates proper control signals to control operation of a datapath</a:t>
            </a:r>
          </a:p>
          <a:p>
            <a:r>
              <a:rPr lang="en-US" dirty="0"/>
              <a:t>FSMs are used to describe the control path of a digital circuit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Moore: the output is only a function of state</a:t>
            </a:r>
          </a:p>
          <a:p>
            <a:r>
              <a:rPr lang="en-US" dirty="0"/>
              <a:t>Mealy : the output is a function of state and external input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15900" y="2590800"/>
            <a:ext cx="9487291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representation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 FSM is usually specified by a state diagram</a:t>
            </a:r>
          </a:p>
          <a:p>
            <a:r>
              <a:rPr lang="en-US" dirty="0"/>
              <a:t>A state diagram is composed of nodes, which represent states and are drawn as circles, and annotated transitional arcs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200400"/>
            <a:ext cx="6087353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modeling by VHDL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 from “The designers guide to VHDL”, page 110</a:t>
            </a:r>
          </a:p>
          <a:p>
            <a:r>
              <a:rPr lang="en-US" dirty="0"/>
              <a:t>An FSM with both Mealy and Moore outputs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2362200"/>
            <a:ext cx="4191000" cy="4385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modeling by VHDL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the VHDL‘s enumerated data type to represent the FSM’s states</a:t>
            </a:r>
          </a:p>
          <a:p>
            <a:r>
              <a:rPr lang="en-US" dirty="0"/>
              <a:t>3-process coding method</a:t>
            </a:r>
          </a:p>
          <a:p>
            <a:pPr lvl="1"/>
            <a:r>
              <a:rPr lang="en-US" dirty="0"/>
              <a:t>Use one process for state transition, one for next state calculation, and one for output generation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modeling by VHDL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957" y="1905000"/>
            <a:ext cx="7928623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7400" y="451221"/>
            <a:ext cx="3048000" cy="328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Oval 3"/>
          <p:cNvSpPr/>
          <p:nvPr/>
        </p:nvSpPr>
        <p:spPr>
          <a:xfrm flipV="1">
            <a:off x="1295400" y="5364481"/>
            <a:ext cx="5257800" cy="45719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PROCESS-1: State transition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5690" y="1847088"/>
            <a:ext cx="6120510" cy="271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4589" y="4700016"/>
            <a:ext cx="6062711" cy="194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PROCESS-2: State calculation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5181600" y="304800"/>
            <a:ext cx="4648200" cy="6134100"/>
            <a:chOff x="5010150" y="1524000"/>
            <a:chExt cx="4057650" cy="4914900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10150" y="1524000"/>
              <a:ext cx="40576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105400" y="1905000"/>
              <a:ext cx="3476625" cy="4533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" y="4495800"/>
            <a:ext cx="5105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000" y="1295400"/>
            <a:ext cx="3124200" cy="3364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PROCESS-3: Output generation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9" y="2362199"/>
            <a:ext cx="4953001" cy="3539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1676400"/>
            <a:ext cx="2815114" cy="2333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57599" y="4876800"/>
            <a:ext cx="4980829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33800" y="1371599"/>
            <a:ext cx="1839686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03" y="228600"/>
            <a:ext cx="4117355" cy="1828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81" y="4212206"/>
            <a:ext cx="2815114" cy="2333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7"/>
          <p:cNvGrpSpPr/>
          <p:nvPr/>
        </p:nvGrpSpPr>
        <p:grpSpPr>
          <a:xfrm>
            <a:off x="5486400" y="228600"/>
            <a:ext cx="4057650" cy="4914900"/>
            <a:chOff x="5010150" y="1524000"/>
            <a:chExt cx="4057650" cy="4914900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10150" y="1524000"/>
              <a:ext cx="40576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05400" y="1905000"/>
              <a:ext cx="3476625" cy="4533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59521" y="2032920"/>
            <a:ext cx="2743200" cy="295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77133" y="5378781"/>
            <a:ext cx="4009034" cy="1367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865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Example- Rising-edge detector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>
              <a:buNone/>
            </a:pPr>
            <a:r>
              <a:rPr lang="en-US" dirty="0"/>
              <a:t>                Moore                     	                                 Mealy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057400"/>
            <a:ext cx="2286000" cy="43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34175" y="2286000"/>
            <a:ext cx="180022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429000" y="4648200"/>
            <a:ext cx="243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zero and one states indicate that the input</a:t>
            </a:r>
          </a:p>
          <a:p>
            <a:r>
              <a:rPr lang="en-US" dirty="0"/>
              <a:t>signal has been ’0’ and ’ 1’ for awhile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50" y="1676400"/>
            <a:ext cx="29908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1828800"/>
            <a:ext cx="6172200" cy="325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41822" y="4342056"/>
            <a:ext cx="6106578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Design an FSM with two input signals a and b, and 4 output signals </a:t>
            </a:r>
            <a:r>
              <a:rPr lang="en-US" b="1" dirty="0" err="1"/>
              <a:t>P_in</a:t>
            </a:r>
            <a:r>
              <a:rPr lang="en-US" b="1" dirty="0"/>
              <a:t>, </a:t>
            </a:r>
            <a:r>
              <a:rPr lang="en-US" b="1" dirty="0" err="1"/>
              <a:t>P_out</a:t>
            </a:r>
            <a:r>
              <a:rPr lang="en-US" b="1" dirty="0"/>
              <a:t>, </a:t>
            </a:r>
            <a:r>
              <a:rPr lang="en-US" b="1" dirty="0" err="1"/>
              <a:t>C_in</a:t>
            </a:r>
            <a:r>
              <a:rPr lang="en-US" b="1" dirty="0"/>
              <a:t>, </a:t>
            </a:r>
            <a:r>
              <a:rPr lang="en-US" b="1" dirty="0" err="1"/>
              <a:t>C_out</a:t>
            </a:r>
            <a:r>
              <a:rPr lang="en-US" b="1" dirty="0"/>
              <a:t> that assert one clock signal when a pedestrian enters, a pedestrian exits, a car  enters, and a car exits, respectively. </a:t>
            </a:r>
          </a:p>
          <a:p>
            <a:r>
              <a:rPr lang="en-US" b="1" dirty="0"/>
              <a:t>Implement the FSM by VHDL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Finite state machine with datapath </a:t>
            </a:r>
          </a:p>
          <a:p>
            <a:r>
              <a:rPr lang="en-US" dirty="0"/>
              <a:t>Combines an FSM and regular sequential circuits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2514600"/>
            <a:ext cx="5943600" cy="4183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FSMD is used to implement systems described at the Register Transfer Level (RTL)</a:t>
            </a:r>
          </a:p>
          <a:p>
            <a:r>
              <a:rPr lang="en-US" dirty="0"/>
              <a:t>An RT operation specifies data manipulation and transfer for a single destination register</a:t>
            </a:r>
          </a:p>
          <a:p>
            <a:pPr algn="ctr">
              <a:buNone/>
            </a:pPr>
            <a:r>
              <a:rPr lang="en-US" sz="3400" dirty="0" err="1">
                <a:solidFill>
                  <a:srgbClr val="FF0000"/>
                </a:solidFill>
                <a:latin typeface="Arial"/>
              </a:rPr>
              <a:t>r</a:t>
            </a:r>
            <a:r>
              <a:rPr lang="en-US" sz="1600" dirty="0" err="1">
                <a:solidFill>
                  <a:srgbClr val="FF0000"/>
                </a:solidFill>
                <a:latin typeface="Arial"/>
              </a:rPr>
              <a:t>dest</a:t>
            </a:r>
            <a:r>
              <a:rPr lang="en-US" sz="16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3400" dirty="0">
                <a:solidFill>
                  <a:srgbClr val="FF0000"/>
                </a:solidFill>
                <a:latin typeface="Arial"/>
                <a:sym typeface="Wingdings" pitchFamily="2" charset="2"/>
              </a:rPr>
              <a:t></a:t>
            </a:r>
            <a:r>
              <a:rPr lang="en-US" sz="3400" dirty="0">
                <a:solidFill>
                  <a:srgbClr val="FF0000"/>
                </a:solidFill>
                <a:latin typeface="Arial"/>
              </a:rPr>
              <a:t> f(r</a:t>
            </a:r>
            <a:r>
              <a:rPr lang="en-US" sz="1600" dirty="0">
                <a:solidFill>
                  <a:srgbClr val="FF0000"/>
                </a:solidFill>
                <a:latin typeface="Arial"/>
              </a:rPr>
              <a:t>src1</a:t>
            </a:r>
            <a:r>
              <a:rPr lang="en-US" sz="3400" dirty="0">
                <a:solidFill>
                  <a:srgbClr val="FF0000"/>
                </a:solidFill>
                <a:latin typeface="Arial"/>
              </a:rPr>
              <a:t>, r</a:t>
            </a:r>
            <a:r>
              <a:rPr lang="en-US" sz="1600" dirty="0">
                <a:solidFill>
                  <a:srgbClr val="FF0000"/>
                </a:solidFill>
                <a:latin typeface="Arial"/>
              </a:rPr>
              <a:t>src2</a:t>
            </a:r>
            <a:r>
              <a:rPr lang="en-US" sz="3400" dirty="0">
                <a:solidFill>
                  <a:srgbClr val="FF0000"/>
                </a:solidFill>
                <a:latin typeface="Arial"/>
              </a:rPr>
              <a:t>,…,</a:t>
            </a:r>
            <a:r>
              <a:rPr lang="en-US" sz="3400" dirty="0" err="1">
                <a:solidFill>
                  <a:srgbClr val="FF0000"/>
                </a:solidFill>
                <a:latin typeface="Arial"/>
              </a:rPr>
              <a:t>r</a:t>
            </a:r>
            <a:r>
              <a:rPr lang="en-US" sz="1600" dirty="0" err="1">
                <a:solidFill>
                  <a:srgbClr val="FF0000"/>
                </a:solidFill>
                <a:latin typeface="Arial"/>
              </a:rPr>
              <a:t>srcn</a:t>
            </a:r>
            <a:r>
              <a:rPr lang="en-US" sz="3400" dirty="0">
                <a:solidFill>
                  <a:srgbClr val="FF0000"/>
                </a:solidFill>
                <a:latin typeface="Arial"/>
              </a:rPr>
              <a:t>) </a:t>
            </a:r>
            <a:endParaRPr lang="en-US" sz="3400" dirty="0">
              <a:solidFill>
                <a:srgbClr val="000000"/>
              </a:solidFill>
              <a:latin typeface="Arial"/>
            </a:endParaRPr>
          </a:p>
          <a:p>
            <a:r>
              <a:rPr lang="en-US" dirty="0"/>
              <a:t>Elementary operations - called </a:t>
            </a:r>
            <a:r>
              <a:rPr lang="en-US" i="1" dirty="0" err="1"/>
              <a:t>microoperations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load, count, shift, add, bitwise "OR", etc.</a:t>
            </a:r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R0</a:t>
            </a:r>
            <a:r>
              <a:rPr lang="en-US" dirty="0">
                <a:sym typeface="Wingdings" pitchFamily="2" charset="2"/>
              </a:rPr>
              <a:t> R1</a:t>
            </a:r>
            <a:r>
              <a:rPr lang="en-US" dirty="0">
                <a:latin typeface="Symbol"/>
              </a:rPr>
              <a:t>  </a:t>
            </a:r>
            <a:r>
              <a:rPr lang="en-US" dirty="0"/>
              <a:t>R2</a:t>
            </a:r>
          </a:p>
          <a:p>
            <a:pPr lvl="2"/>
            <a:r>
              <a:rPr lang="en-US" dirty="0"/>
              <a:t>R6</a:t>
            </a:r>
            <a:r>
              <a:rPr lang="en-US" dirty="0">
                <a:sym typeface="Wingdings" pitchFamily="2" charset="2"/>
              </a:rPr>
              <a:t> R7+R8-1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962400"/>
            <a:ext cx="3352800" cy="263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 description methodology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391400" cy="4572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Arrow (</a:t>
            </a:r>
            <a:r>
              <a:rPr lang="en-US" sz="28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sz="2800" dirty="0">
                <a:solidFill>
                  <a:srgbClr val="000000"/>
                </a:solidFill>
              </a:rPr>
              <a:t>): data transfer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e.g. R1 </a:t>
            </a:r>
            <a:r>
              <a:rPr lang="en-US" dirty="0">
                <a:solidFill>
                  <a:srgbClr val="000000"/>
                </a:solidFill>
                <a:sym typeface="Wingdings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</a:rPr>
              <a:t> R2</a:t>
            </a:r>
            <a:endParaRPr lang="en-US" dirty="0">
              <a:solidFill>
                <a:srgbClr val="009A9A"/>
              </a:solidFill>
            </a:endParaRPr>
          </a:p>
          <a:p>
            <a:r>
              <a:rPr lang="en-US" sz="2800" dirty="0">
                <a:solidFill>
                  <a:srgbClr val="000000"/>
                </a:solidFill>
              </a:rPr>
              <a:t>Brackets [ ]: Specifies a memory address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e.g. R0 </a:t>
            </a:r>
            <a:r>
              <a:rPr lang="en-US" dirty="0">
                <a:solidFill>
                  <a:srgbClr val="000000"/>
                </a:solidFill>
                <a:sym typeface="Wingdings" pitchFamily="2" charset="2"/>
              </a:rPr>
              <a:t></a:t>
            </a:r>
            <a:r>
              <a:rPr lang="en-US" dirty="0">
                <a:solidFill>
                  <a:srgbClr val="000000"/>
                </a:solidFill>
              </a:rPr>
              <a:t> M[AR]</a:t>
            </a:r>
            <a:endParaRPr lang="en-US" dirty="0">
              <a:solidFill>
                <a:srgbClr val="009A9A"/>
              </a:solidFill>
            </a:endParaRPr>
          </a:p>
          <a:p>
            <a:r>
              <a:rPr lang="en-US" sz="2800" dirty="0">
                <a:solidFill>
                  <a:srgbClr val="000000"/>
                </a:solidFill>
              </a:rPr>
              <a:t>Comma: separates parallel operations</a:t>
            </a:r>
          </a:p>
          <a:p>
            <a:r>
              <a:rPr lang="en-US" sz="2800" dirty="0"/>
              <a:t>Colon: states a condition</a:t>
            </a:r>
          </a:p>
          <a:p>
            <a:pPr lvl="1"/>
            <a:r>
              <a:rPr lang="pt-BR" dirty="0"/>
              <a:t>K1: (R2 </a:t>
            </a:r>
            <a:r>
              <a:rPr lang="pt-BR" dirty="0">
                <a:sym typeface="Wingdings" pitchFamily="2" charset="2"/>
              </a:rPr>
              <a:t></a:t>
            </a:r>
            <a:r>
              <a:rPr lang="pt-BR" dirty="0"/>
              <a:t> R1)</a:t>
            </a:r>
          </a:p>
          <a:p>
            <a:pPr lvl="1"/>
            <a:r>
              <a:rPr lang="pt-BR" dirty="0"/>
              <a:t>Means: </a:t>
            </a:r>
          </a:p>
          <a:p>
            <a:pPr marL="320040" lvl="1" indent="0">
              <a:buNone/>
            </a:pPr>
            <a:r>
              <a:rPr lang="pt-BR" dirty="0"/>
              <a:t>If (K1 =1) then (R2 </a:t>
            </a:r>
            <a:r>
              <a:rPr lang="pt-BR" dirty="0">
                <a:sym typeface="Wingdings" pitchFamily="2" charset="2"/>
              </a:rPr>
              <a:t></a:t>
            </a:r>
            <a:r>
              <a:rPr lang="pt-BR" dirty="0"/>
              <a:t> R1) </a:t>
            </a:r>
          </a:p>
          <a:p>
            <a:pPr lvl="1"/>
            <a:endParaRPr lang="pt-BR" dirty="0"/>
          </a:p>
          <a:p>
            <a:endParaRPr lang="en-US" sz="28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810000" y="4572000"/>
            <a:ext cx="2209800" cy="76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RT operations are synchronized by an embedded clock</a:t>
            </a:r>
          </a:p>
          <a:p>
            <a:r>
              <a:rPr lang="en-US" dirty="0"/>
              <a:t>The result from the </a:t>
            </a:r>
            <a:r>
              <a:rPr lang="en-US" i="1" dirty="0"/>
              <a:t>f (.) </a:t>
            </a:r>
            <a:r>
              <a:rPr lang="en-US" dirty="0"/>
              <a:t>function is not stored to the destination register until the next rising edge of the clock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a-</a:t>
            </a:r>
            <a:r>
              <a:rPr lang="en-US" dirty="0" err="1"/>
              <a:t>b+l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733800"/>
            <a:ext cx="4038600" cy="245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circuit based on the RT methodology specifies which RT operations should be executed in each step</a:t>
            </a:r>
          </a:p>
          <a:p>
            <a:r>
              <a:rPr lang="en-US" dirty="0"/>
              <a:t>An RT operation is done in a clock-by-clock basis</a:t>
            </a:r>
          </a:p>
          <a:p>
            <a:pPr lvl="1"/>
            <a:r>
              <a:rPr lang="en-US" dirty="0"/>
              <a:t>Its timing is similar to a state transition of an FSM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 chart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ASM: algorithmic state machine</a:t>
            </a:r>
          </a:p>
          <a:p>
            <a:r>
              <a:rPr lang="en-US" dirty="0"/>
              <a:t>Composed of a network of ASM blocks</a:t>
            </a:r>
          </a:p>
          <a:p>
            <a:pPr lvl="1"/>
            <a:r>
              <a:rPr lang="en-US" dirty="0"/>
              <a:t>State blocks: represents a state in an FSM</a:t>
            </a:r>
          </a:p>
          <a:p>
            <a:pPr lvl="1"/>
            <a:r>
              <a:rPr lang="en-US" dirty="0"/>
              <a:t>Decision blocks: tests the input condition and determines which exit path to take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3657600"/>
            <a:ext cx="3733800" cy="2464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ASM chart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828800"/>
            <a:ext cx="537210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box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symbol is a rectangle, with a label (state name) and output control operations(Moore type) written inside</a:t>
            </a:r>
          </a:p>
          <a:p>
            <a:r>
              <a:rPr lang="en-US" dirty="0"/>
              <a:t> It has a single exit path (arrow)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3429000"/>
            <a:ext cx="2590800" cy="2394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symbol is a diamond</a:t>
            </a:r>
          </a:p>
          <a:p>
            <a:r>
              <a:rPr lang="en-US" dirty="0"/>
              <a:t> A condition variable and multiple exit paths, labeled with values of the input condition</a:t>
            </a:r>
          </a:p>
          <a:p>
            <a:r>
              <a:rPr lang="en-US" dirty="0"/>
              <a:t> It has a single entry path.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4038600"/>
            <a:ext cx="260985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output box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symbol is a rounded rectangle</a:t>
            </a:r>
          </a:p>
          <a:p>
            <a:r>
              <a:rPr lang="en-US" dirty="0"/>
              <a:t>Denotes output signals that are of the Mealy type.</a:t>
            </a:r>
          </a:p>
          <a:p>
            <a:r>
              <a:rPr lang="en-US" dirty="0"/>
              <a:t>Always after a decision box</a:t>
            </a:r>
          </a:p>
          <a:p>
            <a:r>
              <a:rPr lang="en-US" dirty="0"/>
              <a:t>Single entry and exit path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3810000"/>
            <a:ext cx="2209800" cy="1869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ASMD chart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2311" y="2362200"/>
            <a:ext cx="882168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3600" y="1600200"/>
            <a:ext cx="6629400" cy="160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ASM with datapath</a:t>
            </a:r>
          </a:p>
          <a:p>
            <a:r>
              <a:rPr lang="en-US" dirty="0"/>
              <a:t>A clock is embedded in the chart</a:t>
            </a:r>
          </a:p>
          <a:p>
            <a:pPr lvl="1"/>
            <a:r>
              <a:rPr lang="en-US" dirty="0"/>
              <a:t>Registers are updated when exiting the current ASMD block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ASMD chart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828800"/>
            <a:ext cx="3667125" cy="4542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48149" y="1294642"/>
            <a:ext cx="5318004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 block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ASM block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1447800"/>
            <a:ext cx="6229899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Arrow Connector 6"/>
          <p:cNvCxnSpPr/>
          <p:nvPr/>
        </p:nvCxnSpPr>
        <p:spPr>
          <a:xfrm>
            <a:off x="1905000" y="1905000"/>
            <a:ext cx="9906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ASMD timing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685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Control passes one branch in the ASM block during the clock period and waits for the clock to enter the next state box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2089082"/>
            <a:ext cx="6872287" cy="4311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ASMD timing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destination registers are updated when exiting the current ASMD block, but not within the block</a:t>
            </a:r>
          </a:p>
          <a:p>
            <a:pPr lvl="1"/>
            <a:r>
              <a:rPr lang="en-US" dirty="0"/>
              <a:t>May introduce errors when a register is used in a decision box</a:t>
            </a:r>
          </a:p>
          <a:p>
            <a:r>
              <a:rPr lang="en-US" dirty="0"/>
              <a:t>If the new value of </a:t>
            </a:r>
            <a:r>
              <a:rPr lang="en-US" i="1" dirty="0"/>
              <a:t>r</a:t>
            </a:r>
            <a:r>
              <a:rPr lang="en-US" dirty="0"/>
              <a:t> is desired, we should use </a:t>
            </a:r>
            <a:r>
              <a:rPr lang="en-US" i="1" dirty="0" err="1"/>
              <a:t>r_next</a:t>
            </a:r>
            <a:r>
              <a:rPr lang="en-US" dirty="0"/>
              <a:t>, the output of the combinational logic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581400"/>
            <a:ext cx="4020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629400" y="38100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 := “ is used for</a:t>
            </a:r>
          </a:p>
          <a:p>
            <a:r>
              <a:rPr lang="en-US" dirty="0"/>
              <a:t>immediate assignment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diagram- ASM equivalence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6324600"/>
            <a:ext cx="7772400" cy="228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/>
              <a:t>Source: EE 459/500 – HDL Based Digital Design with Programmable Logic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599"/>
            <a:ext cx="5986462" cy="4263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diagram- ASM equivalence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6324600"/>
            <a:ext cx="7772400" cy="228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/>
              <a:t>Source: EE 459/500 – HDL Based Digital Design with Programmable Logic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304800"/>
            <a:ext cx="8772525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8359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ASMD chart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828800"/>
            <a:ext cx="3667125" cy="4542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48149" y="1294642"/>
            <a:ext cx="5318004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9513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Fibonacci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Fibonacci number circuit </a:t>
            </a:r>
          </a:p>
          <a:p>
            <a:r>
              <a:rPr lang="en-US" dirty="0"/>
              <a:t>A sequence of integers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667000"/>
            <a:ext cx="5105400" cy="109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ASMD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3429000" cy="487680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tl</a:t>
            </a:r>
            <a:r>
              <a:rPr lang="en-US" dirty="0"/>
              <a:t> and t0 are temporary storage registers </a:t>
            </a:r>
          </a:p>
          <a:p>
            <a:r>
              <a:rPr lang="en-US" dirty="0"/>
              <a:t>n is the index register</a:t>
            </a:r>
          </a:p>
          <a:p>
            <a:r>
              <a:rPr lang="en-US" dirty="0"/>
              <a:t>Input: 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: the number of required iterations </a:t>
            </a:r>
          </a:p>
          <a:p>
            <a:pPr lvl="1"/>
            <a:r>
              <a:rPr lang="en-US" dirty="0"/>
              <a:t>Start: Commands the beginning of operation</a:t>
            </a:r>
          </a:p>
          <a:p>
            <a:r>
              <a:rPr lang="en-US" dirty="0"/>
              <a:t>Output: </a:t>
            </a:r>
          </a:p>
          <a:p>
            <a:pPr lvl="1"/>
            <a:r>
              <a:rPr lang="en-US" dirty="0"/>
              <a:t>F: the last generated number</a:t>
            </a:r>
          </a:p>
          <a:p>
            <a:pPr lvl="1"/>
            <a:r>
              <a:rPr lang="en-US" dirty="0"/>
              <a:t>Ready: indicates that the circuit is idle and ready to take new input</a:t>
            </a:r>
          </a:p>
          <a:p>
            <a:pPr lvl="1"/>
            <a:r>
              <a:rPr lang="en-US" dirty="0"/>
              <a:t>done-tick: asserted for one clock cycle when the operation is completed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9251"/>
            <a:ext cx="5181600" cy="6838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code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672052"/>
            <a:ext cx="7162800" cy="41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code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60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use a 3-process implementation, much like the FSM implementation in previous lecture</a:t>
            </a:r>
          </a:p>
          <a:p>
            <a:pPr lvl="1"/>
            <a:r>
              <a:rPr lang="en-US" dirty="0"/>
              <a:t>but we should also handle the datapath registers in the next state calculation and assignment processes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3352800"/>
            <a:ext cx="429435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62000" y="419100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Process 1: State and datapath register assignment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609600"/>
            <a:ext cx="5457825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3429000"/>
            <a:ext cx="30003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191000" y="152400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Process 2: next state and datapath register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4114800"/>
            <a:ext cx="243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Process 3: output generation, we actually use a dataflow assignment, as the output is very simple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2284</TotalTime>
  <Words>1118</Words>
  <Application>Microsoft Office PowerPoint</Application>
  <PresentationFormat>On-screen Show (4:3)</PresentationFormat>
  <Paragraphs>224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Calibri</vt:lpstr>
      <vt:lpstr>Franklin Gothic Book</vt:lpstr>
      <vt:lpstr>Perpetua</vt:lpstr>
      <vt:lpstr>Symbol</vt:lpstr>
      <vt:lpstr>Times New Roman</vt:lpstr>
      <vt:lpstr>Wingdings</vt:lpstr>
      <vt:lpstr>Wingdings 2</vt:lpstr>
      <vt:lpstr>Equity</vt:lpstr>
      <vt:lpstr>FSM and FSMD</vt:lpstr>
      <vt:lpstr>FSM and FSMD</vt:lpstr>
      <vt:lpstr>Introduction </vt:lpstr>
      <vt:lpstr>Datapath and control path </vt:lpstr>
      <vt:lpstr>FSM</vt:lpstr>
      <vt:lpstr>FSM</vt:lpstr>
      <vt:lpstr>FSM representation</vt:lpstr>
      <vt:lpstr>FSM modeling by VHDL</vt:lpstr>
      <vt:lpstr>FSM modeling by VHDL</vt:lpstr>
      <vt:lpstr>FSM modeling by VHDL</vt:lpstr>
      <vt:lpstr>PROCESS-1: State transition</vt:lpstr>
      <vt:lpstr>PROCESS-2: State calculation</vt:lpstr>
      <vt:lpstr>PROCESS-3: Output generation</vt:lpstr>
      <vt:lpstr>PowerPoint Presentation</vt:lpstr>
      <vt:lpstr>Example- Rising-edge detector</vt:lpstr>
      <vt:lpstr>Exercise </vt:lpstr>
      <vt:lpstr>FSMD</vt:lpstr>
      <vt:lpstr>RTL</vt:lpstr>
      <vt:lpstr>RT description methodology</vt:lpstr>
      <vt:lpstr>RTL</vt:lpstr>
      <vt:lpstr>RTL</vt:lpstr>
      <vt:lpstr>ASM chart</vt:lpstr>
      <vt:lpstr>Elements of ASM chart</vt:lpstr>
      <vt:lpstr>State box</vt:lpstr>
      <vt:lpstr>Decision box</vt:lpstr>
      <vt:lpstr>Conditional output box</vt:lpstr>
      <vt:lpstr>ASMD chart</vt:lpstr>
      <vt:lpstr>ASMD chart</vt:lpstr>
      <vt:lpstr>ASM block</vt:lpstr>
      <vt:lpstr>ASMD timing</vt:lpstr>
      <vt:lpstr>ASMD timing</vt:lpstr>
      <vt:lpstr>State diagram- ASM equivalence</vt:lpstr>
      <vt:lpstr>State diagram- ASM equivalence</vt:lpstr>
      <vt:lpstr>ASMD chart</vt:lpstr>
      <vt:lpstr>Example: Fibonacci number</vt:lpstr>
      <vt:lpstr>ASMD</vt:lpstr>
      <vt:lpstr>VHDL code</vt:lpstr>
      <vt:lpstr>VHDL code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Design of Hardware in VHDL</dc:title>
  <dc:creator>mehdi</dc:creator>
  <cp:lastModifiedBy>user</cp:lastModifiedBy>
  <cp:revision>231</cp:revision>
  <cp:lastPrinted>2014-11-17T04:56:04Z</cp:lastPrinted>
  <dcterms:created xsi:type="dcterms:W3CDTF">2006-08-16T00:00:00Z</dcterms:created>
  <dcterms:modified xsi:type="dcterms:W3CDTF">2025-01-12T07:56:35Z</dcterms:modified>
</cp:coreProperties>
</file>