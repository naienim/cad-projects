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23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notesSlides/notesSlide24.xml" ContentType="application/vnd.openxmlformats-officedocument.presentationml.notesSlide+xml"/>
  <Override PartName="/ppt/tags/tag2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8"/>
  </p:notesMasterIdLst>
  <p:sldIdLst>
    <p:sldId id="267" r:id="rId2"/>
    <p:sldId id="420" r:id="rId3"/>
    <p:sldId id="455" r:id="rId4"/>
    <p:sldId id="380" r:id="rId5"/>
    <p:sldId id="478" r:id="rId6"/>
    <p:sldId id="432" r:id="rId7"/>
    <p:sldId id="482" r:id="rId8"/>
    <p:sldId id="454" r:id="rId9"/>
    <p:sldId id="357" r:id="rId10"/>
    <p:sldId id="352" r:id="rId11"/>
    <p:sldId id="359" r:id="rId12"/>
    <p:sldId id="361" r:id="rId13"/>
    <p:sldId id="363" r:id="rId14"/>
    <p:sldId id="376" r:id="rId15"/>
    <p:sldId id="400" r:id="rId16"/>
    <p:sldId id="457" r:id="rId17"/>
    <p:sldId id="460" r:id="rId18"/>
    <p:sldId id="462" r:id="rId19"/>
    <p:sldId id="463" r:id="rId20"/>
    <p:sldId id="465" r:id="rId21"/>
    <p:sldId id="466" r:id="rId22"/>
    <p:sldId id="467" r:id="rId23"/>
    <p:sldId id="468" r:id="rId24"/>
    <p:sldId id="469" r:id="rId25"/>
    <p:sldId id="479" r:id="rId26"/>
    <p:sldId id="477" r:id="rId27"/>
    <p:sldId id="470" r:id="rId28"/>
    <p:sldId id="473" r:id="rId29"/>
    <p:sldId id="471" r:id="rId30"/>
    <p:sldId id="483" r:id="rId31"/>
    <p:sldId id="472" r:id="rId32"/>
    <p:sldId id="474" r:id="rId33"/>
    <p:sldId id="490" r:id="rId34"/>
    <p:sldId id="492" r:id="rId35"/>
    <p:sldId id="491" r:id="rId36"/>
    <p:sldId id="493" r:id="rId37"/>
    <p:sldId id="497" r:id="rId38"/>
    <p:sldId id="495" r:id="rId39"/>
    <p:sldId id="496" r:id="rId40"/>
    <p:sldId id="498" r:id="rId41"/>
    <p:sldId id="502" r:id="rId42"/>
    <p:sldId id="507" r:id="rId43"/>
    <p:sldId id="508" r:id="rId44"/>
    <p:sldId id="509" r:id="rId45"/>
    <p:sldId id="510" r:id="rId46"/>
    <p:sldId id="511" r:id="rId47"/>
  </p:sldIdLst>
  <p:sldSz cx="9144000" cy="6858000" type="screen4x3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91" autoAdjust="0"/>
    <p:restoredTop sz="99833" autoAdjust="0"/>
  </p:normalViewPr>
  <p:slideViewPr>
    <p:cSldViewPr>
      <p:cViewPr varScale="1">
        <p:scale>
          <a:sx n="85" d="100"/>
          <a:sy n="85" d="100"/>
        </p:scale>
        <p:origin x="1382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30" y="8178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DEC18981-EEB1-4932-9AC6-85149CA2396C}" type="datetimeFigureOut">
              <a:rPr lang="en-US" smtClean="0"/>
              <a:pPr/>
              <a:t>10/28/2024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vert="horz" lIns="96661" tIns="48331" rIns="96661" bIns="48331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EFDE67EC-7E65-4C49-9A16-F37A27B22E1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321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3" Type="http://schemas.openxmlformats.org/officeDocument/2006/relationships/slide" Target="../slides/slide45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9.xml"/></Relationships>
</file>

<file path=ppt/notesSlides/_rels/notesSlide24.xml.rels><?xml version="1.0" encoding="UTF-8" standalone="yes"?>
<Relationships xmlns="http://schemas.openxmlformats.org/package/2006/relationships"><Relationship Id="rId3" Type="http://schemas.openxmlformats.org/officeDocument/2006/relationships/slide" Target="../slides/slide46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4CA39B-6811-4A09-B2EF-CF371A139D97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DE67EC-7E65-4C49-9A16-F37A27B22E15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DE67EC-7E65-4C49-9A16-F37A27B22E15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DE67EC-7E65-4C49-9A16-F37A27B22E15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DE67EC-7E65-4C49-9A16-F37A27B22E15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DE67EC-7E65-4C49-9A16-F37A27B22E15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DE67EC-7E65-4C49-9A16-F37A27B22E15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DE67EC-7E65-4C49-9A16-F37A27B22E15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DE67EC-7E65-4C49-9A16-F37A27B22E15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31EB74-6D62-4238-B358-CF405627D88C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DE67EC-7E65-4C49-9A16-F37A27B22E15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699497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DE67EC-7E65-4C49-9A16-F37A27B22E15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63987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DE67EC-7E65-4C49-9A16-F37A27B22E15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17117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DE67EC-7E65-4C49-9A16-F37A27B22E15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40354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DE67EC-7E65-4C49-9A16-F37A27B22E15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659543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DE67EC-7E65-4C49-9A16-F37A27B22E15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88270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DE67EC-7E65-4C49-9A16-F37A27B22E15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538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DE67EC-7E65-4C49-9A16-F37A27B22E15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189851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DE67EC-7E65-4C49-9A16-F37A27B22E15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636815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DE67EC-7E65-4C49-9A16-F37A27B22E15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607210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31EB74-6D62-4238-B358-CF405627D88C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376558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D981B3-4018-468D-86A5-D56DA2AE073B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43519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79" name="Rectangle 3"/>
          <p:cNvSpPr>
            <a:spLocks noGrp="1" noChangeArrowheads="1"/>
          </p:cNvSpPr>
          <p:nvPr>
            <p:ph type="body" idx="1"/>
            <p:custDataLst>
              <p:tags r:id="rId1"/>
            </p:custDataLst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/>
              <a:t>LUTs can perform any combinatorial function limited only by the number of inputs. It is your primary combinatorial logic resource and it is the industry standard.</a:t>
            </a:r>
          </a:p>
          <a:p>
            <a:r>
              <a:rPr lang="en-US"/>
              <a:t>The look-up table functionality is essentially a small memory containing the desired output value for each combination of input values. </a:t>
            </a:r>
          </a:p>
          <a:p>
            <a:pPr>
              <a:buFontTx/>
              <a:buChar char="•"/>
            </a:pPr>
            <a:r>
              <a:rPr lang="en-US"/>
              <a:t>The truth table for the desired function is stored in the memory.</a:t>
            </a:r>
          </a:p>
          <a:p>
            <a:pPr>
              <a:buFontTx/>
              <a:buChar char="•"/>
            </a:pPr>
            <a:r>
              <a:rPr lang="en-US"/>
              <a:t>The inputs of the function act as the address to be read from the memory (essentially a multiplexer controlled by the inputs).</a:t>
            </a:r>
          </a:p>
          <a:p>
            <a:pPr>
              <a:buFontTx/>
              <a:buChar char="•"/>
            </a:pPr>
            <a:r>
              <a:rPr lang="en-US"/>
              <a:t>The values for the storage elements are generated by the ISE® software tools, and downloaded to all LUTs at configuration time.</a:t>
            </a:r>
          </a:p>
          <a:p>
            <a:r>
              <a:rPr lang="en-US"/>
              <a:t>Each 6-input LUT can be configured as two 5-input LUTs. This gives the device a great deal of flexibility to build an efficient design.</a:t>
            </a:r>
          </a:p>
          <a:p>
            <a:pPr>
              <a:buFontTx/>
              <a:buChar char="•"/>
            </a:pPr>
            <a:r>
              <a:rPr lang="en-US"/>
              <a:t>Thus, the LUT can be used to build any function of six variables or two independent functions of five variables.</a:t>
            </a:r>
          </a:p>
          <a:p>
            <a:r>
              <a:rPr lang="en-US"/>
              <a:t>The synthesis and implementation tools use these resources to build combinatorial functions automatically.</a:t>
            </a:r>
          </a:p>
        </p:txBody>
      </p:sp>
    </p:spTree>
    <p:extLst>
      <p:ext uri="{BB962C8B-B14F-4D97-AF65-F5344CB8AC3E}">
        <p14:creationId xmlns:p14="http://schemas.microsoft.com/office/powerpoint/2010/main" val="199187412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3" name="Rectangle 3"/>
          <p:cNvSpPr>
            <a:spLocks noGrp="1" noChangeArrowheads="1"/>
          </p:cNvSpPr>
          <p:nvPr>
            <p:ph type="body" idx="1"/>
            <p:custDataLst>
              <p:tags r:id="rId1"/>
            </p:custDataLst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/>
              <a:t>The synthesis and implementation tools will automatically map logic to the F7MUX and F8MUX when appropriate.</a:t>
            </a:r>
          </a:p>
        </p:txBody>
      </p:sp>
    </p:spTree>
    <p:extLst>
      <p:ext uri="{BB962C8B-B14F-4D97-AF65-F5344CB8AC3E}">
        <p14:creationId xmlns:p14="http://schemas.microsoft.com/office/powerpoint/2010/main" val="41355785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Rounded Rectangle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76FBE-58CA-438F-A6DB-3322263ECFD5}" type="datetime1">
              <a:rPr lang="en-US" smtClean="0"/>
              <a:pPr/>
              <a:t>10/28/2024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562B3-D0CE-4577-91B6-4E6EE48DB6CD}" type="datetime1">
              <a:rPr lang="en-US" smtClean="0"/>
              <a:pPr/>
              <a:t>10/28/2024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304" y="6324600"/>
            <a:ext cx="310896" cy="34290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Rounded Rectangle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388D0-B408-4B10-B37A-3F71A2746CB1}" type="datetime1">
              <a:rPr lang="en-US" smtClean="0"/>
              <a:pPr/>
              <a:t>10/28/2024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4764F-BEC2-4E6D-9906-EC31044D4B52}" type="datetime1">
              <a:rPr lang="en-US" smtClean="0"/>
              <a:pPr/>
              <a:t>10/28/2024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DB97A-FC40-4EC6-8C5D-1DEE687F844F}" type="datetime1">
              <a:rPr lang="en-US" smtClean="0"/>
              <a:pPr/>
              <a:t>10/28/2024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4D707-1E0D-41A5-A2A9-A1A72EF52D8D}" type="datetime1">
              <a:rPr lang="en-US" smtClean="0"/>
              <a:pPr/>
              <a:t>10/28/2024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17627-038C-47A6-830E-A3BE5E6D3C39}" type="datetime1">
              <a:rPr lang="en-US" smtClean="0"/>
              <a:pPr/>
              <a:t>10/28/2024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D7382-7EFB-4D47-8682-F695F6A7A2DB}" type="datetime1">
              <a:rPr lang="en-US" smtClean="0"/>
              <a:pPr/>
              <a:t>10/28/2024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785C6-1897-4ADC-AFE2-C9D663CD1808}" type="datetime1">
              <a:rPr lang="en-US" smtClean="0"/>
              <a:pPr/>
              <a:t>10/28/2024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939164-FDFC-4B13-8026-D184F725BB3D}" type="datetime1">
              <a:rPr lang="en-US" smtClean="0"/>
              <a:pPr/>
              <a:t>10/28/2024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6CE4E-93C5-4D78-ADA8-970C294EB2A2}" type="datetime1">
              <a:rPr lang="en-US" smtClean="0"/>
              <a:pPr/>
              <a:t>10/28/2024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91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41763"/>
            <a:ext cx="4038600" cy="2189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2005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Verilog HDL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41BF37CF-C1C8-485B-B3E9-995A83C6563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35B29CCD-B764-499B-ACDE-2C081D461DD3}" type="datetime1">
              <a:rPr lang="en-US" smtClean="0"/>
              <a:pPr/>
              <a:t>10/28/2024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emf"/><Relationship Id="rId4" Type="http://schemas.openxmlformats.org/officeDocument/2006/relationships/oleObject" Target="../embeddings/oleObject2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2.wmf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wmf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8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wmf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wmf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10" Type="http://schemas.openxmlformats.org/officeDocument/2006/relationships/notesSlide" Target="../notesSlides/notesSlide23.xml"/><Relationship Id="rId4" Type="http://schemas.openxmlformats.org/officeDocument/2006/relationships/tags" Target="../tags/tag4.xml"/><Relationship Id="rId9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tags" Target="../tags/tag17.xml"/><Relationship Id="rId13" Type="http://schemas.openxmlformats.org/officeDocument/2006/relationships/tags" Target="../tags/tag22.xml"/><Relationship Id="rId3" Type="http://schemas.openxmlformats.org/officeDocument/2006/relationships/tags" Target="../tags/tag12.xml"/><Relationship Id="rId7" Type="http://schemas.openxmlformats.org/officeDocument/2006/relationships/tags" Target="../tags/tag16.xml"/><Relationship Id="rId12" Type="http://schemas.openxmlformats.org/officeDocument/2006/relationships/tags" Target="../tags/tag21.xml"/><Relationship Id="rId2" Type="http://schemas.openxmlformats.org/officeDocument/2006/relationships/tags" Target="../tags/tag11.xml"/><Relationship Id="rId16" Type="http://schemas.openxmlformats.org/officeDocument/2006/relationships/notesSlide" Target="../notesSlides/notesSlide24.xml"/><Relationship Id="rId1" Type="http://schemas.openxmlformats.org/officeDocument/2006/relationships/tags" Target="../tags/tag10.xml"/><Relationship Id="rId6" Type="http://schemas.openxmlformats.org/officeDocument/2006/relationships/tags" Target="../tags/tag15.xml"/><Relationship Id="rId11" Type="http://schemas.openxmlformats.org/officeDocument/2006/relationships/tags" Target="../tags/tag20.xml"/><Relationship Id="rId5" Type="http://schemas.openxmlformats.org/officeDocument/2006/relationships/tags" Target="../tags/tag14.xml"/><Relationship Id="rId15" Type="http://schemas.openxmlformats.org/officeDocument/2006/relationships/slideLayout" Target="../slideLayouts/slideLayout2.xml"/><Relationship Id="rId10" Type="http://schemas.openxmlformats.org/officeDocument/2006/relationships/tags" Target="../tags/tag19.xml"/><Relationship Id="rId4" Type="http://schemas.openxmlformats.org/officeDocument/2006/relationships/tags" Target="../tags/tag13.xml"/><Relationship Id="rId9" Type="http://schemas.openxmlformats.org/officeDocument/2006/relationships/tags" Target="../tags/tag18.xml"/><Relationship Id="rId14" Type="http://schemas.openxmlformats.org/officeDocument/2006/relationships/tags" Target="../tags/tag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sz="4400" dirty="0"/>
              <a:t>FPGA- </a:t>
            </a:r>
            <a:br>
              <a:rPr lang="en-US" sz="4400" dirty="0"/>
            </a:br>
            <a:r>
              <a:rPr lang="en-US" sz="4400" dirty="0"/>
              <a:t>Introduction to LUTs</a:t>
            </a: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76200" y="990600"/>
            <a:ext cx="2819400" cy="381000"/>
          </a:xfrm>
          <a:prstGeom prst="rect">
            <a:avLst/>
          </a:prstGeom>
        </p:spPr>
        <p:txBody>
          <a:bodyPr>
            <a:normAutofit fontScale="92500" lnSpcReduction="1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chemeClr val="accent1"/>
              </a:buClr>
              <a:buSzPct val="85000"/>
              <a:buFont typeface="Wingdings 2"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CE233(CAD), </a:t>
            </a: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Lecture </a:t>
            </a:r>
            <a:r>
              <a:rPr lang="en-US" sz="2200" noProof="0">
                <a:solidFill>
                  <a:schemeClr val="tx2"/>
                </a:solidFill>
              </a:rPr>
              <a:t>4</a:t>
            </a: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chemeClr val="accent1"/>
              </a:buClr>
              <a:buSzPct val="85000"/>
              <a:buFont typeface="Wingdings 2"/>
              <a:buNone/>
              <a:tabLst/>
              <a:defRPr/>
            </a:pP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ubtitle 2"/>
          <p:cNvSpPr txBox="1">
            <a:spLocks/>
          </p:cNvSpPr>
          <p:nvPr/>
        </p:nvSpPr>
        <p:spPr>
          <a:xfrm>
            <a:off x="914400" y="3810000"/>
            <a:ext cx="7162800" cy="16002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chemeClr val="accent1"/>
              </a:buClr>
              <a:buSzPct val="85000"/>
              <a:buFont typeface="Wingdings 2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Mehdi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Modarressi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chemeClr val="accent1"/>
              </a:buClr>
              <a:buSzPct val="85000"/>
              <a:buFont typeface="Wingdings 2"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Department of Electrical and Computer Engineering,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chemeClr val="accent1"/>
              </a:buClr>
              <a:buSzPct val="85000"/>
              <a:buFont typeface="Wingdings 2"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University of  Tehran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chemeClr val="accent1"/>
              </a:buClr>
              <a:buSzPct val="85000"/>
              <a:buFont typeface="Wingdings 2"/>
              <a:buNone/>
              <a:tabLst/>
              <a:defRPr/>
            </a:pP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Reading:</a:t>
            </a:r>
          </a:p>
          <a:p>
            <a:pPr lvl="1"/>
            <a:r>
              <a:rPr lang="sv-SE" i="1" dirty="0"/>
              <a:t>Spartan-3 Generation FPGA User Guide, Xilinx ug331 (v1.8)</a:t>
            </a:r>
          </a:p>
          <a:p>
            <a:pPr lvl="1"/>
            <a:r>
              <a:rPr lang="en-US" dirty="0"/>
              <a:t>“FPGA Prototyping By VHDL Examples- Xilinx Spartan-3 Version”, Chapter 2</a:t>
            </a:r>
          </a:p>
          <a:p>
            <a:pPr lvl="1"/>
            <a:r>
              <a:rPr lang="en-US" dirty="0"/>
              <a:t>“The Design Warrior's Guide to FPGAs”, Chapter 4</a:t>
            </a:r>
          </a:p>
          <a:p>
            <a:pPr lvl="1"/>
            <a:endParaRPr lang="sv-SE" i="1" dirty="0"/>
          </a:p>
          <a:p>
            <a:pPr lvl="1"/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FPGA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Field Programmable Gate Array</a:t>
            </a:r>
          </a:p>
          <a:p>
            <a:r>
              <a:rPr lang="en-US" dirty="0"/>
              <a:t>Uses SRAM for configurable parts</a:t>
            </a:r>
          </a:p>
          <a:p>
            <a:r>
              <a:rPr lang="en-US" dirty="0"/>
              <a:t>Uses LUT (lookup table) to implement logic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3444649"/>
            <a:ext cx="7315200" cy="2593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91312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Lookup table (LUT)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1447800"/>
          </a:xfrm>
        </p:spPr>
        <p:txBody>
          <a:bodyPr>
            <a:normAutofit/>
          </a:bodyPr>
          <a:lstStyle/>
          <a:p>
            <a:r>
              <a:rPr lang="en-US" dirty="0"/>
              <a:t>FPGAs implement logic functions using a lookup table (LUT)</a:t>
            </a:r>
          </a:p>
          <a:p>
            <a:pPr lvl="1"/>
            <a:r>
              <a:rPr lang="en-US" dirty="0"/>
              <a:t>An alternative to PAL-based implementation</a:t>
            </a:r>
          </a:p>
          <a:p>
            <a:r>
              <a:rPr lang="en-US" dirty="0"/>
              <a:t>An n-input LUT can implement any n-input function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62000" y="2971800"/>
          <a:ext cx="1371600" cy="3017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5853">
                <a:tc>
                  <a:txBody>
                    <a:bodyPr/>
                    <a:lstStyle/>
                    <a:p>
                      <a:r>
                        <a:rPr lang="en-US" sz="1600" dirty="0"/>
                        <a:t>a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b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c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f</a:t>
                      </a: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853">
                <a:tc>
                  <a:txBody>
                    <a:bodyPr/>
                    <a:lstStyle/>
                    <a:p>
                      <a:r>
                        <a:rPr lang="en-US" sz="1600" dirty="0"/>
                        <a:t>0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5853">
                <a:tc>
                  <a:txBody>
                    <a:bodyPr/>
                    <a:lstStyle/>
                    <a:p>
                      <a:r>
                        <a:rPr lang="en-US" sz="1600" dirty="0"/>
                        <a:t>0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5853">
                <a:tc>
                  <a:txBody>
                    <a:bodyPr/>
                    <a:lstStyle/>
                    <a:p>
                      <a:r>
                        <a:rPr lang="en-US" sz="1600" dirty="0"/>
                        <a:t>0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5853">
                <a:tc>
                  <a:txBody>
                    <a:bodyPr/>
                    <a:lstStyle/>
                    <a:p>
                      <a:r>
                        <a:rPr lang="en-US" sz="1600" dirty="0"/>
                        <a:t>0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5853">
                <a:tc>
                  <a:txBody>
                    <a:bodyPr/>
                    <a:lstStyle/>
                    <a:p>
                      <a:r>
                        <a:rPr lang="en-US" sz="1600" dirty="0"/>
                        <a:t>1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5853">
                <a:tc>
                  <a:txBody>
                    <a:bodyPr/>
                    <a:lstStyle/>
                    <a:p>
                      <a:r>
                        <a:rPr lang="en-US" sz="1600" dirty="0"/>
                        <a:t>1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5853">
                <a:tc>
                  <a:txBody>
                    <a:bodyPr/>
                    <a:lstStyle/>
                    <a:p>
                      <a:r>
                        <a:rPr lang="en-US" sz="1600" dirty="0"/>
                        <a:t>1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5853">
                <a:tc>
                  <a:txBody>
                    <a:bodyPr/>
                    <a:lstStyle/>
                    <a:p>
                      <a:r>
                        <a:rPr lang="en-US" sz="1600" dirty="0"/>
                        <a:t>1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048000" y="2895600"/>
            <a:ext cx="2667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dirty="0"/>
              <a:t>F=(</a:t>
            </a:r>
            <a:r>
              <a:rPr lang="en-US" sz="2800" i="1" dirty="0" err="1"/>
              <a:t>a+b</a:t>
            </a:r>
            <a:r>
              <a:rPr lang="en-US" sz="2800" i="1" dirty="0"/>
              <a:t>)× c’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200900" y="3429000"/>
          <a:ext cx="342900" cy="2926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65853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853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5853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5853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5853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5853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5853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5853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pSp>
        <p:nvGrpSpPr>
          <p:cNvPr id="29" name="Group 28"/>
          <p:cNvGrpSpPr/>
          <p:nvPr/>
        </p:nvGrpSpPr>
        <p:grpSpPr>
          <a:xfrm>
            <a:off x="2952750" y="3595910"/>
            <a:ext cx="4286250" cy="2602827"/>
            <a:chOff x="2876550" y="3581400"/>
            <a:chExt cx="4286250" cy="2602827"/>
          </a:xfrm>
        </p:grpSpPr>
        <p:sp>
          <p:nvSpPr>
            <p:cNvPr id="8" name="TextBox 7"/>
            <p:cNvSpPr txBox="1"/>
            <p:nvPr/>
          </p:nvSpPr>
          <p:spPr>
            <a:xfrm>
              <a:off x="4419600" y="4356318"/>
              <a:ext cx="914400" cy="1384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i="1" dirty="0"/>
                <a:t>a</a:t>
              </a:r>
            </a:p>
            <a:p>
              <a:r>
                <a:rPr lang="en-US" sz="2800" i="1" dirty="0"/>
                <a:t>b</a:t>
              </a:r>
            </a:p>
            <a:p>
              <a:r>
                <a:rPr lang="en-US" sz="2800" i="1" dirty="0"/>
                <a:t>c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5715000" y="4572000"/>
              <a:ext cx="762000" cy="10668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dirty="0"/>
                <a:t>Address Decoder</a:t>
              </a:r>
            </a:p>
          </p:txBody>
        </p:sp>
        <p:cxnSp>
          <p:nvCxnSpPr>
            <p:cNvPr id="12" name="Straight Arrow Connector 11"/>
            <p:cNvCxnSpPr/>
            <p:nvPr/>
          </p:nvCxnSpPr>
          <p:spPr>
            <a:xfrm>
              <a:off x="4800600" y="4648200"/>
              <a:ext cx="914400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/>
            <p:cNvCxnSpPr/>
            <p:nvPr/>
          </p:nvCxnSpPr>
          <p:spPr>
            <a:xfrm>
              <a:off x="4800600" y="5103812"/>
              <a:ext cx="914400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/>
            <p:cNvCxnSpPr/>
            <p:nvPr/>
          </p:nvCxnSpPr>
          <p:spPr>
            <a:xfrm>
              <a:off x="4800600" y="5561012"/>
              <a:ext cx="914400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/>
            <p:cNvCxnSpPr>
              <a:stCxn id="10" idx="3"/>
            </p:cNvCxnSpPr>
            <p:nvPr/>
          </p:nvCxnSpPr>
          <p:spPr>
            <a:xfrm flipV="1">
              <a:off x="6477000" y="3581400"/>
              <a:ext cx="609600" cy="15240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>
              <a:stCxn id="10" idx="3"/>
            </p:cNvCxnSpPr>
            <p:nvPr/>
          </p:nvCxnSpPr>
          <p:spPr>
            <a:xfrm>
              <a:off x="6477000" y="5105400"/>
              <a:ext cx="609600" cy="10668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 rot="5400000">
              <a:off x="6286500" y="4914900"/>
              <a:ext cx="1447800" cy="1588"/>
            </a:xfrm>
            <a:prstGeom prst="line">
              <a:avLst/>
            </a:prstGeom>
            <a:ln w="38100"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Oval 23"/>
            <p:cNvSpPr/>
            <p:nvPr/>
          </p:nvSpPr>
          <p:spPr>
            <a:xfrm>
              <a:off x="5029200" y="4572000"/>
              <a:ext cx="304800" cy="1143000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6" name="Straight Arrow Connector 25"/>
            <p:cNvCxnSpPr>
              <a:endCxn id="27" idx="3"/>
            </p:cNvCxnSpPr>
            <p:nvPr/>
          </p:nvCxnSpPr>
          <p:spPr>
            <a:xfrm flipH="1">
              <a:off x="4629150" y="5334000"/>
              <a:ext cx="400050" cy="650172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/>
            <p:cNvSpPr txBox="1"/>
            <p:nvPr/>
          </p:nvSpPr>
          <p:spPr>
            <a:xfrm>
              <a:off x="2876550" y="5784117"/>
              <a:ext cx="17526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Address lines</a:t>
              </a:r>
            </a:p>
          </p:txBody>
        </p:sp>
        <p:cxnSp>
          <p:nvCxnSpPr>
            <p:cNvPr id="31" name="Straight Arrow Connector 30"/>
            <p:cNvCxnSpPr/>
            <p:nvPr/>
          </p:nvCxnSpPr>
          <p:spPr>
            <a:xfrm>
              <a:off x="5562600" y="3733800"/>
              <a:ext cx="1600200" cy="228600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TextBox 27"/>
          <p:cNvSpPr txBox="1"/>
          <p:nvPr/>
        </p:nvSpPr>
        <p:spPr>
          <a:xfrm>
            <a:off x="762000" y="6096000"/>
            <a:ext cx="1752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Truth table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95800" y="3505200"/>
            <a:ext cx="1752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1</a:t>
            </a:r>
            <a:r>
              <a:rPr lang="en-US" sz="2000" i="1" dirty="0"/>
              <a:t>×</a:t>
            </a:r>
            <a:r>
              <a:rPr lang="en-US" sz="2000" dirty="0"/>
              <a:t>8 RAM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LUT-Based FPGAs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inputs, in addition to address decoder (see the previous slide) can also  be applied to a multiplexer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5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09600" y="3014300"/>
            <a:ext cx="8427950" cy="36532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994595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LUT </a:t>
            </a:r>
            <a:r>
              <a:rPr lang="en-GB" dirty="0" err="1"/>
              <a:t>vs</a:t>
            </a:r>
            <a:r>
              <a:rPr lang="en-GB" dirty="0"/>
              <a:t> PAL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2084659"/>
              </p:ext>
            </p:extLst>
          </p:nvPr>
        </p:nvGraphicFramePr>
        <p:xfrm>
          <a:off x="381000" y="2971800"/>
          <a:ext cx="1371600" cy="3017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5853">
                <a:tc>
                  <a:txBody>
                    <a:bodyPr/>
                    <a:lstStyle/>
                    <a:p>
                      <a:r>
                        <a:rPr lang="en-US" sz="1600" dirty="0"/>
                        <a:t>a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b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c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f</a:t>
                      </a: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853">
                <a:tc>
                  <a:txBody>
                    <a:bodyPr/>
                    <a:lstStyle/>
                    <a:p>
                      <a:r>
                        <a:rPr lang="en-US" sz="1600" dirty="0"/>
                        <a:t>0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5853">
                <a:tc>
                  <a:txBody>
                    <a:bodyPr/>
                    <a:lstStyle/>
                    <a:p>
                      <a:r>
                        <a:rPr lang="en-US" sz="1600" dirty="0"/>
                        <a:t>0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5853">
                <a:tc>
                  <a:txBody>
                    <a:bodyPr/>
                    <a:lstStyle/>
                    <a:p>
                      <a:r>
                        <a:rPr lang="en-US" sz="1600" dirty="0"/>
                        <a:t>0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5853">
                <a:tc>
                  <a:txBody>
                    <a:bodyPr/>
                    <a:lstStyle/>
                    <a:p>
                      <a:r>
                        <a:rPr lang="en-US" sz="1600" dirty="0"/>
                        <a:t>0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5853">
                <a:tc>
                  <a:txBody>
                    <a:bodyPr/>
                    <a:lstStyle/>
                    <a:p>
                      <a:r>
                        <a:rPr lang="en-US" sz="1600" dirty="0"/>
                        <a:t>1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5853">
                <a:tc>
                  <a:txBody>
                    <a:bodyPr/>
                    <a:lstStyle/>
                    <a:p>
                      <a:r>
                        <a:rPr lang="en-US" sz="1600" dirty="0"/>
                        <a:t>1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5853">
                <a:tc>
                  <a:txBody>
                    <a:bodyPr/>
                    <a:lstStyle/>
                    <a:p>
                      <a:r>
                        <a:rPr lang="en-US" sz="1600" dirty="0"/>
                        <a:t>1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5853">
                <a:tc>
                  <a:txBody>
                    <a:bodyPr/>
                    <a:lstStyle/>
                    <a:p>
                      <a:r>
                        <a:rPr lang="en-US" sz="1600" dirty="0"/>
                        <a:t>1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2171700" y="1682165"/>
            <a:ext cx="2667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dirty="0"/>
              <a:t>F=(</a:t>
            </a:r>
            <a:r>
              <a:rPr lang="en-US" sz="2800" i="1" dirty="0" err="1"/>
              <a:t>a+b</a:t>
            </a:r>
            <a:r>
              <a:rPr lang="en-US" sz="2800" i="1" dirty="0"/>
              <a:t>)× c’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7755551"/>
              </p:ext>
            </p:extLst>
          </p:nvPr>
        </p:nvGraphicFramePr>
        <p:xfrm>
          <a:off x="4762500" y="2799428"/>
          <a:ext cx="342900" cy="2926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65853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853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5853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5853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5853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5853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5853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5853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pSp>
        <p:nvGrpSpPr>
          <p:cNvPr id="29" name="Group 28"/>
          <p:cNvGrpSpPr/>
          <p:nvPr/>
        </p:nvGrpSpPr>
        <p:grpSpPr>
          <a:xfrm>
            <a:off x="2057400" y="2966338"/>
            <a:ext cx="2743200" cy="3129677"/>
            <a:chOff x="4419600" y="3581400"/>
            <a:chExt cx="2743200" cy="3129677"/>
          </a:xfrm>
        </p:grpSpPr>
        <p:sp>
          <p:nvSpPr>
            <p:cNvPr id="8" name="TextBox 7"/>
            <p:cNvSpPr txBox="1"/>
            <p:nvPr/>
          </p:nvSpPr>
          <p:spPr>
            <a:xfrm>
              <a:off x="4419600" y="4356318"/>
              <a:ext cx="914400" cy="1384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i="1" dirty="0"/>
                <a:t>a</a:t>
              </a:r>
            </a:p>
            <a:p>
              <a:r>
                <a:rPr lang="en-US" sz="2800" i="1" dirty="0"/>
                <a:t>b</a:t>
              </a:r>
            </a:p>
            <a:p>
              <a:r>
                <a:rPr lang="en-US" sz="2800" i="1" dirty="0"/>
                <a:t>c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5715000" y="4572000"/>
              <a:ext cx="762000" cy="10668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dirty="0"/>
                <a:t>Address Decoder</a:t>
              </a:r>
            </a:p>
          </p:txBody>
        </p:sp>
        <p:cxnSp>
          <p:nvCxnSpPr>
            <p:cNvPr id="12" name="Straight Arrow Connector 11"/>
            <p:cNvCxnSpPr/>
            <p:nvPr/>
          </p:nvCxnSpPr>
          <p:spPr>
            <a:xfrm>
              <a:off x="4800600" y="4648200"/>
              <a:ext cx="914400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/>
            <p:cNvCxnSpPr/>
            <p:nvPr/>
          </p:nvCxnSpPr>
          <p:spPr>
            <a:xfrm>
              <a:off x="4800600" y="5103812"/>
              <a:ext cx="914400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/>
            <p:cNvCxnSpPr/>
            <p:nvPr/>
          </p:nvCxnSpPr>
          <p:spPr>
            <a:xfrm>
              <a:off x="4800600" y="5561012"/>
              <a:ext cx="914400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/>
            <p:cNvCxnSpPr>
              <a:stCxn id="10" idx="3"/>
            </p:cNvCxnSpPr>
            <p:nvPr/>
          </p:nvCxnSpPr>
          <p:spPr>
            <a:xfrm flipV="1">
              <a:off x="6477000" y="3581400"/>
              <a:ext cx="609600" cy="15240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>
              <a:stCxn id="10" idx="3"/>
            </p:cNvCxnSpPr>
            <p:nvPr/>
          </p:nvCxnSpPr>
          <p:spPr>
            <a:xfrm>
              <a:off x="6477000" y="5105400"/>
              <a:ext cx="609600" cy="10668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 rot="5400000">
              <a:off x="6286500" y="4914900"/>
              <a:ext cx="1447800" cy="1588"/>
            </a:xfrm>
            <a:prstGeom prst="line">
              <a:avLst/>
            </a:prstGeom>
            <a:ln w="38100"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Oval 23"/>
            <p:cNvSpPr/>
            <p:nvPr/>
          </p:nvSpPr>
          <p:spPr>
            <a:xfrm>
              <a:off x="5029200" y="4572000"/>
              <a:ext cx="304800" cy="1143000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6" name="Straight Arrow Connector 25"/>
            <p:cNvCxnSpPr/>
            <p:nvPr/>
          </p:nvCxnSpPr>
          <p:spPr>
            <a:xfrm rot="5400000">
              <a:off x="4457700" y="5676900"/>
              <a:ext cx="914400" cy="228600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/>
            <p:cNvSpPr txBox="1"/>
            <p:nvPr/>
          </p:nvSpPr>
          <p:spPr>
            <a:xfrm>
              <a:off x="4422225" y="6310967"/>
              <a:ext cx="17526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Address lines</a:t>
              </a:r>
            </a:p>
          </p:txBody>
        </p:sp>
        <p:cxnSp>
          <p:nvCxnSpPr>
            <p:cNvPr id="31" name="Straight Arrow Connector 30"/>
            <p:cNvCxnSpPr/>
            <p:nvPr/>
          </p:nvCxnSpPr>
          <p:spPr>
            <a:xfrm>
              <a:off x="5562600" y="3733800"/>
              <a:ext cx="1600200" cy="228600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TextBox 27"/>
          <p:cNvSpPr txBox="1"/>
          <p:nvPr/>
        </p:nvSpPr>
        <p:spPr>
          <a:xfrm>
            <a:off x="325272" y="5973170"/>
            <a:ext cx="1752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Truth table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57400" y="2875628"/>
            <a:ext cx="1752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1</a:t>
            </a:r>
            <a:r>
              <a:rPr lang="en-US" sz="2000" i="1" dirty="0"/>
              <a:t>×</a:t>
            </a:r>
            <a:r>
              <a:rPr lang="en-US" sz="2000" dirty="0"/>
              <a:t>8 RAM</a:t>
            </a:r>
          </a:p>
        </p:txBody>
      </p:sp>
      <p:grpSp>
        <p:nvGrpSpPr>
          <p:cNvPr id="25" name="Group 4"/>
          <p:cNvGrpSpPr>
            <a:grpSpLocks/>
          </p:cNvGrpSpPr>
          <p:nvPr/>
        </p:nvGrpSpPr>
        <p:grpSpPr bwMode="auto">
          <a:xfrm>
            <a:off x="6172200" y="1688143"/>
            <a:ext cx="2545577" cy="4395622"/>
            <a:chOff x="2576" y="808"/>
            <a:chExt cx="2625" cy="3514"/>
          </a:xfrm>
        </p:grpSpPr>
        <p:grpSp>
          <p:nvGrpSpPr>
            <p:cNvPr id="32" name="Group 5"/>
            <p:cNvGrpSpPr>
              <a:grpSpLocks/>
            </p:cNvGrpSpPr>
            <p:nvPr/>
          </p:nvGrpSpPr>
          <p:grpSpPr bwMode="auto">
            <a:xfrm>
              <a:off x="2576" y="808"/>
              <a:ext cx="2625" cy="3514"/>
              <a:chOff x="2582" y="760"/>
              <a:chExt cx="2625" cy="3514"/>
            </a:xfrm>
          </p:grpSpPr>
          <p:sp>
            <p:nvSpPr>
              <p:cNvPr id="53" name="Rectangle 6"/>
              <p:cNvSpPr>
                <a:spLocks noChangeArrowheads="1"/>
              </p:cNvSpPr>
              <p:nvPr/>
            </p:nvSpPr>
            <p:spPr bwMode="auto">
              <a:xfrm>
                <a:off x="3339" y="4195"/>
                <a:ext cx="33" cy="79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eaLnBrk="0" hangingPunct="0"/>
                <a:r>
                  <a:rPr lang="en-US" sz="800">
                    <a:solidFill>
                      <a:srgbClr val="000000"/>
                    </a:solidFill>
                    <a:latin typeface="TimesTen" pitchFamily="18" charset="0"/>
                  </a:rPr>
                  <a:t>0</a:t>
                </a:r>
                <a:endParaRPr lang="en-US" sz="4000">
                  <a:latin typeface="Times New Roman" pitchFamily="18" charset="0"/>
                </a:endParaRPr>
              </a:p>
            </p:txBody>
          </p:sp>
          <p:sp>
            <p:nvSpPr>
              <p:cNvPr id="54" name="Rectangle 7"/>
              <p:cNvSpPr>
                <a:spLocks noChangeArrowheads="1"/>
              </p:cNvSpPr>
              <p:nvPr/>
            </p:nvSpPr>
            <p:spPr bwMode="auto">
              <a:xfrm>
                <a:off x="4231" y="4195"/>
                <a:ext cx="32" cy="79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eaLnBrk="0" hangingPunct="0"/>
                <a:r>
                  <a:rPr lang="en-US" sz="800">
                    <a:solidFill>
                      <a:srgbClr val="000000"/>
                    </a:solidFill>
                    <a:latin typeface="TimesTen" pitchFamily="18" charset="0"/>
                  </a:rPr>
                  <a:t>9</a:t>
                </a:r>
                <a:endParaRPr lang="en-US" sz="4000">
                  <a:latin typeface="Times New Roman" pitchFamily="18" charset="0"/>
                </a:endParaRPr>
              </a:p>
            </p:txBody>
          </p:sp>
          <p:sp>
            <p:nvSpPr>
              <p:cNvPr id="55" name="Rectangle 8"/>
              <p:cNvSpPr>
                <a:spLocks noChangeArrowheads="1"/>
              </p:cNvSpPr>
              <p:nvPr/>
            </p:nvSpPr>
            <p:spPr bwMode="auto">
              <a:xfrm>
                <a:off x="3438" y="4195"/>
                <a:ext cx="33" cy="79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eaLnBrk="0" hangingPunct="0"/>
                <a:r>
                  <a:rPr lang="en-US" sz="800">
                    <a:solidFill>
                      <a:srgbClr val="000000"/>
                    </a:solidFill>
                    <a:latin typeface="TimesTen" pitchFamily="18" charset="0"/>
                  </a:rPr>
                  <a:t>1</a:t>
                </a:r>
                <a:endParaRPr lang="en-US" sz="4000">
                  <a:latin typeface="Times New Roman" pitchFamily="18" charset="0"/>
                </a:endParaRPr>
              </a:p>
            </p:txBody>
          </p:sp>
          <p:sp>
            <p:nvSpPr>
              <p:cNvPr id="56" name="Rectangle 9"/>
              <p:cNvSpPr>
                <a:spLocks noChangeArrowheads="1"/>
              </p:cNvSpPr>
              <p:nvPr/>
            </p:nvSpPr>
            <p:spPr bwMode="auto">
              <a:xfrm>
                <a:off x="3537" y="4195"/>
                <a:ext cx="33" cy="79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eaLnBrk="0" hangingPunct="0"/>
                <a:r>
                  <a:rPr lang="en-US" sz="800">
                    <a:solidFill>
                      <a:srgbClr val="000000"/>
                    </a:solidFill>
                    <a:latin typeface="TimesTen" pitchFamily="18" charset="0"/>
                  </a:rPr>
                  <a:t>2</a:t>
                </a:r>
                <a:endParaRPr lang="en-US" sz="4000">
                  <a:latin typeface="Times New Roman" pitchFamily="18" charset="0"/>
                </a:endParaRPr>
              </a:p>
            </p:txBody>
          </p:sp>
          <p:sp>
            <p:nvSpPr>
              <p:cNvPr id="57" name="Rectangle 10"/>
              <p:cNvSpPr>
                <a:spLocks noChangeArrowheads="1"/>
              </p:cNvSpPr>
              <p:nvPr/>
            </p:nvSpPr>
            <p:spPr bwMode="auto">
              <a:xfrm>
                <a:off x="3635" y="4195"/>
                <a:ext cx="33" cy="79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eaLnBrk="0" hangingPunct="0"/>
                <a:r>
                  <a:rPr lang="en-US" sz="800">
                    <a:solidFill>
                      <a:srgbClr val="000000"/>
                    </a:solidFill>
                    <a:latin typeface="TimesTen" pitchFamily="18" charset="0"/>
                  </a:rPr>
                  <a:t>3</a:t>
                </a:r>
                <a:endParaRPr lang="en-US" sz="4000">
                  <a:latin typeface="Times New Roman" pitchFamily="18" charset="0"/>
                </a:endParaRPr>
              </a:p>
            </p:txBody>
          </p:sp>
          <p:sp>
            <p:nvSpPr>
              <p:cNvPr id="58" name="Rectangle 11"/>
              <p:cNvSpPr>
                <a:spLocks noChangeArrowheads="1"/>
              </p:cNvSpPr>
              <p:nvPr/>
            </p:nvSpPr>
            <p:spPr bwMode="auto">
              <a:xfrm>
                <a:off x="3735" y="4195"/>
                <a:ext cx="33" cy="79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eaLnBrk="0" hangingPunct="0"/>
                <a:r>
                  <a:rPr lang="en-US" sz="800">
                    <a:solidFill>
                      <a:srgbClr val="000000"/>
                    </a:solidFill>
                    <a:latin typeface="TimesTen" pitchFamily="18" charset="0"/>
                  </a:rPr>
                  <a:t>4</a:t>
                </a:r>
                <a:endParaRPr lang="en-US" sz="4000">
                  <a:latin typeface="Times New Roman" pitchFamily="18" charset="0"/>
                </a:endParaRPr>
              </a:p>
            </p:txBody>
          </p:sp>
          <p:sp>
            <p:nvSpPr>
              <p:cNvPr id="59" name="Rectangle 12"/>
              <p:cNvSpPr>
                <a:spLocks noChangeArrowheads="1"/>
              </p:cNvSpPr>
              <p:nvPr/>
            </p:nvSpPr>
            <p:spPr bwMode="auto">
              <a:xfrm>
                <a:off x="3835" y="4195"/>
                <a:ext cx="33" cy="79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eaLnBrk="0" hangingPunct="0"/>
                <a:r>
                  <a:rPr lang="en-US" sz="800">
                    <a:solidFill>
                      <a:srgbClr val="000000"/>
                    </a:solidFill>
                    <a:latin typeface="TimesTen" pitchFamily="18" charset="0"/>
                  </a:rPr>
                  <a:t>5</a:t>
                </a:r>
                <a:endParaRPr lang="en-US" sz="4000">
                  <a:latin typeface="Times New Roman" pitchFamily="18" charset="0"/>
                </a:endParaRPr>
              </a:p>
            </p:txBody>
          </p:sp>
          <p:sp>
            <p:nvSpPr>
              <p:cNvPr id="60" name="Rectangle 13"/>
              <p:cNvSpPr>
                <a:spLocks noChangeArrowheads="1"/>
              </p:cNvSpPr>
              <p:nvPr/>
            </p:nvSpPr>
            <p:spPr bwMode="auto">
              <a:xfrm>
                <a:off x="3934" y="4195"/>
                <a:ext cx="32" cy="79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eaLnBrk="0" hangingPunct="0"/>
                <a:r>
                  <a:rPr lang="en-US" sz="800">
                    <a:solidFill>
                      <a:srgbClr val="000000"/>
                    </a:solidFill>
                    <a:latin typeface="TimesTen" pitchFamily="18" charset="0"/>
                  </a:rPr>
                  <a:t>6</a:t>
                </a:r>
                <a:endParaRPr lang="en-US" sz="4000">
                  <a:latin typeface="Times New Roman" pitchFamily="18" charset="0"/>
                </a:endParaRPr>
              </a:p>
            </p:txBody>
          </p:sp>
          <p:sp>
            <p:nvSpPr>
              <p:cNvPr id="61" name="Rectangle 14"/>
              <p:cNvSpPr>
                <a:spLocks noChangeArrowheads="1"/>
              </p:cNvSpPr>
              <p:nvPr/>
            </p:nvSpPr>
            <p:spPr bwMode="auto">
              <a:xfrm>
                <a:off x="4033" y="4195"/>
                <a:ext cx="33" cy="79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eaLnBrk="0" hangingPunct="0"/>
                <a:r>
                  <a:rPr lang="en-US" sz="800">
                    <a:solidFill>
                      <a:srgbClr val="000000"/>
                    </a:solidFill>
                    <a:latin typeface="TimesTen" pitchFamily="18" charset="0"/>
                  </a:rPr>
                  <a:t>7</a:t>
                </a:r>
                <a:endParaRPr lang="en-US" sz="4000">
                  <a:latin typeface="Times New Roman" pitchFamily="18" charset="0"/>
                </a:endParaRPr>
              </a:p>
            </p:txBody>
          </p:sp>
          <p:sp>
            <p:nvSpPr>
              <p:cNvPr id="62" name="Rectangle 15"/>
              <p:cNvSpPr>
                <a:spLocks noChangeArrowheads="1"/>
              </p:cNvSpPr>
              <p:nvPr/>
            </p:nvSpPr>
            <p:spPr bwMode="auto">
              <a:xfrm>
                <a:off x="4132" y="4195"/>
                <a:ext cx="33" cy="79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eaLnBrk="0" hangingPunct="0"/>
                <a:r>
                  <a:rPr lang="en-US" sz="800">
                    <a:solidFill>
                      <a:srgbClr val="000000"/>
                    </a:solidFill>
                    <a:latin typeface="TimesTen" pitchFamily="18" charset="0"/>
                  </a:rPr>
                  <a:t>8</a:t>
                </a:r>
                <a:endParaRPr lang="en-US" sz="4000">
                  <a:latin typeface="Times New Roman" pitchFamily="18" charset="0"/>
                </a:endParaRPr>
              </a:p>
            </p:txBody>
          </p:sp>
          <p:sp>
            <p:nvSpPr>
              <p:cNvPr id="63" name="Freeform 16"/>
              <p:cNvSpPr>
                <a:spLocks/>
              </p:cNvSpPr>
              <p:nvPr/>
            </p:nvSpPr>
            <p:spPr bwMode="auto">
              <a:xfrm>
                <a:off x="3238" y="1091"/>
                <a:ext cx="1525" cy="165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406" y="0"/>
                  </a:cxn>
                  <a:cxn ang="0">
                    <a:pos x="1406" y="165"/>
                  </a:cxn>
                  <a:cxn ang="0">
                    <a:pos x="1525" y="165"/>
                  </a:cxn>
                </a:cxnLst>
                <a:rect l="0" t="0" r="r" b="b"/>
                <a:pathLst>
                  <a:path w="1525" h="165">
                    <a:moveTo>
                      <a:pt x="0" y="0"/>
                    </a:moveTo>
                    <a:lnTo>
                      <a:pt x="1406" y="0"/>
                    </a:lnTo>
                    <a:lnTo>
                      <a:pt x="1406" y="165"/>
                    </a:lnTo>
                    <a:lnTo>
                      <a:pt x="1525" y="165"/>
                    </a:lnTo>
                  </a:path>
                </a:pathLst>
              </a:custGeom>
              <a:noFill/>
              <a:ln w="28575" cap="flat" cmpd="sng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4" name="Freeform 17"/>
              <p:cNvSpPr>
                <a:spLocks/>
              </p:cNvSpPr>
              <p:nvPr/>
            </p:nvSpPr>
            <p:spPr bwMode="auto">
              <a:xfrm>
                <a:off x="3238" y="1348"/>
                <a:ext cx="1523" cy="162"/>
              </a:xfrm>
              <a:custGeom>
                <a:avLst/>
                <a:gdLst/>
                <a:ahLst/>
                <a:cxnLst>
                  <a:cxn ang="0">
                    <a:pos x="0" y="162"/>
                  </a:cxn>
                  <a:cxn ang="0">
                    <a:pos x="1406" y="162"/>
                  </a:cxn>
                  <a:cxn ang="0">
                    <a:pos x="1406" y="0"/>
                  </a:cxn>
                  <a:cxn ang="0">
                    <a:pos x="1523" y="0"/>
                  </a:cxn>
                </a:cxnLst>
                <a:rect l="0" t="0" r="r" b="b"/>
                <a:pathLst>
                  <a:path w="1523" h="162">
                    <a:moveTo>
                      <a:pt x="0" y="162"/>
                    </a:moveTo>
                    <a:lnTo>
                      <a:pt x="1406" y="162"/>
                    </a:lnTo>
                    <a:lnTo>
                      <a:pt x="1406" y="0"/>
                    </a:lnTo>
                    <a:lnTo>
                      <a:pt x="1523" y="0"/>
                    </a:lnTo>
                  </a:path>
                </a:pathLst>
              </a:custGeom>
              <a:noFill/>
              <a:ln w="28575" cap="flat" cmpd="sng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5" name="Line 18"/>
              <p:cNvSpPr>
                <a:spLocks noChangeShapeType="1"/>
              </p:cNvSpPr>
              <p:nvPr/>
            </p:nvSpPr>
            <p:spPr bwMode="auto">
              <a:xfrm>
                <a:off x="3238" y="1301"/>
                <a:ext cx="1871" cy="1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6" name="Freeform 19"/>
              <p:cNvSpPr>
                <a:spLocks/>
              </p:cNvSpPr>
              <p:nvPr/>
            </p:nvSpPr>
            <p:spPr bwMode="auto">
              <a:xfrm>
                <a:off x="3238" y="1883"/>
                <a:ext cx="1525" cy="163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406" y="0"/>
                  </a:cxn>
                  <a:cxn ang="0">
                    <a:pos x="1406" y="163"/>
                  </a:cxn>
                  <a:cxn ang="0">
                    <a:pos x="1525" y="163"/>
                  </a:cxn>
                </a:cxnLst>
                <a:rect l="0" t="0" r="r" b="b"/>
                <a:pathLst>
                  <a:path w="1525" h="163">
                    <a:moveTo>
                      <a:pt x="0" y="0"/>
                    </a:moveTo>
                    <a:lnTo>
                      <a:pt x="1406" y="0"/>
                    </a:lnTo>
                    <a:lnTo>
                      <a:pt x="1406" y="163"/>
                    </a:lnTo>
                    <a:lnTo>
                      <a:pt x="1525" y="163"/>
                    </a:lnTo>
                  </a:path>
                </a:pathLst>
              </a:custGeom>
              <a:noFill/>
              <a:ln w="28575" cap="flat" cmpd="sng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7" name="Freeform 20"/>
              <p:cNvSpPr>
                <a:spLocks/>
              </p:cNvSpPr>
              <p:nvPr/>
            </p:nvSpPr>
            <p:spPr bwMode="auto">
              <a:xfrm>
                <a:off x="3238" y="2140"/>
                <a:ext cx="1523" cy="168"/>
              </a:xfrm>
              <a:custGeom>
                <a:avLst/>
                <a:gdLst/>
                <a:ahLst/>
                <a:cxnLst>
                  <a:cxn ang="0">
                    <a:pos x="0" y="168"/>
                  </a:cxn>
                  <a:cxn ang="0">
                    <a:pos x="1406" y="168"/>
                  </a:cxn>
                  <a:cxn ang="0">
                    <a:pos x="1406" y="0"/>
                  </a:cxn>
                  <a:cxn ang="0">
                    <a:pos x="1523" y="0"/>
                  </a:cxn>
                </a:cxnLst>
                <a:rect l="0" t="0" r="r" b="b"/>
                <a:pathLst>
                  <a:path w="1523" h="168">
                    <a:moveTo>
                      <a:pt x="0" y="168"/>
                    </a:moveTo>
                    <a:lnTo>
                      <a:pt x="1406" y="168"/>
                    </a:lnTo>
                    <a:lnTo>
                      <a:pt x="1406" y="0"/>
                    </a:lnTo>
                    <a:lnTo>
                      <a:pt x="1523" y="0"/>
                    </a:lnTo>
                  </a:path>
                </a:pathLst>
              </a:custGeom>
              <a:noFill/>
              <a:ln w="28575" cap="flat" cmpd="sng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8" name="Line 21"/>
              <p:cNvSpPr>
                <a:spLocks noChangeShapeType="1"/>
              </p:cNvSpPr>
              <p:nvPr/>
            </p:nvSpPr>
            <p:spPr bwMode="auto">
              <a:xfrm>
                <a:off x="3238" y="2094"/>
                <a:ext cx="1871" cy="1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9" name="Freeform 22"/>
              <p:cNvSpPr>
                <a:spLocks/>
              </p:cNvSpPr>
              <p:nvPr/>
            </p:nvSpPr>
            <p:spPr bwMode="auto">
              <a:xfrm>
                <a:off x="3238" y="2673"/>
                <a:ext cx="1523" cy="165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406" y="0"/>
                  </a:cxn>
                  <a:cxn ang="0">
                    <a:pos x="1406" y="165"/>
                  </a:cxn>
                  <a:cxn ang="0">
                    <a:pos x="1523" y="165"/>
                  </a:cxn>
                </a:cxnLst>
                <a:rect l="0" t="0" r="r" b="b"/>
                <a:pathLst>
                  <a:path w="1523" h="165">
                    <a:moveTo>
                      <a:pt x="0" y="0"/>
                    </a:moveTo>
                    <a:lnTo>
                      <a:pt x="1406" y="0"/>
                    </a:lnTo>
                    <a:lnTo>
                      <a:pt x="1406" y="165"/>
                    </a:lnTo>
                    <a:lnTo>
                      <a:pt x="1523" y="165"/>
                    </a:lnTo>
                  </a:path>
                </a:pathLst>
              </a:custGeom>
              <a:noFill/>
              <a:ln w="28575" cap="flat" cmpd="sng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0" name="Freeform 23"/>
              <p:cNvSpPr>
                <a:spLocks/>
              </p:cNvSpPr>
              <p:nvPr/>
            </p:nvSpPr>
            <p:spPr bwMode="auto">
              <a:xfrm>
                <a:off x="3238" y="2932"/>
                <a:ext cx="1523" cy="168"/>
              </a:xfrm>
              <a:custGeom>
                <a:avLst/>
                <a:gdLst/>
                <a:ahLst/>
                <a:cxnLst>
                  <a:cxn ang="0">
                    <a:pos x="0" y="168"/>
                  </a:cxn>
                  <a:cxn ang="0">
                    <a:pos x="1406" y="168"/>
                  </a:cxn>
                  <a:cxn ang="0">
                    <a:pos x="1406" y="0"/>
                  </a:cxn>
                  <a:cxn ang="0">
                    <a:pos x="1523" y="0"/>
                  </a:cxn>
                </a:cxnLst>
                <a:rect l="0" t="0" r="r" b="b"/>
                <a:pathLst>
                  <a:path w="1523" h="168">
                    <a:moveTo>
                      <a:pt x="0" y="168"/>
                    </a:moveTo>
                    <a:lnTo>
                      <a:pt x="1406" y="168"/>
                    </a:lnTo>
                    <a:lnTo>
                      <a:pt x="1406" y="0"/>
                    </a:lnTo>
                    <a:lnTo>
                      <a:pt x="1523" y="0"/>
                    </a:lnTo>
                  </a:path>
                </a:pathLst>
              </a:custGeom>
              <a:noFill/>
              <a:ln w="28575" cap="flat" cmpd="sng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1" name="Line 24"/>
              <p:cNvSpPr>
                <a:spLocks noChangeShapeType="1"/>
              </p:cNvSpPr>
              <p:nvPr/>
            </p:nvSpPr>
            <p:spPr bwMode="auto">
              <a:xfrm>
                <a:off x="3238" y="2884"/>
                <a:ext cx="1871" cy="1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" name="Freeform 25"/>
              <p:cNvSpPr>
                <a:spLocks/>
              </p:cNvSpPr>
              <p:nvPr/>
            </p:nvSpPr>
            <p:spPr bwMode="auto">
              <a:xfrm>
                <a:off x="3238" y="3466"/>
                <a:ext cx="1523" cy="163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406" y="0"/>
                  </a:cxn>
                  <a:cxn ang="0">
                    <a:pos x="1406" y="163"/>
                  </a:cxn>
                  <a:cxn ang="0">
                    <a:pos x="1523" y="163"/>
                  </a:cxn>
                </a:cxnLst>
                <a:rect l="0" t="0" r="r" b="b"/>
                <a:pathLst>
                  <a:path w="1523" h="163">
                    <a:moveTo>
                      <a:pt x="0" y="0"/>
                    </a:moveTo>
                    <a:lnTo>
                      <a:pt x="1406" y="0"/>
                    </a:lnTo>
                    <a:lnTo>
                      <a:pt x="1406" y="163"/>
                    </a:lnTo>
                    <a:lnTo>
                      <a:pt x="1523" y="163"/>
                    </a:lnTo>
                  </a:path>
                </a:pathLst>
              </a:custGeom>
              <a:noFill/>
              <a:ln w="28575" cap="flat" cmpd="sng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" name="Freeform 26"/>
              <p:cNvSpPr>
                <a:spLocks/>
              </p:cNvSpPr>
              <p:nvPr/>
            </p:nvSpPr>
            <p:spPr bwMode="auto">
              <a:xfrm>
                <a:off x="3238" y="3723"/>
                <a:ext cx="1523" cy="169"/>
              </a:xfrm>
              <a:custGeom>
                <a:avLst/>
                <a:gdLst/>
                <a:ahLst/>
                <a:cxnLst>
                  <a:cxn ang="0">
                    <a:pos x="0" y="169"/>
                  </a:cxn>
                  <a:cxn ang="0">
                    <a:pos x="1406" y="169"/>
                  </a:cxn>
                  <a:cxn ang="0">
                    <a:pos x="1406" y="0"/>
                  </a:cxn>
                  <a:cxn ang="0">
                    <a:pos x="1523" y="0"/>
                  </a:cxn>
                </a:cxnLst>
                <a:rect l="0" t="0" r="r" b="b"/>
                <a:pathLst>
                  <a:path w="1523" h="169">
                    <a:moveTo>
                      <a:pt x="0" y="169"/>
                    </a:moveTo>
                    <a:lnTo>
                      <a:pt x="1406" y="169"/>
                    </a:lnTo>
                    <a:lnTo>
                      <a:pt x="1406" y="0"/>
                    </a:lnTo>
                    <a:lnTo>
                      <a:pt x="1523" y="0"/>
                    </a:lnTo>
                  </a:path>
                </a:pathLst>
              </a:custGeom>
              <a:noFill/>
              <a:ln w="28575" cap="flat" cmpd="sng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" name="Line 27"/>
              <p:cNvSpPr>
                <a:spLocks noChangeShapeType="1"/>
              </p:cNvSpPr>
              <p:nvPr/>
            </p:nvSpPr>
            <p:spPr bwMode="auto">
              <a:xfrm>
                <a:off x="3238" y="3675"/>
                <a:ext cx="1871" cy="1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" name="Line 28"/>
              <p:cNvSpPr>
                <a:spLocks noChangeShapeType="1"/>
              </p:cNvSpPr>
              <p:nvPr/>
            </p:nvSpPr>
            <p:spPr bwMode="auto">
              <a:xfrm>
                <a:off x="3346" y="967"/>
                <a:ext cx="1" cy="3223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" name="Line 29"/>
              <p:cNvSpPr>
                <a:spLocks noChangeShapeType="1"/>
              </p:cNvSpPr>
              <p:nvPr/>
            </p:nvSpPr>
            <p:spPr bwMode="auto">
              <a:xfrm>
                <a:off x="3445" y="967"/>
                <a:ext cx="1" cy="3223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7" name="Line 30"/>
              <p:cNvSpPr>
                <a:spLocks noChangeShapeType="1"/>
              </p:cNvSpPr>
              <p:nvPr/>
            </p:nvSpPr>
            <p:spPr bwMode="auto">
              <a:xfrm>
                <a:off x="3545" y="967"/>
                <a:ext cx="1" cy="3223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8" name="Line 31"/>
              <p:cNvSpPr>
                <a:spLocks noChangeShapeType="1"/>
              </p:cNvSpPr>
              <p:nvPr/>
            </p:nvSpPr>
            <p:spPr bwMode="auto">
              <a:xfrm>
                <a:off x="3644" y="967"/>
                <a:ext cx="1" cy="3223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" name="Line 32"/>
              <p:cNvSpPr>
                <a:spLocks noChangeShapeType="1"/>
              </p:cNvSpPr>
              <p:nvPr/>
            </p:nvSpPr>
            <p:spPr bwMode="auto">
              <a:xfrm>
                <a:off x="3743" y="967"/>
                <a:ext cx="1" cy="3223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" name="Line 33"/>
              <p:cNvSpPr>
                <a:spLocks noChangeShapeType="1"/>
              </p:cNvSpPr>
              <p:nvPr/>
            </p:nvSpPr>
            <p:spPr bwMode="auto">
              <a:xfrm>
                <a:off x="3941" y="967"/>
                <a:ext cx="1" cy="3223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" name="Line 34"/>
              <p:cNvSpPr>
                <a:spLocks noChangeShapeType="1"/>
              </p:cNvSpPr>
              <p:nvPr/>
            </p:nvSpPr>
            <p:spPr bwMode="auto">
              <a:xfrm>
                <a:off x="4040" y="967"/>
                <a:ext cx="1" cy="3223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" name="Line 35"/>
              <p:cNvSpPr>
                <a:spLocks noChangeShapeType="1"/>
              </p:cNvSpPr>
              <p:nvPr/>
            </p:nvSpPr>
            <p:spPr bwMode="auto">
              <a:xfrm>
                <a:off x="4139" y="967"/>
                <a:ext cx="1" cy="3223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" name="Line 36"/>
              <p:cNvSpPr>
                <a:spLocks noChangeShapeType="1"/>
              </p:cNvSpPr>
              <p:nvPr/>
            </p:nvSpPr>
            <p:spPr bwMode="auto">
              <a:xfrm>
                <a:off x="4240" y="967"/>
                <a:ext cx="1" cy="3223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" name="Line 37"/>
              <p:cNvSpPr>
                <a:spLocks noChangeShapeType="1"/>
              </p:cNvSpPr>
              <p:nvPr/>
            </p:nvSpPr>
            <p:spPr bwMode="auto">
              <a:xfrm>
                <a:off x="3057" y="1652"/>
                <a:ext cx="290" cy="1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" name="Line 38"/>
              <p:cNvSpPr>
                <a:spLocks noChangeShapeType="1"/>
              </p:cNvSpPr>
              <p:nvPr/>
            </p:nvSpPr>
            <p:spPr bwMode="auto">
              <a:xfrm flipV="1">
                <a:off x="3116" y="1726"/>
                <a:ext cx="335" cy="5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" name="Line 39"/>
              <p:cNvSpPr>
                <a:spLocks noChangeShapeType="1"/>
              </p:cNvSpPr>
              <p:nvPr/>
            </p:nvSpPr>
            <p:spPr bwMode="auto">
              <a:xfrm flipH="1">
                <a:off x="2826" y="1691"/>
                <a:ext cx="322" cy="1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" name="Oval 40"/>
              <p:cNvSpPr>
                <a:spLocks noChangeArrowheads="1"/>
              </p:cNvSpPr>
              <p:nvPr/>
            </p:nvSpPr>
            <p:spPr bwMode="auto">
              <a:xfrm>
                <a:off x="3082" y="1715"/>
                <a:ext cx="34" cy="33"/>
              </a:xfrm>
              <a:prstGeom prst="ellips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" name="Line 41"/>
              <p:cNvSpPr>
                <a:spLocks noChangeShapeType="1"/>
              </p:cNvSpPr>
              <p:nvPr/>
            </p:nvSpPr>
            <p:spPr bwMode="auto">
              <a:xfrm>
                <a:off x="3069" y="2437"/>
                <a:ext cx="475" cy="1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" name="Line 42"/>
              <p:cNvSpPr>
                <a:spLocks noChangeShapeType="1"/>
              </p:cNvSpPr>
              <p:nvPr/>
            </p:nvSpPr>
            <p:spPr bwMode="auto">
              <a:xfrm>
                <a:off x="3116" y="2516"/>
                <a:ext cx="527" cy="1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" name="Line 43"/>
              <p:cNvSpPr>
                <a:spLocks noChangeShapeType="1"/>
              </p:cNvSpPr>
              <p:nvPr/>
            </p:nvSpPr>
            <p:spPr bwMode="auto">
              <a:xfrm flipH="1">
                <a:off x="2826" y="2476"/>
                <a:ext cx="203" cy="1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" name="Oval 44"/>
              <p:cNvSpPr>
                <a:spLocks noChangeArrowheads="1"/>
              </p:cNvSpPr>
              <p:nvPr/>
            </p:nvSpPr>
            <p:spPr bwMode="auto">
              <a:xfrm>
                <a:off x="3082" y="2496"/>
                <a:ext cx="34" cy="35"/>
              </a:xfrm>
              <a:prstGeom prst="ellips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" name="Line 45"/>
              <p:cNvSpPr>
                <a:spLocks noChangeShapeType="1"/>
              </p:cNvSpPr>
              <p:nvPr/>
            </p:nvSpPr>
            <p:spPr bwMode="auto">
              <a:xfrm>
                <a:off x="3069" y="3224"/>
                <a:ext cx="674" cy="1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3" name="Line 46"/>
              <p:cNvSpPr>
                <a:spLocks noChangeShapeType="1"/>
              </p:cNvSpPr>
              <p:nvPr/>
            </p:nvSpPr>
            <p:spPr bwMode="auto">
              <a:xfrm>
                <a:off x="3116" y="3301"/>
                <a:ext cx="726" cy="1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4" name="Line 47"/>
              <p:cNvSpPr>
                <a:spLocks noChangeShapeType="1"/>
              </p:cNvSpPr>
              <p:nvPr/>
            </p:nvSpPr>
            <p:spPr bwMode="auto">
              <a:xfrm flipH="1">
                <a:off x="2808" y="3260"/>
                <a:ext cx="320" cy="1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5" name="Oval 48"/>
              <p:cNvSpPr>
                <a:spLocks noChangeArrowheads="1"/>
              </p:cNvSpPr>
              <p:nvPr/>
            </p:nvSpPr>
            <p:spPr bwMode="auto">
              <a:xfrm>
                <a:off x="3082" y="3285"/>
                <a:ext cx="34" cy="33"/>
              </a:xfrm>
              <a:prstGeom prst="ellips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6" name="Line 49"/>
              <p:cNvSpPr>
                <a:spLocks noChangeShapeType="1"/>
              </p:cNvSpPr>
              <p:nvPr/>
            </p:nvSpPr>
            <p:spPr bwMode="auto">
              <a:xfrm>
                <a:off x="3069" y="4009"/>
                <a:ext cx="872" cy="1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7" name="Line 50"/>
              <p:cNvSpPr>
                <a:spLocks noChangeShapeType="1"/>
              </p:cNvSpPr>
              <p:nvPr/>
            </p:nvSpPr>
            <p:spPr bwMode="auto">
              <a:xfrm>
                <a:off x="3118" y="4086"/>
                <a:ext cx="924" cy="1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8" name="Line 51"/>
              <p:cNvSpPr>
                <a:spLocks noChangeShapeType="1"/>
              </p:cNvSpPr>
              <p:nvPr/>
            </p:nvSpPr>
            <p:spPr bwMode="auto">
              <a:xfrm flipH="1" flipV="1">
                <a:off x="2802" y="4042"/>
                <a:ext cx="326" cy="5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9" name="Oval 52"/>
              <p:cNvSpPr>
                <a:spLocks noChangeArrowheads="1"/>
              </p:cNvSpPr>
              <p:nvPr/>
            </p:nvSpPr>
            <p:spPr bwMode="auto">
              <a:xfrm>
                <a:off x="3083" y="4070"/>
                <a:ext cx="35" cy="33"/>
              </a:xfrm>
              <a:prstGeom prst="ellips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0" name="Line 53"/>
              <p:cNvSpPr>
                <a:spLocks noChangeShapeType="1"/>
              </p:cNvSpPr>
              <p:nvPr/>
            </p:nvSpPr>
            <p:spPr bwMode="auto">
              <a:xfrm flipH="1">
                <a:off x="4141" y="1640"/>
                <a:ext cx="673" cy="1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1" name="Line 54"/>
              <p:cNvSpPr>
                <a:spLocks noChangeShapeType="1"/>
              </p:cNvSpPr>
              <p:nvPr/>
            </p:nvSpPr>
            <p:spPr bwMode="auto">
              <a:xfrm flipH="1">
                <a:off x="4240" y="1746"/>
                <a:ext cx="531" cy="1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2" name="Freeform 55"/>
              <p:cNvSpPr>
                <a:spLocks/>
              </p:cNvSpPr>
              <p:nvPr/>
            </p:nvSpPr>
            <p:spPr bwMode="auto">
              <a:xfrm>
                <a:off x="4835" y="1302"/>
                <a:ext cx="206" cy="389"/>
              </a:xfrm>
              <a:custGeom>
                <a:avLst/>
                <a:gdLst/>
                <a:ahLst/>
                <a:cxnLst>
                  <a:cxn ang="0">
                    <a:pos x="0" y="389"/>
                  </a:cxn>
                  <a:cxn ang="0">
                    <a:pos x="206" y="389"/>
                  </a:cxn>
                  <a:cxn ang="0">
                    <a:pos x="206" y="0"/>
                  </a:cxn>
                </a:cxnLst>
                <a:rect l="0" t="0" r="r" b="b"/>
                <a:pathLst>
                  <a:path w="206" h="389">
                    <a:moveTo>
                      <a:pt x="0" y="389"/>
                    </a:moveTo>
                    <a:lnTo>
                      <a:pt x="206" y="389"/>
                    </a:lnTo>
                    <a:lnTo>
                      <a:pt x="206" y="0"/>
                    </a:lnTo>
                  </a:path>
                </a:pathLst>
              </a:custGeom>
              <a:noFill/>
              <a:ln w="28575" cap="flat" cmpd="sng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" name="Oval 56"/>
              <p:cNvSpPr>
                <a:spLocks noChangeArrowheads="1"/>
              </p:cNvSpPr>
              <p:nvPr/>
            </p:nvSpPr>
            <p:spPr bwMode="auto">
              <a:xfrm>
                <a:off x="4771" y="1729"/>
                <a:ext cx="33" cy="33"/>
              </a:xfrm>
              <a:prstGeom prst="ellips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" name="Rectangle 57"/>
              <p:cNvSpPr>
                <a:spLocks noChangeArrowheads="1"/>
              </p:cNvSpPr>
              <p:nvPr/>
            </p:nvSpPr>
            <p:spPr bwMode="auto">
              <a:xfrm>
                <a:off x="3486" y="760"/>
                <a:ext cx="617" cy="99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eaLnBrk="0" hangingPunct="0"/>
                <a:r>
                  <a:rPr lang="en-US" sz="1000" b="1">
                    <a:solidFill>
                      <a:srgbClr val="000000"/>
                    </a:solidFill>
                    <a:latin typeface="TimesTen" pitchFamily="18" charset="0"/>
                  </a:rPr>
                  <a:t>AND gates inputs</a:t>
                </a:r>
                <a:endParaRPr lang="en-US" sz="4800" b="1">
                  <a:latin typeface="Times New Roman" pitchFamily="18" charset="0"/>
                </a:endParaRPr>
              </a:p>
            </p:txBody>
          </p:sp>
          <p:sp>
            <p:nvSpPr>
              <p:cNvPr id="105" name="Rectangle 58"/>
              <p:cNvSpPr>
                <a:spLocks noChangeArrowheads="1"/>
              </p:cNvSpPr>
              <p:nvPr/>
            </p:nvSpPr>
            <p:spPr bwMode="auto">
              <a:xfrm>
                <a:off x="3330" y="876"/>
                <a:ext cx="41" cy="99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eaLnBrk="0" hangingPunct="0"/>
                <a:r>
                  <a:rPr lang="en-US" sz="1000" b="1">
                    <a:solidFill>
                      <a:srgbClr val="000000"/>
                    </a:solidFill>
                    <a:latin typeface="TimesTen" pitchFamily="18" charset="0"/>
                  </a:rPr>
                  <a:t>0</a:t>
                </a:r>
                <a:endParaRPr lang="en-US" sz="4800" b="1">
                  <a:latin typeface="Times New Roman" pitchFamily="18" charset="0"/>
                </a:endParaRPr>
              </a:p>
            </p:txBody>
          </p:sp>
          <p:sp>
            <p:nvSpPr>
              <p:cNvPr id="106" name="Rectangle 59"/>
              <p:cNvSpPr>
                <a:spLocks noChangeArrowheads="1"/>
              </p:cNvSpPr>
              <p:nvPr/>
            </p:nvSpPr>
            <p:spPr bwMode="auto">
              <a:xfrm>
                <a:off x="4222" y="876"/>
                <a:ext cx="41" cy="99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eaLnBrk="0" hangingPunct="0"/>
                <a:r>
                  <a:rPr lang="en-US" sz="1000" b="1">
                    <a:solidFill>
                      <a:srgbClr val="000000"/>
                    </a:solidFill>
                    <a:latin typeface="TimesTen" pitchFamily="18" charset="0"/>
                  </a:rPr>
                  <a:t>9</a:t>
                </a:r>
                <a:endParaRPr lang="en-US" sz="4800" b="1">
                  <a:latin typeface="Times New Roman" pitchFamily="18" charset="0"/>
                </a:endParaRPr>
              </a:p>
            </p:txBody>
          </p:sp>
          <p:grpSp>
            <p:nvGrpSpPr>
              <p:cNvPr id="107" name="Group 60"/>
              <p:cNvGrpSpPr>
                <a:grpSpLocks/>
              </p:cNvGrpSpPr>
              <p:nvPr/>
            </p:nvGrpSpPr>
            <p:grpSpPr bwMode="auto">
              <a:xfrm>
                <a:off x="2865" y="1026"/>
                <a:ext cx="282" cy="173"/>
                <a:chOff x="2865" y="1026"/>
                <a:chExt cx="282" cy="173"/>
              </a:xfrm>
            </p:grpSpPr>
            <p:sp>
              <p:nvSpPr>
                <p:cNvPr id="187" name="Rectangle 61"/>
                <p:cNvSpPr>
                  <a:spLocks noChangeArrowheads="1"/>
                </p:cNvSpPr>
                <p:nvPr/>
              </p:nvSpPr>
              <p:spPr bwMode="auto">
                <a:xfrm>
                  <a:off x="2865" y="1026"/>
                  <a:ext cx="282" cy="99"/>
                </a:xfrm>
                <a:prstGeom prst="rect">
                  <a:avLst/>
                </a:prstGeom>
                <a:noFill/>
                <a:ln w="28575">
                  <a:noFill/>
                  <a:miter lim="800000"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pPr algn="l" eaLnBrk="0" hangingPunct="0"/>
                  <a:r>
                    <a:rPr lang="en-US" sz="1000" b="1">
                      <a:solidFill>
                        <a:srgbClr val="000000"/>
                      </a:solidFill>
                      <a:latin typeface="TimesTen" pitchFamily="18" charset="0"/>
                    </a:rPr>
                    <a:t>Product</a:t>
                  </a:r>
                  <a:endParaRPr lang="en-US" sz="4800" b="1">
                    <a:latin typeface="Times New Roman" pitchFamily="18" charset="0"/>
                  </a:endParaRPr>
                </a:p>
              </p:txBody>
            </p:sp>
            <p:sp>
              <p:nvSpPr>
                <p:cNvPr id="188" name="Rectangle 62"/>
                <p:cNvSpPr>
                  <a:spLocks noChangeArrowheads="1"/>
                </p:cNvSpPr>
                <p:nvPr/>
              </p:nvSpPr>
              <p:spPr bwMode="auto">
                <a:xfrm>
                  <a:off x="2865" y="1100"/>
                  <a:ext cx="168" cy="99"/>
                </a:xfrm>
                <a:prstGeom prst="rect">
                  <a:avLst/>
                </a:prstGeom>
                <a:noFill/>
                <a:ln w="28575">
                  <a:noFill/>
                  <a:miter lim="800000"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pPr algn="l" eaLnBrk="0" hangingPunct="0"/>
                  <a:r>
                    <a:rPr lang="en-US" sz="1000" b="1">
                      <a:solidFill>
                        <a:srgbClr val="000000"/>
                      </a:solidFill>
                      <a:latin typeface="TimesTen" pitchFamily="18" charset="0"/>
                    </a:rPr>
                    <a:t>term</a:t>
                  </a:r>
                  <a:endParaRPr lang="en-US" sz="4800" b="1">
                    <a:latin typeface="Times New Roman" pitchFamily="18" charset="0"/>
                  </a:endParaRPr>
                </a:p>
              </p:txBody>
            </p:sp>
          </p:grpSp>
          <p:sp>
            <p:nvSpPr>
              <p:cNvPr id="108" name="Rectangle 63"/>
              <p:cNvSpPr>
                <a:spLocks noChangeArrowheads="1"/>
              </p:cNvSpPr>
              <p:nvPr/>
            </p:nvSpPr>
            <p:spPr bwMode="auto">
              <a:xfrm>
                <a:off x="3189" y="1053"/>
                <a:ext cx="42" cy="98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eaLnBrk="0" hangingPunct="0"/>
                <a:r>
                  <a:rPr lang="en-US" sz="1000" b="1">
                    <a:solidFill>
                      <a:srgbClr val="000000"/>
                    </a:solidFill>
                    <a:latin typeface="TimesTen" pitchFamily="18" charset="0"/>
                  </a:rPr>
                  <a:t>1</a:t>
                </a:r>
                <a:endParaRPr lang="en-US" sz="4800" b="1">
                  <a:latin typeface="Times New Roman" pitchFamily="18" charset="0"/>
                </a:endParaRPr>
              </a:p>
            </p:txBody>
          </p:sp>
          <p:sp>
            <p:nvSpPr>
              <p:cNvPr id="109" name="Rectangle 64"/>
              <p:cNvSpPr>
                <a:spLocks noChangeArrowheads="1"/>
              </p:cNvSpPr>
              <p:nvPr/>
            </p:nvSpPr>
            <p:spPr bwMode="auto">
              <a:xfrm>
                <a:off x="3189" y="1261"/>
                <a:ext cx="42" cy="99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eaLnBrk="0" hangingPunct="0"/>
                <a:r>
                  <a:rPr lang="en-US" sz="1000" b="1">
                    <a:solidFill>
                      <a:srgbClr val="000000"/>
                    </a:solidFill>
                    <a:latin typeface="TimesTen" pitchFamily="18" charset="0"/>
                  </a:rPr>
                  <a:t>2</a:t>
                </a:r>
                <a:endParaRPr lang="en-US" sz="4800" b="1">
                  <a:latin typeface="Times New Roman" pitchFamily="18" charset="0"/>
                </a:endParaRPr>
              </a:p>
            </p:txBody>
          </p:sp>
          <p:sp>
            <p:nvSpPr>
              <p:cNvPr id="110" name="Rectangle 65"/>
              <p:cNvSpPr>
                <a:spLocks noChangeArrowheads="1"/>
              </p:cNvSpPr>
              <p:nvPr/>
            </p:nvSpPr>
            <p:spPr bwMode="auto">
              <a:xfrm>
                <a:off x="3189" y="1469"/>
                <a:ext cx="42" cy="99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eaLnBrk="0" hangingPunct="0"/>
                <a:r>
                  <a:rPr lang="en-US" sz="1000" b="1">
                    <a:solidFill>
                      <a:srgbClr val="000000"/>
                    </a:solidFill>
                    <a:latin typeface="TimesTen" pitchFamily="18" charset="0"/>
                  </a:rPr>
                  <a:t>3</a:t>
                </a:r>
                <a:endParaRPr lang="en-US" sz="4800" b="1">
                  <a:latin typeface="Times New Roman" pitchFamily="18" charset="0"/>
                </a:endParaRPr>
              </a:p>
            </p:txBody>
          </p:sp>
          <p:sp>
            <p:nvSpPr>
              <p:cNvPr id="111" name="Rectangle 66"/>
              <p:cNvSpPr>
                <a:spLocks noChangeArrowheads="1"/>
              </p:cNvSpPr>
              <p:nvPr/>
            </p:nvSpPr>
            <p:spPr bwMode="auto">
              <a:xfrm>
                <a:off x="3187" y="1841"/>
                <a:ext cx="41" cy="99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eaLnBrk="0" hangingPunct="0"/>
                <a:r>
                  <a:rPr lang="en-US" sz="1000" b="1">
                    <a:solidFill>
                      <a:srgbClr val="000000"/>
                    </a:solidFill>
                    <a:latin typeface="TimesTen" pitchFamily="18" charset="0"/>
                  </a:rPr>
                  <a:t>4</a:t>
                </a:r>
                <a:endParaRPr lang="en-US" sz="4800" b="1">
                  <a:latin typeface="Times New Roman" pitchFamily="18" charset="0"/>
                </a:endParaRPr>
              </a:p>
            </p:txBody>
          </p:sp>
          <p:sp>
            <p:nvSpPr>
              <p:cNvPr id="112" name="Rectangle 67"/>
              <p:cNvSpPr>
                <a:spLocks noChangeArrowheads="1"/>
              </p:cNvSpPr>
              <p:nvPr/>
            </p:nvSpPr>
            <p:spPr bwMode="auto">
              <a:xfrm>
                <a:off x="3187" y="2051"/>
                <a:ext cx="41" cy="98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eaLnBrk="0" hangingPunct="0"/>
                <a:r>
                  <a:rPr lang="en-US" sz="1000" b="1">
                    <a:solidFill>
                      <a:srgbClr val="000000"/>
                    </a:solidFill>
                    <a:latin typeface="TimesTen" pitchFamily="18" charset="0"/>
                  </a:rPr>
                  <a:t>5</a:t>
                </a:r>
                <a:endParaRPr lang="en-US" sz="4800" b="1">
                  <a:latin typeface="Times New Roman" pitchFamily="18" charset="0"/>
                </a:endParaRPr>
              </a:p>
            </p:txBody>
          </p:sp>
          <p:sp>
            <p:nvSpPr>
              <p:cNvPr id="113" name="Rectangle 68"/>
              <p:cNvSpPr>
                <a:spLocks noChangeArrowheads="1"/>
              </p:cNvSpPr>
              <p:nvPr/>
            </p:nvSpPr>
            <p:spPr bwMode="auto">
              <a:xfrm>
                <a:off x="3187" y="2274"/>
                <a:ext cx="41" cy="98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eaLnBrk="0" hangingPunct="0"/>
                <a:r>
                  <a:rPr lang="en-US" sz="1000" b="1">
                    <a:solidFill>
                      <a:srgbClr val="000000"/>
                    </a:solidFill>
                    <a:latin typeface="TimesTen" pitchFamily="18" charset="0"/>
                  </a:rPr>
                  <a:t>6</a:t>
                </a:r>
                <a:endParaRPr lang="en-US" sz="4800" b="1">
                  <a:latin typeface="Times New Roman" pitchFamily="18" charset="0"/>
                </a:endParaRPr>
              </a:p>
            </p:txBody>
          </p:sp>
          <p:sp>
            <p:nvSpPr>
              <p:cNvPr id="114" name="Rectangle 69"/>
              <p:cNvSpPr>
                <a:spLocks noChangeArrowheads="1"/>
              </p:cNvSpPr>
              <p:nvPr/>
            </p:nvSpPr>
            <p:spPr bwMode="auto">
              <a:xfrm>
                <a:off x="3187" y="2640"/>
                <a:ext cx="41" cy="99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eaLnBrk="0" hangingPunct="0"/>
                <a:r>
                  <a:rPr lang="en-US" sz="1000" b="1">
                    <a:solidFill>
                      <a:srgbClr val="000000"/>
                    </a:solidFill>
                    <a:latin typeface="TimesTen" pitchFamily="18" charset="0"/>
                  </a:rPr>
                  <a:t>7</a:t>
                </a:r>
                <a:endParaRPr lang="en-US" sz="4800" b="1">
                  <a:latin typeface="Times New Roman" pitchFamily="18" charset="0"/>
                </a:endParaRPr>
              </a:p>
            </p:txBody>
          </p:sp>
          <p:sp>
            <p:nvSpPr>
              <p:cNvPr id="115" name="Rectangle 70"/>
              <p:cNvSpPr>
                <a:spLocks noChangeArrowheads="1"/>
              </p:cNvSpPr>
              <p:nvPr/>
            </p:nvSpPr>
            <p:spPr bwMode="auto">
              <a:xfrm>
                <a:off x="3187" y="2841"/>
                <a:ext cx="41" cy="98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eaLnBrk="0" hangingPunct="0"/>
                <a:r>
                  <a:rPr lang="en-US" sz="1000" b="1">
                    <a:solidFill>
                      <a:srgbClr val="000000"/>
                    </a:solidFill>
                    <a:latin typeface="TimesTen" pitchFamily="18" charset="0"/>
                  </a:rPr>
                  <a:t>8</a:t>
                </a:r>
                <a:endParaRPr lang="en-US" sz="4800" b="1">
                  <a:latin typeface="Times New Roman" pitchFamily="18" charset="0"/>
                </a:endParaRPr>
              </a:p>
            </p:txBody>
          </p:sp>
          <p:sp>
            <p:nvSpPr>
              <p:cNvPr id="116" name="Rectangle 71"/>
              <p:cNvSpPr>
                <a:spLocks noChangeArrowheads="1"/>
              </p:cNvSpPr>
              <p:nvPr/>
            </p:nvSpPr>
            <p:spPr bwMode="auto">
              <a:xfrm>
                <a:off x="3187" y="3066"/>
                <a:ext cx="41" cy="98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eaLnBrk="0" hangingPunct="0"/>
                <a:r>
                  <a:rPr lang="en-US" sz="1000" b="1">
                    <a:solidFill>
                      <a:srgbClr val="000000"/>
                    </a:solidFill>
                    <a:latin typeface="TimesTen" pitchFamily="18" charset="0"/>
                  </a:rPr>
                  <a:t>9</a:t>
                </a:r>
                <a:endParaRPr lang="en-US" sz="4800" b="1">
                  <a:latin typeface="Times New Roman" pitchFamily="18" charset="0"/>
                </a:endParaRPr>
              </a:p>
            </p:txBody>
          </p:sp>
          <p:sp>
            <p:nvSpPr>
              <p:cNvPr id="117" name="Rectangle 72"/>
              <p:cNvSpPr>
                <a:spLocks noChangeArrowheads="1"/>
              </p:cNvSpPr>
              <p:nvPr/>
            </p:nvSpPr>
            <p:spPr bwMode="auto">
              <a:xfrm>
                <a:off x="3154" y="3414"/>
                <a:ext cx="83" cy="99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eaLnBrk="0" hangingPunct="0"/>
                <a:r>
                  <a:rPr lang="en-US" sz="1000" b="1">
                    <a:solidFill>
                      <a:srgbClr val="000000"/>
                    </a:solidFill>
                    <a:latin typeface="TimesTen" pitchFamily="18" charset="0"/>
                  </a:rPr>
                  <a:t>10</a:t>
                </a:r>
                <a:endParaRPr lang="en-US" sz="4800" b="1">
                  <a:latin typeface="Times New Roman" pitchFamily="18" charset="0"/>
                </a:endParaRPr>
              </a:p>
            </p:txBody>
          </p:sp>
          <p:sp>
            <p:nvSpPr>
              <p:cNvPr id="118" name="Rectangle 73"/>
              <p:cNvSpPr>
                <a:spLocks noChangeArrowheads="1"/>
              </p:cNvSpPr>
              <p:nvPr/>
            </p:nvSpPr>
            <p:spPr bwMode="auto">
              <a:xfrm>
                <a:off x="3154" y="3631"/>
                <a:ext cx="83" cy="98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eaLnBrk="0" hangingPunct="0"/>
                <a:r>
                  <a:rPr lang="en-US" sz="1000" b="1">
                    <a:solidFill>
                      <a:srgbClr val="000000"/>
                    </a:solidFill>
                    <a:latin typeface="TimesTen" pitchFamily="18" charset="0"/>
                  </a:rPr>
                  <a:t>11</a:t>
                </a:r>
                <a:endParaRPr lang="en-US" sz="4800" b="1">
                  <a:latin typeface="Times New Roman" pitchFamily="18" charset="0"/>
                </a:endParaRPr>
              </a:p>
            </p:txBody>
          </p:sp>
          <p:sp>
            <p:nvSpPr>
              <p:cNvPr id="119" name="Rectangle 74"/>
              <p:cNvSpPr>
                <a:spLocks noChangeArrowheads="1"/>
              </p:cNvSpPr>
              <p:nvPr/>
            </p:nvSpPr>
            <p:spPr bwMode="auto">
              <a:xfrm>
                <a:off x="3154" y="3854"/>
                <a:ext cx="83" cy="98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eaLnBrk="0" hangingPunct="0"/>
                <a:r>
                  <a:rPr lang="en-US" sz="1000" b="1">
                    <a:solidFill>
                      <a:srgbClr val="000000"/>
                    </a:solidFill>
                    <a:latin typeface="TimesTen" pitchFamily="18" charset="0"/>
                  </a:rPr>
                  <a:t>12</a:t>
                </a:r>
                <a:endParaRPr lang="en-US" sz="4800" b="1">
                  <a:latin typeface="Times New Roman" pitchFamily="18" charset="0"/>
                </a:endParaRPr>
              </a:p>
            </p:txBody>
          </p:sp>
          <p:sp>
            <p:nvSpPr>
              <p:cNvPr id="120" name="Rectangle 75"/>
              <p:cNvSpPr>
                <a:spLocks noChangeArrowheads="1"/>
              </p:cNvSpPr>
              <p:nvPr/>
            </p:nvSpPr>
            <p:spPr bwMode="auto">
              <a:xfrm>
                <a:off x="5127" y="1242"/>
                <a:ext cx="49" cy="99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eaLnBrk="0" hangingPunct="0"/>
                <a:r>
                  <a:rPr lang="en-US" sz="1000" b="1">
                    <a:solidFill>
                      <a:srgbClr val="000000"/>
                    </a:solidFill>
                    <a:latin typeface="TimesTen" pitchFamily="18" charset="0"/>
                  </a:rPr>
                  <a:t>F</a:t>
                </a:r>
                <a:endParaRPr lang="en-US" sz="4800" b="1">
                  <a:latin typeface="Times New Roman" pitchFamily="18" charset="0"/>
                </a:endParaRPr>
              </a:p>
            </p:txBody>
          </p:sp>
          <p:sp>
            <p:nvSpPr>
              <p:cNvPr id="121" name="Rectangle 76"/>
              <p:cNvSpPr>
                <a:spLocks noChangeArrowheads="1"/>
              </p:cNvSpPr>
              <p:nvPr/>
            </p:nvSpPr>
            <p:spPr bwMode="auto">
              <a:xfrm>
                <a:off x="5174" y="1276"/>
                <a:ext cx="33" cy="79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eaLnBrk="0" hangingPunct="0"/>
                <a:r>
                  <a:rPr lang="en-US" sz="800" b="1">
                    <a:solidFill>
                      <a:srgbClr val="000000"/>
                    </a:solidFill>
                    <a:latin typeface="TimesTen" pitchFamily="18" charset="0"/>
                  </a:rPr>
                  <a:t>1</a:t>
                </a:r>
                <a:endParaRPr lang="en-US" sz="4800" b="1">
                  <a:latin typeface="Times New Roman" pitchFamily="18" charset="0"/>
                </a:endParaRPr>
              </a:p>
            </p:txBody>
          </p:sp>
          <p:sp>
            <p:nvSpPr>
              <p:cNvPr id="122" name="Rectangle 77"/>
              <p:cNvSpPr>
                <a:spLocks noChangeArrowheads="1"/>
              </p:cNvSpPr>
              <p:nvPr/>
            </p:nvSpPr>
            <p:spPr bwMode="auto">
              <a:xfrm>
                <a:off x="5127" y="2034"/>
                <a:ext cx="49" cy="99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eaLnBrk="0" hangingPunct="0"/>
                <a:r>
                  <a:rPr lang="en-US" sz="1000" b="1">
                    <a:solidFill>
                      <a:srgbClr val="000000"/>
                    </a:solidFill>
                    <a:latin typeface="TimesTen" pitchFamily="18" charset="0"/>
                  </a:rPr>
                  <a:t>F</a:t>
                </a:r>
                <a:endParaRPr lang="en-US" sz="4800" b="1">
                  <a:latin typeface="Times New Roman" pitchFamily="18" charset="0"/>
                </a:endParaRPr>
              </a:p>
            </p:txBody>
          </p:sp>
          <p:sp>
            <p:nvSpPr>
              <p:cNvPr id="123" name="Rectangle 78"/>
              <p:cNvSpPr>
                <a:spLocks noChangeArrowheads="1"/>
              </p:cNvSpPr>
              <p:nvPr/>
            </p:nvSpPr>
            <p:spPr bwMode="auto">
              <a:xfrm>
                <a:off x="5174" y="2068"/>
                <a:ext cx="33" cy="79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eaLnBrk="0" hangingPunct="0"/>
                <a:r>
                  <a:rPr lang="en-US" sz="800" b="1">
                    <a:solidFill>
                      <a:srgbClr val="000000"/>
                    </a:solidFill>
                    <a:latin typeface="TimesTen" pitchFamily="18" charset="0"/>
                  </a:rPr>
                  <a:t>2</a:t>
                </a:r>
                <a:endParaRPr lang="en-US" sz="4800" b="1">
                  <a:latin typeface="Times New Roman" pitchFamily="18" charset="0"/>
                </a:endParaRPr>
              </a:p>
            </p:txBody>
          </p:sp>
          <p:sp>
            <p:nvSpPr>
              <p:cNvPr id="124" name="Rectangle 79"/>
              <p:cNvSpPr>
                <a:spLocks noChangeArrowheads="1"/>
              </p:cNvSpPr>
              <p:nvPr/>
            </p:nvSpPr>
            <p:spPr bwMode="auto">
              <a:xfrm>
                <a:off x="5127" y="2827"/>
                <a:ext cx="49" cy="99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eaLnBrk="0" hangingPunct="0"/>
                <a:r>
                  <a:rPr lang="en-US" sz="1000" b="1">
                    <a:solidFill>
                      <a:srgbClr val="000000"/>
                    </a:solidFill>
                    <a:latin typeface="TimesTen" pitchFamily="18" charset="0"/>
                  </a:rPr>
                  <a:t>F</a:t>
                </a:r>
                <a:endParaRPr lang="en-US" sz="4800" b="1">
                  <a:latin typeface="Times New Roman" pitchFamily="18" charset="0"/>
                </a:endParaRPr>
              </a:p>
            </p:txBody>
          </p:sp>
          <p:sp>
            <p:nvSpPr>
              <p:cNvPr id="125" name="Rectangle 80"/>
              <p:cNvSpPr>
                <a:spLocks noChangeArrowheads="1"/>
              </p:cNvSpPr>
              <p:nvPr/>
            </p:nvSpPr>
            <p:spPr bwMode="auto">
              <a:xfrm>
                <a:off x="5174" y="2859"/>
                <a:ext cx="33" cy="79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eaLnBrk="0" hangingPunct="0"/>
                <a:r>
                  <a:rPr lang="en-US" sz="800" b="1">
                    <a:solidFill>
                      <a:srgbClr val="000000"/>
                    </a:solidFill>
                    <a:latin typeface="TimesTen" pitchFamily="18" charset="0"/>
                  </a:rPr>
                  <a:t>3</a:t>
                </a:r>
                <a:endParaRPr lang="en-US" sz="4800" b="1">
                  <a:latin typeface="Times New Roman" pitchFamily="18" charset="0"/>
                </a:endParaRPr>
              </a:p>
            </p:txBody>
          </p:sp>
          <p:sp>
            <p:nvSpPr>
              <p:cNvPr id="126" name="Rectangle 81"/>
              <p:cNvSpPr>
                <a:spLocks noChangeArrowheads="1"/>
              </p:cNvSpPr>
              <p:nvPr/>
            </p:nvSpPr>
            <p:spPr bwMode="auto">
              <a:xfrm>
                <a:off x="5127" y="3617"/>
                <a:ext cx="49" cy="99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eaLnBrk="0" hangingPunct="0"/>
                <a:r>
                  <a:rPr lang="en-US" sz="1000" b="1">
                    <a:solidFill>
                      <a:srgbClr val="000000"/>
                    </a:solidFill>
                    <a:latin typeface="TimesTen" pitchFamily="18" charset="0"/>
                  </a:rPr>
                  <a:t>F</a:t>
                </a:r>
                <a:endParaRPr lang="en-US" sz="4800" b="1">
                  <a:latin typeface="Times New Roman" pitchFamily="18" charset="0"/>
                </a:endParaRPr>
              </a:p>
            </p:txBody>
          </p:sp>
          <p:sp>
            <p:nvSpPr>
              <p:cNvPr id="127" name="Rectangle 82"/>
              <p:cNvSpPr>
                <a:spLocks noChangeArrowheads="1"/>
              </p:cNvSpPr>
              <p:nvPr/>
            </p:nvSpPr>
            <p:spPr bwMode="auto">
              <a:xfrm>
                <a:off x="5174" y="3651"/>
                <a:ext cx="33" cy="80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eaLnBrk="0" hangingPunct="0"/>
                <a:r>
                  <a:rPr lang="en-US" sz="800" b="1">
                    <a:solidFill>
                      <a:srgbClr val="000000"/>
                    </a:solidFill>
                    <a:latin typeface="TimesTen" pitchFamily="18" charset="0"/>
                  </a:rPr>
                  <a:t>4</a:t>
                </a:r>
                <a:endParaRPr lang="en-US" sz="4800" b="1">
                  <a:latin typeface="Times New Roman" pitchFamily="18" charset="0"/>
                </a:endParaRPr>
              </a:p>
            </p:txBody>
          </p:sp>
          <p:sp>
            <p:nvSpPr>
              <p:cNvPr id="128" name="Line 83"/>
              <p:cNvSpPr>
                <a:spLocks noChangeShapeType="1"/>
              </p:cNvSpPr>
              <p:nvPr/>
            </p:nvSpPr>
            <p:spPr bwMode="auto">
              <a:xfrm>
                <a:off x="3848" y="973"/>
                <a:ext cx="1" cy="3223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29" name="Group 84"/>
              <p:cNvGrpSpPr>
                <a:grpSpLocks/>
              </p:cNvGrpSpPr>
              <p:nvPr/>
            </p:nvGrpSpPr>
            <p:grpSpPr bwMode="auto">
              <a:xfrm>
                <a:off x="2582" y="3206"/>
                <a:ext cx="216" cy="129"/>
                <a:chOff x="2612" y="3212"/>
                <a:chExt cx="216" cy="129"/>
              </a:xfrm>
            </p:grpSpPr>
            <p:sp>
              <p:nvSpPr>
                <p:cNvPr id="183" name="Rectangle 85"/>
                <p:cNvSpPr>
                  <a:spLocks noChangeArrowheads="1"/>
                </p:cNvSpPr>
                <p:nvPr/>
              </p:nvSpPr>
              <p:spPr bwMode="auto">
                <a:xfrm>
                  <a:off x="2612" y="3212"/>
                  <a:ext cx="38" cy="119"/>
                </a:xfrm>
                <a:prstGeom prst="rect">
                  <a:avLst/>
                </a:prstGeom>
                <a:noFill/>
                <a:ln w="28575">
                  <a:noFill/>
                  <a:miter lim="800000"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pPr algn="l" eaLnBrk="0" hangingPunct="0"/>
                  <a:r>
                    <a:rPr lang="en-US" sz="1200" b="1">
                      <a:solidFill>
                        <a:srgbClr val="000000"/>
                      </a:solidFill>
                      <a:latin typeface="TimesTen" pitchFamily="18" charset="0"/>
                    </a:rPr>
                    <a:t>I</a:t>
                  </a:r>
                  <a:endParaRPr lang="en-US" sz="5400" b="1">
                    <a:latin typeface="Times New Roman" pitchFamily="18" charset="0"/>
                  </a:endParaRPr>
                </a:p>
              </p:txBody>
            </p:sp>
            <p:sp>
              <p:nvSpPr>
                <p:cNvPr id="184" name="Rectangle 86"/>
                <p:cNvSpPr>
                  <a:spLocks noChangeArrowheads="1"/>
                </p:cNvSpPr>
                <p:nvPr/>
              </p:nvSpPr>
              <p:spPr bwMode="auto">
                <a:xfrm>
                  <a:off x="2637" y="3246"/>
                  <a:ext cx="37" cy="89"/>
                </a:xfrm>
                <a:prstGeom prst="rect">
                  <a:avLst/>
                </a:prstGeom>
                <a:noFill/>
                <a:ln w="28575">
                  <a:noFill/>
                  <a:miter lim="800000"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pPr algn="l" eaLnBrk="0" hangingPunct="0"/>
                  <a:r>
                    <a:rPr lang="en-US" sz="900" b="1">
                      <a:solidFill>
                        <a:srgbClr val="000000"/>
                      </a:solidFill>
                      <a:latin typeface="TimesTen" pitchFamily="18" charset="0"/>
                    </a:rPr>
                    <a:t>3</a:t>
                  </a:r>
                  <a:endParaRPr lang="en-US" sz="5400" b="1">
                    <a:latin typeface="Times New Roman" pitchFamily="18" charset="0"/>
                  </a:endParaRPr>
                </a:p>
              </p:txBody>
            </p:sp>
            <p:sp>
              <p:nvSpPr>
                <p:cNvPr id="185" name="Rectangle 87"/>
                <p:cNvSpPr>
                  <a:spLocks noChangeArrowheads="1"/>
                </p:cNvSpPr>
                <p:nvPr/>
              </p:nvSpPr>
              <p:spPr bwMode="auto">
                <a:xfrm>
                  <a:off x="2677" y="3222"/>
                  <a:ext cx="54" cy="119"/>
                </a:xfrm>
                <a:prstGeom prst="rect">
                  <a:avLst/>
                </a:prstGeom>
                <a:noFill/>
                <a:ln w="28575">
                  <a:noFill/>
                  <a:miter lim="800000"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pPr algn="l" eaLnBrk="0" hangingPunct="0"/>
                  <a:r>
                    <a:rPr lang="en-US" sz="1200" b="1">
                      <a:solidFill>
                        <a:srgbClr val="000000"/>
                      </a:solidFill>
                      <a:latin typeface="MathematicalPi 1" pitchFamily="82" charset="0"/>
                    </a:rPr>
                    <a:t>5</a:t>
                  </a:r>
                  <a:endParaRPr lang="en-US" sz="5400" b="1">
                    <a:latin typeface="Times New Roman" pitchFamily="18" charset="0"/>
                  </a:endParaRPr>
                </a:p>
              </p:txBody>
            </p:sp>
            <p:sp>
              <p:nvSpPr>
                <p:cNvPr id="186" name="Rectangle 88"/>
                <p:cNvSpPr>
                  <a:spLocks noChangeArrowheads="1"/>
                </p:cNvSpPr>
                <p:nvPr/>
              </p:nvSpPr>
              <p:spPr bwMode="auto">
                <a:xfrm>
                  <a:off x="2732" y="3212"/>
                  <a:ext cx="96" cy="119"/>
                </a:xfrm>
                <a:prstGeom prst="rect">
                  <a:avLst/>
                </a:prstGeom>
                <a:noFill/>
                <a:ln w="28575">
                  <a:noFill/>
                  <a:miter lim="800000"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pPr algn="l" eaLnBrk="0" hangingPunct="0"/>
                  <a:r>
                    <a:rPr lang="en-US" sz="1200" b="1">
                      <a:solidFill>
                        <a:srgbClr val="000000"/>
                      </a:solidFill>
                      <a:latin typeface="TimesTen" pitchFamily="18" charset="0"/>
                    </a:rPr>
                    <a:t> C</a:t>
                  </a:r>
                  <a:endParaRPr lang="en-US" sz="5400" b="1">
                    <a:latin typeface="Times New Roman" pitchFamily="18" charset="0"/>
                  </a:endParaRPr>
                </a:p>
              </p:txBody>
            </p:sp>
          </p:grpSp>
          <p:grpSp>
            <p:nvGrpSpPr>
              <p:cNvPr id="130" name="Group 89"/>
              <p:cNvGrpSpPr>
                <a:grpSpLocks/>
              </p:cNvGrpSpPr>
              <p:nvPr/>
            </p:nvGrpSpPr>
            <p:grpSpPr bwMode="auto">
              <a:xfrm>
                <a:off x="2600" y="2422"/>
                <a:ext cx="211" cy="129"/>
                <a:chOff x="2612" y="2428"/>
                <a:chExt cx="211" cy="129"/>
              </a:xfrm>
            </p:grpSpPr>
            <p:sp>
              <p:nvSpPr>
                <p:cNvPr id="179" name="Rectangle 90"/>
                <p:cNvSpPr>
                  <a:spLocks noChangeArrowheads="1"/>
                </p:cNvSpPr>
                <p:nvPr/>
              </p:nvSpPr>
              <p:spPr bwMode="auto">
                <a:xfrm>
                  <a:off x="2612" y="2428"/>
                  <a:ext cx="38" cy="119"/>
                </a:xfrm>
                <a:prstGeom prst="rect">
                  <a:avLst/>
                </a:prstGeom>
                <a:noFill/>
                <a:ln w="28575">
                  <a:noFill/>
                  <a:miter lim="800000"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pPr algn="l" eaLnBrk="0" hangingPunct="0"/>
                  <a:r>
                    <a:rPr lang="en-US" sz="1200" b="1">
                      <a:solidFill>
                        <a:srgbClr val="000000"/>
                      </a:solidFill>
                      <a:latin typeface="TimesTen" pitchFamily="18" charset="0"/>
                    </a:rPr>
                    <a:t>I</a:t>
                  </a:r>
                  <a:endParaRPr lang="en-US" sz="5400" b="1">
                    <a:latin typeface="Times New Roman" pitchFamily="18" charset="0"/>
                  </a:endParaRPr>
                </a:p>
              </p:txBody>
            </p:sp>
            <p:sp>
              <p:nvSpPr>
                <p:cNvPr id="180" name="Rectangle 91"/>
                <p:cNvSpPr>
                  <a:spLocks noChangeArrowheads="1"/>
                </p:cNvSpPr>
                <p:nvPr/>
              </p:nvSpPr>
              <p:spPr bwMode="auto">
                <a:xfrm>
                  <a:off x="2637" y="2462"/>
                  <a:ext cx="37" cy="89"/>
                </a:xfrm>
                <a:prstGeom prst="rect">
                  <a:avLst/>
                </a:prstGeom>
                <a:noFill/>
                <a:ln w="28575">
                  <a:noFill/>
                  <a:miter lim="800000"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pPr algn="l" eaLnBrk="0" hangingPunct="0"/>
                  <a:r>
                    <a:rPr lang="en-US" sz="900" b="1">
                      <a:solidFill>
                        <a:srgbClr val="000000"/>
                      </a:solidFill>
                      <a:latin typeface="TimesTen" pitchFamily="18" charset="0"/>
                    </a:rPr>
                    <a:t>2</a:t>
                  </a:r>
                  <a:endParaRPr lang="en-US" sz="5400" b="1">
                    <a:latin typeface="Times New Roman" pitchFamily="18" charset="0"/>
                  </a:endParaRPr>
                </a:p>
              </p:txBody>
            </p:sp>
            <p:sp>
              <p:nvSpPr>
                <p:cNvPr id="181" name="Rectangle 92"/>
                <p:cNvSpPr>
                  <a:spLocks noChangeArrowheads="1"/>
                </p:cNvSpPr>
                <p:nvPr/>
              </p:nvSpPr>
              <p:spPr bwMode="auto">
                <a:xfrm>
                  <a:off x="2677" y="2438"/>
                  <a:ext cx="54" cy="119"/>
                </a:xfrm>
                <a:prstGeom prst="rect">
                  <a:avLst/>
                </a:prstGeom>
                <a:noFill/>
                <a:ln w="28575">
                  <a:noFill/>
                  <a:miter lim="800000"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pPr algn="l" eaLnBrk="0" hangingPunct="0"/>
                  <a:r>
                    <a:rPr lang="en-US" sz="1200" b="1">
                      <a:solidFill>
                        <a:srgbClr val="000000"/>
                      </a:solidFill>
                      <a:latin typeface="MathematicalPi 1" pitchFamily="82" charset="0"/>
                    </a:rPr>
                    <a:t>5</a:t>
                  </a:r>
                  <a:endParaRPr lang="en-US" sz="5400" b="1">
                    <a:latin typeface="Times New Roman" pitchFamily="18" charset="0"/>
                  </a:endParaRPr>
                </a:p>
              </p:txBody>
            </p:sp>
            <p:sp>
              <p:nvSpPr>
                <p:cNvPr id="182" name="Rectangle 93"/>
                <p:cNvSpPr>
                  <a:spLocks noChangeArrowheads="1"/>
                </p:cNvSpPr>
                <p:nvPr/>
              </p:nvSpPr>
              <p:spPr bwMode="auto">
                <a:xfrm>
                  <a:off x="2732" y="2428"/>
                  <a:ext cx="91" cy="119"/>
                </a:xfrm>
                <a:prstGeom prst="rect">
                  <a:avLst/>
                </a:prstGeom>
                <a:noFill/>
                <a:ln w="28575">
                  <a:noFill/>
                  <a:miter lim="800000"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pPr algn="l" eaLnBrk="0" hangingPunct="0"/>
                  <a:r>
                    <a:rPr lang="en-US" sz="1200" b="1">
                      <a:solidFill>
                        <a:srgbClr val="000000"/>
                      </a:solidFill>
                      <a:latin typeface="TimesTen" pitchFamily="18" charset="0"/>
                    </a:rPr>
                    <a:t> B</a:t>
                  </a:r>
                  <a:endParaRPr lang="en-US" sz="5400" b="1">
                    <a:latin typeface="Times New Roman" pitchFamily="18" charset="0"/>
                  </a:endParaRPr>
                </a:p>
              </p:txBody>
            </p:sp>
          </p:grpSp>
          <p:grpSp>
            <p:nvGrpSpPr>
              <p:cNvPr id="131" name="Group 94"/>
              <p:cNvGrpSpPr>
                <a:grpSpLocks/>
              </p:cNvGrpSpPr>
              <p:nvPr/>
            </p:nvGrpSpPr>
            <p:grpSpPr bwMode="auto">
              <a:xfrm>
                <a:off x="2596" y="1638"/>
                <a:ext cx="216" cy="129"/>
                <a:chOff x="2608" y="1644"/>
                <a:chExt cx="216" cy="129"/>
              </a:xfrm>
            </p:grpSpPr>
            <p:sp>
              <p:nvSpPr>
                <p:cNvPr id="175" name="Rectangle 95"/>
                <p:cNvSpPr>
                  <a:spLocks noChangeArrowheads="1"/>
                </p:cNvSpPr>
                <p:nvPr/>
              </p:nvSpPr>
              <p:spPr bwMode="auto">
                <a:xfrm>
                  <a:off x="2608" y="1644"/>
                  <a:ext cx="38" cy="119"/>
                </a:xfrm>
                <a:prstGeom prst="rect">
                  <a:avLst/>
                </a:prstGeom>
                <a:noFill/>
                <a:ln w="28575">
                  <a:noFill/>
                  <a:miter lim="800000"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pPr algn="l" eaLnBrk="0" hangingPunct="0"/>
                  <a:r>
                    <a:rPr lang="en-US" sz="1200" b="1">
                      <a:solidFill>
                        <a:srgbClr val="000000"/>
                      </a:solidFill>
                      <a:latin typeface="TimesTen" pitchFamily="18" charset="0"/>
                    </a:rPr>
                    <a:t>I</a:t>
                  </a:r>
                  <a:endParaRPr lang="en-US" sz="5400" b="1">
                    <a:latin typeface="Times New Roman" pitchFamily="18" charset="0"/>
                  </a:endParaRPr>
                </a:p>
              </p:txBody>
            </p:sp>
            <p:sp>
              <p:nvSpPr>
                <p:cNvPr id="176" name="Rectangle 96"/>
                <p:cNvSpPr>
                  <a:spLocks noChangeArrowheads="1"/>
                </p:cNvSpPr>
                <p:nvPr/>
              </p:nvSpPr>
              <p:spPr bwMode="auto">
                <a:xfrm>
                  <a:off x="2633" y="1676"/>
                  <a:ext cx="55" cy="89"/>
                </a:xfrm>
                <a:prstGeom prst="rect">
                  <a:avLst/>
                </a:prstGeom>
                <a:noFill/>
                <a:ln w="28575">
                  <a:noFill/>
                  <a:miter lim="800000"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pPr algn="l" eaLnBrk="0" hangingPunct="0"/>
                  <a:r>
                    <a:rPr lang="en-US" sz="900" b="1">
                      <a:solidFill>
                        <a:srgbClr val="000000"/>
                      </a:solidFill>
                      <a:latin typeface="TimesTen" pitchFamily="18" charset="0"/>
                    </a:rPr>
                    <a:t> 1</a:t>
                  </a:r>
                  <a:endParaRPr lang="en-US" sz="5400" b="1">
                    <a:latin typeface="Times New Roman" pitchFamily="18" charset="0"/>
                  </a:endParaRPr>
                </a:p>
              </p:txBody>
            </p:sp>
            <p:sp>
              <p:nvSpPr>
                <p:cNvPr id="177" name="Rectangle 97"/>
                <p:cNvSpPr>
                  <a:spLocks noChangeArrowheads="1"/>
                </p:cNvSpPr>
                <p:nvPr/>
              </p:nvSpPr>
              <p:spPr bwMode="auto">
                <a:xfrm>
                  <a:off x="2673" y="1654"/>
                  <a:ext cx="54" cy="119"/>
                </a:xfrm>
                <a:prstGeom prst="rect">
                  <a:avLst/>
                </a:prstGeom>
                <a:noFill/>
                <a:ln w="28575">
                  <a:noFill/>
                  <a:miter lim="800000"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pPr algn="l" eaLnBrk="0" hangingPunct="0"/>
                  <a:r>
                    <a:rPr lang="en-US" sz="1200" b="1">
                      <a:solidFill>
                        <a:srgbClr val="000000"/>
                      </a:solidFill>
                      <a:latin typeface="MathematicalPi 1" pitchFamily="82" charset="0"/>
                    </a:rPr>
                    <a:t>5</a:t>
                  </a:r>
                  <a:endParaRPr lang="en-US" sz="5400" b="1">
                    <a:latin typeface="Times New Roman" pitchFamily="18" charset="0"/>
                  </a:endParaRPr>
                </a:p>
              </p:txBody>
            </p:sp>
            <p:sp>
              <p:nvSpPr>
                <p:cNvPr id="178" name="Rectangle 98"/>
                <p:cNvSpPr>
                  <a:spLocks noChangeArrowheads="1"/>
                </p:cNvSpPr>
                <p:nvPr/>
              </p:nvSpPr>
              <p:spPr bwMode="auto">
                <a:xfrm>
                  <a:off x="2728" y="1644"/>
                  <a:ext cx="96" cy="119"/>
                </a:xfrm>
                <a:prstGeom prst="rect">
                  <a:avLst/>
                </a:prstGeom>
                <a:noFill/>
                <a:ln w="28575">
                  <a:noFill/>
                  <a:miter lim="800000"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pPr algn="l" eaLnBrk="0" hangingPunct="0"/>
                  <a:r>
                    <a:rPr lang="en-US" sz="1200" b="1">
                      <a:solidFill>
                        <a:srgbClr val="000000"/>
                      </a:solidFill>
                      <a:latin typeface="TimesTen" pitchFamily="18" charset="0"/>
                    </a:rPr>
                    <a:t> A</a:t>
                  </a:r>
                  <a:endParaRPr lang="en-US" sz="5400" b="1">
                    <a:latin typeface="Times New Roman" pitchFamily="18" charset="0"/>
                  </a:endParaRPr>
                </a:p>
              </p:txBody>
            </p:sp>
          </p:grpSp>
          <p:sp>
            <p:nvSpPr>
              <p:cNvPr id="132" name="Freeform 99"/>
              <p:cNvSpPr>
                <a:spLocks/>
              </p:cNvSpPr>
              <p:nvPr/>
            </p:nvSpPr>
            <p:spPr bwMode="auto">
              <a:xfrm>
                <a:off x="4350" y="1020"/>
                <a:ext cx="170" cy="14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86"/>
                  </a:cxn>
                  <a:cxn ang="0">
                    <a:pos x="60" y="86"/>
                  </a:cxn>
                  <a:cxn ang="0">
                    <a:pos x="103" y="44"/>
                  </a:cxn>
                  <a:cxn ang="0">
                    <a:pos x="61" y="0"/>
                  </a:cxn>
                  <a:cxn ang="0">
                    <a:pos x="0" y="0"/>
                  </a:cxn>
                </a:cxnLst>
                <a:rect l="0" t="0" r="r" b="b"/>
                <a:pathLst>
                  <a:path w="103" h="86">
                    <a:moveTo>
                      <a:pt x="0" y="0"/>
                    </a:moveTo>
                    <a:cubicBezTo>
                      <a:pt x="0" y="86"/>
                      <a:pt x="0" y="86"/>
                      <a:pt x="0" y="86"/>
                    </a:cubicBezTo>
                    <a:cubicBezTo>
                      <a:pt x="60" y="86"/>
                      <a:pt x="60" y="86"/>
                      <a:pt x="60" y="86"/>
                    </a:cubicBezTo>
                    <a:cubicBezTo>
                      <a:pt x="84" y="86"/>
                      <a:pt x="103" y="67"/>
                      <a:pt x="103" y="44"/>
                    </a:cubicBezTo>
                    <a:cubicBezTo>
                      <a:pt x="103" y="20"/>
                      <a:pt x="85" y="1"/>
                      <a:pt x="61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" name="Freeform 100"/>
              <p:cNvSpPr>
                <a:spLocks/>
              </p:cNvSpPr>
              <p:nvPr/>
            </p:nvSpPr>
            <p:spPr bwMode="auto">
              <a:xfrm>
                <a:off x="4350" y="1230"/>
                <a:ext cx="170" cy="14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86"/>
                  </a:cxn>
                  <a:cxn ang="0">
                    <a:pos x="60" y="86"/>
                  </a:cxn>
                  <a:cxn ang="0">
                    <a:pos x="103" y="44"/>
                  </a:cxn>
                  <a:cxn ang="0">
                    <a:pos x="61" y="0"/>
                  </a:cxn>
                  <a:cxn ang="0">
                    <a:pos x="0" y="0"/>
                  </a:cxn>
                </a:cxnLst>
                <a:rect l="0" t="0" r="r" b="b"/>
                <a:pathLst>
                  <a:path w="103" h="86">
                    <a:moveTo>
                      <a:pt x="0" y="0"/>
                    </a:moveTo>
                    <a:cubicBezTo>
                      <a:pt x="0" y="86"/>
                      <a:pt x="0" y="86"/>
                      <a:pt x="0" y="86"/>
                    </a:cubicBezTo>
                    <a:cubicBezTo>
                      <a:pt x="60" y="86"/>
                      <a:pt x="60" y="86"/>
                      <a:pt x="60" y="86"/>
                    </a:cubicBezTo>
                    <a:cubicBezTo>
                      <a:pt x="84" y="86"/>
                      <a:pt x="103" y="67"/>
                      <a:pt x="103" y="44"/>
                    </a:cubicBezTo>
                    <a:cubicBezTo>
                      <a:pt x="103" y="20"/>
                      <a:pt x="85" y="1"/>
                      <a:pt x="61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4" name="Freeform 101"/>
              <p:cNvSpPr>
                <a:spLocks/>
              </p:cNvSpPr>
              <p:nvPr/>
            </p:nvSpPr>
            <p:spPr bwMode="auto">
              <a:xfrm>
                <a:off x="4350" y="1439"/>
                <a:ext cx="170" cy="14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86"/>
                  </a:cxn>
                  <a:cxn ang="0">
                    <a:pos x="60" y="86"/>
                  </a:cxn>
                  <a:cxn ang="0">
                    <a:pos x="103" y="44"/>
                  </a:cxn>
                  <a:cxn ang="0">
                    <a:pos x="61" y="0"/>
                  </a:cxn>
                  <a:cxn ang="0">
                    <a:pos x="0" y="0"/>
                  </a:cxn>
                </a:cxnLst>
                <a:rect l="0" t="0" r="r" b="b"/>
                <a:pathLst>
                  <a:path w="103" h="86">
                    <a:moveTo>
                      <a:pt x="0" y="0"/>
                    </a:moveTo>
                    <a:cubicBezTo>
                      <a:pt x="0" y="86"/>
                      <a:pt x="0" y="86"/>
                      <a:pt x="0" y="86"/>
                    </a:cubicBezTo>
                    <a:cubicBezTo>
                      <a:pt x="60" y="86"/>
                      <a:pt x="60" y="86"/>
                      <a:pt x="60" y="86"/>
                    </a:cubicBezTo>
                    <a:cubicBezTo>
                      <a:pt x="84" y="86"/>
                      <a:pt x="103" y="67"/>
                      <a:pt x="103" y="44"/>
                    </a:cubicBezTo>
                    <a:cubicBezTo>
                      <a:pt x="103" y="20"/>
                      <a:pt x="85" y="1"/>
                      <a:pt x="61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5" name="Freeform 102"/>
              <p:cNvSpPr>
                <a:spLocks/>
              </p:cNvSpPr>
              <p:nvPr/>
            </p:nvSpPr>
            <p:spPr bwMode="auto">
              <a:xfrm>
                <a:off x="4350" y="1812"/>
                <a:ext cx="170" cy="14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86"/>
                  </a:cxn>
                  <a:cxn ang="0">
                    <a:pos x="60" y="86"/>
                  </a:cxn>
                  <a:cxn ang="0">
                    <a:pos x="103" y="44"/>
                  </a:cxn>
                  <a:cxn ang="0">
                    <a:pos x="61" y="0"/>
                  </a:cxn>
                  <a:cxn ang="0">
                    <a:pos x="0" y="0"/>
                  </a:cxn>
                </a:cxnLst>
                <a:rect l="0" t="0" r="r" b="b"/>
                <a:pathLst>
                  <a:path w="103" h="86">
                    <a:moveTo>
                      <a:pt x="0" y="0"/>
                    </a:moveTo>
                    <a:cubicBezTo>
                      <a:pt x="0" y="86"/>
                      <a:pt x="0" y="86"/>
                      <a:pt x="0" y="86"/>
                    </a:cubicBezTo>
                    <a:cubicBezTo>
                      <a:pt x="60" y="86"/>
                      <a:pt x="60" y="86"/>
                      <a:pt x="60" y="86"/>
                    </a:cubicBezTo>
                    <a:cubicBezTo>
                      <a:pt x="84" y="86"/>
                      <a:pt x="103" y="67"/>
                      <a:pt x="103" y="44"/>
                    </a:cubicBezTo>
                    <a:cubicBezTo>
                      <a:pt x="103" y="20"/>
                      <a:pt x="85" y="1"/>
                      <a:pt x="61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6" name="Freeform 103"/>
              <p:cNvSpPr>
                <a:spLocks/>
              </p:cNvSpPr>
              <p:nvPr/>
            </p:nvSpPr>
            <p:spPr bwMode="auto">
              <a:xfrm>
                <a:off x="4350" y="2021"/>
                <a:ext cx="170" cy="14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86"/>
                  </a:cxn>
                  <a:cxn ang="0">
                    <a:pos x="60" y="86"/>
                  </a:cxn>
                  <a:cxn ang="0">
                    <a:pos x="103" y="44"/>
                  </a:cxn>
                  <a:cxn ang="0">
                    <a:pos x="61" y="0"/>
                  </a:cxn>
                  <a:cxn ang="0">
                    <a:pos x="0" y="0"/>
                  </a:cxn>
                </a:cxnLst>
                <a:rect l="0" t="0" r="r" b="b"/>
                <a:pathLst>
                  <a:path w="103" h="86">
                    <a:moveTo>
                      <a:pt x="0" y="0"/>
                    </a:moveTo>
                    <a:cubicBezTo>
                      <a:pt x="0" y="86"/>
                      <a:pt x="0" y="86"/>
                      <a:pt x="0" y="86"/>
                    </a:cubicBezTo>
                    <a:cubicBezTo>
                      <a:pt x="60" y="86"/>
                      <a:pt x="60" y="86"/>
                      <a:pt x="60" y="86"/>
                    </a:cubicBezTo>
                    <a:cubicBezTo>
                      <a:pt x="84" y="86"/>
                      <a:pt x="103" y="67"/>
                      <a:pt x="103" y="44"/>
                    </a:cubicBezTo>
                    <a:cubicBezTo>
                      <a:pt x="103" y="20"/>
                      <a:pt x="85" y="1"/>
                      <a:pt x="61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7" name="Freeform 104"/>
              <p:cNvSpPr>
                <a:spLocks/>
              </p:cNvSpPr>
              <p:nvPr/>
            </p:nvSpPr>
            <p:spPr bwMode="auto">
              <a:xfrm>
                <a:off x="4350" y="2237"/>
                <a:ext cx="170" cy="14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86"/>
                  </a:cxn>
                  <a:cxn ang="0">
                    <a:pos x="60" y="86"/>
                  </a:cxn>
                  <a:cxn ang="0">
                    <a:pos x="103" y="43"/>
                  </a:cxn>
                  <a:cxn ang="0">
                    <a:pos x="61" y="0"/>
                  </a:cxn>
                  <a:cxn ang="0">
                    <a:pos x="0" y="0"/>
                  </a:cxn>
                </a:cxnLst>
                <a:rect l="0" t="0" r="r" b="b"/>
                <a:pathLst>
                  <a:path w="103" h="86">
                    <a:moveTo>
                      <a:pt x="0" y="0"/>
                    </a:moveTo>
                    <a:cubicBezTo>
                      <a:pt x="0" y="86"/>
                      <a:pt x="0" y="86"/>
                      <a:pt x="0" y="86"/>
                    </a:cubicBezTo>
                    <a:cubicBezTo>
                      <a:pt x="60" y="86"/>
                      <a:pt x="60" y="86"/>
                      <a:pt x="60" y="86"/>
                    </a:cubicBezTo>
                    <a:cubicBezTo>
                      <a:pt x="84" y="86"/>
                      <a:pt x="103" y="67"/>
                      <a:pt x="103" y="43"/>
                    </a:cubicBezTo>
                    <a:cubicBezTo>
                      <a:pt x="103" y="20"/>
                      <a:pt x="85" y="0"/>
                      <a:pt x="61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8" name="Freeform 105"/>
              <p:cNvSpPr>
                <a:spLocks/>
              </p:cNvSpPr>
              <p:nvPr/>
            </p:nvSpPr>
            <p:spPr bwMode="auto">
              <a:xfrm>
                <a:off x="4350" y="2602"/>
                <a:ext cx="170" cy="14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86"/>
                  </a:cxn>
                  <a:cxn ang="0">
                    <a:pos x="60" y="86"/>
                  </a:cxn>
                  <a:cxn ang="0">
                    <a:pos x="103" y="43"/>
                  </a:cxn>
                  <a:cxn ang="0">
                    <a:pos x="61" y="0"/>
                  </a:cxn>
                  <a:cxn ang="0">
                    <a:pos x="0" y="0"/>
                  </a:cxn>
                </a:cxnLst>
                <a:rect l="0" t="0" r="r" b="b"/>
                <a:pathLst>
                  <a:path w="103" h="86">
                    <a:moveTo>
                      <a:pt x="0" y="0"/>
                    </a:moveTo>
                    <a:cubicBezTo>
                      <a:pt x="0" y="86"/>
                      <a:pt x="0" y="86"/>
                      <a:pt x="0" y="86"/>
                    </a:cubicBezTo>
                    <a:cubicBezTo>
                      <a:pt x="60" y="86"/>
                      <a:pt x="60" y="86"/>
                      <a:pt x="60" y="86"/>
                    </a:cubicBezTo>
                    <a:cubicBezTo>
                      <a:pt x="84" y="86"/>
                      <a:pt x="103" y="67"/>
                      <a:pt x="103" y="43"/>
                    </a:cubicBezTo>
                    <a:cubicBezTo>
                      <a:pt x="103" y="20"/>
                      <a:pt x="85" y="0"/>
                      <a:pt x="61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9" name="Freeform 106"/>
              <p:cNvSpPr>
                <a:spLocks/>
              </p:cNvSpPr>
              <p:nvPr/>
            </p:nvSpPr>
            <p:spPr bwMode="auto">
              <a:xfrm>
                <a:off x="4350" y="2813"/>
                <a:ext cx="170" cy="14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86"/>
                  </a:cxn>
                  <a:cxn ang="0">
                    <a:pos x="60" y="86"/>
                  </a:cxn>
                  <a:cxn ang="0">
                    <a:pos x="103" y="44"/>
                  </a:cxn>
                  <a:cxn ang="0">
                    <a:pos x="61" y="0"/>
                  </a:cxn>
                  <a:cxn ang="0">
                    <a:pos x="0" y="0"/>
                  </a:cxn>
                </a:cxnLst>
                <a:rect l="0" t="0" r="r" b="b"/>
                <a:pathLst>
                  <a:path w="103" h="86">
                    <a:moveTo>
                      <a:pt x="0" y="0"/>
                    </a:moveTo>
                    <a:cubicBezTo>
                      <a:pt x="0" y="86"/>
                      <a:pt x="0" y="86"/>
                      <a:pt x="0" y="86"/>
                    </a:cubicBezTo>
                    <a:cubicBezTo>
                      <a:pt x="60" y="86"/>
                      <a:pt x="60" y="86"/>
                      <a:pt x="60" y="86"/>
                    </a:cubicBezTo>
                    <a:cubicBezTo>
                      <a:pt x="84" y="86"/>
                      <a:pt x="103" y="67"/>
                      <a:pt x="103" y="44"/>
                    </a:cubicBezTo>
                    <a:cubicBezTo>
                      <a:pt x="103" y="20"/>
                      <a:pt x="85" y="1"/>
                      <a:pt x="61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0" name="Freeform 107"/>
              <p:cNvSpPr>
                <a:spLocks/>
              </p:cNvSpPr>
              <p:nvPr/>
            </p:nvSpPr>
            <p:spPr bwMode="auto">
              <a:xfrm>
                <a:off x="4350" y="3029"/>
                <a:ext cx="170" cy="14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86"/>
                  </a:cxn>
                  <a:cxn ang="0">
                    <a:pos x="60" y="86"/>
                  </a:cxn>
                  <a:cxn ang="0">
                    <a:pos x="103" y="43"/>
                  </a:cxn>
                  <a:cxn ang="0">
                    <a:pos x="61" y="0"/>
                  </a:cxn>
                  <a:cxn ang="0">
                    <a:pos x="0" y="0"/>
                  </a:cxn>
                </a:cxnLst>
                <a:rect l="0" t="0" r="r" b="b"/>
                <a:pathLst>
                  <a:path w="103" h="86">
                    <a:moveTo>
                      <a:pt x="0" y="0"/>
                    </a:moveTo>
                    <a:cubicBezTo>
                      <a:pt x="0" y="86"/>
                      <a:pt x="0" y="86"/>
                      <a:pt x="0" y="86"/>
                    </a:cubicBezTo>
                    <a:cubicBezTo>
                      <a:pt x="60" y="86"/>
                      <a:pt x="60" y="86"/>
                      <a:pt x="60" y="86"/>
                    </a:cubicBezTo>
                    <a:cubicBezTo>
                      <a:pt x="84" y="86"/>
                      <a:pt x="103" y="67"/>
                      <a:pt x="103" y="43"/>
                    </a:cubicBezTo>
                    <a:cubicBezTo>
                      <a:pt x="103" y="20"/>
                      <a:pt x="85" y="0"/>
                      <a:pt x="61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" name="Freeform 108"/>
              <p:cNvSpPr>
                <a:spLocks/>
              </p:cNvSpPr>
              <p:nvPr/>
            </p:nvSpPr>
            <p:spPr bwMode="auto">
              <a:xfrm>
                <a:off x="4350" y="3395"/>
                <a:ext cx="170" cy="14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86"/>
                  </a:cxn>
                  <a:cxn ang="0">
                    <a:pos x="60" y="86"/>
                  </a:cxn>
                  <a:cxn ang="0">
                    <a:pos x="103" y="44"/>
                  </a:cxn>
                  <a:cxn ang="0">
                    <a:pos x="61" y="0"/>
                  </a:cxn>
                  <a:cxn ang="0">
                    <a:pos x="0" y="0"/>
                  </a:cxn>
                </a:cxnLst>
                <a:rect l="0" t="0" r="r" b="b"/>
                <a:pathLst>
                  <a:path w="103" h="86">
                    <a:moveTo>
                      <a:pt x="0" y="0"/>
                    </a:moveTo>
                    <a:cubicBezTo>
                      <a:pt x="0" y="86"/>
                      <a:pt x="0" y="86"/>
                      <a:pt x="0" y="86"/>
                    </a:cubicBezTo>
                    <a:cubicBezTo>
                      <a:pt x="60" y="86"/>
                      <a:pt x="60" y="86"/>
                      <a:pt x="60" y="86"/>
                    </a:cubicBezTo>
                    <a:cubicBezTo>
                      <a:pt x="84" y="86"/>
                      <a:pt x="103" y="67"/>
                      <a:pt x="103" y="44"/>
                    </a:cubicBezTo>
                    <a:cubicBezTo>
                      <a:pt x="103" y="20"/>
                      <a:pt x="85" y="1"/>
                      <a:pt x="61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" name="Freeform 109"/>
              <p:cNvSpPr>
                <a:spLocks/>
              </p:cNvSpPr>
              <p:nvPr/>
            </p:nvSpPr>
            <p:spPr bwMode="auto">
              <a:xfrm>
                <a:off x="4350" y="3605"/>
                <a:ext cx="170" cy="14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86"/>
                  </a:cxn>
                  <a:cxn ang="0">
                    <a:pos x="60" y="86"/>
                  </a:cxn>
                  <a:cxn ang="0">
                    <a:pos x="103" y="44"/>
                  </a:cxn>
                  <a:cxn ang="0">
                    <a:pos x="61" y="0"/>
                  </a:cxn>
                  <a:cxn ang="0">
                    <a:pos x="0" y="0"/>
                  </a:cxn>
                </a:cxnLst>
                <a:rect l="0" t="0" r="r" b="b"/>
                <a:pathLst>
                  <a:path w="103" h="86">
                    <a:moveTo>
                      <a:pt x="0" y="0"/>
                    </a:moveTo>
                    <a:cubicBezTo>
                      <a:pt x="0" y="86"/>
                      <a:pt x="0" y="86"/>
                      <a:pt x="0" y="86"/>
                    </a:cubicBezTo>
                    <a:cubicBezTo>
                      <a:pt x="60" y="86"/>
                      <a:pt x="60" y="86"/>
                      <a:pt x="60" y="86"/>
                    </a:cubicBezTo>
                    <a:cubicBezTo>
                      <a:pt x="84" y="86"/>
                      <a:pt x="103" y="67"/>
                      <a:pt x="103" y="44"/>
                    </a:cubicBezTo>
                    <a:cubicBezTo>
                      <a:pt x="103" y="20"/>
                      <a:pt x="85" y="1"/>
                      <a:pt x="61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3" name="Freeform 110"/>
              <p:cNvSpPr>
                <a:spLocks/>
              </p:cNvSpPr>
              <p:nvPr/>
            </p:nvSpPr>
            <p:spPr bwMode="auto">
              <a:xfrm>
                <a:off x="4350" y="3819"/>
                <a:ext cx="170" cy="14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86"/>
                  </a:cxn>
                  <a:cxn ang="0">
                    <a:pos x="60" y="86"/>
                  </a:cxn>
                  <a:cxn ang="0">
                    <a:pos x="103" y="44"/>
                  </a:cxn>
                  <a:cxn ang="0">
                    <a:pos x="61" y="0"/>
                  </a:cxn>
                  <a:cxn ang="0">
                    <a:pos x="0" y="0"/>
                  </a:cxn>
                </a:cxnLst>
                <a:rect l="0" t="0" r="r" b="b"/>
                <a:pathLst>
                  <a:path w="103" h="86">
                    <a:moveTo>
                      <a:pt x="0" y="0"/>
                    </a:moveTo>
                    <a:cubicBezTo>
                      <a:pt x="0" y="86"/>
                      <a:pt x="0" y="86"/>
                      <a:pt x="0" y="86"/>
                    </a:cubicBezTo>
                    <a:cubicBezTo>
                      <a:pt x="60" y="86"/>
                      <a:pt x="60" y="86"/>
                      <a:pt x="60" y="86"/>
                    </a:cubicBezTo>
                    <a:cubicBezTo>
                      <a:pt x="84" y="86"/>
                      <a:pt x="103" y="67"/>
                      <a:pt x="103" y="44"/>
                    </a:cubicBezTo>
                    <a:cubicBezTo>
                      <a:pt x="103" y="20"/>
                      <a:pt x="85" y="1"/>
                      <a:pt x="61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" name="Freeform 111"/>
              <p:cNvSpPr>
                <a:spLocks/>
              </p:cNvSpPr>
              <p:nvPr/>
            </p:nvSpPr>
            <p:spPr bwMode="auto">
              <a:xfrm>
                <a:off x="4749" y="1230"/>
                <a:ext cx="182" cy="143"/>
              </a:xfrm>
              <a:custGeom>
                <a:avLst/>
                <a:gdLst/>
                <a:ahLst/>
                <a:cxnLst>
                  <a:cxn ang="0">
                    <a:pos x="1" y="84"/>
                  </a:cxn>
                  <a:cxn ang="0">
                    <a:pos x="12" y="42"/>
                  </a:cxn>
                  <a:cxn ang="0">
                    <a:pos x="2" y="2"/>
                  </a:cxn>
                  <a:cxn ang="0">
                    <a:pos x="1" y="0"/>
                  </a:cxn>
                  <a:cxn ang="0">
                    <a:pos x="36" y="0"/>
                  </a:cxn>
                  <a:cxn ang="0">
                    <a:pos x="110" y="42"/>
                  </a:cxn>
                  <a:cxn ang="0">
                    <a:pos x="109" y="45"/>
                  </a:cxn>
                  <a:cxn ang="0">
                    <a:pos x="36" y="87"/>
                  </a:cxn>
                  <a:cxn ang="0">
                    <a:pos x="0" y="87"/>
                  </a:cxn>
                  <a:cxn ang="0">
                    <a:pos x="1" y="84"/>
                  </a:cxn>
                </a:cxnLst>
                <a:rect l="0" t="0" r="r" b="b"/>
                <a:pathLst>
                  <a:path w="110" h="87">
                    <a:moveTo>
                      <a:pt x="1" y="84"/>
                    </a:moveTo>
                    <a:cubicBezTo>
                      <a:pt x="8" y="71"/>
                      <a:pt x="12" y="57"/>
                      <a:pt x="12" y="42"/>
                    </a:cubicBezTo>
                    <a:cubicBezTo>
                      <a:pt x="12" y="28"/>
                      <a:pt x="9" y="15"/>
                      <a:pt x="2" y="2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36" y="0"/>
                      <a:pt x="36" y="0"/>
                      <a:pt x="36" y="0"/>
                    </a:cubicBezTo>
                    <a:cubicBezTo>
                      <a:pt x="66" y="0"/>
                      <a:pt x="94" y="16"/>
                      <a:pt x="110" y="42"/>
                    </a:cubicBezTo>
                    <a:cubicBezTo>
                      <a:pt x="109" y="45"/>
                      <a:pt x="109" y="45"/>
                      <a:pt x="109" y="45"/>
                    </a:cubicBezTo>
                    <a:cubicBezTo>
                      <a:pt x="94" y="71"/>
                      <a:pt x="66" y="87"/>
                      <a:pt x="36" y="87"/>
                    </a:cubicBezTo>
                    <a:cubicBezTo>
                      <a:pt x="0" y="87"/>
                      <a:pt x="0" y="87"/>
                      <a:pt x="0" y="87"/>
                    </a:cubicBezTo>
                    <a:cubicBezTo>
                      <a:pt x="1" y="84"/>
                      <a:pt x="1" y="84"/>
                      <a:pt x="1" y="84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" name="Freeform 112"/>
              <p:cNvSpPr>
                <a:spLocks/>
              </p:cNvSpPr>
              <p:nvPr/>
            </p:nvSpPr>
            <p:spPr bwMode="auto">
              <a:xfrm>
                <a:off x="4749" y="2021"/>
                <a:ext cx="182" cy="144"/>
              </a:xfrm>
              <a:custGeom>
                <a:avLst/>
                <a:gdLst/>
                <a:ahLst/>
                <a:cxnLst>
                  <a:cxn ang="0">
                    <a:pos x="1" y="84"/>
                  </a:cxn>
                  <a:cxn ang="0">
                    <a:pos x="12" y="42"/>
                  </a:cxn>
                  <a:cxn ang="0">
                    <a:pos x="2" y="2"/>
                  </a:cxn>
                  <a:cxn ang="0">
                    <a:pos x="1" y="0"/>
                  </a:cxn>
                  <a:cxn ang="0">
                    <a:pos x="36" y="0"/>
                  </a:cxn>
                  <a:cxn ang="0">
                    <a:pos x="110" y="42"/>
                  </a:cxn>
                  <a:cxn ang="0">
                    <a:pos x="109" y="45"/>
                  </a:cxn>
                  <a:cxn ang="0">
                    <a:pos x="36" y="87"/>
                  </a:cxn>
                  <a:cxn ang="0">
                    <a:pos x="0" y="87"/>
                  </a:cxn>
                  <a:cxn ang="0">
                    <a:pos x="1" y="84"/>
                  </a:cxn>
                </a:cxnLst>
                <a:rect l="0" t="0" r="r" b="b"/>
                <a:pathLst>
                  <a:path w="110" h="87">
                    <a:moveTo>
                      <a:pt x="1" y="84"/>
                    </a:moveTo>
                    <a:cubicBezTo>
                      <a:pt x="8" y="71"/>
                      <a:pt x="12" y="57"/>
                      <a:pt x="12" y="42"/>
                    </a:cubicBezTo>
                    <a:cubicBezTo>
                      <a:pt x="12" y="28"/>
                      <a:pt x="9" y="15"/>
                      <a:pt x="2" y="2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36" y="0"/>
                      <a:pt x="36" y="0"/>
                      <a:pt x="36" y="0"/>
                    </a:cubicBezTo>
                    <a:cubicBezTo>
                      <a:pt x="66" y="0"/>
                      <a:pt x="94" y="16"/>
                      <a:pt x="110" y="42"/>
                    </a:cubicBezTo>
                    <a:cubicBezTo>
                      <a:pt x="109" y="45"/>
                      <a:pt x="109" y="45"/>
                      <a:pt x="109" y="45"/>
                    </a:cubicBezTo>
                    <a:cubicBezTo>
                      <a:pt x="94" y="71"/>
                      <a:pt x="66" y="87"/>
                      <a:pt x="36" y="87"/>
                    </a:cubicBezTo>
                    <a:cubicBezTo>
                      <a:pt x="0" y="87"/>
                      <a:pt x="0" y="87"/>
                      <a:pt x="0" y="87"/>
                    </a:cubicBezTo>
                    <a:cubicBezTo>
                      <a:pt x="1" y="84"/>
                      <a:pt x="1" y="84"/>
                      <a:pt x="1" y="84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" name="Freeform 113"/>
              <p:cNvSpPr>
                <a:spLocks/>
              </p:cNvSpPr>
              <p:nvPr/>
            </p:nvSpPr>
            <p:spPr bwMode="auto">
              <a:xfrm>
                <a:off x="4749" y="2813"/>
                <a:ext cx="182" cy="143"/>
              </a:xfrm>
              <a:custGeom>
                <a:avLst/>
                <a:gdLst/>
                <a:ahLst/>
                <a:cxnLst>
                  <a:cxn ang="0">
                    <a:pos x="1" y="84"/>
                  </a:cxn>
                  <a:cxn ang="0">
                    <a:pos x="12" y="42"/>
                  </a:cxn>
                  <a:cxn ang="0">
                    <a:pos x="2" y="2"/>
                  </a:cxn>
                  <a:cxn ang="0">
                    <a:pos x="1" y="0"/>
                  </a:cxn>
                  <a:cxn ang="0">
                    <a:pos x="36" y="0"/>
                  </a:cxn>
                  <a:cxn ang="0">
                    <a:pos x="110" y="42"/>
                  </a:cxn>
                  <a:cxn ang="0">
                    <a:pos x="109" y="45"/>
                  </a:cxn>
                  <a:cxn ang="0">
                    <a:pos x="36" y="87"/>
                  </a:cxn>
                  <a:cxn ang="0">
                    <a:pos x="0" y="87"/>
                  </a:cxn>
                  <a:cxn ang="0">
                    <a:pos x="1" y="84"/>
                  </a:cxn>
                </a:cxnLst>
                <a:rect l="0" t="0" r="r" b="b"/>
                <a:pathLst>
                  <a:path w="110" h="87">
                    <a:moveTo>
                      <a:pt x="1" y="84"/>
                    </a:moveTo>
                    <a:cubicBezTo>
                      <a:pt x="8" y="71"/>
                      <a:pt x="12" y="57"/>
                      <a:pt x="12" y="42"/>
                    </a:cubicBezTo>
                    <a:cubicBezTo>
                      <a:pt x="12" y="28"/>
                      <a:pt x="9" y="14"/>
                      <a:pt x="2" y="2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36" y="0"/>
                      <a:pt x="36" y="0"/>
                      <a:pt x="36" y="0"/>
                    </a:cubicBezTo>
                    <a:cubicBezTo>
                      <a:pt x="66" y="0"/>
                      <a:pt x="94" y="16"/>
                      <a:pt x="110" y="42"/>
                    </a:cubicBezTo>
                    <a:cubicBezTo>
                      <a:pt x="109" y="45"/>
                      <a:pt x="109" y="45"/>
                      <a:pt x="109" y="45"/>
                    </a:cubicBezTo>
                    <a:cubicBezTo>
                      <a:pt x="94" y="71"/>
                      <a:pt x="66" y="87"/>
                      <a:pt x="36" y="87"/>
                    </a:cubicBezTo>
                    <a:cubicBezTo>
                      <a:pt x="0" y="87"/>
                      <a:pt x="0" y="87"/>
                      <a:pt x="0" y="87"/>
                    </a:cubicBezTo>
                    <a:cubicBezTo>
                      <a:pt x="1" y="84"/>
                      <a:pt x="1" y="84"/>
                      <a:pt x="1" y="84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7" name="Freeform 114"/>
              <p:cNvSpPr>
                <a:spLocks/>
              </p:cNvSpPr>
              <p:nvPr/>
            </p:nvSpPr>
            <p:spPr bwMode="auto">
              <a:xfrm>
                <a:off x="4749" y="3605"/>
                <a:ext cx="182" cy="143"/>
              </a:xfrm>
              <a:custGeom>
                <a:avLst/>
                <a:gdLst/>
                <a:ahLst/>
                <a:cxnLst>
                  <a:cxn ang="0">
                    <a:pos x="1" y="84"/>
                  </a:cxn>
                  <a:cxn ang="0">
                    <a:pos x="12" y="42"/>
                  </a:cxn>
                  <a:cxn ang="0">
                    <a:pos x="2" y="2"/>
                  </a:cxn>
                  <a:cxn ang="0">
                    <a:pos x="1" y="0"/>
                  </a:cxn>
                  <a:cxn ang="0">
                    <a:pos x="36" y="0"/>
                  </a:cxn>
                  <a:cxn ang="0">
                    <a:pos x="110" y="42"/>
                  </a:cxn>
                  <a:cxn ang="0">
                    <a:pos x="109" y="45"/>
                  </a:cxn>
                  <a:cxn ang="0">
                    <a:pos x="36" y="87"/>
                  </a:cxn>
                  <a:cxn ang="0">
                    <a:pos x="0" y="87"/>
                  </a:cxn>
                  <a:cxn ang="0">
                    <a:pos x="1" y="84"/>
                  </a:cxn>
                </a:cxnLst>
                <a:rect l="0" t="0" r="r" b="b"/>
                <a:pathLst>
                  <a:path w="110" h="87">
                    <a:moveTo>
                      <a:pt x="1" y="84"/>
                    </a:moveTo>
                    <a:cubicBezTo>
                      <a:pt x="8" y="71"/>
                      <a:pt x="12" y="57"/>
                      <a:pt x="12" y="42"/>
                    </a:cubicBezTo>
                    <a:cubicBezTo>
                      <a:pt x="12" y="28"/>
                      <a:pt x="9" y="14"/>
                      <a:pt x="2" y="2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36" y="0"/>
                      <a:pt x="36" y="0"/>
                      <a:pt x="36" y="0"/>
                    </a:cubicBezTo>
                    <a:cubicBezTo>
                      <a:pt x="66" y="0"/>
                      <a:pt x="94" y="16"/>
                      <a:pt x="110" y="42"/>
                    </a:cubicBezTo>
                    <a:cubicBezTo>
                      <a:pt x="109" y="45"/>
                      <a:pt x="109" y="45"/>
                      <a:pt x="109" y="45"/>
                    </a:cubicBezTo>
                    <a:cubicBezTo>
                      <a:pt x="94" y="71"/>
                      <a:pt x="66" y="87"/>
                      <a:pt x="36" y="87"/>
                    </a:cubicBezTo>
                    <a:cubicBezTo>
                      <a:pt x="0" y="87"/>
                      <a:pt x="0" y="87"/>
                      <a:pt x="0" y="87"/>
                    </a:cubicBezTo>
                    <a:cubicBezTo>
                      <a:pt x="1" y="84"/>
                      <a:pt x="1" y="84"/>
                      <a:pt x="1" y="84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8" name="Freeform 115"/>
              <p:cNvSpPr>
                <a:spLocks/>
              </p:cNvSpPr>
              <p:nvPr/>
            </p:nvSpPr>
            <p:spPr bwMode="auto">
              <a:xfrm>
                <a:off x="3032" y="1627"/>
                <a:ext cx="99" cy="129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129"/>
                  </a:cxn>
                  <a:cxn ang="0">
                    <a:pos x="99" y="63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w="99" h="129">
                    <a:moveTo>
                      <a:pt x="0" y="0"/>
                    </a:moveTo>
                    <a:lnTo>
                      <a:pt x="0" y="129"/>
                    </a:lnTo>
                    <a:lnTo>
                      <a:pt x="99" y="63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9" name="Freeform 116"/>
              <p:cNvSpPr>
                <a:spLocks/>
              </p:cNvSpPr>
              <p:nvPr/>
            </p:nvSpPr>
            <p:spPr bwMode="auto">
              <a:xfrm>
                <a:off x="3029" y="2412"/>
                <a:ext cx="99" cy="129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129"/>
                  </a:cxn>
                  <a:cxn ang="0">
                    <a:pos x="99" y="63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w="99" h="129">
                    <a:moveTo>
                      <a:pt x="0" y="0"/>
                    </a:moveTo>
                    <a:lnTo>
                      <a:pt x="0" y="129"/>
                    </a:lnTo>
                    <a:lnTo>
                      <a:pt x="99" y="63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0" name="Freeform 117"/>
              <p:cNvSpPr>
                <a:spLocks/>
              </p:cNvSpPr>
              <p:nvPr/>
            </p:nvSpPr>
            <p:spPr bwMode="auto">
              <a:xfrm>
                <a:off x="3029" y="3199"/>
                <a:ext cx="99" cy="127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127"/>
                  </a:cxn>
                  <a:cxn ang="0">
                    <a:pos x="99" y="61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w="99" h="127">
                    <a:moveTo>
                      <a:pt x="0" y="0"/>
                    </a:moveTo>
                    <a:lnTo>
                      <a:pt x="0" y="127"/>
                    </a:lnTo>
                    <a:lnTo>
                      <a:pt x="99" y="61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1" name="Freeform 118"/>
              <p:cNvSpPr>
                <a:spLocks/>
              </p:cNvSpPr>
              <p:nvPr/>
            </p:nvSpPr>
            <p:spPr bwMode="auto">
              <a:xfrm>
                <a:off x="3029" y="3984"/>
                <a:ext cx="99" cy="127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127"/>
                  </a:cxn>
                  <a:cxn ang="0">
                    <a:pos x="99" y="63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w="99" h="127">
                    <a:moveTo>
                      <a:pt x="0" y="0"/>
                    </a:moveTo>
                    <a:lnTo>
                      <a:pt x="0" y="127"/>
                    </a:lnTo>
                    <a:lnTo>
                      <a:pt x="99" y="63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2" name="Rectangle 119"/>
              <p:cNvSpPr>
                <a:spLocks noChangeArrowheads="1"/>
              </p:cNvSpPr>
              <p:nvPr/>
            </p:nvSpPr>
            <p:spPr bwMode="auto">
              <a:xfrm>
                <a:off x="3429" y="876"/>
                <a:ext cx="41" cy="99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eaLnBrk="0" hangingPunct="0"/>
                <a:r>
                  <a:rPr lang="en-US" sz="1000" b="1">
                    <a:solidFill>
                      <a:srgbClr val="000000"/>
                    </a:solidFill>
                    <a:latin typeface="TimesTen" pitchFamily="18" charset="0"/>
                  </a:rPr>
                  <a:t>1</a:t>
                </a:r>
                <a:endParaRPr lang="en-US" sz="4800" b="1">
                  <a:latin typeface="Times New Roman" pitchFamily="18" charset="0"/>
                </a:endParaRPr>
              </a:p>
            </p:txBody>
          </p:sp>
          <p:sp>
            <p:nvSpPr>
              <p:cNvPr id="153" name="Rectangle 120"/>
              <p:cNvSpPr>
                <a:spLocks noChangeArrowheads="1"/>
              </p:cNvSpPr>
              <p:nvPr/>
            </p:nvSpPr>
            <p:spPr bwMode="auto">
              <a:xfrm>
                <a:off x="3528" y="876"/>
                <a:ext cx="41" cy="99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eaLnBrk="0" hangingPunct="0"/>
                <a:r>
                  <a:rPr lang="en-US" sz="1000" b="1">
                    <a:solidFill>
                      <a:srgbClr val="000000"/>
                    </a:solidFill>
                    <a:latin typeface="TimesTen" pitchFamily="18" charset="0"/>
                  </a:rPr>
                  <a:t>2</a:t>
                </a:r>
                <a:endParaRPr lang="en-US" sz="4800" b="1">
                  <a:latin typeface="Times New Roman" pitchFamily="18" charset="0"/>
                </a:endParaRPr>
              </a:p>
            </p:txBody>
          </p:sp>
          <p:sp>
            <p:nvSpPr>
              <p:cNvPr id="154" name="Rectangle 121"/>
              <p:cNvSpPr>
                <a:spLocks noChangeArrowheads="1"/>
              </p:cNvSpPr>
              <p:nvPr/>
            </p:nvSpPr>
            <p:spPr bwMode="auto">
              <a:xfrm>
                <a:off x="3627" y="876"/>
                <a:ext cx="41" cy="99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eaLnBrk="0" hangingPunct="0"/>
                <a:r>
                  <a:rPr lang="en-US" sz="1000" b="1">
                    <a:solidFill>
                      <a:srgbClr val="000000"/>
                    </a:solidFill>
                    <a:latin typeface="TimesTen" pitchFamily="18" charset="0"/>
                  </a:rPr>
                  <a:t>3</a:t>
                </a:r>
                <a:endParaRPr lang="en-US" sz="4800" b="1">
                  <a:latin typeface="Times New Roman" pitchFamily="18" charset="0"/>
                </a:endParaRPr>
              </a:p>
            </p:txBody>
          </p:sp>
          <p:sp>
            <p:nvSpPr>
              <p:cNvPr id="155" name="Rectangle 122"/>
              <p:cNvSpPr>
                <a:spLocks noChangeArrowheads="1"/>
              </p:cNvSpPr>
              <p:nvPr/>
            </p:nvSpPr>
            <p:spPr bwMode="auto">
              <a:xfrm>
                <a:off x="3726" y="876"/>
                <a:ext cx="41" cy="99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eaLnBrk="0" hangingPunct="0"/>
                <a:r>
                  <a:rPr lang="en-US" sz="1000" b="1">
                    <a:solidFill>
                      <a:srgbClr val="000000"/>
                    </a:solidFill>
                    <a:latin typeface="TimesTen" pitchFamily="18" charset="0"/>
                  </a:rPr>
                  <a:t>4</a:t>
                </a:r>
                <a:endParaRPr lang="en-US" sz="4800" b="1">
                  <a:latin typeface="Times New Roman" pitchFamily="18" charset="0"/>
                </a:endParaRPr>
              </a:p>
            </p:txBody>
          </p:sp>
          <p:sp>
            <p:nvSpPr>
              <p:cNvPr id="156" name="Rectangle 123"/>
              <p:cNvSpPr>
                <a:spLocks noChangeArrowheads="1"/>
              </p:cNvSpPr>
              <p:nvPr/>
            </p:nvSpPr>
            <p:spPr bwMode="auto">
              <a:xfrm>
                <a:off x="3826" y="876"/>
                <a:ext cx="41" cy="99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eaLnBrk="0" hangingPunct="0"/>
                <a:r>
                  <a:rPr lang="en-US" sz="1000" b="1">
                    <a:solidFill>
                      <a:srgbClr val="000000"/>
                    </a:solidFill>
                    <a:latin typeface="TimesTen" pitchFamily="18" charset="0"/>
                  </a:rPr>
                  <a:t>5</a:t>
                </a:r>
                <a:endParaRPr lang="en-US" sz="4800" b="1">
                  <a:latin typeface="Times New Roman" pitchFamily="18" charset="0"/>
                </a:endParaRPr>
              </a:p>
            </p:txBody>
          </p:sp>
          <p:sp>
            <p:nvSpPr>
              <p:cNvPr id="157" name="Rectangle 124"/>
              <p:cNvSpPr>
                <a:spLocks noChangeArrowheads="1"/>
              </p:cNvSpPr>
              <p:nvPr/>
            </p:nvSpPr>
            <p:spPr bwMode="auto">
              <a:xfrm>
                <a:off x="3925" y="876"/>
                <a:ext cx="41" cy="99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eaLnBrk="0" hangingPunct="0"/>
                <a:r>
                  <a:rPr lang="en-US" sz="1000" b="1">
                    <a:solidFill>
                      <a:srgbClr val="000000"/>
                    </a:solidFill>
                    <a:latin typeface="TimesTen" pitchFamily="18" charset="0"/>
                  </a:rPr>
                  <a:t>6</a:t>
                </a:r>
                <a:endParaRPr lang="en-US" sz="4800" b="1">
                  <a:latin typeface="Times New Roman" pitchFamily="18" charset="0"/>
                </a:endParaRPr>
              </a:p>
            </p:txBody>
          </p:sp>
          <p:sp>
            <p:nvSpPr>
              <p:cNvPr id="158" name="Rectangle 125"/>
              <p:cNvSpPr>
                <a:spLocks noChangeArrowheads="1"/>
              </p:cNvSpPr>
              <p:nvPr/>
            </p:nvSpPr>
            <p:spPr bwMode="auto">
              <a:xfrm>
                <a:off x="4024" y="876"/>
                <a:ext cx="41" cy="99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eaLnBrk="0" hangingPunct="0"/>
                <a:r>
                  <a:rPr lang="en-US" sz="1000" b="1">
                    <a:solidFill>
                      <a:srgbClr val="000000"/>
                    </a:solidFill>
                    <a:latin typeface="TimesTen" pitchFamily="18" charset="0"/>
                  </a:rPr>
                  <a:t>7</a:t>
                </a:r>
                <a:endParaRPr lang="en-US" sz="4800" b="1">
                  <a:latin typeface="Times New Roman" pitchFamily="18" charset="0"/>
                </a:endParaRPr>
              </a:p>
            </p:txBody>
          </p:sp>
          <p:sp>
            <p:nvSpPr>
              <p:cNvPr id="159" name="Rectangle 126"/>
              <p:cNvSpPr>
                <a:spLocks noChangeArrowheads="1"/>
              </p:cNvSpPr>
              <p:nvPr/>
            </p:nvSpPr>
            <p:spPr bwMode="auto">
              <a:xfrm>
                <a:off x="4123" y="876"/>
                <a:ext cx="41" cy="99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eaLnBrk="0" hangingPunct="0"/>
                <a:r>
                  <a:rPr lang="en-US" sz="1000" b="1">
                    <a:solidFill>
                      <a:srgbClr val="000000"/>
                    </a:solidFill>
                    <a:latin typeface="TimesTen" pitchFamily="18" charset="0"/>
                  </a:rPr>
                  <a:t>8</a:t>
                </a:r>
                <a:endParaRPr lang="en-US" sz="4800" b="1">
                  <a:latin typeface="Times New Roman" pitchFamily="18" charset="0"/>
                </a:endParaRPr>
              </a:p>
            </p:txBody>
          </p:sp>
          <p:sp>
            <p:nvSpPr>
              <p:cNvPr id="160" name="Oval 127"/>
              <p:cNvSpPr>
                <a:spLocks noChangeArrowheads="1"/>
              </p:cNvSpPr>
              <p:nvPr/>
            </p:nvSpPr>
            <p:spPr bwMode="auto">
              <a:xfrm>
                <a:off x="5028" y="1289"/>
                <a:ext cx="25" cy="25"/>
              </a:xfrm>
              <a:prstGeom prst="ellipse">
                <a:avLst/>
              </a:prstGeom>
              <a:solidFill>
                <a:srgbClr val="000000"/>
              </a:solidFill>
              <a:ln w="2857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1" name="Oval 128"/>
              <p:cNvSpPr>
                <a:spLocks noChangeArrowheads="1"/>
              </p:cNvSpPr>
              <p:nvPr/>
            </p:nvSpPr>
            <p:spPr bwMode="auto">
              <a:xfrm>
                <a:off x="4226" y="1733"/>
                <a:ext cx="25" cy="24"/>
              </a:xfrm>
              <a:prstGeom prst="ellipse">
                <a:avLst/>
              </a:prstGeom>
              <a:solidFill>
                <a:srgbClr val="000000"/>
              </a:solidFill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2" name="Oval 129"/>
              <p:cNvSpPr>
                <a:spLocks noChangeArrowheads="1"/>
              </p:cNvSpPr>
              <p:nvPr/>
            </p:nvSpPr>
            <p:spPr bwMode="auto">
              <a:xfrm>
                <a:off x="4128" y="1629"/>
                <a:ext cx="24" cy="25"/>
              </a:xfrm>
              <a:prstGeom prst="ellipse">
                <a:avLst/>
              </a:prstGeom>
              <a:solidFill>
                <a:srgbClr val="000000"/>
              </a:solidFill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3" name="Oval 130"/>
              <p:cNvSpPr>
                <a:spLocks noChangeArrowheads="1"/>
              </p:cNvSpPr>
              <p:nvPr/>
            </p:nvSpPr>
            <p:spPr bwMode="auto">
              <a:xfrm>
                <a:off x="3333" y="1640"/>
                <a:ext cx="24" cy="25"/>
              </a:xfrm>
              <a:prstGeom prst="ellipse">
                <a:avLst/>
              </a:prstGeom>
              <a:solidFill>
                <a:srgbClr val="000000"/>
              </a:solidFill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4" name="Oval 131"/>
              <p:cNvSpPr>
                <a:spLocks noChangeArrowheads="1"/>
              </p:cNvSpPr>
              <p:nvPr/>
            </p:nvSpPr>
            <p:spPr bwMode="auto">
              <a:xfrm>
                <a:off x="3433" y="1718"/>
                <a:ext cx="25" cy="25"/>
              </a:xfrm>
              <a:prstGeom prst="ellipse">
                <a:avLst/>
              </a:prstGeom>
              <a:solidFill>
                <a:srgbClr val="000000"/>
              </a:solidFill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5" name="Oval 132"/>
              <p:cNvSpPr>
                <a:spLocks noChangeArrowheads="1"/>
              </p:cNvSpPr>
              <p:nvPr/>
            </p:nvSpPr>
            <p:spPr bwMode="auto">
              <a:xfrm>
                <a:off x="3532" y="2425"/>
                <a:ext cx="25" cy="25"/>
              </a:xfrm>
              <a:prstGeom prst="ellipse">
                <a:avLst/>
              </a:prstGeom>
              <a:solidFill>
                <a:srgbClr val="000000"/>
              </a:solidFill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6" name="Oval 133"/>
              <p:cNvSpPr>
                <a:spLocks noChangeArrowheads="1"/>
              </p:cNvSpPr>
              <p:nvPr/>
            </p:nvSpPr>
            <p:spPr bwMode="auto">
              <a:xfrm>
                <a:off x="3631" y="2503"/>
                <a:ext cx="25" cy="25"/>
              </a:xfrm>
              <a:prstGeom prst="ellipse">
                <a:avLst/>
              </a:prstGeom>
              <a:solidFill>
                <a:srgbClr val="000000"/>
              </a:solidFill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7" name="Oval 134"/>
              <p:cNvSpPr>
                <a:spLocks noChangeArrowheads="1"/>
              </p:cNvSpPr>
              <p:nvPr/>
            </p:nvSpPr>
            <p:spPr bwMode="auto">
              <a:xfrm>
                <a:off x="3730" y="3210"/>
                <a:ext cx="25" cy="25"/>
              </a:xfrm>
              <a:prstGeom prst="ellipse">
                <a:avLst/>
              </a:prstGeom>
              <a:solidFill>
                <a:srgbClr val="000000"/>
              </a:solidFill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8" name="Oval 135"/>
              <p:cNvSpPr>
                <a:spLocks noChangeArrowheads="1"/>
              </p:cNvSpPr>
              <p:nvPr/>
            </p:nvSpPr>
            <p:spPr bwMode="auto">
              <a:xfrm>
                <a:off x="3829" y="3288"/>
                <a:ext cx="25" cy="25"/>
              </a:xfrm>
              <a:prstGeom prst="ellipse">
                <a:avLst/>
              </a:prstGeom>
              <a:solidFill>
                <a:srgbClr val="000000"/>
              </a:solidFill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9" name="Oval 136"/>
              <p:cNvSpPr>
                <a:spLocks noChangeArrowheads="1"/>
              </p:cNvSpPr>
              <p:nvPr/>
            </p:nvSpPr>
            <p:spPr bwMode="auto">
              <a:xfrm>
                <a:off x="3928" y="3995"/>
                <a:ext cx="25" cy="25"/>
              </a:xfrm>
              <a:prstGeom prst="ellipse">
                <a:avLst/>
              </a:prstGeom>
              <a:solidFill>
                <a:srgbClr val="000000"/>
              </a:solidFill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0" name="Oval 137"/>
              <p:cNvSpPr>
                <a:spLocks noChangeArrowheads="1"/>
              </p:cNvSpPr>
              <p:nvPr/>
            </p:nvSpPr>
            <p:spPr bwMode="auto">
              <a:xfrm>
                <a:off x="4029" y="4075"/>
                <a:ext cx="24" cy="24"/>
              </a:xfrm>
              <a:prstGeom prst="ellipse">
                <a:avLst/>
              </a:prstGeom>
              <a:solidFill>
                <a:srgbClr val="000000"/>
              </a:solidFill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1" name="Freeform 138"/>
              <p:cNvSpPr>
                <a:spLocks/>
              </p:cNvSpPr>
              <p:nvPr/>
            </p:nvSpPr>
            <p:spPr bwMode="auto">
              <a:xfrm>
                <a:off x="4736" y="1627"/>
                <a:ext cx="99" cy="127"/>
              </a:xfrm>
              <a:custGeom>
                <a:avLst/>
                <a:gdLst/>
                <a:ahLst/>
                <a:cxnLst>
                  <a:cxn ang="0">
                    <a:pos x="99" y="0"/>
                  </a:cxn>
                  <a:cxn ang="0">
                    <a:pos x="99" y="127"/>
                  </a:cxn>
                  <a:cxn ang="0">
                    <a:pos x="0" y="63"/>
                  </a:cxn>
                  <a:cxn ang="0">
                    <a:pos x="99" y="0"/>
                  </a:cxn>
                  <a:cxn ang="0">
                    <a:pos x="99" y="0"/>
                  </a:cxn>
                </a:cxnLst>
                <a:rect l="0" t="0" r="r" b="b"/>
                <a:pathLst>
                  <a:path w="99" h="127">
                    <a:moveTo>
                      <a:pt x="99" y="0"/>
                    </a:moveTo>
                    <a:lnTo>
                      <a:pt x="99" y="127"/>
                    </a:lnTo>
                    <a:lnTo>
                      <a:pt x="0" y="63"/>
                    </a:lnTo>
                    <a:lnTo>
                      <a:pt x="99" y="0"/>
                    </a:lnTo>
                    <a:lnTo>
                      <a:pt x="99" y="0"/>
                    </a:lnTo>
                    <a:close/>
                  </a:path>
                </a:pathLst>
              </a:cu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72" name="Group 139"/>
              <p:cNvGrpSpPr>
                <a:grpSpLocks/>
              </p:cNvGrpSpPr>
              <p:nvPr/>
            </p:nvGrpSpPr>
            <p:grpSpPr bwMode="auto">
              <a:xfrm>
                <a:off x="2708" y="3999"/>
                <a:ext cx="63" cy="120"/>
                <a:chOff x="2744" y="3999"/>
                <a:chExt cx="63" cy="120"/>
              </a:xfrm>
            </p:grpSpPr>
            <p:sp>
              <p:nvSpPr>
                <p:cNvPr id="173" name="Rectangle 140"/>
                <p:cNvSpPr>
                  <a:spLocks noChangeArrowheads="1"/>
                </p:cNvSpPr>
                <p:nvPr/>
              </p:nvSpPr>
              <p:spPr bwMode="auto">
                <a:xfrm>
                  <a:off x="2744" y="3999"/>
                  <a:ext cx="38" cy="118"/>
                </a:xfrm>
                <a:prstGeom prst="rect">
                  <a:avLst/>
                </a:prstGeom>
                <a:noFill/>
                <a:ln w="28575">
                  <a:noFill/>
                  <a:miter lim="800000"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pPr algn="l" eaLnBrk="0" hangingPunct="0"/>
                  <a:r>
                    <a:rPr lang="en-US" sz="1200" b="1">
                      <a:solidFill>
                        <a:srgbClr val="000000"/>
                      </a:solidFill>
                      <a:latin typeface="TimesTen" pitchFamily="18" charset="0"/>
                    </a:rPr>
                    <a:t>I</a:t>
                  </a:r>
                  <a:endParaRPr lang="en-US" sz="5400" b="1">
                    <a:latin typeface="Times New Roman" pitchFamily="18" charset="0"/>
                  </a:endParaRPr>
                </a:p>
              </p:txBody>
            </p:sp>
            <p:sp>
              <p:nvSpPr>
                <p:cNvPr id="174" name="Rectangle 141"/>
                <p:cNvSpPr>
                  <a:spLocks noChangeArrowheads="1"/>
                </p:cNvSpPr>
                <p:nvPr/>
              </p:nvSpPr>
              <p:spPr bwMode="auto">
                <a:xfrm>
                  <a:off x="2770" y="4031"/>
                  <a:ext cx="37" cy="88"/>
                </a:xfrm>
                <a:prstGeom prst="rect">
                  <a:avLst/>
                </a:prstGeom>
                <a:noFill/>
                <a:ln w="28575">
                  <a:noFill/>
                  <a:miter lim="800000"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pPr algn="l" eaLnBrk="0" hangingPunct="0"/>
                  <a:r>
                    <a:rPr lang="en-US" sz="900" b="1">
                      <a:solidFill>
                        <a:srgbClr val="000000"/>
                      </a:solidFill>
                      <a:latin typeface="TimesTen" pitchFamily="18" charset="0"/>
                    </a:rPr>
                    <a:t>4</a:t>
                  </a:r>
                  <a:endParaRPr lang="en-US" sz="5400" b="1">
                    <a:latin typeface="Times New Roman" pitchFamily="18" charset="0"/>
                  </a:endParaRPr>
                </a:p>
              </p:txBody>
            </p:sp>
          </p:grpSp>
        </p:grpSp>
        <p:sp>
          <p:nvSpPr>
            <p:cNvPr id="33" name="Rectangle 142"/>
            <p:cNvSpPr>
              <a:spLocks noChangeArrowheads="1"/>
            </p:cNvSpPr>
            <p:nvPr/>
          </p:nvSpPr>
          <p:spPr bwMode="auto">
            <a:xfrm flipV="1">
              <a:off x="3310" y="2286"/>
              <a:ext cx="66" cy="118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 eaLnBrk="0" hangingPunct="0"/>
              <a:r>
                <a:rPr lang="en-US" sz="1200" b="1">
                  <a:solidFill>
                    <a:srgbClr val="000000"/>
                  </a:solidFill>
                  <a:latin typeface="Helvetica" pitchFamily="34" charset="0"/>
                </a:rPr>
                <a:t>X</a:t>
              </a:r>
              <a:endParaRPr lang="en-US" sz="1200" b="1">
                <a:latin typeface="Helvetica" pitchFamily="34" charset="0"/>
              </a:endParaRPr>
            </a:p>
          </p:txBody>
        </p:sp>
        <p:sp>
          <p:nvSpPr>
            <p:cNvPr id="34" name="Rectangle 143"/>
            <p:cNvSpPr>
              <a:spLocks noChangeArrowheads="1"/>
            </p:cNvSpPr>
            <p:nvPr/>
          </p:nvSpPr>
          <p:spPr bwMode="auto">
            <a:xfrm flipV="1">
              <a:off x="3608" y="2283"/>
              <a:ext cx="66" cy="119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 eaLnBrk="0" hangingPunct="0"/>
              <a:r>
                <a:rPr lang="en-US" sz="1200" b="1">
                  <a:solidFill>
                    <a:srgbClr val="000000"/>
                  </a:solidFill>
                  <a:latin typeface="Helvetica" pitchFamily="34" charset="0"/>
                </a:rPr>
                <a:t>X</a:t>
              </a:r>
              <a:endParaRPr lang="en-US" sz="1200" b="1">
                <a:latin typeface="Helvetica" pitchFamily="34" charset="0"/>
              </a:endParaRPr>
            </a:p>
          </p:txBody>
        </p:sp>
        <p:sp>
          <p:nvSpPr>
            <p:cNvPr id="35" name="Rectangle 144"/>
            <p:cNvSpPr>
              <a:spLocks noChangeArrowheads="1"/>
            </p:cNvSpPr>
            <p:nvPr/>
          </p:nvSpPr>
          <p:spPr bwMode="auto">
            <a:xfrm flipV="1">
              <a:off x="3316" y="2076"/>
              <a:ext cx="66" cy="118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 eaLnBrk="0" hangingPunct="0"/>
              <a:r>
                <a:rPr lang="en-US" sz="1200" b="1">
                  <a:solidFill>
                    <a:srgbClr val="000000"/>
                  </a:solidFill>
                  <a:latin typeface="Helvetica" pitchFamily="34" charset="0"/>
                </a:rPr>
                <a:t>X</a:t>
              </a:r>
              <a:endParaRPr lang="en-US" sz="1200" b="1">
                <a:latin typeface="Helvetica" pitchFamily="34" charset="0"/>
              </a:endParaRPr>
            </a:p>
          </p:txBody>
        </p:sp>
        <p:sp>
          <p:nvSpPr>
            <p:cNvPr id="36" name="Rectangle 145"/>
            <p:cNvSpPr>
              <a:spLocks noChangeArrowheads="1"/>
            </p:cNvSpPr>
            <p:nvPr/>
          </p:nvSpPr>
          <p:spPr bwMode="auto">
            <a:xfrm flipV="1">
              <a:off x="3701" y="2076"/>
              <a:ext cx="66" cy="118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 eaLnBrk="0" hangingPunct="0"/>
              <a:r>
                <a:rPr lang="en-US" sz="1200" b="1">
                  <a:solidFill>
                    <a:srgbClr val="000000"/>
                  </a:solidFill>
                  <a:latin typeface="Helvetica" pitchFamily="34" charset="0"/>
                </a:rPr>
                <a:t>X</a:t>
              </a:r>
              <a:endParaRPr lang="en-US" sz="1200" b="1">
                <a:latin typeface="Helvetica" pitchFamily="34" charset="0"/>
              </a:endParaRPr>
            </a:p>
          </p:txBody>
        </p:sp>
        <p:sp>
          <p:nvSpPr>
            <p:cNvPr id="37" name="Rectangle 146"/>
            <p:cNvSpPr>
              <a:spLocks noChangeArrowheads="1"/>
            </p:cNvSpPr>
            <p:nvPr/>
          </p:nvSpPr>
          <p:spPr bwMode="auto">
            <a:xfrm flipV="1">
              <a:off x="3407" y="1856"/>
              <a:ext cx="66" cy="118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 eaLnBrk="0" hangingPunct="0"/>
              <a:r>
                <a:rPr lang="en-US" sz="1200" b="1">
                  <a:solidFill>
                    <a:srgbClr val="000000"/>
                  </a:solidFill>
                  <a:latin typeface="Helvetica" pitchFamily="34" charset="0"/>
                </a:rPr>
                <a:t>X</a:t>
              </a:r>
              <a:endParaRPr lang="en-US" sz="1200" b="1">
                <a:latin typeface="Helvetica" pitchFamily="34" charset="0"/>
              </a:endParaRPr>
            </a:p>
          </p:txBody>
        </p:sp>
        <p:sp>
          <p:nvSpPr>
            <p:cNvPr id="38" name="Rectangle 147"/>
            <p:cNvSpPr>
              <a:spLocks noChangeArrowheads="1"/>
            </p:cNvSpPr>
            <p:nvPr/>
          </p:nvSpPr>
          <p:spPr bwMode="auto">
            <a:xfrm flipV="1">
              <a:off x="3514" y="1860"/>
              <a:ext cx="66" cy="118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 eaLnBrk="0" hangingPunct="0"/>
              <a:r>
                <a:rPr lang="en-US" sz="1200" b="1">
                  <a:solidFill>
                    <a:srgbClr val="000000"/>
                  </a:solidFill>
                  <a:latin typeface="Helvetica" pitchFamily="34" charset="0"/>
                </a:rPr>
                <a:t>X</a:t>
              </a:r>
              <a:endParaRPr lang="en-US" sz="1200" b="1">
                <a:latin typeface="Helvetica" pitchFamily="34" charset="0"/>
              </a:endParaRPr>
            </a:p>
          </p:txBody>
        </p:sp>
        <p:sp>
          <p:nvSpPr>
            <p:cNvPr id="39" name="Rectangle 148"/>
            <p:cNvSpPr>
              <a:spLocks noChangeArrowheads="1"/>
            </p:cNvSpPr>
            <p:nvPr/>
          </p:nvSpPr>
          <p:spPr bwMode="auto">
            <a:xfrm flipV="1">
              <a:off x="3812" y="1860"/>
              <a:ext cx="66" cy="118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 eaLnBrk="0" hangingPunct="0"/>
              <a:r>
                <a:rPr lang="en-US" sz="1200" b="1">
                  <a:solidFill>
                    <a:srgbClr val="000000"/>
                  </a:solidFill>
                  <a:latin typeface="Helvetica" pitchFamily="34" charset="0"/>
                </a:rPr>
                <a:t>X</a:t>
              </a:r>
              <a:endParaRPr lang="en-US" sz="1200" b="1">
                <a:latin typeface="Helvetica" pitchFamily="34" charset="0"/>
              </a:endParaRPr>
            </a:p>
          </p:txBody>
        </p:sp>
        <p:sp>
          <p:nvSpPr>
            <p:cNvPr id="40" name="Rectangle 149"/>
            <p:cNvSpPr>
              <a:spLocks noChangeArrowheads="1"/>
            </p:cNvSpPr>
            <p:nvPr/>
          </p:nvSpPr>
          <p:spPr bwMode="auto">
            <a:xfrm flipV="1">
              <a:off x="3402" y="1290"/>
              <a:ext cx="66" cy="118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 eaLnBrk="0" hangingPunct="0"/>
              <a:r>
                <a:rPr lang="en-US" sz="1200" b="1">
                  <a:solidFill>
                    <a:srgbClr val="000000"/>
                  </a:solidFill>
                  <a:latin typeface="Helvetica" pitchFamily="34" charset="0"/>
                </a:rPr>
                <a:t>X</a:t>
              </a:r>
              <a:endParaRPr lang="en-US" sz="1200" b="1">
                <a:latin typeface="Helvetica" pitchFamily="34" charset="0"/>
              </a:endParaRPr>
            </a:p>
          </p:txBody>
        </p:sp>
        <p:sp>
          <p:nvSpPr>
            <p:cNvPr id="41" name="Rectangle 150"/>
            <p:cNvSpPr>
              <a:spLocks noChangeArrowheads="1"/>
            </p:cNvSpPr>
            <p:nvPr/>
          </p:nvSpPr>
          <p:spPr bwMode="auto">
            <a:xfrm flipV="1">
              <a:off x="3609" y="1280"/>
              <a:ext cx="66" cy="118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 eaLnBrk="0" hangingPunct="0"/>
              <a:r>
                <a:rPr lang="en-US" sz="1200" b="1">
                  <a:solidFill>
                    <a:srgbClr val="000000"/>
                  </a:solidFill>
                  <a:latin typeface="Helvetica" pitchFamily="34" charset="0"/>
                </a:rPr>
                <a:t>X</a:t>
              </a:r>
              <a:endParaRPr lang="en-US" sz="1200" b="1">
                <a:latin typeface="Helvetica" pitchFamily="34" charset="0"/>
              </a:endParaRPr>
            </a:p>
          </p:txBody>
        </p:sp>
        <p:sp>
          <p:nvSpPr>
            <p:cNvPr id="42" name="Rectangle 151"/>
            <p:cNvSpPr>
              <a:spLocks noChangeArrowheads="1"/>
            </p:cNvSpPr>
            <p:nvPr/>
          </p:nvSpPr>
          <p:spPr bwMode="auto">
            <a:xfrm flipV="1">
              <a:off x="3806" y="1069"/>
              <a:ext cx="66" cy="118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 eaLnBrk="0" hangingPunct="0"/>
              <a:r>
                <a:rPr lang="en-US" sz="1200" b="1">
                  <a:solidFill>
                    <a:srgbClr val="000000"/>
                  </a:solidFill>
                  <a:latin typeface="Helvetica" pitchFamily="34" charset="0"/>
                </a:rPr>
                <a:t>X</a:t>
              </a:r>
              <a:endParaRPr lang="en-US" sz="1200" b="1">
                <a:latin typeface="Helvetica" pitchFamily="34" charset="0"/>
              </a:endParaRPr>
            </a:p>
          </p:txBody>
        </p:sp>
        <p:sp>
          <p:nvSpPr>
            <p:cNvPr id="43" name="Rectangle 152"/>
            <p:cNvSpPr>
              <a:spLocks noChangeArrowheads="1"/>
            </p:cNvSpPr>
            <p:nvPr/>
          </p:nvSpPr>
          <p:spPr bwMode="auto">
            <a:xfrm flipV="1">
              <a:off x="4108" y="3084"/>
              <a:ext cx="66" cy="118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 eaLnBrk="0" hangingPunct="0"/>
              <a:r>
                <a:rPr lang="en-US" sz="1200" b="1">
                  <a:solidFill>
                    <a:srgbClr val="000000"/>
                  </a:solidFill>
                  <a:latin typeface="Helvetica" pitchFamily="34" charset="0"/>
                </a:rPr>
                <a:t>X</a:t>
              </a:r>
              <a:endParaRPr lang="en-US" sz="1200" b="1">
                <a:latin typeface="Helvetica" pitchFamily="34" charset="0"/>
              </a:endParaRPr>
            </a:p>
          </p:txBody>
        </p:sp>
        <p:sp>
          <p:nvSpPr>
            <p:cNvPr id="44" name="Rectangle 153"/>
            <p:cNvSpPr>
              <a:spLocks noChangeArrowheads="1"/>
            </p:cNvSpPr>
            <p:nvPr/>
          </p:nvSpPr>
          <p:spPr bwMode="auto">
            <a:xfrm flipV="1">
              <a:off x="3712" y="3654"/>
              <a:ext cx="66" cy="118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 eaLnBrk="0" hangingPunct="0"/>
              <a:r>
                <a:rPr lang="en-US" sz="1200" b="1">
                  <a:solidFill>
                    <a:srgbClr val="000000"/>
                  </a:solidFill>
                  <a:latin typeface="Helvetica" pitchFamily="34" charset="0"/>
                </a:rPr>
                <a:t>X</a:t>
              </a:r>
              <a:endParaRPr lang="en-US" sz="1200" b="1">
                <a:latin typeface="Helvetica" pitchFamily="34" charset="0"/>
              </a:endParaRPr>
            </a:p>
          </p:txBody>
        </p:sp>
        <p:sp>
          <p:nvSpPr>
            <p:cNvPr id="45" name="Rectangle 154"/>
            <p:cNvSpPr>
              <a:spLocks noChangeArrowheads="1"/>
            </p:cNvSpPr>
            <p:nvPr/>
          </p:nvSpPr>
          <p:spPr bwMode="auto">
            <a:xfrm flipV="1">
              <a:off x="3910" y="2874"/>
              <a:ext cx="66" cy="118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 eaLnBrk="0" hangingPunct="0"/>
              <a:r>
                <a:rPr lang="en-US" sz="1200" b="1">
                  <a:solidFill>
                    <a:srgbClr val="000000"/>
                  </a:solidFill>
                  <a:latin typeface="Helvetica" pitchFamily="34" charset="0"/>
                </a:rPr>
                <a:t>X</a:t>
              </a:r>
              <a:endParaRPr lang="en-US" sz="1200" b="1">
                <a:latin typeface="Helvetica" pitchFamily="34" charset="0"/>
              </a:endParaRPr>
            </a:p>
          </p:txBody>
        </p:sp>
        <p:sp>
          <p:nvSpPr>
            <p:cNvPr id="46" name="Rectangle 155"/>
            <p:cNvSpPr>
              <a:spLocks noChangeArrowheads="1"/>
            </p:cNvSpPr>
            <p:nvPr/>
          </p:nvSpPr>
          <p:spPr bwMode="auto">
            <a:xfrm flipV="1">
              <a:off x="3514" y="2874"/>
              <a:ext cx="66" cy="118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 eaLnBrk="0" hangingPunct="0"/>
              <a:r>
                <a:rPr lang="en-US" sz="1200" b="1">
                  <a:solidFill>
                    <a:srgbClr val="000000"/>
                  </a:solidFill>
                  <a:latin typeface="Helvetica" pitchFamily="34" charset="0"/>
                </a:rPr>
                <a:t>X</a:t>
              </a:r>
              <a:endParaRPr lang="en-US" sz="1200" b="1">
                <a:latin typeface="Helvetica" pitchFamily="34" charset="0"/>
              </a:endParaRPr>
            </a:p>
          </p:txBody>
        </p:sp>
        <p:sp>
          <p:nvSpPr>
            <p:cNvPr id="47" name="Rectangle 156"/>
            <p:cNvSpPr>
              <a:spLocks noChangeArrowheads="1"/>
            </p:cNvSpPr>
            <p:nvPr/>
          </p:nvSpPr>
          <p:spPr bwMode="auto">
            <a:xfrm flipV="1">
              <a:off x="3900" y="3654"/>
              <a:ext cx="66" cy="118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 eaLnBrk="0" hangingPunct="0"/>
              <a:r>
                <a:rPr lang="en-US" sz="1200" b="1">
                  <a:solidFill>
                    <a:srgbClr val="000000"/>
                  </a:solidFill>
                  <a:latin typeface="Helvetica" pitchFamily="34" charset="0"/>
                </a:rPr>
                <a:t>X</a:t>
              </a:r>
              <a:endParaRPr lang="en-US" sz="1200" b="1">
                <a:latin typeface="Helvetica" pitchFamily="34" charset="0"/>
              </a:endParaRPr>
            </a:p>
          </p:txBody>
        </p:sp>
        <p:sp>
          <p:nvSpPr>
            <p:cNvPr id="48" name="Rectangle 157"/>
            <p:cNvSpPr>
              <a:spLocks noChangeArrowheads="1"/>
            </p:cNvSpPr>
            <p:nvPr/>
          </p:nvSpPr>
          <p:spPr bwMode="auto">
            <a:xfrm flipV="1">
              <a:off x="3316" y="2652"/>
              <a:ext cx="66" cy="119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 eaLnBrk="0" hangingPunct="0"/>
              <a:r>
                <a:rPr lang="en-US" sz="1200" b="1">
                  <a:solidFill>
                    <a:srgbClr val="000000"/>
                  </a:solidFill>
                  <a:latin typeface="Helvetica" pitchFamily="34" charset="0"/>
                </a:rPr>
                <a:t>X</a:t>
              </a:r>
              <a:endParaRPr lang="en-US" sz="1200" b="1">
                <a:latin typeface="Helvetica" pitchFamily="34" charset="0"/>
              </a:endParaRPr>
            </a:p>
          </p:txBody>
        </p:sp>
        <p:sp>
          <p:nvSpPr>
            <p:cNvPr id="49" name="Rectangle 158"/>
            <p:cNvSpPr>
              <a:spLocks noChangeArrowheads="1"/>
            </p:cNvSpPr>
            <p:nvPr/>
          </p:nvSpPr>
          <p:spPr bwMode="auto">
            <a:xfrm flipV="1">
              <a:off x="3910" y="2658"/>
              <a:ext cx="66" cy="118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 eaLnBrk="0" hangingPunct="0"/>
              <a:r>
                <a:rPr lang="en-US" sz="1200" b="1">
                  <a:solidFill>
                    <a:srgbClr val="000000"/>
                  </a:solidFill>
                  <a:latin typeface="Helvetica" pitchFamily="34" charset="0"/>
                </a:rPr>
                <a:t>X</a:t>
              </a:r>
              <a:endParaRPr lang="en-US" sz="1200" b="1">
                <a:latin typeface="Helvetica" pitchFamily="34" charset="0"/>
              </a:endParaRPr>
            </a:p>
          </p:txBody>
        </p:sp>
        <p:sp>
          <p:nvSpPr>
            <p:cNvPr id="50" name="Rectangle 159"/>
            <p:cNvSpPr>
              <a:spLocks noChangeArrowheads="1"/>
            </p:cNvSpPr>
            <p:nvPr/>
          </p:nvSpPr>
          <p:spPr bwMode="auto">
            <a:xfrm flipV="1">
              <a:off x="4194" y="3868"/>
              <a:ext cx="66" cy="118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 eaLnBrk="0" hangingPunct="0"/>
              <a:r>
                <a:rPr lang="en-US" sz="1200" b="1">
                  <a:solidFill>
                    <a:srgbClr val="000000"/>
                  </a:solidFill>
                  <a:latin typeface="Helvetica" pitchFamily="34" charset="0"/>
                </a:rPr>
                <a:t>X</a:t>
              </a:r>
              <a:endParaRPr lang="en-US" sz="1200" b="1">
                <a:latin typeface="Helvetica" pitchFamily="34" charset="0"/>
              </a:endParaRPr>
            </a:p>
          </p:txBody>
        </p:sp>
        <p:sp>
          <p:nvSpPr>
            <p:cNvPr id="51" name="Rectangle 160"/>
            <p:cNvSpPr>
              <a:spLocks noChangeArrowheads="1"/>
            </p:cNvSpPr>
            <p:nvPr/>
          </p:nvSpPr>
          <p:spPr bwMode="auto">
            <a:xfrm flipV="1">
              <a:off x="3308" y="3448"/>
              <a:ext cx="66" cy="118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 eaLnBrk="0" hangingPunct="0"/>
              <a:r>
                <a:rPr lang="en-US" sz="1200" b="1">
                  <a:solidFill>
                    <a:srgbClr val="000000"/>
                  </a:solidFill>
                  <a:latin typeface="Helvetica" pitchFamily="34" charset="0"/>
                </a:rPr>
                <a:t>X</a:t>
              </a:r>
              <a:endParaRPr lang="en-US" sz="1200" b="1">
                <a:latin typeface="Helvetica" pitchFamily="34" charset="0"/>
              </a:endParaRPr>
            </a:p>
          </p:txBody>
        </p:sp>
        <p:sp>
          <p:nvSpPr>
            <p:cNvPr id="52" name="Rectangle 161"/>
            <p:cNvSpPr>
              <a:spLocks noChangeArrowheads="1"/>
            </p:cNvSpPr>
            <p:nvPr/>
          </p:nvSpPr>
          <p:spPr bwMode="auto">
            <a:xfrm flipV="1">
              <a:off x="3504" y="3441"/>
              <a:ext cx="66" cy="119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 eaLnBrk="0" hangingPunct="0"/>
              <a:r>
                <a:rPr lang="en-US" sz="1200" b="1">
                  <a:solidFill>
                    <a:srgbClr val="000000"/>
                  </a:solidFill>
                  <a:latin typeface="Helvetica" pitchFamily="34" charset="0"/>
                </a:rPr>
                <a:t>X</a:t>
              </a:r>
              <a:endParaRPr lang="en-US" sz="1200" b="1">
                <a:latin typeface="Helvetica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926074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Simple FPGA block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5" name="Picture 6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62000" y="2476500"/>
            <a:ext cx="7514860" cy="4191000"/>
          </a:xfrm>
          <a:noFill/>
        </p:spPr>
      </p:pic>
      <p:sp>
        <p:nvSpPr>
          <p:cNvPr id="3" name="Rectangle 2"/>
          <p:cNvSpPr/>
          <p:nvPr/>
        </p:nvSpPr>
        <p:spPr>
          <a:xfrm>
            <a:off x="945106" y="1762403"/>
            <a:ext cx="7741693" cy="49244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marL="274320" indent="-274320">
              <a:spcBef>
                <a:spcPts val="580"/>
              </a:spcBef>
              <a:buClr>
                <a:schemeClr val="accent1"/>
              </a:buClr>
              <a:buSzPct val="85000"/>
              <a:buFont typeface="Wingdings 2"/>
              <a:buChar char=""/>
            </a:pPr>
            <a:r>
              <a:rPr lang="en-US" sz="2600" dirty="0"/>
              <a:t>A very simple programmable logic block using LUTs</a:t>
            </a:r>
          </a:p>
        </p:txBody>
      </p:sp>
    </p:spTree>
    <p:extLst>
      <p:ext uri="{BB962C8B-B14F-4D97-AF65-F5344CB8AC3E}">
        <p14:creationId xmlns:p14="http://schemas.microsoft.com/office/powerpoint/2010/main" val="24204894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FPGA programming</a:t>
            </a:r>
            <a:endParaRPr lang="el-GR" dirty="0"/>
          </a:p>
        </p:txBody>
      </p:sp>
      <p:graphicFrame>
        <p:nvGraphicFramePr>
          <p:cNvPr id="11274" name="Object 10"/>
          <p:cNvGraphicFramePr>
            <a:graphicFrameLocks noGrp="1" noChangeAspect="1"/>
          </p:cNvGraphicFramePr>
          <p:nvPr>
            <p:ph idx="1"/>
          </p:nvPr>
        </p:nvGraphicFramePr>
        <p:xfrm>
          <a:off x="283368" y="3129442"/>
          <a:ext cx="1763713" cy="1071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1763037" imgH="1071239" progId="Visio.Drawing.11">
                  <p:embed/>
                </p:oleObj>
              </mc:Choice>
              <mc:Fallback>
                <p:oleObj name="Visio" r:id="rId2" imgW="1763037" imgH="1071239" progId="Visio.Drawing.11">
                  <p:embed/>
                  <p:pic>
                    <p:nvPicPr>
                      <p:cNvPr id="11274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3368" y="3129442"/>
                        <a:ext cx="1763713" cy="1071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507" name="Group 243"/>
          <p:cNvGraphicFramePr>
            <a:graphicFrameLocks noGrp="1"/>
          </p:cNvGraphicFramePr>
          <p:nvPr>
            <p:ph sz="quarter" idx="4294967295"/>
            <p:extLst>
              <p:ext uri="{D42A27DB-BD31-4B8C-83A1-F6EECF244321}">
                <p14:modId xmlns:p14="http://schemas.microsoft.com/office/powerpoint/2010/main" val="1863693245"/>
              </p:ext>
            </p:extLst>
          </p:nvPr>
        </p:nvGraphicFramePr>
        <p:xfrm>
          <a:off x="2209800" y="1811338"/>
          <a:ext cx="1828800" cy="4663440"/>
        </p:xfrm>
        <a:graphic>
          <a:graphicData uri="http://schemas.openxmlformats.org/drawingml/2006/table">
            <a:tbl>
              <a:tblPr/>
              <a:tblGrid>
                <a:gridCol w="365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67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67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51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285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Arial" charset="0"/>
                        </a:rPr>
                        <a:t>A</a:t>
                      </a:r>
                      <a:endParaRPr kumimoji="0" lang="el-G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Arial" charset="0"/>
                        </a:rPr>
                        <a:t>B</a:t>
                      </a:r>
                      <a:endParaRPr kumimoji="0" lang="el-G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Arial" charset="0"/>
                        </a:rPr>
                        <a:t>C</a:t>
                      </a:r>
                      <a:endParaRPr kumimoji="0" lang="el-G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Arial" charset="0"/>
                        </a:rPr>
                        <a:t>D</a:t>
                      </a:r>
                      <a:endParaRPr kumimoji="0" lang="el-G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Arial" charset="0"/>
                        </a:rPr>
                        <a:t>O</a:t>
                      </a:r>
                      <a:endParaRPr kumimoji="0" lang="el-G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85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Arial" charset="0"/>
                        </a:rPr>
                        <a:t>0</a:t>
                      </a:r>
                      <a:endParaRPr kumimoji="0" lang="el-G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Arial" charset="0"/>
                        </a:rPr>
                        <a:t>0</a:t>
                      </a:r>
                      <a:endParaRPr kumimoji="0" lang="el-G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Arial" charset="0"/>
                        </a:rPr>
                        <a:t>0</a:t>
                      </a:r>
                      <a:endParaRPr kumimoji="0" lang="el-G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Arial" charset="0"/>
                        </a:rPr>
                        <a:t>0</a:t>
                      </a:r>
                      <a:endParaRPr kumimoji="0" lang="el-G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Arial" charset="0"/>
                        </a:rPr>
                        <a:t>0</a:t>
                      </a:r>
                      <a:endParaRPr kumimoji="0" lang="el-G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85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Arial" charset="0"/>
                        </a:rPr>
                        <a:t>0</a:t>
                      </a:r>
                      <a:endParaRPr kumimoji="0" lang="el-G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Arial" charset="0"/>
                        </a:rPr>
                        <a:t>0</a:t>
                      </a:r>
                      <a:endParaRPr kumimoji="0" lang="el-G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Arial" charset="0"/>
                        </a:rPr>
                        <a:t>0</a:t>
                      </a:r>
                      <a:endParaRPr kumimoji="0" lang="el-G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Arial" charset="0"/>
                        </a:rPr>
                        <a:t>1</a:t>
                      </a:r>
                      <a:endParaRPr kumimoji="0" lang="el-G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Arial" charset="0"/>
                        </a:rPr>
                        <a:t>0</a:t>
                      </a:r>
                      <a:endParaRPr kumimoji="0" lang="el-G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85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Arial" charset="0"/>
                        </a:rPr>
                        <a:t>0</a:t>
                      </a:r>
                      <a:endParaRPr kumimoji="0" lang="el-G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Arial" charset="0"/>
                        </a:rPr>
                        <a:t>0</a:t>
                      </a:r>
                      <a:endParaRPr kumimoji="0" lang="el-G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Arial" charset="0"/>
                        </a:rPr>
                        <a:t>1</a:t>
                      </a:r>
                      <a:endParaRPr kumimoji="0" lang="el-G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Arial" charset="0"/>
                        </a:rPr>
                        <a:t>0</a:t>
                      </a:r>
                      <a:endParaRPr kumimoji="0" lang="el-G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Arial" charset="0"/>
                        </a:rPr>
                        <a:t>0</a:t>
                      </a:r>
                      <a:endParaRPr kumimoji="0" lang="el-G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938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Arial" charset="0"/>
                        </a:rPr>
                        <a:t>0</a:t>
                      </a:r>
                      <a:endParaRPr kumimoji="0" lang="el-G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Arial" charset="0"/>
                        </a:rPr>
                        <a:t>0</a:t>
                      </a:r>
                      <a:endParaRPr kumimoji="0" lang="el-G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Arial" charset="0"/>
                        </a:rPr>
                        <a:t>1</a:t>
                      </a:r>
                      <a:endParaRPr kumimoji="0" lang="el-G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Arial" charset="0"/>
                        </a:rPr>
                        <a:t>1</a:t>
                      </a:r>
                      <a:endParaRPr kumimoji="0" lang="el-G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Arial" charset="0"/>
                        </a:rPr>
                        <a:t>0</a:t>
                      </a:r>
                      <a:endParaRPr kumimoji="0" lang="el-G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285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Arial" charset="0"/>
                        </a:rPr>
                        <a:t>0</a:t>
                      </a:r>
                      <a:endParaRPr kumimoji="0" lang="el-G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Arial" charset="0"/>
                        </a:rPr>
                        <a:t>1</a:t>
                      </a:r>
                      <a:endParaRPr kumimoji="0" lang="el-G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Arial" charset="0"/>
                        </a:rPr>
                        <a:t>0</a:t>
                      </a:r>
                      <a:endParaRPr kumimoji="0" lang="el-G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Arial" charset="0"/>
                        </a:rPr>
                        <a:t>0</a:t>
                      </a:r>
                      <a:endParaRPr kumimoji="0" lang="el-G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Arial" charset="0"/>
                        </a:rPr>
                        <a:t>0</a:t>
                      </a:r>
                      <a:endParaRPr kumimoji="0" lang="el-G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285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Arial" charset="0"/>
                        </a:rPr>
                        <a:t>0</a:t>
                      </a:r>
                      <a:endParaRPr kumimoji="0" lang="el-G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Arial" charset="0"/>
                        </a:rPr>
                        <a:t>1</a:t>
                      </a:r>
                      <a:endParaRPr kumimoji="0" lang="el-G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Arial" charset="0"/>
                        </a:rPr>
                        <a:t>0</a:t>
                      </a:r>
                      <a:endParaRPr kumimoji="0" lang="el-G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Arial" charset="0"/>
                        </a:rPr>
                        <a:t>1</a:t>
                      </a:r>
                      <a:endParaRPr kumimoji="0" lang="el-G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Arial" charset="0"/>
                        </a:rPr>
                        <a:t>0</a:t>
                      </a:r>
                      <a:endParaRPr kumimoji="0" lang="el-G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285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Arial" charset="0"/>
                        </a:rPr>
                        <a:t>0</a:t>
                      </a:r>
                      <a:endParaRPr kumimoji="0" lang="el-G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Arial" charset="0"/>
                        </a:rPr>
                        <a:t>1</a:t>
                      </a:r>
                      <a:endParaRPr kumimoji="0" lang="el-G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Arial" charset="0"/>
                        </a:rPr>
                        <a:t>1</a:t>
                      </a:r>
                      <a:endParaRPr kumimoji="0" lang="el-G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Arial" charset="0"/>
                        </a:rPr>
                        <a:t>0</a:t>
                      </a:r>
                      <a:endParaRPr kumimoji="0" lang="el-G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Arial" charset="0"/>
                        </a:rPr>
                        <a:t>0</a:t>
                      </a:r>
                      <a:endParaRPr kumimoji="0" lang="el-G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285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Arial" charset="0"/>
                        </a:rPr>
                        <a:t>0</a:t>
                      </a:r>
                      <a:endParaRPr kumimoji="0" lang="el-G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Arial" charset="0"/>
                        </a:rPr>
                        <a:t>1</a:t>
                      </a:r>
                      <a:endParaRPr kumimoji="0" lang="el-G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Arial" charset="0"/>
                        </a:rPr>
                        <a:t>1</a:t>
                      </a:r>
                      <a:endParaRPr kumimoji="0" lang="el-G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Arial" charset="0"/>
                        </a:rPr>
                        <a:t>1</a:t>
                      </a:r>
                      <a:endParaRPr kumimoji="0" lang="el-G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Arial" charset="0"/>
                        </a:rPr>
                        <a:t>0</a:t>
                      </a:r>
                      <a:endParaRPr kumimoji="0" lang="el-G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285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Arial" charset="0"/>
                        </a:rPr>
                        <a:t>1</a:t>
                      </a:r>
                      <a:endParaRPr kumimoji="0" lang="el-G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Arial" charset="0"/>
                        </a:rPr>
                        <a:t>0</a:t>
                      </a:r>
                      <a:endParaRPr kumimoji="0" lang="el-G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Arial" charset="0"/>
                        </a:rPr>
                        <a:t>0</a:t>
                      </a:r>
                      <a:endParaRPr kumimoji="0" lang="el-G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Arial" charset="0"/>
                        </a:rPr>
                        <a:t>0</a:t>
                      </a:r>
                      <a:endParaRPr kumimoji="0" lang="el-G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Arial" charset="0"/>
                        </a:rPr>
                        <a:t>0</a:t>
                      </a:r>
                      <a:endParaRPr kumimoji="0" lang="el-G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285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Arial" charset="0"/>
                        </a:rPr>
                        <a:t>1</a:t>
                      </a:r>
                      <a:endParaRPr kumimoji="0" lang="el-G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Arial" charset="0"/>
                        </a:rPr>
                        <a:t>0</a:t>
                      </a:r>
                      <a:endParaRPr kumimoji="0" lang="el-G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Arial" charset="0"/>
                        </a:rPr>
                        <a:t>0</a:t>
                      </a:r>
                      <a:endParaRPr kumimoji="0" lang="el-G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Arial" charset="0"/>
                        </a:rPr>
                        <a:t>1</a:t>
                      </a:r>
                      <a:endParaRPr kumimoji="0" lang="el-G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Arial" charset="0"/>
                        </a:rPr>
                        <a:t>0</a:t>
                      </a:r>
                      <a:endParaRPr kumimoji="0" lang="el-G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285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Arial" charset="0"/>
                        </a:rPr>
                        <a:t>1</a:t>
                      </a:r>
                      <a:endParaRPr kumimoji="0" lang="el-G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Arial" charset="0"/>
                        </a:rPr>
                        <a:t>0</a:t>
                      </a:r>
                      <a:endParaRPr kumimoji="0" lang="el-G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Arial" charset="0"/>
                        </a:rPr>
                        <a:t>1</a:t>
                      </a:r>
                      <a:endParaRPr kumimoji="0" lang="el-G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Arial" charset="0"/>
                        </a:rPr>
                        <a:t>0</a:t>
                      </a:r>
                      <a:endParaRPr kumimoji="0" lang="el-G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Arial" charset="0"/>
                        </a:rPr>
                        <a:t>0</a:t>
                      </a:r>
                      <a:endParaRPr kumimoji="0" lang="el-G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285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Arial" charset="0"/>
                        </a:rPr>
                        <a:t>1</a:t>
                      </a:r>
                      <a:endParaRPr kumimoji="0" lang="el-G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Arial" charset="0"/>
                        </a:rPr>
                        <a:t>0</a:t>
                      </a:r>
                      <a:endParaRPr kumimoji="0" lang="el-G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Arial" charset="0"/>
                        </a:rPr>
                        <a:t>1</a:t>
                      </a:r>
                      <a:endParaRPr kumimoji="0" lang="el-G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Arial" charset="0"/>
                        </a:rPr>
                        <a:t>1</a:t>
                      </a:r>
                      <a:endParaRPr kumimoji="0" lang="el-G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Arial" charset="0"/>
                        </a:rPr>
                        <a:t>0</a:t>
                      </a:r>
                      <a:endParaRPr kumimoji="0" lang="el-G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285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Arial" charset="0"/>
                        </a:rPr>
                        <a:t>1</a:t>
                      </a:r>
                      <a:endParaRPr kumimoji="0" lang="el-G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Arial" charset="0"/>
                        </a:rPr>
                        <a:t>1</a:t>
                      </a:r>
                      <a:endParaRPr kumimoji="0" lang="el-G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Arial" charset="0"/>
                        </a:rPr>
                        <a:t>0</a:t>
                      </a:r>
                      <a:endParaRPr kumimoji="0" lang="el-G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Arial" charset="0"/>
                        </a:rPr>
                        <a:t>0</a:t>
                      </a:r>
                      <a:endParaRPr kumimoji="0" lang="el-G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Arial" charset="0"/>
                        </a:rPr>
                        <a:t>0</a:t>
                      </a:r>
                      <a:endParaRPr kumimoji="0" lang="el-G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285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Arial" charset="0"/>
                        </a:rPr>
                        <a:t>1</a:t>
                      </a:r>
                      <a:endParaRPr kumimoji="0" lang="el-G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Arial" charset="0"/>
                        </a:rPr>
                        <a:t>1</a:t>
                      </a:r>
                      <a:endParaRPr kumimoji="0" lang="el-G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Arial" charset="0"/>
                        </a:rPr>
                        <a:t>0</a:t>
                      </a:r>
                      <a:endParaRPr kumimoji="0" lang="el-G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Arial" charset="0"/>
                        </a:rPr>
                        <a:t>1</a:t>
                      </a:r>
                      <a:endParaRPr kumimoji="0" lang="el-G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Arial" charset="0"/>
                        </a:rPr>
                        <a:t>0</a:t>
                      </a:r>
                      <a:endParaRPr kumimoji="0" lang="el-G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285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Arial" charset="0"/>
                        </a:rPr>
                        <a:t>1</a:t>
                      </a:r>
                      <a:endParaRPr kumimoji="0" lang="el-G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Arial" charset="0"/>
                        </a:rPr>
                        <a:t>1</a:t>
                      </a:r>
                      <a:endParaRPr kumimoji="0" lang="el-G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Arial" charset="0"/>
                        </a:rPr>
                        <a:t>1</a:t>
                      </a:r>
                      <a:endParaRPr kumimoji="0" lang="el-G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Arial" charset="0"/>
                        </a:rPr>
                        <a:t>0</a:t>
                      </a:r>
                      <a:endParaRPr kumimoji="0" lang="el-G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Arial" charset="0"/>
                        </a:rPr>
                        <a:t>0</a:t>
                      </a:r>
                      <a:endParaRPr kumimoji="0" lang="el-G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285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Arial" charset="0"/>
                        </a:rPr>
                        <a:t>1</a:t>
                      </a:r>
                      <a:endParaRPr kumimoji="0" lang="el-G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Arial" charset="0"/>
                        </a:rPr>
                        <a:t>1</a:t>
                      </a:r>
                      <a:endParaRPr kumimoji="0" lang="el-G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Arial" charset="0"/>
                        </a:rPr>
                        <a:t>1</a:t>
                      </a:r>
                      <a:endParaRPr kumimoji="0" lang="el-G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Arial" charset="0"/>
                        </a:rPr>
                        <a:t>1</a:t>
                      </a:r>
                      <a:endParaRPr kumimoji="0" lang="el-G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Arial" charset="0"/>
                        </a:rPr>
                        <a:t>1</a:t>
                      </a:r>
                      <a:endParaRPr kumimoji="0" lang="el-GR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graphicFrame>
        <p:nvGraphicFramePr>
          <p:cNvPr id="11509" name="Object 245"/>
          <p:cNvGraphicFramePr>
            <a:graphicFrameLocks noGrp="1" noChangeAspect="1"/>
          </p:cNvGraphicFramePr>
          <p:nvPr>
            <p:ph sz="quarter" idx="4294967295"/>
            <p:extLst>
              <p:ext uri="{D42A27DB-BD31-4B8C-83A1-F6EECF244321}">
                <p14:modId xmlns:p14="http://schemas.microsoft.com/office/powerpoint/2010/main" val="7448097"/>
              </p:ext>
            </p:extLst>
          </p:nvPr>
        </p:nvGraphicFramePr>
        <p:xfrm>
          <a:off x="4232026" y="4168022"/>
          <a:ext cx="4613275" cy="2149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4369539" imgH="2035206" progId="Visio.Drawing.11">
                  <p:embed/>
                </p:oleObj>
              </mc:Choice>
              <mc:Fallback>
                <p:oleObj name="Visio" r:id="rId4" imgW="4369539" imgH="2035206" progId="Visio.Drawing.11">
                  <p:embed/>
                  <p:pic>
                    <p:nvPicPr>
                      <p:cNvPr id="11509" name="Object 2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32026" y="4168022"/>
                        <a:ext cx="4613275" cy="2149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225542" y="6412278"/>
            <a:ext cx="356939" cy="365125"/>
          </a:xfrm>
        </p:spPr>
        <p:txBody>
          <a:bodyPr/>
          <a:lstStyle/>
          <a:p>
            <a:fld id="{38E280DA-B14F-CC4F-BCB5-BD52643537A5}" type="slidenum">
              <a:rPr lang="en-US" smtClean="0"/>
              <a:t>8</a:t>
            </a:fld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4572000" y="1942785"/>
            <a:ext cx="3903761" cy="147732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Programming is done by writing proper bits </a:t>
            </a:r>
          </a:p>
          <a:p>
            <a:r>
              <a:rPr lang="en-US" dirty="0"/>
              <a:t>in the LUTs and multiplexer select lines</a:t>
            </a:r>
          </a:p>
          <a:p>
            <a:endParaRPr lang="en-US" dirty="0"/>
          </a:p>
          <a:p>
            <a:r>
              <a:rPr lang="en-US" dirty="0"/>
              <a:t>Example: 4-input AND gate</a:t>
            </a:r>
          </a:p>
          <a:p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val="40235558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Xilinx XC4000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1524000"/>
          </a:xfrm>
        </p:spPr>
        <p:txBody>
          <a:bodyPr>
            <a:normAutofit/>
          </a:bodyPr>
          <a:lstStyle/>
          <a:p>
            <a:r>
              <a:rPr lang="en-US" dirty="0"/>
              <a:t>A simple FPGA introduced in the 80’s</a:t>
            </a:r>
          </a:p>
          <a:p>
            <a:r>
              <a:rPr lang="en-US" dirty="0"/>
              <a:t>Array of </a:t>
            </a:r>
            <a:r>
              <a:rPr lang="en-US" i="1" dirty="0"/>
              <a:t>Configurable Logic Blocks </a:t>
            </a:r>
            <a:r>
              <a:rPr lang="en-US" dirty="0"/>
              <a:t>(</a:t>
            </a:r>
            <a:r>
              <a:rPr lang="en-US" i="1" dirty="0"/>
              <a:t>CLBs</a:t>
            </a:r>
            <a:r>
              <a:rPr lang="en-US" dirty="0"/>
              <a:t>) </a:t>
            </a:r>
          </a:p>
          <a:p>
            <a:r>
              <a:rPr lang="en-US" dirty="0"/>
              <a:t>SRAM-based</a:t>
            </a:r>
          </a:p>
        </p:txBody>
      </p:sp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09600" y="2819400"/>
            <a:ext cx="7999413" cy="3644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6"/>
          <p:cNvSpPr/>
          <p:nvPr/>
        </p:nvSpPr>
        <p:spPr>
          <a:xfrm>
            <a:off x="609600" y="6324600"/>
            <a:ext cx="246753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/>
              <a:t>Source: lecture 10 by Hassan </a:t>
            </a:r>
            <a:r>
              <a:rPr lang="en-US" sz="1400" dirty="0" err="1"/>
              <a:t>Bhatti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Xilinx XC4000 FPGAs- CLB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9318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38200" y="1676400"/>
            <a:ext cx="7620000" cy="4857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Xilinx XC4000 FPGAs- CLB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9318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95400" y="1371600"/>
            <a:ext cx="7455636" cy="47530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6"/>
          <p:cNvSpPr/>
          <p:nvPr/>
        </p:nvSpPr>
        <p:spPr>
          <a:xfrm>
            <a:off x="1905000" y="6096000"/>
            <a:ext cx="34429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H LUT : 3 input –&gt; 8 bits of RAM</a:t>
            </a:r>
          </a:p>
        </p:txBody>
      </p:sp>
      <p:cxnSp>
        <p:nvCxnSpPr>
          <p:cNvPr id="9" name="Straight Arrow Connector 8"/>
          <p:cNvCxnSpPr/>
          <p:nvPr/>
        </p:nvCxnSpPr>
        <p:spPr>
          <a:xfrm rot="5400000" flipH="1" flipV="1">
            <a:off x="2552700" y="4686300"/>
            <a:ext cx="1752600" cy="91440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flipV="1">
            <a:off x="1219200" y="3124200"/>
            <a:ext cx="914400" cy="7620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>
            <a:off x="1066800" y="4191000"/>
            <a:ext cx="990600" cy="30480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228600" y="2819400"/>
            <a:ext cx="1447800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F and G LUTs: 4 input -&gt; 16 bits of RAM (each)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Xilinx XC4000 CLB configuration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838200"/>
          </a:xfrm>
        </p:spPr>
        <p:txBody>
          <a:bodyPr>
            <a:normAutofit/>
          </a:bodyPr>
          <a:lstStyle/>
          <a:p>
            <a:r>
              <a:rPr lang="en-US" sz="2400" dirty="0"/>
              <a:t>Two 4-input functions, registered output input functions, and one 2-input function with combinational output</a:t>
            </a:r>
          </a:p>
          <a:p>
            <a:endParaRPr lang="en-US" sz="2400" dirty="0"/>
          </a:p>
        </p:txBody>
      </p:sp>
      <p:pic>
        <p:nvPicPr>
          <p:cNvPr id="9523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95400" y="2286000"/>
            <a:ext cx="6705600" cy="4233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Xilinx C4000 CLB configuration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838200"/>
          </a:xfrm>
        </p:spPr>
        <p:txBody>
          <a:bodyPr>
            <a:normAutofit/>
          </a:bodyPr>
          <a:lstStyle/>
          <a:p>
            <a:r>
              <a:rPr lang="en-US" sz="2400" dirty="0"/>
              <a:t>5-input function, combinational output</a:t>
            </a:r>
          </a:p>
          <a:p>
            <a:endParaRPr lang="en-US" sz="2400" dirty="0"/>
          </a:p>
        </p:txBody>
      </p:sp>
      <p:pic>
        <p:nvPicPr>
          <p:cNvPr id="9625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43000" y="1981200"/>
            <a:ext cx="7029450" cy="450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46304" y="5829300"/>
            <a:ext cx="457200" cy="457200"/>
          </a:xfrm>
          <a:noFill/>
        </p:spPr>
        <p:txBody>
          <a:bodyPr/>
          <a:lstStyle/>
          <a:p>
            <a:fld id="{75B04815-1B73-443E-BB77-C8A4CEA06D02}" type="slidenum">
              <a:rPr lang="th-TH"/>
              <a:pPr/>
              <a:t>14</a:t>
            </a:fld>
            <a:endParaRPr lang="th-TH"/>
          </a:p>
        </p:txBody>
      </p:sp>
      <p:sp>
        <p:nvSpPr>
          <p:cNvPr id="36869" name="Rectangle 3"/>
          <p:cNvSpPr>
            <a:spLocks noChangeArrowheads="1"/>
          </p:cNvSpPr>
          <p:nvPr/>
        </p:nvSpPr>
        <p:spPr bwMode="auto">
          <a:xfrm>
            <a:off x="2073275" y="1600200"/>
            <a:ext cx="227013" cy="230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th-TH"/>
          </a:p>
        </p:txBody>
      </p:sp>
      <p:sp>
        <p:nvSpPr>
          <p:cNvPr id="36870" name="Rectangle 4"/>
          <p:cNvSpPr>
            <a:spLocks noChangeArrowheads="1"/>
          </p:cNvSpPr>
          <p:nvPr/>
        </p:nvSpPr>
        <p:spPr bwMode="auto">
          <a:xfrm>
            <a:off x="3800475" y="4205288"/>
            <a:ext cx="227013" cy="230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th-TH"/>
          </a:p>
        </p:txBody>
      </p:sp>
      <p:sp>
        <p:nvSpPr>
          <p:cNvPr id="36871" name="Rectangle 5"/>
          <p:cNvSpPr>
            <a:spLocks noChangeArrowheads="1"/>
          </p:cNvSpPr>
          <p:nvPr/>
        </p:nvSpPr>
        <p:spPr bwMode="auto">
          <a:xfrm>
            <a:off x="2073275" y="1600200"/>
            <a:ext cx="227013" cy="230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th-TH"/>
          </a:p>
        </p:txBody>
      </p:sp>
      <p:sp>
        <p:nvSpPr>
          <p:cNvPr id="36872" name="Rectangle 6"/>
          <p:cNvSpPr>
            <a:spLocks noChangeArrowheads="1"/>
          </p:cNvSpPr>
          <p:nvPr/>
        </p:nvSpPr>
        <p:spPr bwMode="auto">
          <a:xfrm>
            <a:off x="5619750" y="2967038"/>
            <a:ext cx="171450" cy="231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th-TH"/>
          </a:p>
        </p:txBody>
      </p:sp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3081338" y="2286000"/>
            <a:ext cx="576262" cy="690563"/>
            <a:chOff x="3345" y="1725"/>
            <a:chExt cx="363" cy="435"/>
          </a:xfrm>
        </p:grpSpPr>
        <p:sp>
          <p:nvSpPr>
            <p:cNvPr id="36912" name="Rectangle 8"/>
            <p:cNvSpPr>
              <a:spLocks noChangeArrowheads="1"/>
            </p:cNvSpPr>
            <p:nvPr/>
          </p:nvSpPr>
          <p:spPr bwMode="auto">
            <a:xfrm>
              <a:off x="3345" y="1725"/>
              <a:ext cx="363" cy="435"/>
            </a:xfrm>
            <a:prstGeom prst="rect">
              <a:avLst/>
            </a:prstGeom>
            <a:solidFill>
              <a:srgbClr val="339966"/>
            </a:solidFill>
            <a:ln w="47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th-TH"/>
            </a:p>
          </p:txBody>
        </p:sp>
        <p:sp>
          <p:nvSpPr>
            <p:cNvPr id="36913" name="Rectangle 9"/>
            <p:cNvSpPr>
              <a:spLocks noChangeArrowheads="1"/>
            </p:cNvSpPr>
            <p:nvPr/>
          </p:nvSpPr>
          <p:spPr bwMode="auto">
            <a:xfrm>
              <a:off x="3419" y="1883"/>
              <a:ext cx="211" cy="13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r>
                <a:rPr lang="en-US" sz="1400">
                  <a:solidFill>
                    <a:srgbClr val="FFFFFF"/>
                  </a:solidFill>
                </a:rPr>
                <a:t>LUT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36914" name="Rectangle 10"/>
            <p:cNvSpPr>
              <a:spLocks noChangeArrowheads="1"/>
            </p:cNvSpPr>
            <p:nvPr/>
          </p:nvSpPr>
          <p:spPr bwMode="auto">
            <a:xfrm>
              <a:off x="3345" y="1725"/>
              <a:ext cx="363" cy="435"/>
            </a:xfrm>
            <a:prstGeom prst="rect">
              <a:avLst/>
            </a:prstGeom>
            <a:solidFill>
              <a:srgbClr val="339966"/>
            </a:solidFill>
            <a:ln w="47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th-TH"/>
            </a:p>
          </p:txBody>
        </p:sp>
        <p:sp>
          <p:nvSpPr>
            <p:cNvPr id="36915" name="Rectangle 11"/>
            <p:cNvSpPr>
              <a:spLocks noChangeArrowheads="1"/>
            </p:cNvSpPr>
            <p:nvPr/>
          </p:nvSpPr>
          <p:spPr bwMode="auto">
            <a:xfrm>
              <a:off x="3419" y="1883"/>
              <a:ext cx="211" cy="13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r>
                <a:rPr lang="en-US" sz="1400">
                  <a:solidFill>
                    <a:srgbClr val="FFFFFF"/>
                  </a:solidFill>
                </a:rPr>
                <a:t>LUT</a:t>
              </a:r>
              <a:endParaRPr lang="en-US" sz="2400">
                <a:latin typeface="Times New Roman" pitchFamily="18" charset="0"/>
              </a:endParaRPr>
            </a:p>
          </p:txBody>
        </p:sp>
      </p:grpSp>
      <p:sp>
        <p:nvSpPr>
          <p:cNvPr id="36874" name="Rectangle 12"/>
          <p:cNvSpPr>
            <a:spLocks noChangeArrowheads="1"/>
          </p:cNvSpPr>
          <p:nvPr/>
        </p:nvSpPr>
        <p:spPr bwMode="auto">
          <a:xfrm>
            <a:off x="5619750" y="2967038"/>
            <a:ext cx="171450" cy="231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th-TH"/>
          </a:p>
        </p:txBody>
      </p:sp>
      <p:sp>
        <p:nvSpPr>
          <p:cNvPr id="36875" name="Rectangle 13"/>
          <p:cNvSpPr>
            <a:spLocks noChangeArrowheads="1"/>
          </p:cNvSpPr>
          <p:nvPr/>
        </p:nvSpPr>
        <p:spPr bwMode="auto">
          <a:xfrm>
            <a:off x="269875" y="1182688"/>
            <a:ext cx="227013" cy="231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th-TH"/>
          </a:p>
        </p:txBody>
      </p:sp>
      <p:sp>
        <p:nvSpPr>
          <p:cNvPr id="36876" name="Rectangle 14"/>
          <p:cNvSpPr>
            <a:spLocks noChangeArrowheads="1"/>
          </p:cNvSpPr>
          <p:nvPr/>
        </p:nvSpPr>
        <p:spPr bwMode="auto">
          <a:xfrm>
            <a:off x="461963" y="1182688"/>
            <a:ext cx="227012" cy="231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th-TH"/>
          </a:p>
        </p:txBody>
      </p:sp>
      <p:sp>
        <p:nvSpPr>
          <p:cNvPr id="36877" name="Rectangle 15"/>
          <p:cNvSpPr>
            <a:spLocks noChangeArrowheads="1"/>
          </p:cNvSpPr>
          <p:nvPr/>
        </p:nvSpPr>
        <p:spPr bwMode="auto">
          <a:xfrm>
            <a:off x="654050" y="1182688"/>
            <a:ext cx="227013" cy="231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th-TH"/>
          </a:p>
        </p:txBody>
      </p:sp>
      <p:sp>
        <p:nvSpPr>
          <p:cNvPr id="36878" name="Rectangle 16"/>
          <p:cNvSpPr>
            <a:spLocks noChangeArrowheads="1"/>
          </p:cNvSpPr>
          <p:nvPr/>
        </p:nvSpPr>
        <p:spPr bwMode="auto">
          <a:xfrm>
            <a:off x="846138" y="1182688"/>
            <a:ext cx="227012" cy="231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th-TH"/>
          </a:p>
        </p:txBody>
      </p:sp>
      <p:sp>
        <p:nvSpPr>
          <p:cNvPr id="36879" name="Rectangle 17"/>
          <p:cNvSpPr>
            <a:spLocks noChangeArrowheads="1"/>
          </p:cNvSpPr>
          <p:nvPr/>
        </p:nvSpPr>
        <p:spPr bwMode="auto">
          <a:xfrm>
            <a:off x="1114425" y="1184275"/>
            <a:ext cx="169863" cy="230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th-TH"/>
          </a:p>
        </p:txBody>
      </p:sp>
      <p:sp>
        <p:nvSpPr>
          <p:cNvPr id="36880" name="Rectangle 18"/>
          <p:cNvSpPr>
            <a:spLocks noChangeArrowheads="1"/>
          </p:cNvSpPr>
          <p:nvPr/>
        </p:nvSpPr>
        <p:spPr bwMode="auto">
          <a:xfrm>
            <a:off x="269875" y="1182688"/>
            <a:ext cx="227013" cy="231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th-TH"/>
          </a:p>
        </p:txBody>
      </p:sp>
      <p:sp>
        <p:nvSpPr>
          <p:cNvPr id="36881" name="Rectangle 19"/>
          <p:cNvSpPr>
            <a:spLocks noChangeArrowheads="1"/>
          </p:cNvSpPr>
          <p:nvPr/>
        </p:nvSpPr>
        <p:spPr bwMode="auto">
          <a:xfrm>
            <a:off x="461963" y="1182688"/>
            <a:ext cx="227012" cy="231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th-TH"/>
          </a:p>
        </p:txBody>
      </p:sp>
      <p:sp>
        <p:nvSpPr>
          <p:cNvPr id="36882" name="Rectangle 20"/>
          <p:cNvSpPr>
            <a:spLocks noChangeArrowheads="1"/>
          </p:cNvSpPr>
          <p:nvPr/>
        </p:nvSpPr>
        <p:spPr bwMode="auto">
          <a:xfrm>
            <a:off x="654050" y="1182688"/>
            <a:ext cx="227013" cy="231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th-TH"/>
          </a:p>
        </p:txBody>
      </p:sp>
      <p:sp>
        <p:nvSpPr>
          <p:cNvPr id="36883" name="Rectangle 21"/>
          <p:cNvSpPr>
            <a:spLocks noChangeArrowheads="1"/>
          </p:cNvSpPr>
          <p:nvPr/>
        </p:nvSpPr>
        <p:spPr bwMode="auto">
          <a:xfrm>
            <a:off x="846138" y="1182688"/>
            <a:ext cx="227012" cy="231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th-TH"/>
          </a:p>
        </p:txBody>
      </p:sp>
      <p:sp>
        <p:nvSpPr>
          <p:cNvPr id="36884" name="Rectangle 22"/>
          <p:cNvSpPr>
            <a:spLocks noChangeArrowheads="1"/>
          </p:cNvSpPr>
          <p:nvPr/>
        </p:nvSpPr>
        <p:spPr bwMode="auto">
          <a:xfrm>
            <a:off x="1114425" y="1184275"/>
            <a:ext cx="169863" cy="230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th-TH"/>
          </a:p>
        </p:txBody>
      </p:sp>
      <p:graphicFrame>
        <p:nvGraphicFramePr>
          <p:cNvPr id="36866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63835495"/>
              </p:ext>
            </p:extLst>
          </p:nvPr>
        </p:nvGraphicFramePr>
        <p:xfrm>
          <a:off x="304800" y="1371600"/>
          <a:ext cx="1676400" cy="495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1293120" imgH="6168600" progId="Excel.Sheet.8">
                  <p:embed/>
                </p:oleObj>
              </mc:Choice>
              <mc:Fallback>
                <p:oleObj name="Worksheet" r:id="rId2" imgW="1293120" imgH="6168600" progId="Excel.Sheet.8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1371600"/>
                        <a:ext cx="1676400" cy="4953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24"/>
          <p:cNvGrpSpPr>
            <a:grpSpLocks/>
          </p:cNvGrpSpPr>
          <p:nvPr/>
        </p:nvGrpSpPr>
        <p:grpSpPr bwMode="auto">
          <a:xfrm>
            <a:off x="3081338" y="4876800"/>
            <a:ext cx="576262" cy="690563"/>
            <a:chOff x="3345" y="1725"/>
            <a:chExt cx="363" cy="435"/>
          </a:xfrm>
        </p:grpSpPr>
        <p:sp>
          <p:nvSpPr>
            <p:cNvPr id="36908" name="Rectangle 25"/>
            <p:cNvSpPr>
              <a:spLocks noChangeArrowheads="1"/>
            </p:cNvSpPr>
            <p:nvPr/>
          </p:nvSpPr>
          <p:spPr bwMode="auto">
            <a:xfrm>
              <a:off x="3345" y="1725"/>
              <a:ext cx="363" cy="435"/>
            </a:xfrm>
            <a:prstGeom prst="rect">
              <a:avLst/>
            </a:prstGeom>
            <a:solidFill>
              <a:srgbClr val="339966"/>
            </a:solidFill>
            <a:ln w="47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th-TH"/>
            </a:p>
          </p:txBody>
        </p:sp>
        <p:sp>
          <p:nvSpPr>
            <p:cNvPr id="36909" name="Rectangle 26"/>
            <p:cNvSpPr>
              <a:spLocks noChangeArrowheads="1"/>
            </p:cNvSpPr>
            <p:nvPr/>
          </p:nvSpPr>
          <p:spPr bwMode="auto">
            <a:xfrm>
              <a:off x="3419" y="1883"/>
              <a:ext cx="211" cy="13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r>
                <a:rPr lang="en-US" sz="1400">
                  <a:solidFill>
                    <a:srgbClr val="FFFFFF"/>
                  </a:solidFill>
                </a:rPr>
                <a:t>LUT</a:t>
              </a: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36910" name="Rectangle 27"/>
            <p:cNvSpPr>
              <a:spLocks noChangeArrowheads="1"/>
            </p:cNvSpPr>
            <p:nvPr/>
          </p:nvSpPr>
          <p:spPr bwMode="auto">
            <a:xfrm>
              <a:off x="3345" y="1725"/>
              <a:ext cx="363" cy="435"/>
            </a:xfrm>
            <a:prstGeom prst="rect">
              <a:avLst/>
            </a:prstGeom>
            <a:solidFill>
              <a:srgbClr val="339966"/>
            </a:solidFill>
            <a:ln w="47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th-TH"/>
            </a:p>
          </p:txBody>
        </p:sp>
        <p:sp>
          <p:nvSpPr>
            <p:cNvPr id="36911" name="Rectangle 28"/>
            <p:cNvSpPr>
              <a:spLocks noChangeArrowheads="1"/>
            </p:cNvSpPr>
            <p:nvPr/>
          </p:nvSpPr>
          <p:spPr bwMode="auto">
            <a:xfrm>
              <a:off x="3419" y="1883"/>
              <a:ext cx="211" cy="13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r>
                <a:rPr lang="en-US" sz="1400">
                  <a:solidFill>
                    <a:srgbClr val="FFFFFF"/>
                  </a:solidFill>
                </a:rPr>
                <a:t>LUT</a:t>
              </a:r>
              <a:endParaRPr lang="en-US" sz="2400">
                <a:latin typeface="Times New Roman" pitchFamily="18" charset="0"/>
              </a:endParaRPr>
            </a:p>
          </p:txBody>
        </p:sp>
      </p:grpSp>
      <p:sp>
        <p:nvSpPr>
          <p:cNvPr id="36886" name="AutoShape 29"/>
          <p:cNvSpPr>
            <a:spLocks/>
          </p:cNvSpPr>
          <p:nvPr/>
        </p:nvSpPr>
        <p:spPr bwMode="auto">
          <a:xfrm>
            <a:off x="2133600" y="4114800"/>
            <a:ext cx="533400" cy="2286000"/>
          </a:xfrm>
          <a:prstGeom prst="rightBrace">
            <a:avLst>
              <a:gd name="adj1" fmla="val 35714"/>
              <a:gd name="adj2" fmla="val 50000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th-TH"/>
          </a:p>
        </p:txBody>
      </p:sp>
      <p:sp>
        <p:nvSpPr>
          <p:cNvPr id="36887" name="AutoShape 30"/>
          <p:cNvSpPr>
            <a:spLocks/>
          </p:cNvSpPr>
          <p:nvPr/>
        </p:nvSpPr>
        <p:spPr bwMode="auto">
          <a:xfrm>
            <a:off x="2133600" y="1447800"/>
            <a:ext cx="533400" cy="2438400"/>
          </a:xfrm>
          <a:prstGeom prst="rightBrace">
            <a:avLst>
              <a:gd name="adj1" fmla="val 38095"/>
              <a:gd name="adj2" fmla="val 50000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th-TH"/>
          </a:p>
        </p:txBody>
      </p:sp>
      <p:grpSp>
        <p:nvGrpSpPr>
          <p:cNvPr id="4" name="Group 31"/>
          <p:cNvGrpSpPr>
            <a:grpSpLocks/>
          </p:cNvGrpSpPr>
          <p:nvPr/>
        </p:nvGrpSpPr>
        <p:grpSpPr bwMode="auto">
          <a:xfrm>
            <a:off x="4572000" y="2819400"/>
            <a:ext cx="304800" cy="914400"/>
            <a:chOff x="3168" y="1728"/>
            <a:chExt cx="192" cy="528"/>
          </a:xfrm>
        </p:grpSpPr>
        <p:sp>
          <p:nvSpPr>
            <p:cNvPr id="36904" name="Line 32"/>
            <p:cNvSpPr>
              <a:spLocks noChangeShapeType="1"/>
            </p:cNvSpPr>
            <p:nvPr/>
          </p:nvSpPr>
          <p:spPr bwMode="auto">
            <a:xfrm>
              <a:off x="3168" y="1728"/>
              <a:ext cx="0" cy="52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905" name="Line 33"/>
            <p:cNvSpPr>
              <a:spLocks noChangeShapeType="1"/>
            </p:cNvSpPr>
            <p:nvPr/>
          </p:nvSpPr>
          <p:spPr bwMode="auto">
            <a:xfrm flipV="1">
              <a:off x="3168" y="2112"/>
              <a:ext cx="192" cy="1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906" name="Line 34"/>
            <p:cNvSpPr>
              <a:spLocks noChangeShapeType="1"/>
            </p:cNvSpPr>
            <p:nvPr/>
          </p:nvSpPr>
          <p:spPr bwMode="auto">
            <a:xfrm>
              <a:off x="3168" y="1728"/>
              <a:ext cx="192" cy="1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907" name="Line 35"/>
            <p:cNvSpPr>
              <a:spLocks noChangeShapeType="1"/>
            </p:cNvSpPr>
            <p:nvPr/>
          </p:nvSpPr>
          <p:spPr bwMode="auto">
            <a:xfrm>
              <a:off x="3360" y="1872"/>
              <a:ext cx="0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6889" name="Line 36"/>
          <p:cNvSpPr>
            <a:spLocks noChangeShapeType="1"/>
          </p:cNvSpPr>
          <p:nvPr/>
        </p:nvSpPr>
        <p:spPr bwMode="auto">
          <a:xfrm flipV="1">
            <a:off x="4724400" y="2514600"/>
            <a:ext cx="0" cy="457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6890" name="Line 37"/>
          <p:cNvSpPr>
            <a:spLocks noChangeShapeType="1"/>
          </p:cNvSpPr>
          <p:nvPr/>
        </p:nvSpPr>
        <p:spPr bwMode="auto">
          <a:xfrm flipH="1">
            <a:off x="3886200" y="29718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6891" name="Line 38"/>
          <p:cNvSpPr>
            <a:spLocks noChangeShapeType="1"/>
          </p:cNvSpPr>
          <p:nvPr/>
        </p:nvSpPr>
        <p:spPr bwMode="auto">
          <a:xfrm flipV="1">
            <a:off x="3886200" y="25146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6892" name="Line 39"/>
          <p:cNvSpPr>
            <a:spLocks noChangeShapeType="1"/>
          </p:cNvSpPr>
          <p:nvPr/>
        </p:nvSpPr>
        <p:spPr bwMode="auto">
          <a:xfrm flipH="1">
            <a:off x="3657600" y="251460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6893" name="Line 40"/>
          <p:cNvSpPr>
            <a:spLocks noChangeShapeType="1"/>
          </p:cNvSpPr>
          <p:nvPr/>
        </p:nvSpPr>
        <p:spPr bwMode="auto">
          <a:xfrm flipH="1">
            <a:off x="3886200" y="35814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6894" name="Line 41"/>
          <p:cNvSpPr>
            <a:spLocks noChangeShapeType="1"/>
          </p:cNvSpPr>
          <p:nvPr/>
        </p:nvSpPr>
        <p:spPr bwMode="auto">
          <a:xfrm>
            <a:off x="3886200" y="3581400"/>
            <a:ext cx="0" cy="1447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6895" name="Line 42"/>
          <p:cNvSpPr>
            <a:spLocks noChangeShapeType="1"/>
          </p:cNvSpPr>
          <p:nvPr/>
        </p:nvSpPr>
        <p:spPr bwMode="auto">
          <a:xfrm flipH="1">
            <a:off x="3657600" y="502920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6896" name="Line 43"/>
          <p:cNvSpPr>
            <a:spLocks noChangeShapeType="1"/>
          </p:cNvSpPr>
          <p:nvPr/>
        </p:nvSpPr>
        <p:spPr bwMode="auto">
          <a:xfrm flipH="1">
            <a:off x="4876800" y="32766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6897" name="Oval 44"/>
          <p:cNvSpPr>
            <a:spLocks noChangeArrowheads="1"/>
          </p:cNvSpPr>
          <p:nvPr/>
        </p:nvSpPr>
        <p:spPr bwMode="auto">
          <a:xfrm>
            <a:off x="228600" y="1219200"/>
            <a:ext cx="381000" cy="381000"/>
          </a:xfrm>
          <a:prstGeom prst="ellipse">
            <a:avLst/>
          </a:prstGeom>
          <a:noFill/>
          <a:ln w="19050">
            <a:solidFill>
              <a:srgbClr val="CC33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th-TH"/>
          </a:p>
        </p:txBody>
      </p:sp>
      <p:sp>
        <p:nvSpPr>
          <p:cNvPr id="36898" name="Line 45"/>
          <p:cNvSpPr>
            <a:spLocks noChangeShapeType="1"/>
          </p:cNvSpPr>
          <p:nvPr/>
        </p:nvSpPr>
        <p:spPr bwMode="auto">
          <a:xfrm>
            <a:off x="533400" y="1295400"/>
            <a:ext cx="41910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6899" name="Line 46"/>
          <p:cNvSpPr>
            <a:spLocks noChangeShapeType="1"/>
          </p:cNvSpPr>
          <p:nvPr/>
        </p:nvSpPr>
        <p:spPr bwMode="auto">
          <a:xfrm>
            <a:off x="4724400" y="1295400"/>
            <a:ext cx="0" cy="1295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6900" name="Text Box 47"/>
          <p:cNvSpPr txBox="1">
            <a:spLocks noChangeArrowheads="1"/>
          </p:cNvSpPr>
          <p:nvPr/>
        </p:nvSpPr>
        <p:spPr bwMode="auto">
          <a:xfrm>
            <a:off x="5029200" y="3276600"/>
            <a:ext cx="60960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1200" b="1" dirty="0">
                <a:latin typeface="Times New Roman" pitchFamily="18" charset="0"/>
              </a:rPr>
              <a:t>OUT</a:t>
            </a:r>
          </a:p>
        </p:txBody>
      </p:sp>
      <p:sp>
        <p:nvSpPr>
          <p:cNvPr id="36901" name="Line 48"/>
          <p:cNvSpPr>
            <a:spLocks noChangeShapeType="1"/>
          </p:cNvSpPr>
          <p:nvPr/>
        </p:nvSpPr>
        <p:spPr bwMode="auto">
          <a:xfrm>
            <a:off x="2590800" y="2667000"/>
            <a:ext cx="5334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6902" name="Line 49"/>
          <p:cNvSpPr>
            <a:spLocks noChangeShapeType="1"/>
          </p:cNvSpPr>
          <p:nvPr/>
        </p:nvSpPr>
        <p:spPr bwMode="auto">
          <a:xfrm>
            <a:off x="2667000" y="5257800"/>
            <a:ext cx="4572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pic>
        <p:nvPicPr>
          <p:cNvPr id="36903" name="Picture 50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787900" y="3937000"/>
            <a:ext cx="3827463" cy="23622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</p:spPr>
      </p:pic>
      <p:sp>
        <p:nvSpPr>
          <p:cNvPr id="52" name="Rectangle 51"/>
          <p:cNvSpPr/>
          <p:nvPr/>
        </p:nvSpPr>
        <p:spPr>
          <a:xfrm>
            <a:off x="5791199" y="990600"/>
            <a:ext cx="3352801" cy="2800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2200" dirty="0"/>
              <a:t> Two 4-inpu LUTs can implement two 4-input functions</a:t>
            </a:r>
          </a:p>
          <a:p>
            <a:pPr>
              <a:buFont typeface="Arial" pitchFamily="34" charset="0"/>
              <a:buChar char="•"/>
            </a:pPr>
            <a:r>
              <a:rPr lang="en-US" sz="2200" dirty="0"/>
              <a:t> By adding a multiplexer like below, they can implement any 5-input functions </a:t>
            </a:r>
          </a:p>
          <a:p>
            <a:pPr>
              <a:buFont typeface="Arial" pitchFamily="34" charset="0"/>
              <a:buChar char="•"/>
            </a:pPr>
            <a:r>
              <a:rPr lang="en-US" sz="2200" dirty="0">
                <a:solidFill>
                  <a:srgbClr val="FF0000"/>
                </a:solidFill>
              </a:rPr>
              <a:t>Why?</a:t>
            </a:r>
          </a:p>
        </p:txBody>
      </p:sp>
      <p:sp>
        <p:nvSpPr>
          <p:cNvPr id="53" name="Title 1"/>
          <p:cNvSpPr txBox="1">
            <a:spLocks/>
          </p:cNvSpPr>
          <p:nvPr/>
        </p:nvSpPr>
        <p:spPr>
          <a:xfrm>
            <a:off x="762000" y="0"/>
            <a:ext cx="7772400" cy="914401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pPr lvl="0">
              <a:spcBef>
                <a:spcPct val="0"/>
              </a:spcBef>
            </a:pPr>
            <a:r>
              <a:rPr lang="en-US" sz="40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(X+1)-Input LUT by x-input LUTs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lvl="0"/>
            <a:r>
              <a:rPr lang="en-US" sz="3800" dirty="0"/>
              <a:t>(X+1)-Input functions by x-input LUTs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itchFamily="34" charset="0"/>
              <a:buChar char="•"/>
            </a:pPr>
            <a:r>
              <a:rPr lang="en-US" sz="2800" dirty="0"/>
              <a:t>Two n-input LUTs and one 3-input LUT can implement any (n+1)-input function</a:t>
            </a:r>
          </a:p>
          <a:p>
            <a:pPr>
              <a:buFont typeface="Arial" pitchFamily="34" charset="0"/>
              <a:buChar char="•"/>
            </a:pPr>
            <a:r>
              <a:rPr lang="en-US" sz="2800" dirty="0"/>
              <a:t>Why?</a:t>
            </a:r>
          </a:p>
          <a:p>
            <a:pPr eaLnBrk="1" hangingPunct="1"/>
            <a:endParaRPr lang="en-US" sz="2600" dirty="0"/>
          </a:p>
        </p:txBody>
      </p:sp>
      <p:sp>
        <p:nvSpPr>
          <p:cNvPr id="4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146304" y="6248400"/>
            <a:ext cx="387096" cy="38100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Spartan-3 FPGAs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205740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Spartan: Cost-effective FPGA family of Xilinx</a:t>
            </a:r>
          </a:p>
          <a:p>
            <a:pPr lvl="1"/>
            <a:r>
              <a:rPr lang="en-US" dirty="0"/>
              <a:t>Spartan-6 is the last generation of the family</a:t>
            </a:r>
          </a:p>
          <a:p>
            <a:pPr lvl="1"/>
            <a:r>
              <a:rPr lang="en-US" dirty="0"/>
              <a:t>Cheaper and smaller than </a:t>
            </a:r>
            <a:r>
              <a:rPr lang="en-US" dirty="0" err="1"/>
              <a:t>Virtex</a:t>
            </a:r>
            <a:r>
              <a:rPr lang="en-US" dirty="0"/>
              <a:t> (the high-performance FPGAs of Xilinx)</a:t>
            </a:r>
          </a:p>
          <a:p>
            <a:r>
              <a:rPr lang="en-US" dirty="0"/>
              <a:t>The industry’s first 90 nm FPGA</a:t>
            </a:r>
          </a:p>
          <a:p>
            <a:r>
              <a:rPr lang="en-US" dirty="0"/>
              <a:t>Different generations: Spartan-3, Spartan-3E, Spartan-3A </a:t>
            </a:r>
          </a:p>
        </p:txBody>
      </p:sp>
      <p:pic>
        <p:nvPicPr>
          <p:cNvPr id="5" name="Picture 2" descr="S3-chip"/>
          <p:cNvPicPr>
            <a:picLocks noChangeAspect="1" noChangeArrowheads="1"/>
          </p:cNvPicPr>
          <p:nvPr/>
        </p:nvPicPr>
        <p:blipFill>
          <a:blip r:embed="rId3"/>
          <a:srcRect l="7990" r="14647"/>
          <a:stretch>
            <a:fillRect/>
          </a:stretch>
        </p:blipFill>
        <p:spPr bwMode="auto">
          <a:xfrm>
            <a:off x="1066800" y="3886200"/>
            <a:ext cx="2476500" cy="2393370"/>
          </a:xfrm>
          <a:prstGeom prst="rect">
            <a:avLst/>
          </a:prstGeom>
          <a:noFill/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562600" y="3886200"/>
            <a:ext cx="3103418" cy="213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0157232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Spartan-3 architecture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42338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57275" y="1504950"/>
            <a:ext cx="7029450" cy="5200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Rectangle 5"/>
          <p:cNvSpPr/>
          <p:nvPr/>
        </p:nvSpPr>
        <p:spPr>
          <a:xfrm>
            <a:off x="3886200" y="6581001"/>
            <a:ext cx="4572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sv-SE" sz="1200" dirty="0"/>
              <a:t>Source: Spartan-3 Generation FPGA User Guide, Xilinx ug331 (v1.8)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9563653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Configurable Logic Blocks (CLB)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Main logic resource for implementing synchronous as well as combinatorial circuits</a:t>
            </a:r>
          </a:p>
          <a:p>
            <a:r>
              <a:rPr lang="en-US" dirty="0"/>
              <a:t>Arranged in a regular array of rows and columns </a:t>
            </a:r>
          </a:p>
          <a:p>
            <a:endParaRPr lang="en-US" dirty="0"/>
          </a:p>
        </p:txBody>
      </p:sp>
      <p:pic>
        <p:nvPicPr>
          <p:cNvPr id="143362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828800" y="3238500"/>
            <a:ext cx="5486400" cy="2933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Oval 5"/>
          <p:cNvSpPr/>
          <p:nvPr/>
        </p:nvSpPr>
        <p:spPr>
          <a:xfrm>
            <a:off x="1905000" y="5638800"/>
            <a:ext cx="457200" cy="457200"/>
          </a:xfrm>
          <a:prstGeom prst="ellipse">
            <a:avLst/>
          </a:prstGeom>
          <a:solidFill>
            <a:schemeClr val="accent1">
              <a:alpha val="50000"/>
            </a:schemeClr>
          </a:solidFill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457200" y="6400800"/>
            <a:ext cx="4572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sv-SE" sz="1200" dirty="0"/>
              <a:t>Source: Spartan-3 Generation FPGA User Guide, Xilinx ug331 (v1.8)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012593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CLB and slice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Each Spartan-3 CLB contains four slices</a:t>
            </a:r>
          </a:p>
          <a:p>
            <a:r>
              <a:rPr lang="en-US" dirty="0"/>
              <a:t>Fast interconnects among the slices of a CLB</a:t>
            </a:r>
          </a:p>
          <a:p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6200" y="2743200"/>
            <a:ext cx="4648200" cy="2286000"/>
            <a:chOff x="1752600" y="3200400"/>
            <a:chExt cx="5486400" cy="2933700"/>
          </a:xfrm>
        </p:grpSpPr>
        <p:pic>
          <p:nvPicPr>
            <p:cNvPr id="5" name="Picture 2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1752600" y="3200400"/>
              <a:ext cx="5486400" cy="29337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6" name="Oval 5"/>
            <p:cNvSpPr/>
            <p:nvPr/>
          </p:nvSpPr>
          <p:spPr>
            <a:xfrm>
              <a:off x="1924987" y="5547360"/>
              <a:ext cx="457200" cy="457200"/>
            </a:xfrm>
            <a:prstGeom prst="ellipse">
              <a:avLst/>
            </a:prstGeom>
            <a:solidFill>
              <a:srgbClr val="FF0000">
                <a:alpha val="14000"/>
              </a:srgbClr>
            </a:solidFill>
            <a:ln w="25400">
              <a:solidFill>
                <a:srgbClr val="FF00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" name="Rectangle 7"/>
          <p:cNvSpPr/>
          <p:nvPr/>
        </p:nvSpPr>
        <p:spPr>
          <a:xfrm>
            <a:off x="2362200" y="3733800"/>
            <a:ext cx="838200" cy="762000"/>
          </a:xfrm>
          <a:prstGeom prst="rect">
            <a:avLst/>
          </a:prstGeom>
          <a:solidFill>
            <a:srgbClr val="FF0000">
              <a:alpha val="5000"/>
            </a:srgbClr>
          </a:solidFill>
          <a:ln w="254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4387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181600" y="2743200"/>
            <a:ext cx="3814167" cy="3276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2" name="Straight Connector 11"/>
          <p:cNvCxnSpPr/>
          <p:nvPr/>
        </p:nvCxnSpPr>
        <p:spPr>
          <a:xfrm flipV="1">
            <a:off x="3352800" y="3352800"/>
            <a:ext cx="2286000" cy="304800"/>
          </a:xfrm>
          <a:prstGeom prst="line">
            <a:avLst/>
          </a:prstGeom>
          <a:ln w="1905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3200400" y="4495800"/>
            <a:ext cx="2362200" cy="1447800"/>
          </a:xfrm>
          <a:prstGeom prst="line">
            <a:avLst/>
          </a:prstGeom>
          <a:ln w="1905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57200" y="6400800"/>
            <a:ext cx="4572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sv-SE" sz="1200" dirty="0"/>
              <a:t>Source: Spartan-3 Generation FPGA User Guide, Xilinx ug331 (v1.8)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440718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CLB and slice- slice architecture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20</a:t>
            </a:fld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76200" y="1447800"/>
            <a:ext cx="4267200" cy="1981200"/>
            <a:chOff x="1752600" y="3200400"/>
            <a:chExt cx="5486400" cy="2933700"/>
          </a:xfrm>
        </p:grpSpPr>
        <p:pic>
          <p:nvPicPr>
            <p:cNvPr id="5" name="Picture 2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1752600" y="3200400"/>
              <a:ext cx="5486400" cy="29337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6" name="Oval 5"/>
            <p:cNvSpPr/>
            <p:nvPr/>
          </p:nvSpPr>
          <p:spPr>
            <a:xfrm>
              <a:off x="1924987" y="5547360"/>
              <a:ext cx="457200" cy="457200"/>
            </a:xfrm>
            <a:prstGeom prst="ellipse">
              <a:avLst/>
            </a:prstGeom>
            <a:solidFill>
              <a:srgbClr val="FF0000">
                <a:alpha val="14000"/>
              </a:srgbClr>
            </a:solidFill>
            <a:ln w="25400">
              <a:solidFill>
                <a:srgbClr val="FF00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" name="Rectangle 7"/>
          <p:cNvSpPr/>
          <p:nvPr/>
        </p:nvSpPr>
        <p:spPr>
          <a:xfrm>
            <a:off x="2286000" y="2286000"/>
            <a:ext cx="685800" cy="609600"/>
          </a:xfrm>
          <a:prstGeom prst="rect">
            <a:avLst/>
          </a:prstGeom>
          <a:solidFill>
            <a:srgbClr val="FF0000">
              <a:alpha val="5000"/>
            </a:srgbClr>
          </a:solidFill>
          <a:ln w="254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4387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990600" y="3962400"/>
            <a:ext cx="2590800" cy="22256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2" name="Straight Connector 11"/>
          <p:cNvCxnSpPr/>
          <p:nvPr/>
        </p:nvCxnSpPr>
        <p:spPr>
          <a:xfrm rot="5400000" flipH="1" flipV="1">
            <a:off x="990600" y="3276600"/>
            <a:ext cx="1600200" cy="838200"/>
          </a:xfrm>
          <a:prstGeom prst="line">
            <a:avLst/>
          </a:prstGeom>
          <a:ln w="1905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rot="16200000" flipH="1">
            <a:off x="2667000" y="3429000"/>
            <a:ext cx="1295400" cy="533400"/>
          </a:xfrm>
          <a:prstGeom prst="line">
            <a:avLst/>
          </a:prstGeom>
          <a:ln w="1905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57200" y="6400800"/>
            <a:ext cx="4572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sv-SE" sz="1200" dirty="0"/>
              <a:t>Source: Spartan-3 Generation FPGA User Guide, Xilinx ug331 (v1.8)</a:t>
            </a:r>
            <a:endParaRPr lang="en-US" sz="1200" dirty="0"/>
          </a:p>
        </p:txBody>
      </p:sp>
      <p:sp>
        <p:nvSpPr>
          <p:cNvPr id="28" name="Oval 27"/>
          <p:cNvSpPr/>
          <p:nvPr/>
        </p:nvSpPr>
        <p:spPr>
          <a:xfrm>
            <a:off x="2743200" y="4800600"/>
            <a:ext cx="457200" cy="472440"/>
          </a:xfrm>
          <a:prstGeom prst="ellipse">
            <a:avLst/>
          </a:prstGeom>
          <a:noFill/>
          <a:ln w="254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9" name="Picture 47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5638800" y="2133600"/>
            <a:ext cx="3048000" cy="3916486"/>
          </a:xfrm>
          <a:prstGeom prst="rect">
            <a:avLst/>
          </a:prstGeom>
        </p:spPr>
      </p:pic>
      <p:cxnSp>
        <p:nvCxnSpPr>
          <p:cNvPr id="30" name="Straight Connector 29"/>
          <p:cNvCxnSpPr/>
          <p:nvPr/>
        </p:nvCxnSpPr>
        <p:spPr>
          <a:xfrm rot="5400000" flipH="1" flipV="1">
            <a:off x="3124200" y="2514600"/>
            <a:ext cx="2362200" cy="2362200"/>
          </a:xfrm>
          <a:prstGeom prst="line">
            <a:avLst/>
          </a:prstGeom>
          <a:ln w="1905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>
            <a:off x="3048000" y="5257800"/>
            <a:ext cx="3048000" cy="609600"/>
          </a:xfrm>
          <a:prstGeom prst="line">
            <a:avLst/>
          </a:prstGeom>
          <a:ln w="1905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13316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SLICE structure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447800"/>
            <a:ext cx="3124200" cy="4572000"/>
          </a:xfrm>
        </p:spPr>
        <p:txBody>
          <a:bodyPr>
            <a:normAutofit/>
          </a:bodyPr>
          <a:lstStyle/>
          <a:p>
            <a:r>
              <a:rPr lang="en-US" sz="2400" dirty="0"/>
              <a:t>Two 4-input look-up tables followed by two D flip-flops plus carry &amp; control logic (for arithmetic operations)</a:t>
            </a:r>
            <a:endParaRPr lang="en-US" sz="2000" dirty="0"/>
          </a:p>
        </p:txBody>
      </p:sp>
      <p:pic>
        <p:nvPicPr>
          <p:cNvPr id="5" name="Picture 47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495800" y="1219200"/>
            <a:ext cx="4114800" cy="5287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8565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74638"/>
            <a:ext cx="33528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SLICE structure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304800" y="1447800"/>
            <a:ext cx="2895600" cy="4572000"/>
          </a:xfrm>
        </p:spPr>
        <p:txBody>
          <a:bodyPr/>
          <a:lstStyle/>
          <a:p>
            <a:r>
              <a:rPr lang="en-US" dirty="0"/>
              <a:t>The details of the slice architecture</a:t>
            </a:r>
          </a:p>
          <a:p>
            <a:r>
              <a:rPr lang="en-US" dirty="0"/>
              <a:t>More detailed than the figure in the previous slide!</a:t>
            </a:r>
          </a:p>
          <a:p>
            <a:pPr lvl="1"/>
            <a:r>
              <a:rPr lang="en-US" dirty="0"/>
              <a:t>The control and carry logic are shown</a:t>
            </a:r>
          </a:p>
        </p:txBody>
      </p:sp>
      <p:pic>
        <p:nvPicPr>
          <p:cNvPr id="14541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505200" y="76200"/>
            <a:ext cx="5563598" cy="670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03254503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28600"/>
            <a:ext cx="30480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Main logic paths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304800" y="1447800"/>
            <a:ext cx="2514600" cy="4572000"/>
          </a:xfrm>
        </p:spPr>
        <p:txBody>
          <a:bodyPr>
            <a:normAutofit/>
          </a:bodyPr>
          <a:lstStyle/>
          <a:p>
            <a:r>
              <a:rPr lang="en-US" sz="2400" dirty="0"/>
              <a:t>Two 4-input functions, combinational or sequential output</a:t>
            </a:r>
          </a:p>
        </p:txBody>
      </p:sp>
      <p:pic>
        <p:nvPicPr>
          <p:cNvPr id="147458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28600" y="4038600"/>
            <a:ext cx="2625759" cy="167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505200" y="76200"/>
            <a:ext cx="5563598" cy="670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0" name="Straight Connector 9"/>
          <p:cNvCxnSpPr/>
          <p:nvPr/>
        </p:nvCxnSpPr>
        <p:spPr>
          <a:xfrm flipV="1">
            <a:off x="3886200" y="1143000"/>
            <a:ext cx="3124200" cy="76200"/>
          </a:xfrm>
          <a:prstGeom prst="line">
            <a:avLst/>
          </a:prstGeom>
          <a:ln w="76200">
            <a:solidFill>
              <a:srgbClr val="FF0000">
                <a:alpha val="53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7086600" y="1066800"/>
            <a:ext cx="1219200" cy="1588"/>
          </a:xfrm>
          <a:prstGeom prst="line">
            <a:avLst/>
          </a:prstGeom>
          <a:ln w="76200">
            <a:solidFill>
              <a:srgbClr val="FF0000">
                <a:alpha val="53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rot="5400000">
            <a:off x="7011194" y="1294606"/>
            <a:ext cx="457200" cy="1588"/>
          </a:xfrm>
          <a:prstGeom prst="line">
            <a:avLst/>
          </a:prstGeom>
          <a:ln w="76200">
            <a:solidFill>
              <a:srgbClr val="FF0000">
                <a:alpha val="53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7239000" y="1522412"/>
            <a:ext cx="1066800" cy="1588"/>
          </a:xfrm>
          <a:prstGeom prst="line">
            <a:avLst/>
          </a:prstGeom>
          <a:ln w="76200">
            <a:solidFill>
              <a:srgbClr val="FF0000">
                <a:alpha val="53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 flipV="1">
            <a:off x="3886200" y="4800600"/>
            <a:ext cx="3124200" cy="76200"/>
          </a:xfrm>
          <a:prstGeom prst="line">
            <a:avLst/>
          </a:prstGeom>
          <a:ln w="76200">
            <a:solidFill>
              <a:srgbClr val="FF0000">
                <a:alpha val="53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>
            <a:off x="7086600" y="4724400"/>
            <a:ext cx="1219200" cy="1588"/>
          </a:xfrm>
          <a:prstGeom prst="line">
            <a:avLst/>
          </a:prstGeom>
          <a:ln w="76200">
            <a:solidFill>
              <a:srgbClr val="FF0000">
                <a:alpha val="53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 rot="5400000">
            <a:off x="7087394" y="4952206"/>
            <a:ext cx="457200" cy="1588"/>
          </a:xfrm>
          <a:prstGeom prst="line">
            <a:avLst/>
          </a:prstGeom>
          <a:ln w="76200">
            <a:solidFill>
              <a:srgbClr val="FF0000">
                <a:alpha val="53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>
            <a:off x="7315200" y="5180012"/>
            <a:ext cx="1066800" cy="1588"/>
          </a:xfrm>
          <a:prstGeom prst="line">
            <a:avLst/>
          </a:prstGeom>
          <a:ln w="76200">
            <a:solidFill>
              <a:srgbClr val="FF0000">
                <a:alpha val="53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989605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533400"/>
            <a:ext cx="3657600" cy="1143000"/>
          </a:xfrm>
        </p:spPr>
        <p:txBody>
          <a:bodyPr>
            <a:noAutofit/>
          </a:bodyPr>
          <a:lstStyle/>
          <a:p>
            <a:r>
              <a:rPr lang="en-US" dirty="0"/>
              <a:t>Wide </a:t>
            </a:r>
            <a:br>
              <a:rPr lang="en-US" dirty="0"/>
            </a:br>
            <a:r>
              <a:rPr lang="en-US" dirty="0"/>
              <a:t>multiplexers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381000" y="1981200"/>
            <a:ext cx="2895600" cy="4572000"/>
          </a:xfrm>
        </p:spPr>
        <p:txBody>
          <a:bodyPr>
            <a:normAutofit/>
          </a:bodyPr>
          <a:lstStyle/>
          <a:p>
            <a:r>
              <a:rPr lang="en-US" dirty="0"/>
              <a:t>Combine LUTs to build more complex logic operations</a:t>
            </a:r>
          </a:p>
          <a:p>
            <a:r>
              <a:rPr lang="en-US" dirty="0"/>
              <a:t>Each slice has two of these multiplexers </a:t>
            </a:r>
          </a:p>
          <a:p>
            <a:pPr lvl="1"/>
            <a:r>
              <a:rPr lang="en-US" dirty="0"/>
              <a:t>F5MUX in the bottom</a:t>
            </a:r>
          </a:p>
          <a:p>
            <a:pPr lvl="1"/>
            <a:r>
              <a:rPr lang="en-US" dirty="0" err="1"/>
              <a:t>FiMUX</a:t>
            </a:r>
            <a:r>
              <a:rPr lang="en-US" dirty="0"/>
              <a:t> in the top</a:t>
            </a:r>
          </a:p>
          <a:p>
            <a:endParaRPr lang="en-US" dirty="0"/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429000" y="76200"/>
            <a:ext cx="5638800" cy="670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Oval 5"/>
          <p:cNvSpPr/>
          <p:nvPr/>
        </p:nvSpPr>
        <p:spPr>
          <a:xfrm>
            <a:off x="6400800" y="4267200"/>
            <a:ext cx="533400" cy="381000"/>
          </a:xfrm>
          <a:prstGeom prst="ellipse">
            <a:avLst/>
          </a:prstGeom>
          <a:noFill/>
          <a:ln w="952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6400800" y="609600"/>
            <a:ext cx="533400" cy="381000"/>
          </a:xfrm>
          <a:prstGeom prst="ellipse">
            <a:avLst/>
          </a:prstGeom>
          <a:noFill/>
          <a:ln w="952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rot="5400000">
            <a:off x="4839494" y="2780506"/>
            <a:ext cx="3124200" cy="1588"/>
          </a:xfrm>
          <a:prstGeom prst="line">
            <a:avLst/>
          </a:prstGeom>
          <a:ln w="28575">
            <a:solidFill>
              <a:srgbClr val="FF0000">
                <a:alpha val="53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562600" y="4876800"/>
            <a:ext cx="914400" cy="1588"/>
          </a:xfrm>
          <a:prstGeom prst="line">
            <a:avLst/>
          </a:prstGeom>
          <a:ln w="28575">
            <a:solidFill>
              <a:srgbClr val="FF0000">
                <a:alpha val="53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5562600" y="1219200"/>
            <a:ext cx="838200" cy="1588"/>
          </a:xfrm>
          <a:prstGeom prst="line">
            <a:avLst/>
          </a:prstGeom>
          <a:ln w="28575">
            <a:solidFill>
              <a:srgbClr val="FF0000">
                <a:alpha val="53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V="1">
            <a:off x="6629400" y="4419600"/>
            <a:ext cx="1600200" cy="794"/>
          </a:xfrm>
          <a:prstGeom prst="line">
            <a:avLst/>
          </a:prstGeom>
          <a:ln w="28575">
            <a:solidFill>
              <a:srgbClr val="FF0000">
                <a:alpha val="53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 rot="5400000" flipH="1" flipV="1">
            <a:off x="6286500" y="4686300"/>
            <a:ext cx="381000" cy="1588"/>
          </a:xfrm>
          <a:prstGeom prst="line">
            <a:avLst/>
          </a:prstGeom>
          <a:ln w="28575">
            <a:solidFill>
              <a:srgbClr val="FF0000">
                <a:alpha val="53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 flipV="1">
            <a:off x="6476206" y="4495006"/>
            <a:ext cx="153194" cy="794"/>
          </a:xfrm>
          <a:prstGeom prst="line">
            <a:avLst/>
          </a:prstGeom>
          <a:ln w="28575">
            <a:solidFill>
              <a:srgbClr val="FF0000">
                <a:alpha val="53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 flipV="1">
            <a:off x="6400800" y="4343400"/>
            <a:ext cx="153194" cy="794"/>
          </a:xfrm>
          <a:prstGeom prst="line">
            <a:avLst/>
          </a:prstGeom>
          <a:ln w="28575">
            <a:solidFill>
              <a:srgbClr val="FF0000">
                <a:alpha val="53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855036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74638"/>
            <a:ext cx="8229600" cy="868362"/>
          </a:xfrm>
        </p:spPr>
        <p:txBody>
          <a:bodyPr>
            <a:normAutofit fontScale="90000"/>
          </a:bodyPr>
          <a:lstStyle/>
          <a:p>
            <a:r>
              <a:rPr lang="en-US" dirty="0"/>
              <a:t>Making larger LUTs from Smaller LUTs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25</a:t>
            </a:fld>
            <a:endParaRPr lang="en-US"/>
          </a:p>
        </p:txBody>
      </p:sp>
      <p:pic>
        <p:nvPicPr>
          <p:cNvPr id="5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6200" y="1143000"/>
            <a:ext cx="5715000" cy="5431277"/>
          </a:xfrm>
          <a:noFill/>
        </p:spPr>
      </p:pic>
    </p:spTree>
    <p:extLst>
      <p:ext uri="{BB962C8B-B14F-4D97-AF65-F5344CB8AC3E}">
        <p14:creationId xmlns:p14="http://schemas.microsoft.com/office/powerpoint/2010/main" val="274132847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Making larger LUTs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2822574" cy="4572000"/>
          </a:xfrm>
        </p:spPr>
        <p:txBody>
          <a:bodyPr/>
          <a:lstStyle/>
          <a:p>
            <a:r>
              <a:rPr lang="en-US" dirty="0"/>
              <a:t>The four slices of a CLB can be merged to make functions with 5, 6, 7, and 8 input functions 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4495800" y="1566200"/>
            <a:ext cx="4503737" cy="4489449"/>
            <a:chOff x="4564063" y="1677988"/>
            <a:chExt cx="4503737" cy="4489449"/>
          </a:xfrm>
        </p:grpSpPr>
        <p:sp>
          <p:nvSpPr>
            <p:cNvPr id="6" name="Text Box 4"/>
            <p:cNvSpPr txBox="1">
              <a:spLocks noChangeArrowheads="1"/>
            </p:cNvSpPr>
            <p:nvPr/>
          </p:nvSpPr>
          <p:spPr bwMode="auto">
            <a:xfrm>
              <a:off x="6342063" y="5859462"/>
              <a:ext cx="400050" cy="274638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sz="1200">
                  <a:latin typeface="Arial Narrow" pitchFamily="34" charset="0"/>
                </a:rPr>
                <a:t>CIN</a:t>
              </a:r>
              <a:endParaRPr lang="en-US">
                <a:latin typeface="Arial" pitchFamily="34" charset="0"/>
              </a:endParaRPr>
            </a:p>
          </p:txBody>
        </p:sp>
        <p:sp>
          <p:nvSpPr>
            <p:cNvPr id="7" name="Rectangle 5"/>
            <p:cNvSpPr>
              <a:spLocks noChangeArrowheads="1"/>
            </p:cNvSpPr>
            <p:nvPr/>
          </p:nvSpPr>
          <p:spPr bwMode="auto">
            <a:xfrm>
              <a:off x="4564063" y="2219325"/>
              <a:ext cx="773112" cy="3498850"/>
            </a:xfrm>
            <a:prstGeom prst="rect">
              <a:avLst/>
            </a:prstGeom>
            <a:solidFill>
              <a:srgbClr val="CCFFCC"/>
            </a:solidFill>
            <a:ln w="9525">
              <a:miter lim="800000"/>
              <a:headEnd/>
              <a:tailEnd/>
            </a:ln>
            <a:scene3d>
              <a:camera prst="legacyObliqueTopRight"/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CCFFCC"/>
              </a:extrusionClr>
            </a:sp3d>
          </p:spPr>
          <p:txBody>
            <a:bodyPr wrap="none" anchor="ctr">
              <a:flatTx/>
            </a:bodyPr>
            <a:lstStyle/>
            <a:p>
              <a:pPr algn="ctr" eaLnBrk="1" hangingPunct="1"/>
              <a:r>
                <a:rPr lang="en-US" sz="1200">
                  <a:latin typeface="Arial Narrow" pitchFamily="34" charset="0"/>
                </a:rPr>
                <a:t>Switch</a:t>
              </a:r>
            </a:p>
            <a:p>
              <a:pPr algn="ctr" eaLnBrk="1" hangingPunct="1"/>
              <a:r>
                <a:rPr lang="en-US" sz="1200">
                  <a:latin typeface="Arial Narrow" pitchFamily="34" charset="0"/>
                </a:rPr>
                <a:t>Matrix</a:t>
              </a:r>
              <a:endParaRPr lang="en-US">
                <a:latin typeface="Arial" pitchFamily="34" charset="0"/>
              </a:endParaRPr>
            </a:p>
          </p:txBody>
        </p:sp>
        <p:sp>
          <p:nvSpPr>
            <p:cNvPr id="8" name="Text Box 6"/>
            <p:cNvSpPr txBox="1">
              <a:spLocks noChangeArrowheads="1"/>
            </p:cNvSpPr>
            <p:nvPr/>
          </p:nvSpPr>
          <p:spPr bwMode="auto">
            <a:xfrm>
              <a:off x="7331075" y="1981200"/>
              <a:ext cx="538163" cy="274638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sz="1200">
                  <a:latin typeface="Arial Narrow" pitchFamily="34" charset="0"/>
                </a:rPr>
                <a:t>COUT</a:t>
              </a:r>
              <a:endParaRPr lang="en-US">
                <a:latin typeface="Arial" pitchFamily="34" charset="0"/>
              </a:endParaRPr>
            </a:p>
          </p:txBody>
        </p:sp>
        <p:sp>
          <p:nvSpPr>
            <p:cNvPr id="9" name="Text Box 7"/>
            <p:cNvSpPr txBox="1">
              <a:spLocks noChangeArrowheads="1"/>
            </p:cNvSpPr>
            <p:nvPr/>
          </p:nvSpPr>
          <p:spPr bwMode="auto">
            <a:xfrm>
              <a:off x="6321425" y="1981200"/>
              <a:ext cx="538163" cy="274638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sz="1200">
                  <a:latin typeface="Arial Narrow" pitchFamily="34" charset="0"/>
                </a:rPr>
                <a:t>COUT</a:t>
              </a:r>
              <a:endParaRPr lang="en-US">
                <a:latin typeface="Arial" pitchFamily="34" charset="0"/>
              </a:endParaRPr>
            </a:p>
          </p:txBody>
        </p:sp>
        <p:sp>
          <p:nvSpPr>
            <p:cNvPr id="10" name="Rectangle 8"/>
            <p:cNvSpPr>
              <a:spLocks noChangeArrowheads="1"/>
            </p:cNvSpPr>
            <p:nvPr/>
          </p:nvSpPr>
          <p:spPr bwMode="auto">
            <a:xfrm>
              <a:off x="5964238" y="5033962"/>
              <a:ext cx="644525" cy="676275"/>
            </a:xfrm>
            <a:prstGeom prst="rect">
              <a:avLst/>
            </a:prstGeom>
            <a:solidFill>
              <a:srgbClr val="BBE5FF"/>
            </a:solidFill>
            <a:ln w="9525">
              <a:miter lim="800000"/>
              <a:headEnd/>
              <a:tailEnd/>
            </a:ln>
            <a:scene3d>
              <a:camera prst="legacyObliqueTopRight"/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BBE5FF"/>
              </a:extrusionClr>
            </a:sp3d>
          </p:spPr>
          <p:txBody>
            <a:bodyPr wrap="none" anchor="ctr">
              <a:flatTx/>
            </a:bodyPr>
            <a:lstStyle/>
            <a:p>
              <a:pPr algn="ctr" eaLnBrk="1" hangingPunct="1"/>
              <a:r>
                <a:rPr lang="en-US" sz="1200">
                  <a:latin typeface="Arial Narrow" pitchFamily="34" charset="0"/>
                </a:rPr>
                <a:t>Slice X0Y0</a:t>
              </a:r>
              <a:endParaRPr lang="en-US">
                <a:latin typeface="Arial" pitchFamily="34" charset="0"/>
              </a:endParaRPr>
            </a:p>
          </p:txBody>
        </p:sp>
        <p:sp>
          <p:nvSpPr>
            <p:cNvPr id="11" name="Rectangle 9"/>
            <p:cNvSpPr>
              <a:spLocks noChangeArrowheads="1"/>
            </p:cNvSpPr>
            <p:nvPr/>
          </p:nvSpPr>
          <p:spPr bwMode="auto">
            <a:xfrm>
              <a:off x="5964238" y="4194175"/>
              <a:ext cx="644525" cy="677863"/>
            </a:xfrm>
            <a:prstGeom prst="rect">
              <a:avLst/>
            </a:prstGeom>
            <a:solidFill>
              <a:srgbClr val="BBE5FF"/>
            </a:solidFill>
            <a:ln w="9525">
              <a:miter lim="800000"/>
              <a:headEnd/>
              <a:tailEnd/>
            </a:ln>
            <a:scene3d>
              <a:camera prst="legacyObliqueTopRight"/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BBE5FF"/>
              </a:extrusionClr>
            </a:sp3d>
          </p:spPr>
          <p:txBody>
            <a:bodyPr wrap="none" anchor="ctr">
              <a:flatTx/>
            </a:bodyPr>
            <a:lstStyle/>
            <a:p>
              <a:pPr algn="ctr" eaLnBrk="1" hangingPunct="1"/>
              <a:r>
                <a:rPr lang="en-US" sz="1200" dirty="0">
                  <a:latin typeface="Arial Narrow" pitchFamily="34" charset="0"/>
                </a:rPr>
                <a:t>Slice X0Y1</a:t>
              </a:r>
              <a:endParaRPr lang="en-US" dirty="0">
                <a:latin typeface="Arial" pitchFamily="34" charset="0"/>
              </a:endParaRPr>
            </a:p>
          </p:txBody>
        </p:sp>
        <p:sp>
          <p:nvSpPr>
            <p:cNvPr id="12" name="Line 10"/>
            <p:cNvSpPr>
              <a:spLocks noChangeShapeType="1"/>
            </p:cNvSpPr>
            <p:nvPr/>
          </p:nvSpPr>
          <p:spPr bwMode="auto">
            <a:xfrm>
              <a:off x="6537325" y="2197100"/>
              <a:ext cx="0" cy="19812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" name="Line 11"/>
            <p:cNvSpPr>
              <a:spLocks noChangeShapeType="1"/>
            </p:cNvSpPr>
            <p:nvPr/>
          </p:nvSpPr>
          <p:spPr bwMode="auto">
            <a:xfrm>
              <a:off x="6491288" y="5700712"/>
              <a:ext cx="0" cy="2254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" name="AutoShape 12"/>
            <p:cNvSpPr>
              <a:spLocks noChangeArrowheads="1"/>
            </p:cNvSpPr>
            <p:nvPr/>
          </p:nvSpPr>
          <p:spPr bwMode="auto">
            <a:xfrm>
              <a:off x="5337175" y="5154613"/>
              <a:ext cx="635000" cy="155575"/>
            </a:xfrm>
            <a:prstGeom prst="leftRightArrow">
              <a:avLst>
                <a:gd name="adj1" fmla="val 50000"/>
                <a:gd name="adj2" fmla="val 81633"/>
              </a:avLst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" name="AutoShape 13"/>
            <p:cNvSpPr>
              <a:spLocks noChangeArrowheads="1"/>
            </p:cNvSpPr>
            <p:nvPr/>
          </p:nvSpPr>
          <p:spPr bwMode="auto">
            <a:xfrm>
              <a:off x="5337175" y="4476750"/>
              <a:ext cx="598488" cy="169863"/>
            </a:xfrm>
            <a:prstGeom prst="leftRightArrow">
              <a:avLst>
                <a:gd name="adj1" fmla="val 50000"/>
                <a:gd name="adj2" fmla="val 70467"/>
              </a:avLst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" name="AutoShape 14"/>
            <p:cNvSpPr>
              <a:spLocks noChangeArrowheads="1"/>
            </p:cNvSpPr>
            <p:nvPr/>
          </p:nvSpPr>
          <p:spPr bwMode="auto">
            <a:xfrm>
              <a:off x="5314950" y="3460750"/>
              <a:ext cx="1706563" cy="195263"/>
            </a:xfrm>
            <a:prstGeom prst="leftRightArrow">
              <a:avLst>
                <a:gd name="adj1" fmla="val 50000"/>
                <a:gd name="adj2" fmla="val 174796"/>
              </a:avLst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" name="AutoShape 15"/>
            <p:cNvSpPr>
              <a:spLocks noChangeArrowheads="1"/>
            </p:cNvSpPr>
            <p:nvPr/>
          </p:nvSpPr>
          <p:spPr bwMode="auto">
            <a:xfrm>
              <a:off x="5340350" y="2840038"/>
              <a:ext cx="1681163" cy="157162"/>
            </a:xfrm>
            <a:prstGeom prst="leftRightArrow">
              <a:avLst>
                <a:gd name="adj1" fmla="val 50000"/>
                <a:gd name="adj2" fmla="val 213940"/>
              </a:avLst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" name="Line 16"/>
            <p:cNvSpPr>
              <a:spLocks noChangeShapeType="1"/>
            </p:cNvSpPr>
            <p:nvPr/>
          </p:nvSpPr>
          <p:spPr bwMode="auto">
            <a:xfrm>
              <a:off x="8120063" y="2508250"/>
              <a:ext cx="0" cy="310515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" name="Text Box 17"/>
            <p:cNvSpPr txBox="1">
              <a:spLocks noChangeArrowheads="1"/>
            </p:cNvSpPr>
            <p:nvPr/>
          </p:nvSpPr>
          <p:spPr bwMode="auto">
            <a:xfrm>
              <a:off x="8077200" y="5005388"/>
              <a:ext cx="990600" cy="274637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sz="1200" dirty="0">
                  <a:latin typeface="Arial Narrow" pitchFamily="34" charset="0"/>
                </a:rPr>
                <a:t>Fast Connects</a:t>
              </a:r>
              <a:endParaRPr lang="en-US" dirty="0">
                <a:latin typeface="Arial" pitchFamily="34" charset="0"/>
              </a:endParaRPr>
            </a:p>
          </p:txBody>
        </p:sp>
        <p:sp>
          <p:nvSpPr>
            <p:cNvPr id="20" name="Line 18"/>
            <p:cNvSpPr>
              <a:spLocks noChangeShapeType="1"/>
            </p:cNvSpPr>
            <p:nvPr/>
          </p:nvSpPr>
          <p:spPr bwMode="auto">
            <a:xfrm flipV="1">
              <a:off x="6632575" y="4484688"/>
              <a:ext cx="15494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" name="Line 19"/>
            <p:cNvSpPr>
              <a:spLocks noChangeShapeType="1"/>
            </p:cNvSpPr>
            <p:nvPr/>
          </p:nvSpPr>
          <p:spPr bwMode="auto">
            <a:xfrm flipV="1">
              <a:off x="6643688" y="5160963"/>
              <a:ext cx="147637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" name="Rectangle 20"/>
            <p:cNvSpPr>
              <a:spLocks noChangeArrowheads="1"/>
            </p:cNvSpPr>
            <p:nvPr/>
          </p:nvSpPr>
          <p:spPr bwMode="auto">
            <a:xfrm>
              <a:off x="7045325" y="3362325"/>
              <a:ext cx="644525" cy="676275"/>
            </a:xfrm>
            <a:prstGeom prst="rect">
              <a:avLst/>
            </a:prstGeom>
            <a:solidFill>
              <a:srgbClr val="FF53A9"/>
            </a:solidFill>
            <a:ln w="9525">
              <a:miter lim="800000"/>
              <a:headEnd/>
              <a:tailEnd/>
            </a:ln>
            <a:scene3d>
              <a:camera prst="legacyObliqueTopRight"/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FF53A9"/>
              </a:extrusionClr>
            </a:sp3d>
          </p:spPr>
          <p:txBody>
            <a:bodyPr wrap="none" anchor="ctr">
              <a:flatTx/>
            </a:bodyPr>
            <a:lstStyle/>
            <a:p>
              <a:pPr algn="ctr" eaLnBrk="1" hangingPunct="1"/>
              <a:r>
                <a:rPr lang="en-US" sz="1200">
                  <a:latin typeface="Arial Narrow" pitchFamily="34" charset="0"/>
                </a:rPr>
                <a:t>Slice X1Y0</a:t>
              </a:r>
              <a:endParaRPr lang="en-US">
                <a:latin typeface="Arial" pitchFamily="34" charset="0"/>
              </a:endParaRPr>
            </a:p>
          </p:txBody>
        </p:sp>
        <p:sp>
          <p:nvSpPr>
            <p:cNvPr id="23" name="Rectangle 21"/>
            <p:cNvSpPr>
              <a:spLocks noChangeArrowheads="1"/>
            </p:cNvSpPr>
            <p:nvPr/>
          </p:nvSpPr>
          <p:spPr bwMode="auto">
            <a:xfrm>
              <a:off x="7045325" y="2508250"/>
              <a:ext cx="644525" cy="677863"/>
            </a:xfrm>
            <a:prstGeom prst="rect">
              <a:avLst/>
            </a:prstGeom>
            <a:solidFill>
              <a:srgbClr val="FF53A9"/>
            </a:solidFill>
            <a:ln w="9525">
              <a:miter lim="800000"/>
              <a:headEnd/>
              <a:tailEnd/>
            </a:ln>
            <a:scene3d>
              <a:camera prst="legacyObliqueTopRight"/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FF53A9"/>
              </a:extrusionClr>
            </a:sp3d>
          </p:spPr>
          <p:txBody>
            <a:bodyPr wrap="none" anchor="ctr">
              <a:flatTx/>
            </a:bodyPr>
            <a:lstStyle/>
            <a:p>
              <a:pPr algn="ctr" eaLnBrk="1" hangingPunct="1"/>
              <a:r>
                <a:rPr lang="en-US" sz="1200">
                  <a:latin typeface="Arial Narrow" pitchFamily="34" charset="0"/>
                </a:rPr>
                <a:t>Slice X1Y1</a:t>
              </a:r>
              <a:endParaRPr lang="en-US">
                <a:latin typeface="Arial" pitchFamily="34" charset="0"/>
              </a:endParaRPr>
            </a:p>
          </p:txBody>
        </p:sp>
        <p:sp>
          <p:nvSpPr>
            <p:cNvPr id="24" name="Line 22"/>
            <p:cNvSpPr>
              <a:spLocks noChangeShapeType="1"/>
            </p:cNvSpPr>
            <p:nvPr/>
          </p:nvSpPr>
          <p:spPr bwMode="auto">
            <a:xfrm>
              <a:off x="7513956" y="4038600"/>
              <a:ext cx="45719" cy="16764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" name="Line 23"/>
            <p:cNvSpPr>
              <a:spLocks noChangeShapeType="1"/>
            </p:cNvSpPr>
            <p:nvPr/>
          </p:nvSpPr>
          <p:spPr bwMode="auto">
            <a:xfrm>
              <a:off x="7518400" y="2227263"/>
              <a:ext cx="0" cy="28098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" name="Text Box 24"/>
            <p:cNvSpPr txBox="1">
              <a:spLocks noChangeArrowheads="1"/>
            </p:cNvSpPr>
            <p:nvPr/>
          </p:nvSpPr>
          <p:spPr bwMode="auto">
            <a:xfrm>
              <a:off x="7331075" y="5715000"/>
              <a:ext cx="400050" cy="274638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sz="1200">
                  <a:latin typeface="Arial Narrow" pitchFamily="34" charset="0"/>
                </a:rPr>
                <a:t>CIN</a:t>
              </a:r>
              <a:endParaRPr lang="en-US">
                <a:latin typeface="Arial" pitchFamily="34" charset="0"/>
              </a:endParaRPr>
            </a:p>
          </p:txBody>
        </p:sp>
        <p:sp>
          <p:nvSpPr>
            <p:cNvPr id="27" name="Text Box 25"/>
            <p:cNvSpPr txBox="1">
              <a:spLocks noChangeArrowheads="1"/>
            </p:cNvSpPr>
            <p:nvPr/>
          </p:nvSpPr>
          <p:spPr bwMode="auto">
            <a:xfrm>
              <a:off x="5803900" y="3630613"/>
              <a:ext cx="671513" cy="274637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sz="1200">
                  <a:latin typeface="Arial Narrow" pitchFamily="34" charset="0"/>
                </a:rPr>
                <a:t>SHIFTIN</a:t>
              </a:r>
              <a:endParaRPr lang="en-US">
                <a:latin typeface="Arial" pitchFamily="34" charset="0"/>
              </a:endParaRPr>
            </a:p>
          </p:txBody>
        </p:sp>
        <p:sp>
          <p:nvSpPr>
            <p:cNvPr id="28" name="Line 26"/>
            <p:cNvSpPr>
              <a:spLocks noChangeShapeType="1"/>
            </p:cNvSpPr>
            <p:nvPr/>
          </p:nvSpPr>
          <p:spPr bwMode="auto">
            <a:xfrm>
              <a:off x="7689850" y="3524250"/>
              <a:ext cx="43021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" name="Line 27"/>
            <p:cNvSpPr>
              <a:spLocks noChangeShapeType="1"/>
            </p:cNvSpPr>
            <p:nvPr/>
          </p:nvSpPr>
          <p:spPr bwMode="auto">
            <a:xfrm>
              <a:off x="7689850" y="2847975"/>
              <a:ext cx="43021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" name="Line 28"/>
            <p:cNvSpPr>
              <a:spLocks noChangeShapeType="1"/>
            </p:cNvSpPr>
            <p:nvPr/>
          </p:nvSpPr>
          <p:spPr bwMode="auto">
            <a:xfrm flipH="1">
              <a:off x="7561263" y="3173413"/>
              <a:ext cx="0" cy="571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" name="Rectangle 29"/>
            <p:cNvSpPr>
              <a:spLocks noChangeArrowheads="1"/>
            </p:cNvSpPr>
            <p:nvPr/>
          </p:nvSpPr>
          <p:spPr bwMode="auto">
            <a:xfrm>
              <a:off x="5645150" y="1960563"/>
              <a:ext cx="1208088" cy="415131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prstDash val="sysDot"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" name="Rectangle 30"/>
            <p:cNvSpPr>
              <a:spLocks noChangeArrowheads="1"/>
            </p:cNvSpPr>
            <p:nvPr/>
          </p:nvSpPr>
          <p:spPr bwMode="auto">
            <a:xfrm>
              <a:off x="6969125" y="1960563"/>
              <a:ext cx="1050925" cy="4181475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prstDash val="sysDot"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" name="Text Box 31"/>
            <p:cNvSpPr txBox="1">
              <a:spLocks noChangeArrowheads="1"/>
            </p:cNvSpPr>
            <p:nvPr/>
          </p:nvSpPr>
          <p:spPr bwMode="auto">
            <a:xfrm>
              <a:off x="5489575" y="1698625"/>
              <a:ext cx="1457325" cy="304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eaLnBrk="1" hangingPunct="1"/>
              <a:r>
                <a:rPr lang="en-US" sz="1400" b="1">
                  <a:latin typeface="Arial Narrow" pitchFamily="34" charset="0"/>
                </a:rPr>
                <a:t>Left-Hand SLICEM</a:t>
              </a:r>
              <a:endParaRPr lang="en-US">
                <a:latin typeface="Arial" pitchFamily="34" charset="0"/>
              </a:endParaRPr>
            </a:p>
          </p:txBody>
        </p:sp>
        <p:sp>
          <p:nvSpPr>
            <p:cNvPr id="34" name="Text Box 32"/>
            <p:cNvSpPr txBox="1">
              <a:spLocks noChangeArrowheads="1"/>
            </p:cNvSpPr>
            <p:nvPr/>
          </p:nvSpPr>
          <p:spPr bwMode="auto">
            <a:xfrm>
              <a:off x="6927850" y="1677988"/>
              <a:ext cx="1528763" cy="304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eaLnBrk="1" hangingPunct="1"/>
              <a:r>
                <a:rPr lang="en-US" sz="1400" b="1">
                  <a:latin typeface="Arial Narrow" pitchFamily="34" charset="0"/>
                </a:rPr>
                <a:t>Right-Hand SLICEL</a:t>
              </a:r>
              <a:endParaRPr lang="en-US">
                <a:latin typeface="Arial" pitchFamily="34" charset="0"/>
              </a:endParaRPr>
            </a:p>
          </p:txBody>
        </p:sp>
        <p:sp>
          <p:nvSpPr>
            <p:cNvPr id="35" name="Line 33"/>
            <p:cNvSpPr>
              <a:spLocks noChangeShapeType="1"/>
            </p:cNvSpPr>
            <p:nvPr/>
          </p:nvSpPr>
          <p:spPr bwMode="auto">
            <a:xfrm flipH="1">
              <a:off x="6173788" y="5694362"/>
              <a:ext cx="0" cy="27463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" name="Line 34"/>
            <p:cNvSpPr>
              <a:spLocks noChangeShapeType="1"/>
            </p:cNvSpPr>
            <p:nvPr/>
          </p:nvSpPr>
          <p:spPr bwMode="auto">
            <a:xfrm>
              <a:off x="6145213" y="3862388"/>
              <a:ext cx="0" cy="28257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" name="Text Box 35"/>
            <p:cNvSpPr txBox="1">
              <a:spLocks noChangeArrowheads="1"/>
            </p:cNvSpPr>
            <p:nvPr/>
          </p:nvSpPr>
          <p:spPr bwMode="auto">
            <a:xfrm>
              <a:off x="5562600" y="5892800"/>
              <a:ext cx="809625" cy="274637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sz="1200">
                  <a:latin typeface="Arial Narrow" pitchFamily="34" charset="0"/>
                </a:rPr>
                <a:t>SHIFTOUT</a:t>
              </a:r>
              <a:endParaRPr lang="en-US">
                <a:latin typeface="Arial" pitchFamily="34" charset="0"/>
              </a:endParaRPr>
            </a:p>
          </p:txBody>
        </p:sp>
        <p:sp>
          <p:nvSpPr>
            <p:cNvPr id="38" name="Line 36"/>
            <p:cNvSpPr>
              <a:spLocks noChangeShapeType="1"/>
            </p:cNvSpPr>
            <p:nvPr/>
          </p:nvSpPr>
          <p:spPr bwMode="auto">
            <a:xfrm flipH="1">
              <a:off x="6526213" y="4856163"/>
              <a:ext cx="0" cy="571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" name="Line 37"/>
            <p:cNvSpPr>
              <a:spLocks noChangeShapeType="1"/>
            </p:cNvSpPr>
            <p:nvPr/>
          </p:nvSpPr>
          <p:spPr bwMode="auto">
            <a:xfrm flipH="1">
              <a:off x="6151563" y="4876800"/>
              <a:ext cx="0" cy="1371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90882533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dirty="0"/>
              <a:t>Making larger LUTs in Spartan CLB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0" y="1447800"/>
            <a:ext cx="2590800" cy="4343400"/>
          </a:xfrm>
        </p:spPr>
        <p:txBody>
          <a:bodyPr>
            <a:normAutofit/>
          </a:bodyPr>
          <a:lstStyle/>
          <a:p>
            <a:pPr lvl="1"/>
            <a:r>
              <a:rPr lang="en-US" dirty="0"/>
              <a:t>F5MUX : multiplexes the two LUTs in a slice</a:t>
            </a:r>
          </a:p>
          <a:p>
            <a:pPr lvl="1"/>
            <a:r>
              <a:rPr lang="en-US" dirty="0" err="1"/>
              <a:t>F</a:t>
            </a:r>
            <a:r>
              <a:rPr lang="en-US" sz="2800" i="1" baseline="-25000" dirty="0" err="1"/>
              <a:t>i</a:t>
            </a:r>
            <a:r>
              <a:rPr lang="en-US" dirty="0" err="1"/>
              <a:t>MUX</a:t>
            </a:r>
            <a:r>
              <a:rPr lang="en-US" dirty="0"/>
              <a:t> : </a:t>
            </a:r>
          </a:p>
          <a:p>
            <a:pPr lvl="1"/>
            <a:r>
              <a:rPr lang="en-US"/>
              <a:t>i=6,7,8</a:t>
            </a:r>
            <a:endParaRPr lang="en-US" dirty="0"/>
          </a:p>
          <a:p>
            <a:pPr lvl="1"/>
            <a:r>
              <a:rPr lang="en-US" dirty="0"/>
              <a:t>multiplexes the F5MUX and </a:t>
            </a:r>
            <a:r>
              <a:rPr lang="en-US" dirty="0" err="1"/>
              <a:t>FiMUX</a:t>
            </a:r>
            <a:r>
              <a:rPr lang="en-US" dirty="0"/>
              <a:t> of the same slice or other slices</a:t>
            </a:r>
          </a:p>
        </p:txBody>
      </p:sp>
      <p:sp>
        <p:nvSpPr>
          <p:cNvPr id="5" name="Rectangle 101"/>
          <p:cNvSpPr>
            <a:spLocks noChangeArrowheads="1"/>
          </p:cNvSpPr>
          <p:nvPr/>
        </p:nvSpPr>
        <p:spPr bwMode="auto">
          <a:xfrm>
            <a:off x="2603500" y="1971675"/>
            <a:ext cx="4114800" cy="413385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50000">
                <a:srgbClr val="EAEAEA"/>
              </a:gs>
              <a:gs pos="100000">
                <a:schemeClr val="bg1"/>
              </a:gs>
            </a:gsLst>
            <a:lin ang="5400000" scaled="1"/>
          </a:gradFill>
          <a:ln w="28575">
            <a:solidFill>
              <a:schemeClr val="tx1"/>
            </a:solidFill>
            <a:prstDash val="dash"/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grpSp>
        <p:nvGrpSpPr>
          <p:cNvPr id="6" name="Group 102"/>
          <p:cNvGrpSpPr>
            <a:grpSpLocks/>
          </p:cNvGrpSpPr>
          <p:nvPr/>
        </p:nvGrpSpPr>
        <p:grpSpPr bwMode="auto">
          <a:xfrm>
            <a:off x="5099050" y="2105025"/>
            <a:ext cx="1012825" cy="800100"/>
            <a:chOff x="2400" y="1056"/>
            <a:chExt cx="720" cy="576"/>
          </a:xfrm>
        </p:grpSpPr>
        <p:sp>
          <p:nvSpPr>
            <p:cNvPr id="7" name="Rectangle 103" descr="White marble"/>
            <p:cNvSpPr>
              <a:spLocks noChangeArrowheads="1"/>
            </p:cNvSpPr>
            <p:nvPr/>
          </p:nvSpPr>
          <p:spPr bwMode="auto">
            <a:xfrm>
              <a:off x="2400" y="1056"/>
              <a:ext cx="720" cy="576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 eaLnBrk="1" hangingPunct="1"/>
              <a:endParaRPr lang="en-US">
                <a:latin typeface="Arial" pitchFamily="34" charset="0"/>
              </a:endParaRPr>
            </a:p>
          </p:txBody>
        </p:sp>
        <p:sp>
          <p:nvSpPr>
            <p:cNvPr id="8" name="AutoShape 104"/>
            <p:cNvSpPr>
              <a:spLocks noChangeArrowheads="1"/>
            </p:cNvSpPr>
            <p:nvPr/>
          </p:nvSpPr>
          <p:spPr bwMode="auto">
            <a:xfrm rot="-5400000">
              <a:off x="2616" y="1368"/>
              <a:ext cx="288" cy="144"/>
            </a:xfrm>
            <a:custGeom>
              <a:avLst/>
              <a:gdLst>
                <a:gd name="T0" fmla="*/ 252 w 21600"/>
                <a:gd name="T1" fmla="*/ 72 h 21600"/>
                <a:gd name="T2" fmla="*/ 144 w 21600"/>
                <a:gd name="T3" fmla="*/ 144 h 21600"/>
                <a:gd name="T4" fmla="*/ 36 w 21600"/>
                <a:gd name="T5" fmla="*/ 72 h 21600"/>
                <a:gd name="T6" fmla="*/ 144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500 w 21600"/>
                <a:gd name="T13" fmla="*/ 4500 h 21600"/>
                <a:gd name="T14" fmla="*/ 17100 w 21600"/>
                <a:gd name="T15" fmla="*/ 171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chemeClr val="accent2"/>
            </a:solidFill>
            <a:ln w="28575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 eaLnBrk="1" hangingPunct="1"/>
              <a:r>
                <a:rPr lang="en-US" sz="1600">
                  <a:latin typeface="Arial Narrow" pitchFamily="34" charset="0"/>
                </a:rPr>
                <a:t>F5</a:t>
              </a:r>
              <a:endParaRPr lang="en-US">
                <a:latin typeface="Arial" pitchFamily="34" charset="0"/>
              </a:endParaRPr>
            </a:p>
          </p:txBody>
        </p:sp>
        <p:sp>
          <p:nvSpPr>
            <p:cNvPr id="9" name="AutoShape 105"/>
            <p:cNvSpPr>
              <a:spLocks noChangeArrowheads="1"/>
            </p:cNvSpPr>
            <p:nvPr/>
          </p:nvSpPr>
          <p:spPr bwMode="auto">
            <a:xfrm rot="-5400000">
              <a:off x="2760" y="1128"/>
              <a:ext cx="288" cy="144"/>
            </a:xfrm>
            <a:custGeom>
              <a:avLst/>
              <a:gdLst>
                <a:gd name="T0" fmla="*/ 252 w 21600"/>
                <a:gd name="T1" fmla="*/ 72 h 21600"/>
                <a:gd name="T2" fmla="*/ 144 w 21600"/>
                <a:gd name="T3" fmla="*/ 144 h 21600"/>
                <a:gd name="T4" fmla="*/ 36 w 21600"/>
                <a:gd name="T5" fmla="*/ 72 h 21600"/>
                <a:gd name="T6" fmla="*/ 144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500 w 21600"/>
                <a:gd name="T13" fmla="*/ 4500 h 21600"/>
                <a:gd name="T14" fmla="*/ 17100 w 21600"/>
                <a:gd name="T15" fmla="*/ 171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 eaLnBrk="1" hangingPunct="1"/>
              <a:r>
                <a:rPr lang="en-US" sz="1600">
                  <a:latin typeface="Arial Narrow" pitchFamily="34" charset="0"/>
                </a:rPr>
                <a:t>F8</a:t>
              </a:r>
              <a:endParaRPr lang="en-US">
                <a:latin typeface="Arial" pitchFamily="34" charset="0"/>
              </a:endParaRPr>
            </a:p>
          </p:txBody>
        </p:sp>
        <p:sp>
          <p:nvSpPr>
            <p:cNvPr id="10" name="Rectangle 106"/>
            <p:cNvSpPr>
              <a:spLocks noChangeArrowheads="1"/>
            </p:cNvSpPr>
            <p:nvPr/>
          </p:nvSpPr>
          <p:spPr bwMode="auto">
            <a:xfrm>
              <a:off x="2448" y="1248"/>
              <a:ext cx="144" cy="144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" name="Rectangle 107"/>
            <p:cNvSpPr>
              <a:spLocks noChangeArrowheads="1"/>
            </p:cNvSpPr>
            <p:nvPr/>
          </p:nvSpPr>
          <p:spPr bwMode="auto">
            <a:xfrm>
              <a:off x="2448" y="1440"/>
              <a:ext cx="144" cy="144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" name="Line 108"/>
            <p:cNvSpPr>
              <a:spLocks noChangeShapeType="1"/>
            </p:cNvSpPr>
            <p:nvPr/>
          </p:nvSpPr>
          <p:spPr bwMode="auto">
            <a:xfrm>
              <a:off x="2592" y="1344"/>
              <a:ext cx="9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" name="Line 109"/>
            <p:cNvSpPr>
              <a:spLocks noChangeShapeType="1"/>
            </p:cNvSpPr>
            <p:nvPr/>
          </p:nvSpPr>
          <p:spPr bwMode="auto">
            <a:xfrm>
              <a:off x="2592" y="1488"/>
              <a:ext cx="9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" name="Line 110"/>
            <p:cNvSpPr>
              <a:spLocks noChangeShapeType="1"/>
            </p:cNvSpPr>
            <p:nvPr/>
          </p:nvSpPr>
          <p:spPr bwMode="auto">
            <a:xfrm>
              <a:off x="2400" y="1152"/>
              <a:ext cx="43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" name="Line 111"/>
            <p:cNvSpPr>
              <a:spLocks noChangeShapeType="1"/>
            </p:cNvSpPr>
            <p:nvPr/>
          </p:nvSpPr>
          <p:spPr bwMode="auto">
            <a:xfrm>
              <a:off x="2400" y="1200"/>
              <a:ext cx="43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" name="Line 112"/>
            <p:cNvSpPr>
              <a:spLocks noChangeShapeType="1"/>
            </p:cNvSpPr>
            <p:nvPr/>
          </p:nvSpPr>
          <p:spPr bwMode="auto">
            <a:xfrm>
              <a:off x="2976" y="1200"/>
              <a:ext cx="14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" name="Line 113"/>
            <p:cNvSpPr>
              <a:spLocks noChangeShapeType="1"/>
            </p:cNvSpPr>
            <p:nvPr/>
          </p:nvSpPr>
          <p:spPr bwMode="auto">
            <a:xfrm>
              <a:off x="2832" y="1440"/>
              <a:ext cx="2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8" name="Group 114"/>
          <p:cNvGrpSpPr>
            <a:grpSpLocks/>
          </p:cNvGrpSpPr>
          <p:nvPr/>
        </p:nvGrpSpPr>
        <p:grpSpPr bwMode="auto">
          <a:xfrm>
            <a:off x="5099050" y="3038475"/>
            <a:ext cx="1012825" cy="800100"/>
            <a:chOff x="2400" y="1728"/>
            <a:chExt cx="720" cy="576"/>
          </a:xfrm>
        </p:grpSpPr>
        <p:sp>
          <p:nvSpPr>
            <p:cNvPr id="19" name="Rectangle 115" descr="White marble"/>
            <p:cNvSpPr>
              <a:spLocks noChangeArrowheads="1"/>
            </p:cNvSpPr>
            <p:nvPr/>
          </p:nvSpPr>
          <p:spPr bwMode="auto">
            <a:xfrm>
              <a:off x="2400" y="1728"/>
              <a:ext cx="720" cy="576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 eaLnBrk="1" hangingPunct="1"/>
              <a:endParaRPr lang="en-US">
                <a:latin typeface="Arial" pitchFamily="34" charset="0"/>
              </a:endParaRPr>
            </a:p>
          </p:txBody>
        </p:sp>
        <p:sp>
          <p:nvSpPr>
            <p:cNvPr id="20" name="AutoShape 116"/>
            <p:cNvSpPr>
              <a:spLocks noChangeArrowheads="1"/>
            </p:cNvSpPr>
            <p:nvPr/>
          </p:nvSpPr>
          <p:spPr bwMode="auto">
            <a:xfrm rot="-5400000">
              <a:off x="2616" y="2040"/>
              <a:ext cx="288" cy="144"/>
            </a:xfrm>
            <a:custGeom>
              <a:avLst/>
              <a:gdLst>
                <a:gd name="T0" fmla="*/ 252 w 21600"/>
                <a:gd name="T1" fmla="*/ 72 h 21600"/>
                <a:gd name="T2" fmla="*/ 144 w 21600"/>
                <a:gd name="T3" fmla="*/ 144 h 21600"/>
                <a:gd name="T4" fmla="*/ 36 w 21600"/>
                <a:gd name="T5" fmla="*/ 72 h 21600"/>
                <a:gd name="T6" fmla="*/ 144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500 w 21600"/>
                <a:gd name="T13" fmla="*/ 4500 h 21600"/>
                <a:gd name="T14" fmla="*/ 17100 w 21600"/>
                <a:gd name="T15" fmla="*/ 171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chemeClr val="accent2"/>
            </a:solidFill>
            <a:ln w="28575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 eaLnBrk="1" hangingPunct="1"/>
              <a:r>
                <a:rPr lang="en-US" sz="1600">
                  <a:latin typeface="Arial Narrow" pitchFamily="34" charset="0"/>
                </a:rPr>
                <a:t>F5</a:t>
              </a:r>
              <a:endParaRPr lang="en-US">
                <a:latin typeface="Arial" pitchFamily="34" charset="0"/>
              </a:endParaRPr>
            </a:p>
          </p:txBody>
        </p:sp>
        <p:sp>
          <p:nvSpPr>
            <p:cNvPr id="21" name="AutoShape 117"/>
            <p:cNvSpPr>
              <a:spLocks noChangeArrowheads="1"/>
            </p:cNvSpPr>
            <p:nvPr/>
          </p:nvSpPr>
          <p:spPr bwMode="auto">
            <a:xfrm rot="-5400000">
              <a:off x="2760" y="1800"/>
              <a:ext cx="288" cy="144"/>
            </a:xfrm>
            <a:custGeom>
              <a:avLst/>
              <a:gdLst>
                <a:gd name="T0" fmla="*/ 252 w 21600"/>
                <a:gd name="T1" fmla="*/ 72 h 21600"/>
                <a:gd name="T2" fmla="*/ 144 w 21600"/>
                <a:gd name="T3" fmla="*/ 144 h 21600"/>
                <a:gd name="T4" fmla="*/ 36 w 21600"/>
                <a:gd name="T5" fmla="*/ 72 h 21600"/>
                <a:gd name="T6" fmla="*/ 144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500 w 21600"/>
                <a:gd name="T13" fmla="*/ 4500 h 21600"/>
                <a:gd name="T14" fmla="*/ 17100 w 21600"/>
                <a:gd name="T15" fmla="*/ 171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CC99FF"/>
            </a:solidFill>
            <a:ln w="28575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 eaLnBrk="1" hangingPunct="1"/>
              <a:r>
                <a:rPr lang="en-US" sz="1600">
                  <a:latin typeface="Arial Narrow" pitchFamily="34" charset="0"/>
                </a:rPr>
                <a:t>F6</a:t>
              </a:r>
              <a:endParaRPr lang="en-US">
                <a:latin typeface="Arial" pitchFamily="34" charset="0"/>
              </a:endParaRPr>
            </a:p>
          </p:txBody>
        </p:sp>
        <p:sp>
          <p:nvSpPr>
            <p:cNvPr id="22" name="Rectangle 118"/>
            <p:cNvSpPr>
              <a:spLocks noChangeArrowheads="1"/>
            </p:cNvSpPr>
            <p:nvPr/>
          </p:nvSpPr>
          <p:spPr bwMode="auto">
            <a:xfrm>
              <a:off x="2448" y="1920"/>
              <a:ext cx="144" cy="144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" name="Rectangle 119"/>
            <p:cNvSpPr>
              <a:spLocks noChangeArrowheads="1"/>
            </p:cNvSpPr>
            <p:nvPr/>
          </p:nvSpPr>
          <p:spPr bwMode="auto">
            <a:xfrm>
              <a:off x="2448" y="2112"/>
              <a:ext cx="144" cy="144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" name="Line 120"/>
            <p:cNvSpPr>
              <a:spLocks noChangeShapeType="1"/>
            </p:cNvSpPr>
            <p:nvPr/>
          </p:nvSpPr>
          <p:spPr bwMode="auto">
            <a:xfrm>
              <a:off x="2592" y="2016"/>
              <a:ext cx="9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" name="Line 121"/>
            <p:cNvSpPr>
              <a:spLocks noChangeShapeType="1"/>
            </p:cNvSpPr>
            <p:nvPr/>
          </p:nvSpPr>
          <p:spPr bwMode="auto">
            <a:xfrm>
              <a:off x="2592" y="2160"/>
              <a:ext cx="9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" name="Line 122"/>
            <p:cNvSpPr>
              <a:spLocks noChangeShapeType="1"/>
            </p:cNvSpPr>
            <p:nvPr/>
          </p:nvSpPr>
          <p:spPr bwMode="auto">
            <a:xfrm>
              <a:off x="2400" y="1824"/>
              <a:ext cx="43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" name="Line 123"/>
            <p:cNvSpPr>
              <a:spLocks noChangeShapeType="1"/>
            </p:cNvSpPr>
            <p:nvPr/>
          </p:nvSpPr>
          <p:spPr bwMode="auto">
            <a:xfrm>
              <a:off x="2400" y="1872"/>
              <a:ext cx="43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" name="Line 124"/>
            <p:cNvSpPr>
              <a:spLocks noChangeShapeType="1"/>
            </p:cNvSpPr>
            <p:nvPr/>
          </p:nvSpPr>
          <p:spPr bwMode="auto">
            <a:xfrm>
              <a:off x="2976" y="1872"/>
              <a:ext cx="14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" name="Line 125"/>
            <p:cNvSpPr>
              <a:spLocks noChangeShapeType="1"/>
            </p:cNvSpPr>
            <p:nvPr/>
          </p:nvSpPr>
          <p:spPr bwMode="auto">
            <a:xfrm>
              <a:off x="2832" y="2112"/>
              <a:ext cx="2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0" name="Text Box 126"/>
          <p:cNvSpPr txBox="1">
            <a:spLocks noChangeArrowheads="1"/>
          </p:cNvSpPr>
          <p:nvPr/>
        </p:nvSpPr>
        <p:spPr bwMode="auto">
          <a:xfrm>
            <a:off x="2700337" y="2078038"/>
            <a:ext cx="568325" cy="36671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b="1">
                <a:latin typeface="Arial Narrow" pitchFamily="34" charset="0"/>
              </a:rPr>
              <a:t>CLB</a:t>
            </a:r>
            <a:endParaRPr lang="en-US">
              <a:latin typeface="Arial" pitchFamily="34" charset="0"/>
            </a:endParaRPr>
          </a:p>
        </p:txBody>
      </p:sp>
      <p:sp>
        <p:nvSpPr>
          <p:cNvPr id="31" name="Text Box 127"/>
          <p:cNvSpPr txBox="1">
            <a:spLocks noChangeArrowheads="1"/>
          </p:cNvSpPr>
          <p:nvPr/>
        </p:nvSpPr>
        <p:spPr bwMode="auto">
          <a:xfrm>
            <a:off x="3817937" y="2638425"/>
            <a:ext cx="906463" cy="3667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b="1">
                <a:latin typeface="Arial Narrow" pitchFamily="34" charset="0"/>
              </a:rPr>
              <a:t>Slice S3</a:t>
            </a:r>
            <a:endParaRPr lang="en-US">
              <a:latin typeface="Arial" pitchFamily="34" charset="0"/>
            </a:endParaRPr>
          </a:p>
        </p:txBody>
      </p:sp>
      <p:sp>
        <p:nvSpPr>
          <p:cNvPr id="32" name="Text Box 128"/>
          <p:cNvSpPr txBox="1">
            <a:spLocks noChangeArrowheads="1"/>
          </p:cNvSpPr>
          <p:nvPr/>
        </p:nvSpPr>
        <p:spPr bwMode="auto">
          <a:xfrm>
            <a:off x="3817937" y="3438525"/>
            <a:ext cx="906463" cy="3667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b="1">
                <a:latin typeface="Arial Narrow" pitchFamily="34" charset="0"/>
              </a:rPr>
              <a:t>Slice S2</a:t>
            </a:r>
            <a:endParaRPr lang="en-US">
              <a:latin typeface="Arial" pitchFamily="34" charset="0"/>
            </a:endParaRPr>
          </a:p>
        </p:txBody>
      </p:sp>
      <p:sp>
        <p:nvSpPr>
          <p:cNvPr id="33" name="Text Box 129"/>
          <p:cNvSpPr txBox="1">
            <a:spLocks noChangeArrowheads="1"/>
          </p:cNvSpPr>
          <p:nvPr/>
        </p:nvSpPr>
        <p:spPr bwMode="auto">
          <a:xfrm>
            <a:off x="2805112" y="5305425"/>
            <a:ext cx="906463" cy="3667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b="1">
                <a:latin typeface="Arial Narrow" pitchFamily="34" charset="0"/>
              </a:rPr>
              <a:t>Slice S0</a:t>
            </a:r>
            <a:endParaRPr lang="en-US">
              <a:latin typeface="Arial" pitchFamily="34" charset="0"/>
            </a:endParaRPr>
          </a:p>
        </p:txBody>
      </p:sp>
      <p:sp>
        <p:nvSpPr>
          <p:cNvPr id="34" name="Text Box 130"/>
          <p:cNvSpPr txBox="1">
            <a:spLocks noChangeArrowheads="1"/>
          </p:cNvSpPr>
          <p:nvPr/>
        </p:nvSpPr>
        <p:spPr bwMode="auto">
          <a:xfrm>
            <a:off x="2805112" y="4438650"/>
            <a:ext cx="906463" cy="3667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b="1">
                <a:latin typeface="Arial Narrow" pitchFamily="34" charset="0"/>
              </a:rPr>
              <a:t>Slice S1</a:t>
            </a:r>
            <a:endParaRPr lang="en-US">
              <a:latin typeface="Arial" pitchFamily="34" charset="0"/>
            </a:endParaRPr>
          </a:p>
        </p:txBody>
      </p:sp>
      <p:sp>
        <p:nvSpPr>
          <p:cNvPr id="35" name="Line 131"/>
          <p:cNvSpPr>
            <a:spLocks noChangeShapeType="1"/>
          </p:cNvSpPr>
          <p:nvPr/>
        </p:nvSpPr>
        <p:spPr bwMode="auto">
          <a:xfrm>
            <a:off x="6043612" y="3571875"/>
            <a:ext cx="134938" cy="0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6" name="Line 132"/>
          <p:cNvSpPr>
            <a:spLocks noChangeShapeType="1"/>
          </p:cNvSpPr>
          <p:nvPr/>
        </p:nvSpPr>
        <p:spPr bwMode="auto">
          <a:xfrm>
            <a:off x="6178550" y="3571875"/>
            <a:ext cx="0" cy="333375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7" name="Line 133"/>
          <p:cNvSpPr>
            <a:spLocks noChangeShapeType="1"/>
          </p:cNvSpPr>
          <p:nvPr/>
        </p:nvSpPr>
        <p:spPr bwMode="auto">
          <a:xfrm flipH="1">
            <a:off x="4964112" y="3905250"/>
            <a:ext cx="1214438" cy="0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8" name="Line 134"/>
          <p:cNvSpPr>
            <a:spLocks noChangeShapeType="1"/>
          </p:cNvSpPr>
          <p:nvPr/>
        </p:nvSpPr>
        <p:spPr bwMode="auto">
          <a:xfrm flipV="1">
            <a:off x="4964112" y="3238500"/>
            <a:ext cx="0" cy="666750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9" name="Line 135"/>
          <p:cNvSpPr>
            <a:spLocks noChangeShapeType="1"/>
          </p:cNvSpPr>
          <p:nvPr/>
        </p:nvSpPr>
        <p:spPr bwMode="auto">
          <a:xfrm>
            <a:off x="4964112" y="3238500"/>
            <a:ext cx="134938" cy="0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0" name="Line 136"/>
          <p:cNvSpPr>
            <a:spLocks noChangeShapeType="1"/>
          </p:cNvSpPr>
          <p:nvPr/>
        </p:nvSpPr>
        <p:spPr bwMode="auto">
          <a:xfrm>
            <a:off x="6043612" y="2638425"/>
            <a:ext cx="134938" cy="0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1" name="Line 137"/>
          <p:cNvSpPr>
            <a:spLocks noChangeShapeType="1"/>
          </p:cNvSpPr>
          <p:nvPr/>
        </p:nvSpPr>
        <p:spPr bwMode="auto">
          <a:xfrm>
            <a:off x="6178550" y="2638425"/>
            <a:ext cx="0" cy="333375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2" name="Line 138"/>
          <p:cNvSpPr>
            <a:spLocks noChangeShapeType="1"/>
          </p:cNvSpPr>
          <p:nvPr/>
        </p:nvSpPr>
        <p:spPr bwMode="auto">
          <a:xfrm flipH="1">
            <a:off x="4964112" y="2971800"/>
            <a:ext cx="1214438" cy="0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3" name="Line 139"/>
          <p:cNvSpPr>
            <a:spLocks noChangeShapeType="1"/>
          </p:cNvSpPr>
          <p:nvPr/>
        </p:nvSpPr>
        <p:spPr bwMode="auto">
          <a:xfrm>
            <a:off x="4964112" y="2971800"/>
            <a:ext cx="0" cy="200025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4" name="Line 140"/>
          <p:cNvSpPr>
            <a:spLocks noChangeShapeType="1"/>
          </p:cNvSpPr>
          <p:nvPr/>
        </p:nvSpPr>
        <p:spPr bwMode="auto">
          <a:xfrm>
            <a:off x="4964112" y="3171825"/>
            <a:ext cx="134938" cy="0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45" name="Group 141"/>
          <p:cNvGrpSpPr>
            <a:grpSpLocks/>
          </p:cNvGrpSpPr>
          <p:nvPr/>
        </p:nvGrpSpPr>
        <p:grpSpPr bwMode="auto">
          <a:xfrm>
            <a:off x="3952875" y="4171950"/>
            <a:ext cx="1011237" cy="800100"/>
            <a:chOff x="1584" y="2544"/>
            <a:chExt cx="720" cy="576"/>
          </a:xfrm>
        </p:grpSpPr>
        <p:sp>
          <p:nvSpPr>
            <p:cNvPr id="46" name="Rectangle 142" descr="White marble"/>
            <p:cNvSpPr>
              <a:spLocks noChangeArrowheads="1"/>
            </p:cNvSpPr>
            <p:nvPr/>
          </p:nvSpPr>
          <p:spPr bwMode="auto">
            <a:xfrm>
              <a:off x="1584" y="2544"/>
              <a:ext cx="720" cy="576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 eaLnBrk="1" hangingPunct="1"/>
              <a:endParaRPr lang="en-US">
                <a:latin typeface="Arial" pitchFamily="34" charset="0"/>
              </a:endParaRPr>
            </a:p>
          </p:txBody>
        </p:sp>
        <p:sp>
          <p:nvSpPr>
            <p:cNvPr id="47" name="AutoShape 143"/>
            <p:cNvSpPr>
              <a:spLocks noChangeArrowheads="1"/>
            </p:cNvSpPr>
            <p:nvPr/>
          </p:nvSpPr>
          <p:spPr bwMode="auto">
            <a:xfrm rot="-5400000">
              <a:off x="1800" y="2856"/>
              <a:ext cx="288" cy="144"/>
            </a:xfrm>
            <a:custGeom>
              <a:avLst/>
              <a:gdLst>
                <a:gd name="T0" fmla="*/ 252 w 21600"/>
                <a:gd name="T1" fmla="*/ 72 h 21600"/>
                <a:gd name="T2" fmla="*/ 144 w 21600"/>
                <a:gd name="T3" fmla="*/ 144 h 21600"/>
                <a:gd name="T4" fmla="*/ 36 w 21600"/>
                <a:gd name="T5" fmla="*/ 72 h 21600"/>
                <a:gd name="T6" fmla="*/ 144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500 w 21600"/>
                <a:gd name="T13" fmla="*/ 4500 h 21600"/>
                <a:gd name="T14" fmla="*/ 17100 w 21600"/>
                <a:gd name="T15" fmla="*/ 171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chemeClr val="accent2"/>
            </a:solidFill>
            <a:ln w="28575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 eaLnBrk="1" hangingPunct="1"/>
              <a:r>
                <a:rPr lang="en-US" sz="1600">
                  <a:latin typeface="Arial Narrow" pitchFamily="34" charset="0"/>
                </a:rPr>
                <a:t>F5</a:t>
              </a:r>
              <a:endParaRPr lang="en-US">
                <a:latin typeface="Arial" pitchFamily="34" charset="0"/>
              </a:endParaRPr>
            </a:p>
          </p:txBody>
        </p:sp>
        <p:sp>
          <p:nvSpPr>
            <p:cNvPr id="48" name="AutoShape 144"/>
            <p:cNvSpPr>
              <a:spLocks noChangeArrowheads="1"/>
            </p:cNvSpPr>
            <p:nvPr/>
          </p:nvSpPr>
          <p:spPr bwMode="auto">
            <a:xfrm rot="-5400000">
              <a:off x="1944" y="2616"/>
              <a:ext cx="288" cy="144"/>
            </a:xfrm>
            <a:custGeom>
              <a:avLst/>
              <a:gdLst>
                <a:gd name="T0" fmla="*/ 252 w 21600"/>
                <a:gd name="T1" fmla="*/ 72 h 21600"/>
                <a:gd name="T2" fmla="*/ 144 w 21600"/>
                <a:gd name="T3" fmla="*/ 144 h 21600"/>
                <a:gd name="T4" fmla="*/ 36 w 21600"/>
                <a:gd name="T5" fmla="*/ 72 h 21600"/>
                <a:gd name="T6" fmla="*/ 144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500 w 21600"/>
                <a:gd name="T13" fmla="*/ 4500 h 21600"/>
                <a:gd name="T14" fmla="*/ 17100 w 21600"/>
                <a:gd name="T15" fmla="*/ 171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FF9900"/>
            </a:solidFill>
            <a:ln w="28575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 eaLnBrk="1" hangingPunct="1"/>
              <a:r>
                <a:rPr lang="en-US" sz="1600">
                  <a:latin typeface="Arial Narrow" pitchFamily="34" charset="0"/>
                </a:rPr>
                <a:t>F7</a:t>
              </a:r>
              <a:endParaRPr lang="en-US">
                <a:latin typeface="Arial" pitchFamily="34" charset="0"/>
              </a:endParaRPr>
            </a:p>
          </p:txBody>
        </p:sp>
        <p:sp>
          <p:nvSpPr>
            <p:cNvPr id="49" name="Rectangle 145"/>
            <p:cNvSpPr>
              <a:spLocks noChangeArrowheads="1"/>
            </p:cNvSpPr>
            <p:nvPr/>
          </p:nvSpPr>
          <p:spPr bwMode="auto">
            <a:xfrm>
              <a:off x="1632" y="2736"/>
              <a:ext cx="144" cy="144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0" name="Rectangle 146"/>
            <p:cNvSpPr>
              <a:spLocks noChangeArrowheads="1"/>
            </p:cNvSpPr>
            <p:nvPr/>
          </p:nvSpPr>
          <p:spPr bwMode="auto">
            <a:xfrm>
              <a:off x="1632" y="2928"/>
              <a:ext cx="144" cy="144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" name="Line 147"/>
            <p:cNvSpPr>
              <a:spLocks noChangeShapeType="1"/>
            </p:cNvSpPr>
            <p:nvPr/>
          </p:nvSpPr>
          <p:spPr bwMode="auto">
            <a:xfrm>
              <a:off x="1776" y="2832"/>
              <a:ext cx="9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" name="Line 148"/>
            <p:cNvSpPr>
              <a:spLocks noChangeShapeType="1"/>
            </p:cNvSpPr>
            <p:nvPr/>
          </p:nvSpPr>
          <p:spPr bwMode="auto">
            <a:xfrm>
              <a:off x="1776" y="2976"/>
              <a:ext cx="9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3" name="Line 149"/>
            <p:cNvSpPr>
              <a:spLocks noChangeShapeType="1"/>
            </p:cNvSpPr>
            <p:nvPr/>
          </p:nvSpPr>
          <p:spPr bwMode="auto">
            <a:xfrm>
              <a:off x="1584" y="2640"/>
              <a:ext cx="43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" name="Line 150"/>
            <p:cNvSpPr>
              <a:spLocks noChangeShapeType="1"/>
            </p:cNvSpPr>
            <p:nvPr/>
          </p:nvSpPr>
          <p:spPr bwMode="auto">
            <a:xfrm>
              <a:off x="1584" y="2688"/>
              <a:ext cx="43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5" name="Line 151"/>
            <p:cNvSpPr>
              <a:spLocks noChangeShapeType="1"/>
            </p:cNvSpPr>
            <p:nvPr/>
          </p:nvSpPr>
          <p:spPr bwMode="auto">
            <a:xfrm>
              <a:off x="2160" y="2688"/>
              <a:ext cx="14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6" name="Line 152"/>
            <p:cNvSpPr>
              <a:spLocks noChangeShapeType="1"/>
            </p:cNvSpPr>
            <p:nvPr/>
          </p:nvSpPr>
          <p:spPr bwMode="auto">
            <a:xfrm>
              <a:off x="2016" y="2928"/>
              <a:ext cx="2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57" name="Group 153"/>
          <p:cNvGrpSpPr>
            <a:grpSpLocks/>
          </p:cNvGrpSpPr>
          <p:nvPr/>
        </p:nvGrpSpPr>
        <p:grpSpPr bwMode="auto">
          <a:xfrm>
            <a:off x="3952875" y="5105400"/>
            <a:ext cx="1011237" cy="800100"/>
            <a:chOff x="1584" y="3216"/>
            <a:chExt cx="720" cy="576"/>
          </a:xfrm>
        </p:grpSpPr>
        <p:sp>
          <p:nvSpPr>
            <p:cNvPr id="58" name="Rectangle 154" descr="White marble"/>
            <p:cNvSpPr>
              <a:spLocks noChangeArrowheads="1"/>
            </p:cNvSpPr>
            <p:nvPr/>
          </p:nvSpPr>
          <p:spPr bwMode="auto">
            <a:xfrm>
              <a:off x="1584" y="3216"/>
              <a:ext cx="720" cy="576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 eaLnBrk="1" hangingPunct="1"/>
              <a:endParaRPr lang="en-US">
                <a:latin typeface="Arial" pitchFamily="34" charset="0"/>
              </a:endParaRPr>
            </a:p>
          </p:txBody>
        </p:sp>
        <p:sp>
          <p:nvSpPr>
            <p:cNvPr id="59" name="AutoShape 155"/>
            <p:cNvSpPr>
              <a:spLocks noChangeArrowheads="1"/>
            </p:cNvSpPr>
            <p:nvPr/>
          </p:nvSpPr>
          <p:spPr bwMode="auto">
            <a:xfrm rot="-5400000">
              <a:off x="1800" y="3528"/>
              <a:ext cx="288" cy="144"/>
            </a:xfrm>
            <a:custGeom>
              <a:avLst/>
              <a:gdLst>
                <a:gd name="T0" fmla="*/ 252 w 21600"/>
                <a:gd name="T1" fmla="*/ 72 h 21600"/>
                <a:gd name="T2" fmla="*/ 144 w 21600"/>
                <a:gd name="T3" fmla="*/ 144 h 21600"/>
                <a:gd name="T4" fmla="*/ 36 w 21600"/>
                <a:gd name="T5" fmla="*/ 72 h 21600"/>
                <a:gd name="T6" fmla="*/ 144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500 w 21600"/>
                <a:gd name="T13" fmla="*/ 4500 h 21600"/>
                <a:gd name="T14" fmla="*/ 17100 w 21600"/>
                <a:gd name="T15" fmla="*/ 171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chemeClr val="accent2"/>
            </a:solidFill>
            <a:ln w="28575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 eaLnBrk="1" hangingPunct="1"/>
              <a:r>
                <a:rPr lang="en-US" sz="1600">
                  <a:latin typeface="Arial Narrow" pitchFamily="34" charset="0"/>
                </a:rPr>
                <a:t>F5</a:t>
              </a:r>
              <a:endParaRPr lang="en-US">
                <a:latin typeface="Arial" pitchFamily="34" charset="0"/>
              </a:endParaRPr>
            </a:p>
          </p:txBody>
        </p:sp>
        <p:sp>
          <p:nvSpPr>
            <p:cNvPr id="60" name="AutoShape 156"/>
            <p:cNvSpPr>
              <a:spLocks noChangeArrowheads="1"/>
            </p:cNvSpPr>
            <p:nvPr/>
          </p:nvSpPr>
          <p:spPr bwMode="auto">
            <a:xfrm rot="-5400000">
              <a:off x="1944" y="3288"/>
              <a:ext cx="288" cy="144"/>
            </a:xfrm>
            <a:custGeom>
              <a:avLst/>
              <a:gdLst>
                <a:gd name="T0" fmla="*/ 252 w 21600"/>
                <a:gd name="T1" fmla="*/ 72 h 21600"/>
                <a:gd name="T2" fmla="*/ 144 w 21600"/>
                <a:gd name="T3" fmla="*/ 144 h 21600"/>
                <a:gd name="T4" fmla="*/ 36 w 21600"/>
                <a:gd name="T5" fmla="*/ 72 h 21600"/>
                <a:gd name="T6" fmla="*/ 144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500 w 21600"/>
                <a:gd name="T13" fmla="*/ 4500 h 21600"/>
                <a:gd name="T14" fmla="*/ 17100 w 21600"/>
                <a:gd name="T15" fmla="*/ 171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CC99FF"/>
            </a:solidFill>
            <a:ln w="28575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 eaLnBrk="1" hangingPunct="1"/>
              <a:r>
                <a:rPr lang="en-US" sz="1600">
                  <a:latin typeface="Arial Narrow" pitchFamily="34" charset="0"/>
                </a:rPr>
                <a:t>F6</a:t>
              </a:r>
              <a:endParaRPr lang="en-US">
                <a:latin typeface="Arial" pitchFamily="34" charset="0"/>
              </a:endParaRPr>
            </a:p>
          </p:txBody>
        </p:sp>
        <p:sp>
          <p:nvSpPr>
            <p:cNvPr id="61" name="Rectangle 157"/>
            <p:cNvSpPr>
              <a:spLocks noChangeArrowheads="1"/>
            </p:cNvSpPr>
            <p:nvPr/>
          </p:nvSpPr>
          <p:spPr bwMode="auto">
            <a:xfrm>
              <a:off x="1632" y="3408"/>
              <a:ext cx="144" cy="144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" name="Rectangle 158"/>
            <p:cNvSpPr>
              <a:spLocks noChangeArrowheads="1"/>
            </p:cNvSpPr>
            <p:nvPr/>
          </p:nvSpPr>
          <p:spPr bwMode="auto">
            <a:xfrm>
              <a:off x="1632" y="3600"/>
              <a:ext cx="144" cy="144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3" name="Line 159"/>
            <p:cNvSpPr>
              <a:spLocks noChangeShapeType="1"/>
            </p:cNvSpPr>
            <p:nvPr/>
          </p:nvSpPr>
          <p:spPr bwMode="auto">
            <a:xfrm>
              <a:off x="1776" y="3504"/>
              <a:ext cx="9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4" name="Line 160"/>
            <p:cNvSpPr>
              <a:spLocks noChangeShapeType="1"/>
            </p:cNvSpPr>
            <p:nvPr/>
          </p:nvSpPr>
          <p:spPr bwMode="auto">
            <a:xfrm>
              <a:off x="1776" y="3648"/>
              <a:ext cx="9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5" name="Line 161"/>
            <p:cNvSpPr>
              <a:spLocks noChangeShapeType="1"/>
            </p:cNvSpPr>
            <p:nvPr/>
          </p:nvSpPr>
          <p:spPr bwMode="auto">
            <a:xfrm>
              <a:off x="1584" y="3312"/>
              <a:ext cx="43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6" name="Line 162"/>
            <p:cNvSpPr>
              <a:spLocks noChangeShapeType="1"/>
            </p:cNvSpPr>
            <p:nvPr/>
          </p:nvSpPr>
          <p:spPr bwMode="auto">
            <a:xfrm>
              <a:off x="1584" y="3360"/>
              <a:ext cx="43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7" name="Line 163"/>
            <p:cNvSpPr>
              <a:spLocks noChangeShapeType="1"/>
            </p:cNvSpPr>
            <p:nvPr/>
          </p:nvSpPr>
          <p:spPr bwMode="auto">
            <a:xfrm>
              <a:off x="2160" y="3360"/>
              <a:ext cx="14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8" name="Line 164"/>
            <p:cNvSpPr>
              <a:spLocks noChangeShapeType="1"/>
            </p:cNvSpPr>
            <p:nvPr/>
          </p:nvSpPr>
          <p:spPr bwMode="auto">
            <a:xfrm>
              <a:off x="2016" y="3600"/>
              <a:ext cx="2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69" name="Line 165"/>
          <p:cNvSpPr>
            <a:spLocks noChangeShapeType="1"/>
          </p:cNvSpPr>
          <p:nvPr/>
        </p:nvSpPr>
        <p:spPr bwMode="auto">
          <a:xfrm>
            <a:off x="4897437" y="5638800"/>
            <a:ext cx="134938" cy="0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0" name="Line 166"/>
          <p:cNvSpPr>
            <a:spLocks noChangeShapeType="1"/>
          </p:cNvSpPr>
          <p:nvPr/>
        </p:nvSpPr>
        <p:spPr bwMode="auto">
          <a:xfrm>
            <a:off x="5032375" y="5638800"/>
            <a:ext cx="0" cy="333375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1" name="Line 167"/>
          <p:cNvSpPr>
            <a:spLocks noChangeShapeType="1"/>
          </p:cNvSpPr>
          <p:nvPr/>
        </p:nvSpPr>
        <p:spPr bwMode="auto">
          <a:xfrm flipH="1">
            <a:off x="3817937" y="5972175"/>
            <a:ext cx="1214438" cy="0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2" name="Line 168"/>
          <p:cNvSpPr>
            <a:spLocks noChangeShapeType="1"/>
          </p:cNvSpPr>
          <p:nvPr/>
        </p:nvSpPr>
        <p:spPr bwMode="auto">
          <a:xfrm flipV="1">
            <a:off x="3817937" y="5305425"/>
            <a:ext cx="0" cy="666750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3" name="Line 169"/>
          <p:cNvSpPr>
            <a:spLocks noChangeShapeType="1"/>
          </p:cNvSpPr>
          <p:nvPr/>
        </p:nvSpPr>
        <p:spPr bwMode="auto">
          <a:xfrm>
            <a:off x="3817937" y="5305425"/>
            <a:ext cx="134938" cy="0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4" name="Line 170"/>
          <p:cNvSpPr>
            <a:spLocks noChangeShapeType="1"/>
          </p:cNvSpPr>
          <p:nvPr/>
        </p:nvSpPr>
        <p:spPr bwMode="auto">
          <a:xfrm>
            <a:off x="4897437" y="4705350"/>
            <a:ext cx="134938" cy="0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5" name="Line 171"/>
          <p:cNvSpPr>
            <a:spLocks noChangeShapeType="1"/>
          </p:cNvSpPr>
          <p:nvPr/>
        </p:nvSpPr>
        <p:spPr bwMode="auto">
          <a:xfrm>
            <a:off x="5032375" y="4705350"/>
            <a:ext cx="0" cy="333375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6" name="Line 172"/>
          <p:cNvSpPr>
            <a:spLocks noChangeShapeType="1"/>
          </p:cNvSpPr>
          <p:nvPr/>
        </p:nvSpPr>
        <p:spPr bwMode="auto">
          <a:xfrm flipH="1">
            <a:off x="3817937" y="5038725"/>
            <a:ext cx="1214438" cy="0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7" name="Line 173"/>
          <p:cNvSpPr>
            <a:spLocks noChangeShapeType="1"/>
          </p:cNvSpPr>
          <p:nvPr/>
        </p:nvSpPr>
        <p:spPr bwMode="auto">
          <a:xfrm>
            <a:off x="3817937" y="5038725"/>
            <a:ext cx="0" cy="200025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8" name="Line 174"/>
          <p:cNvSpPr>
            <a:spLocks noChangeShapeType="1"/>
          </p:cNvSpPr>
          <p:nvPr/>
        </p:nvSpPr>
        <p:spPr bwMode="auto">
          <a:xfrm>
            <a:off x="3817937" y="5238750"/>
            <a:ext cx="134938" cy="0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9" name="Line 175"/>
          <p:cNvSpPr>
            <a:spLocks noChangeShapeType="1"/>
          </p:cNvSpPr>
          <p:nvPr/>
        </p:nvSpPr>
        <p:spPr bwMode="auto">
          <a:xfrm>
            <a:off x="4964112" y="5305425"/>
            <a:ext cx="203200" cy="0"/>
          </a:xfrm>
          <a:prstGeom prst="line">
            <a:avLst/>
          </a:prstGeom>
          <a:noFill/>
          <a:ln w="28575">
            <a:solidFill>
              <a:srgbClr val="FF99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80" name="Line 176"/>
          <p:cNvSpPr>
            <a:spLocks noChangeShapeType="1"/>
          </p:cNvSpPr>
          <p:nvPr/>
        </p:nvSpPr>
        <p:spPr bwMode="auto">
          <a:xfrm>
            <a:off x="5167312" y="5305425"/>
            <a:ext cx="0" cy="733425"/>
          </a:xfrm>
          <a:prstGeom prst="line">
            <a:avLst/>
          </a:prstGeom>
          <a:noFill/>
          <a:ln w="28575">
            <a:solidFill>
              <a:srgbClr val="FF99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81" name="Line 177"/>
          <p:cNvSpPr>
            <a:spLocks noChangeShapeType="1"/>
          </p:cNvSpPr>
          <p:nvPr/>
        </p:nvSpPr>
        <p:spPr bwMode="auto">
          <a:xfrm flipH="1">
            <a:off x="3683000" y="6038850"/>
            <a:ext cx="1484312" cy="0"/>
          </a:xfrm>
          <a:prstGeom prst="line">
            <a:avLst/>
          </a:prstGeom>
          <a:noFill/>
          <a:ln w="28575">
            <a:solidFill>
              <a:srgbClr val="FF99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82" name="Line 178"/>
          <p:cNvSpPr>
            <a:spLocks noChangeShapeType="1"/>
          </p:cNvSpPr>
          <p:nvPr/>
        </p:nvSpPr>
        <p:spPr bwMode="auto">
          <a:xfrm flipV="1">
            <a:off x="3683000" y="4371975"/>
            <a:ext cx="0" cy="1666875"/>
          </a:xfrm>
          <a:prstGeom prst="line">
            <a:avLst/>
          </a:prstGeom>
          <a:noFill/>
          <a:ln w="28575">
            <a:solidFill>
              <a:srgbClr val="FF99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83" name="Line 179"/>
          <p:cNvSpPr>
            <a:spLocks noChangeShapeType="1"/>
          </p:cNvSpPr>
          <p:nvPr/>
        </p:nvSpPr>
        <p:spPr bwMode="auto">
          <a:xfrm>
            <a:off x="3683000" y="4371975"/>
            <a:ext cx="336550" cy="0"/>
          </a:xfrm>
          <a:prstGeom prst="line">
            <a:avLst/>
          </a:prstGeom>
          <a:noFill/>
          <a:ln w="28575">
            <a:solidFill>
              <a:srgbClr val="FF99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84" name="Line 180"/>
          <p:cNvSpPr>
            <a:spLocks noChangeShapeType="1"/>
          </p:cNvSpPr>
          <p:nvPr/>
        </p:nvSpPr>
        <p:spPr bwMode="auto">
          <a:xfrm>
            <a:off x="6043612" y="3238500"/>
            <a:ext cx="203200" cy="0"/>
          </a:xfrm>
          <a:prstGeom prst="line">
            <a:avLst/>
          </a:prstGeom>
          <a:noFill/>
          <a:ln w="28575">
            <a:solidFill>
              <a:srgbClr val="FF99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85" name="Line 181"/>
          <p:cNvSpPr>
            <a:spLocks noChangeShapeType="1"/>
          </p:cNvSpPr>
          <p:nvPr/>
        </p:nvSpPr>
        <p:spPr bwMode="auto">
          <a:xfrm>
            <a:off x="4964112" y="4371975"/>
            <a:ext cx="338138" cy="0"/>
          </a:xfrm>
          <a:prstGeom prst="line">
            <a:avLst/>
          </a:prstGeom>
          <a:noFill/>
          <a:ln w="28575">
            <a:solidFill>
              <a:srgbClr val="7B00E4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86" name="Line 183"/>
          <p:cNvSpPr>
            <a:spLocks noChangeShapeType="1"/>
          </p:cNvSpPr>
          <p:nvPr/>
        </p:nvSpPr>
        <p:spPr bwMode="auto">
          <a:xfrm flipV="1">
            <a:off x="5099050" y="4105275"/>
            <a:ext cx="0" cy="266700"/>
          </a:xfrm>
          <a:prstGeom prst="line">
            <a:avLst/>
          </a:prstGeom>
          <a:noFill/>
          <a:ln w="28575">
            <a:solidFill>
              <a:srgbClr val="7B00E4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87" name="Line 184"/>
          <p:cNvSpPr>
            <a:spLocks noChangeShapeType="1"/>
          </p:cNvSpPr>
          <p:nvPr/>
        </p:nvSpPr>
        <p:spPr bwMode="auto">
          <a:xfrm flipH="1">
            <a:off x="4694237" y="4105275"/>
            <a:ext cx="404813" cy="0"/>
          </a:xfrm>
          <a:prstGeom prst="line">
            <a:avLst/>
          </a:prstGeom>
          <a:noFill/>
          <a:ln w="28575">
            <a:solidFill>
              <a:srgbClr val="7B00E4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88" name="Line 185"/>
          <p:cNvSpPr>
            <a:spLocks noChangeShapeType="1"/>
          </p:cNvSpPr>
          <p:nvPr/>
        </p:nvSpPr>
        <p:spPr bwMode="auto">
          <a:xfrm flipV="1">
            <a:off x="4694237" y="2305050"/>
            <a:ext cx="0" cy="1800225"/>
          </a:xfrm>
          <a:prstGeom prst="line">
            <a:avLst/>
          </a:prstGeom>
          <a:noFill/>
          <a:ln w="28575">
            <a:solidFill>
              <a:srgbClr val="7B00E4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89" name="Line 186"/>
          <p:cNvSpPr>
            <a:spLocks noChangeShapeType="1"/>
          </p:cNvSpPr>
          <p:nvPr/>
        </p:nvSpPr>
        <p:spPr bwMode="auto">
          <a:xfrm>
            <a:off x="4694237" y="2305050"/>
            <a:ext cx="404813" cy="0"/>
          </a:xfrm>
          <a:prstGeom prst="line">
            <a:avLst/>
          </a:prstGeom>
          <a:noFill/>
          <a:ln w="28575">
            <a:solidFill>
              <a:srgbClr val="7B00E4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90" name="Line 187"/>
          <p:cNvSpPr>
            <a:spLocks noChangeShapeType="1"/>
          </p:cNvSpPr>
          <p:nvPr/>
        </p:nvSpPr>
        <p:spPr bwMode="auto">
          <a:xfrm>
            <a:off x="4492625" y="1905000"/>
            <a:ext cx="0" cy="333375"/>
          </a:xfrm>
          <a:prstGeom prst="line">
            <a:avLst/>
          </a:prstGeom>
          <a:noFill/>
          <a:ln w="28575">
            <a:solidFill>
              <a:srgbClr val="7B00E4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91" name="Line 188"/>
          <p:cNvSpPr>
            <a:spLocks noChangeShapeType="1"/>
          </p:cNvSpPr>
          <p:nvPr/>
        </p:nvSpPr>
        <p:spPr bwMode="auto">
          <a:xfrm>
            <a:off x="4492625" y="2238375"/>
            <a:ext cx="606425" cy="0"/>
          </a:xfrm>
          <a:prstGeom prst="line">
            <a:avLst/>
          </a:prstGeom>
          <a:noFill/>
          <a:ln w="28575">
            <a:solidFill>
              <a:srgbClr val="7B00E4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92" name="Line 189"/>
          <p:cNvSpPr>
            <a:spLocks noChangeShapeType="1"/>
          </p:cNvSpPr>
          <p:nvPr/>
        </p:nvSpPr>
        <p:spPr bwMode="auto">
          <a:xfrm>
            <a:off x="6246812" y="3238500"/>
            <a:ext cx="0" cy="733425"/>
          </a:xfrm>
          <a:prstGeom prst="line">
            <a:avLst/>
          </a:prstGeom>
          <a:noFill/>
          <a:ln w="28575">
            <a:solidFill>
              <a:srgbClr val="FF99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93" name="Line 190"/>
          <p:cNvSpPr>
            <a:spLocks noChangeShapeType="1"/>
          </p:cNvSpPr>
          <p:nvPr/>
        </p:nvSpPr>
        <p:spPr bwMode="auto">
          <a:xfrm flipH="1">
            <a:off x="3683000" y="3971925"/>
            <a:ext cx="2563812" cy="0"/>
          </a:xfrm>
          <a:prstGeom prst="line">
            <a:avLst/>
          </a:prstGeom>
          <a:noFill/>
          <a:ln w="28575">
            <a:solidFill>
              <a:srgbClr val="FF99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94" name="Line 191"/>
          <p:cNvSpPr>
            <a:spLocks noChangeShapeType="1"/>
          </p:cNvSpPr>
          <p:nvPr/>
        </p:nvSpPr>
        <p:spPr bwMode="auto">
          <a:xfrm>
            <a:off x="3683000" y="3971925"/>
            <a:ext cx="0" cy="333375"/>
          </a:xfrm>
          <a:prstGeom prst="line">
            <a:avLst/>
          </a:prstGeom>
          <a:noFill/>
          <a:ln w="28575">
            <a:solidFill>
              <a:srgbClr val="FF99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95" name="Line 192"/>
          <p:cNvSpPr>
            <a:spLocks noChangeShapeType="1"/>
          </p:cNvSpPr>
          <p:nvPr/>
        </p:nvSpPr>
        <p:spPr bwMode="auto">
          <a:xfrm>
            <a:off x="3683000" y="4305300"/>
            <a:ext cx="269875" cy="0"/>
          </a:xfrm>
          <a:prstGeom prst="line">
            <a:avLst/>
          </a:prstGeom>
          <a:noFill/>
          <a:ln w="28575">
            <a:solidFill>
              <a:srgbClr val="FF99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96" name="Text Box 193"/>
          <p:cNvSpPr txBox="1">
            <a:spLocks noChangeArrowheads="1"/>
          </p:cNvSpPr>
          <p:nvPr/>
        </p:nvSpPr>
        <p:spPr bwMode="auto">
          <a:xfrm>
            <a:off x="6326187" y="1914525"/>
            <a:ext cx="2709863" cy="944563"/>
          </a:xfrm>
          <a:prstGeom prst="rect">
            <a:avLst/>
          </a:prstGeom>
          <a:solidFill>
            <a:schemeClr val="bg1"/>
          </a:solidFill>
          <a:ln w="28575">
            <a:solidFill>
              <a:srgbClr val="7B00E4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eaLnBrk="1" hangingPunct="1"/>
            <a:r>
              <a:rPr lang="en-US">
                <a:latin typeface="Arial Narrow" pitchFamily="34" charset="0"/>
              </a:rPr>
              <a:t>MUXF8 combines the two MUXF7 outputs (from the CLB above or below)</a:t>
            </a:r>
            <a:endParaRPr lang="en-US">
              <a:latin typeface="Arial" pitchFamily="34" charset="0"/>
            </a:endParaRPr>
          </a:p>
        </p:txBody>
      </p:sp>
      <p:sp>
        <p:nvSpPr>
          <p:cNvPr id="97" name="Text Box 194"/>
          <p:cNvSpPr txBox="1">
            <a:spLocks noChangeArrowheads="1"/>
          </p:cNvSpPr>
          <p:nvPr/>
        </p:nvSpPr>
        <p:spPr bwMode="auto">
          <a:xfrm>
            <a:off x="6381750" y="2947988"/>
            <a:ext cx="2654300" cy="669925"/>
          </a:xfrm>
          <a:prstGeom prst="rect">
            <a:avLst/>
          </a:prstGeom>
          <a:solidFill>
            <a:schemeClr val="bg1"/>
          </a:solidFill>
          <a:ln w="28575">
            <a:solidFill>
              <a:srgbClr val="9933FF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eaLnBrk="1" hangingPunct="1"/>
            <a:r>
              <a:rPr lang="en-US">
                <a:latin typeface="Arial Narrow" pitchFamily="34" charset="0"/>
              </a:rPr>
              <a:t>MUXF6 combines slices S2 and S3</a:t>
            </a:r>
            <a:endParaRPr lang="en-US">
              <a:latin typeface="Arial" pitchFamily="34" charset="0"/>
            </a:endParaRPr>
          </a:p>
        </p:txBody>
      </p:sp>
      <p:sp>
        <p:nvSpPr>
          <p:cNvPr id="98" name="Text Box 195"/>
          <p:cNvSpPr txBox="1">
            <a:spLocks noChangeArrowheads="1"/>
          </p:cNvSpPr>
          <p:nvPr/>
        </p:nvSpPr>
        <p:spPr bwMode="auto">
          <a:xfrm>
            <a:off x="6386512" y="4025900"/>
            <a:ext cx="2649538" cy="669925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eaLnBrk="1" hangingPunct="1"/>
            <a:r>
              <a:rPr lang="en-US">
                <a:latin typeface="Arial Narrow" pitchFamily="34" charset="0"/>
              </a:rPr>
              <a:t>MUXF7 combines the two            MUXF6 outputs</a:t>
            </a:r>
            <a:endParaRPr lang="en-US">
              <a:latin typeface="Arial" pitchFamily="34" charset="0"/>
            </a:endParaRPr>
          </a:p>
        </p:txBody>
      </p:sp>
      <p:sp>
        <p:nvSpPr>
          <p:cNvPr id="99" name="Text Box 196"/>
          <p:cNvSpPr txBox="1">
            <a:spLocks noChangeArrowheads="1"/>
          </p:cNvSpPr>
          <p:nvPr/>
        </p:nvSpPr>
        <p:spPr bwMode="auto">
          <a:xfrm>
            <a:off x="5880100" y="5018088"/>
            <a:ext cx="3155950" cy="395287"/>
          </a:xfrm>
          <a:prstGeom prst="rect">
            <a:avLst/>
          </a:prstGeom>
          <a:solidFill>
            <a:schemeClr val="bg1"/>
          </a:solidFill>
          <a:ln w="28575">
            <a:solidFill>
              <a:srgbClr val="9933FF"/>
            </a:solidFill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>
                <a:latin typeface="Arial Narrow" pitchFamily="34" charset="0"/>
              </a:rPr>
              <a:t>MUXF6 combines slices S0 and S1</a:t>
            </a:r>
            <a:endParaRPr lang="en-US">
              <a:latin typeface="Arial" pitchFamily="34" charset="0"/>
            </a:endParaRPr>
          </a:p>
        </p:txBody>
      </p:sp>
      <p:sp>
        <p:nvSpPr>
          <p:cNvPr id="100" name="Text Box 197"/>
          <p:cNvSpPr txBox="1">
            <a:spLocks noChangeArrowheads="1"/>
          </p:cNvSpPr>
          <p:nvPr/>
        </p:nvSpPr>
        <p:spPr bwMode="auto">
          <a:xfrm>
            <a:off x="5854700" y="5553075"/>
            <a:ext cx="3289300" cy="395288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2"/>
            </a:solidFill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>
                <a:latin typeface="Arial Narrow" pitchFamily="34" charset="0"/>
              </a:rPr>
              <a:t>MUXF5 combines LUTs in each slice</a:t>
            </a:r>
            <a:endParaRPr lang="en-US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88098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28</a:t>
            </a:fld>
            <a:endParaRPr lang="en-US"/>
          </a:p>
        </p:txBody>
      </p:sp>
      <p:pic>
        <p:nvPicPr>
          <p:cNvPr id="6" name="Picture 5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435735"/>
            <a:ext cx="8589135" cy="5715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6457914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Cascading LUTs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GB" dirty="0"/>
              <a:t>Previous slide used wide multiplexers to implement large functions</a:t>
            </a:r>
          </a:p>
          <a:p>
            <a:r>
              <a:rPr lang="en-GB" dirty="0"/>
              <a:t>It can implement any function with 4, 5, 6, 7, and 8 inputs</a:t>
            </a:r>
          </a:p>
          <a:p>
            <a:r>
              <a:rPr lang="en-GB" dirty="0"/>
              <a:t>Some functions can be re-formed and implemented by cascading LUTs, rather than combining with multiplexers</a:t>
            </a:r>
          </a:p>
          <a:p>
            <a:pPr lvl="1"/>
            <a:r>
              <a:rPr lang="en-GB" dirty="0"/>
              <a:t>May use smaller  number of LUTs</a:t>
            </a:r>
          </a:p>
          <a:p>
            <a:pPr lvl="1"/>
            <a:r>
              <a:rPr lang="en-GB" dirty="0"/>
              <a:t>Not applicable always, depends on the function</a:t>
            </a:r>
          </a:p>
          <a:p>
            <a:pPr lvl="1"/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0191919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Example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600" dirty="0"/>
              <a:t>Implement the following functions on a single CLB of the XC4000 FPGA:</a:t>
            </a:r>
          </a:p>
          <a:p>
            <a:pPr lvl="2" algn="ctr" eaLnBrk="1" hangingPunct="1">
              <a:buNone/>
            </a:pPr>
            <a:r>
              <a:rPr lang="en-US" sz="2400" dirty="0"/>
              <a:t>X = A’B’ (C + D)</a:t>
            </a:r>
          </a:p>
          <a:p>
            <a:pPr lvl="2" algn="ctr" eaLnBrk="1" hangingPunct="1">
              <a:buNone/>
            </a:pPr>
            <a:r>
              <a:rPr lang="en-US" sz="2400" dirty="0"/>
              <a:t>Y = AK + BK + C’D’K + AEJL</a:t>
            </a:r>
          </a:p>
          <a:p>
            <a:pPr eaLnBrk="1" hangingPunct="1"/>
            <a:r>
              <a:rPr lang="en-US" sz="2600" dirty="0"/>
              <a:t> Use look up table F to implement X</a:t>
            </a:r>
          </a:p>
          <a:p>
            <a:pPr eaLnBrk="1" hangingPunct="1"/>
            <a:r>
              <a:rPr lang="en-US" sz="2600" dirty="0"/>
              <a:t> Use look up table G for AEJL</a:t>
            </a:r>
          </a:p>
          <a:p>
            <a:pPr eaLnBrk="1" hangingPunct="1"/>
            <a:r>
              <a:rPr lang="en-US" sz="2600" dirty="0"/>
              <a:t> Use F, G and H for Y:</a:t>
            </a:r>
          </a:p>
          <a:p>
            <a:pPr lvl="2" eaLnBrk="1" hangingPunct="1">
              <a:buNone/>
            </a:pPr>
            <a:r>
              <a:rPr lang="en-US" sz="2400" dirty="0"/>
              <a:t>Y = K(A+B + C’D’) + AEJL</a:t>
            </a:r>
          </a:p>
          <a:p>
            <a:pPr lvl="2" eaLnBrk="1" hangingPunct="1">
              <a:buNone/>
            </a:pPr>
            <a:r>
              <a:rPr lang="en-US" sz="2400" dirty="0"/>
              <a:t>= KX’ + AEJL= KF’+G</a:t>
            </a:r>
          </a:p>
          <a:p>
            <a:pPr eaLnBrk="1" hangingPunct="1"/>
            <a:endParaRPr lang="en-US" sz="2600" dirty="0"/>
          </a:p>
        </p:txBody>
      </p:sp>
      <p:sp>
        <p:nvSpPr>
          <p:cNvPr id="4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146304" y="6248400"/>
            <a:ext cx="387096" cy="38100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596633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Cascading LUTs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685800"/>
          </a:xfrm>
        </p:spPr>
        <p:txBody>
          <a:bodyPr>
            <a:normAutofit fontScale="77500" lnSpcReduction="20000"/>
          </a:bodyPr>
          <a:lstStyle/>
          <a:p>
            <a:r>
              <a:rPr lang="en-GB" dirty="0"/>
              <a:t>Example: 2 cascaded LUTS for a 7-input function. </a:t>
            </a:r>
          </a:p>
          <a:p>
            <a:r>
              <a:rPr lang="en-GB" dirty="0"/>
              <a:t>How many LUTs when using wide </a:t>
            </a:r>
            <a:r>
              <a:rPr lang="en-GB" dirty="0" err="1"/>
              <a:t>MUXes</a:t>
            </a:r>
            <a:r>
              <a:rPr lang="en-GB" dirty="0"/>
              <a:t>?</a:t>
            </a:r>
          </a:p>
        </p:txBody>
      </p:sp>
      <p:pic>
        <p:nvPicPr>
          <p:cNvPr id="1576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339" y="2352675"/>
            <a:ext cx="7572375" cy="4429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0633774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7" name="Rectangle 5"/>
          <p:cNvSpPr>
            <a:spLocks noChangeArrowheads="1"/>
          </p:cNvSpPr>
          <p:nvPr/>
        </p:nvSpPr>
        <p:spPr bwMode="auto">
          <a:xfrm>
            <a:off x="457200" y="274638"/>
            <a:ext cx="8229600" cy="563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sz="4000" dirty="0">
                <a:solidFill>
                  <a:schemeClr val="tx2"/>
                </a:solidFill>
                <a:latin typeface="+mj-lt"/>
              </a:rPr>
              <a:t>Programming a CLB</a:t>
            </a:r>
          </a:p>
        </p:txBody>
      </p:sp>
      <p:pic>
        <p:nvPicPr>
          <p:cNvPr id="9728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819400" y="6019800"/>
            <a:ext cx="371475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146304" y="6248400"/>
            <a:ext cx="387096" cy="38100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32</a:t>
            </a:fld>
            <a:endParaRPr lang="en-US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09600" y="990600"/>
            <a:ext cx="7620000" cy="4857850"/>
          </a:xfrm>
          <a:prstGeom prst="rect">
            <a:avLst/>
          </a:prstGeom>
          <a:noFill/>
          <a:ln w="9525">
            <a:solidFill>
              <a:srgbClr val="0070C0"/>
            </a:solidFill>
            <a:miter lim="800000"/>
            <a:headEnd/>
            <a:tailEnd/>
          </a:ln>
        </p:spPr>
      </p:pic>
      <p:pic>
        <p:nvPicPr>
          <p:cNvPr id="188419" name="Picture 3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33400" y="2133600"/>
            <a:ext cx="400050" cy="952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88420" name="Picture 4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571500" y="3962400"/>
            <a:ext cx="342900" cy="962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4" name="Straight Connector 13"/>
          <p:cNvCxnSpPr/>
          <p:nvPr/>
        </p:nvCxnSpPr>
        <p:spPr>
          <a:xfrm>
            <a:off x="1828800" y="2590800"/>
            <a:ext cx="304800" cy="1588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 rot="5400000">
            <a:off x="1753394" y="2971800"/>
            <a:ext cx="761206" cy="79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2133600" y="3352800"/>
            <a:ext cx="304800" cy="1588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2590800" y="3276600"/>
            <a:ext cx="152400" cy="1588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>
            <a:off x="2743200" y="3465576"/>
            <a:ext cx="304800" cy="1588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/>
        </p:nvCxnSpPr>
        <p:spPr>
          <a:xfrm rot="5400000">
            <a:off x="2629297" y="3390503"/>
            <a:ext cx="228600" cy="79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>
            <a:off x="2590800" y="3810000"/>
            <a:ext cx="457200" cy="1588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1828800" y="4495800"/>
            <a:ext cx="457200" cy="1588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/>
        </p:nvCxnSpPr>
        <p:spPr>
          <a:xfrm>
            <a:off x="2286000" y="3886200"/>
            <a:ext cx="152400" cy="1588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 rot="5400000">
            <a:off x="1981597" y="4190603"/>
            <a:ext cx="609600" cy="794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/>
          <p:cNvCxnSpPr/>
          <p:nvPr/>
        </p:nvCxnSpPr>
        <p:spPr>
          <a:xfrm>
            <a:off x="1828800" y="4495800"/>
            <a:ext cx="152400" cy="1588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/>
          <p:nvPr/>
        </p:nvCxnSpPr>
        <p:spPr>
          <a:xfrm rot="5400000">
            <a:off x="2095897" y="2323703"/>
            <a:ext cx="1600200" cy="794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762000" y="1219200"/>
            <a:ext cx="15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Arial" pitchFamily="34" charset="0"/>
                <a:cs typeface="Arial" pitchFamily="34" charset="0"/>
              </a:rPr>
              <a:t>K</a:t>
            </a:r>
            <a:endParaRPr lang="en-US" b="1" dirty="0"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51" name="Straight Connector 50"/>
          <p:cNvCxnSpPr/>
          <p:nvPr/>
        </p:nvCxnSpPr>
        <p:spPr>
          <a:xfrm>
            <a:off x="990600" y="1066800"/>
            <a:ext cx="1905000" cy="1588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/>
          <p:nvPr/>
        </p:nvCxnSpPr>
        <p:spPr>
          <a:xfrm rot="5400000">
            <a:off x="2781300" y="1181100"/>
            <a:ext cx="228600" cy="1588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/>
          <p:cNvCxnSpPr/>
          <p:nvPr/>
        </p:nvCxnSpPr>
        <p:spPr>
          <a:xfrm>
            <a:off x="2895600" y="3124200"/>
            <a:ext cx="152400" cy="1588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/>
          <p:cNvCxnSpPr/>
          <p:nvPr/>
        </p:nvCxnSpPr>
        <p:spPr>
          <a:xfrm>
            <a:off x="2286000" y="4495800"/>
            <a:ext cx="1676400" cy="1588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/>
          <p:cNvCxnSpPr/>
          <p:nvPr/>
        </p:nvCxnSpPr>
        <p:spPr>
          <a:xfrm rot="5400000">
            <a:off x="3353197" y="5105003"/>
            <a:ext cx="1219200" cy="794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/>
          <p:cNvCxnSpPr/>
          <p:nvPr/>
        </p:nvCxnSpPr>
        <p:spPr>
          <a:xfrm>
            <a:off x="3962400" y="5713412"/>
            <a:ext cx="457200" cy="1588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/>
          <p:nvPr/>
        </p:nvCxnSpPr>
        <p:spPr>
          <a:xfrm>
            <a:off x="4572000" y="5562600"/>
            <a:ext cx="3429000" cy="1588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/>
          <p:cNvCxnSpPr/>
          <p:nvPr/>
        </p:nvCxnSpPr>
        <p:spPr>
          <a:xfrm>
            <a:off x="3767328" y="3456432"/>
            <a:ext cx="609600" cy="1588"/>
          </a:xfrm>
          <a:prstGeom prst="line">
            <a:avLst/>
          </a:prstGeom>
          <a:ln w="571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/>
          <p:cNvCxnSpPr/>
          <p:nvPr/>
        </p:nvCxnSpPr>
        <p:spPr>
          <a:xfrm>
            <a:off x="4572000" y="3352800"/>
            <a:ext cx="1752600" cy="1588"/>
          </a:xfrm>
          <a:prstGeom prst="line">
            <a:avLst/>
          </a:prstGeom>
          <a:ln w="571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/>
          <p:cNvCxnSpPr/>
          <p:nvPr/>
        </p:nvCxnSpPr>
        <p:spPr>
          <a:xfrm>
            <a:off x="6324600" y="3581400"/>
            <a:ext cx="1676400" cy="1588"/>
          </a:xfrm>
          <a:prstGeom prst="line">
            <a:avLst/>
          </a:prstGeom>
          <a:ln w="571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/>
          <p:cNvCxnSpPr/>
          <p:nvPr/>
        </p:nvCxnSpPr>
        <p:spPr>
          <a:xfrm rot="5400000">
            <a:off x="6211094" y="3466306"/>
            <a:ext cx="228600" cy="1588"/>
          </a:xfrm>
          <a:prstGeom prst="line">
            <a:avLst/>
          </a:prstGeom>
          <a:ln w="571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609600" y="1143000"/>
            <a:ext cx="533400" cy="3886200"/>
          </a:xfrm>
          <a:prstGeom prst="ellipse">
            <a:avLst/>
          </a:prstGeom>
          <a:noFill/>
          <a:ln w="158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783058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LUT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addition to SRAM, LUTs and be implemented by multiplexers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33</a:t>
            </a:fld>
            <a:endParaRPr lang="en-US"/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1219200" y="2868613"/>
          <a:ext cx="6551613" cy="3379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4967834" imgH="2561620" progId="Visio.Drawing.11">
                  <p:embed/>
                </p:oleObj>
              </mc:Choice>
              <mc:Fallback>
                <p:oleObj name="Visio" r:id="rId2" imgW="4967834" imgH="2561620" progId="Visio.Drawing.11">
                  <p:embed/>
                  <p:pic>
                    <p:nvPicPr>
                      <p:cNvPr id="5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2868613"/>
                        <a:ext cx="6551613" cy="3379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>
                                <a:alpha val="50000"/>
                              </a:srgbClr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2225" cap="flat" cmpd="sng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1567422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Multiplexers as function generator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have seen it in Digital Design course</a:t>
            </a:r>
          </a:p>
          <a:p>
            <a:r>
              <a:rPr lang="en-US" dirty="0"/>
              <a:t>2</a:t>
            </a:r>
            <a:r>
              <a:rPr lang="en-US" baseline="30000" dirty="0"/>
              <a:t>n</a:t>
            </a:r>
            <a:r>
              <a:rPr lang="en-US" dirty="0"/>
              <a:t>:1 multiplexer implements any function of n variables</a:t>
            </a:r>
          </a:p>
          <a:p>
            <a:pPr lvl="1"/>
            <a:r>
              <a:rPr lang="en-US" dirty="0"/>
              <a:t>variables used as control inputs</a:t>
            </a:r>
          </a:p>
          <a:p>
            <a:pPr lvl="1"/>
            <a:r>
              <a:rPr lang="en-US" dirty="0"/>
              <a:t>Data inputs tied to 0 or 1</a:t>
            </a:r>
          </a:p>
          <a:p>
            <a:pPr lvl="1"/>
            <a:r>
              <a:rPr lang="en-US" dirty="0"/>
              <a:t>Example:</a:t>
            </a:r>
          </a:p>
          <a:p>
            <a:pPr lvl="1"/>
            <a:r>
              <a:rPr lang="en-US" dirty="0"/>
              <a:t>F(A,B,C) = m0 + m2 + m6 + m7</a:t>
            </a:r>
          </a:p>
          <a:p>
            <a:pPr lvl="1"/>
            <a:r>
              <a:rPr lang="en-US" dirty="0"/>
              <a:t>= A'B'C' + A'BC' + ABC' + ABC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FA6EA6C2-C54D-4A9E-84AE-713C9D545E3A}" type="slidenum">
              <a:rPr lang="en-US" smtClean="0"/>
              <a:pPr algn="ctr"/>
              <a:t>34</a:t>
            </a:fld>
            <a:endParaRPr lang="en-US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3215" y="2362200"/>
            <a:ext cx="2762185" cy="327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7001841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Multiplexers as function generator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2:1 mux: Z = A' I0 + A I1</a:t>
            </a:r>
          </a:p>
          <a:p>
            <a:r>
              <a:rPr lang="en-US" dirty="0"/>
              <a:t>4:1 mux: Z = A' B' I0 + A' B I1 + A B' I2 + A B I3</a:t>
            </a:r>
          </a:p>
          <a:p>
            <a:r>
              <a:rPr lang="en-US" dirty="0"/>
              <a:t>8:1 mux: Z = A'B'C'I0 + A'B'CI1 + A'BC'I2 + A'BCI3 +</a:t>
            </a:r>
          </a:p>
          <a:p>
            <a:r>
              <a:rPr lang="en-US" dirty="0"/>
              <a:t>                       AB'C'I4 + AB'CI5  + ABC'I6  + ABCI7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FA6EA6C2-C54D-4A9E-84AE-713C9D545E3A}" type="slidenum">
              <a:rPr lang="en-US" smtClean="0"/>
              <a:pPr algn="ctr"/>
              <a:t>35</a:t>
            </a:fld>
            <a:endParaRPr lang="en-US" dirty="0"/>
          </a:p>
        </p:txBody>
      </p:sp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4191000"/>
            <a:ext cx="2143125" cy="1400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4191000"/>
            <a:ext cx="1990725" cy="1647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7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3600" y="3616842"/>
            <a:ext cx="2286000" cy="28601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6271864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Multiplexers as LUTs- </a:t>
            </a:r>
            <a:r>
              <a:rPr lang="en-US" dirty="0" err="1"/>
              <a:t>extention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2</a:t>
            </a:r>
            <a:r>
              <a:rPr lang="en-US" baseline="30000" dirty="0"/>
              <a:t>n-1</a:t>
            </a:r>
            <a:r>
              <a:rPr lang="en-US" dirty="0"/>
              <a:t>:1 mux can implement any function of n variables</a:t>
            </a:r>
          </a:p>
          <a:p>
            <a:pPr lvl="1"/>
            <a:r>
              <a:rPr lang="en-US" dirty="0"/>
              <a:t>n-1 variables used as control inputs</a:t>
            </a:r>
          </a:p>
          <a:p>
            <a:pPr lvl="1"/>
            <a:r>
              <a:rPr lang="en-US" dirty="0"/>
              <a:t>data inputs tied to 0 or 1 or the last variable or its complement</a:t>
            </a:r>
          </a:p>
          <a:p>
            <a:r>
              <a:rPr lang="en-US" dirty="0"/>
              <a:t>F(A,B,C) = m0 + m2 + m6 + m7</a:t>
            </a:r>
          </a:p>
          <a:p>
            <a:pPr lvl="1"/>
            <a:r>
              <a:rPr lang="en-US" dirty="0"/>
              <a:t>= A'B'C' + A'BC' + ABC' + ABC</a:t>
            </a:r>
          </a:p>
          <a:p>
            <a:pPr lvl="1"/>
            <a:r>
              <a:rPr lang="en-US" dirty="0"/>
              <a:t>= A'B'(C') + A'B(C') + AB(1) + AB'(0)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FA6EA6C2-C54D-4A9E-84AE-713C9D545E3A}" type="slidenum">
              <a:rPr lang="en-US" smtClean="0"/>
              <a:pPr algn="ctr"/>
              <a:t>36</a:t>
            </a:fld>
            <a:endParaRPr lang="en-US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3975" y="4572000"/>
            <a:ext cx="2181225" cy="2162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4729162"/>
            <a:ext cx="2343150" cy="18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1980277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LUT-Based FPGAs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37</a:t>
            </a:fld>
            <a:endParaRPr lang="en-US"/>
          </a:p>
        </p:txBody>
      </p:sp>
      <p:pic>
        <p:nvPicPr>
          <p:cNvPr id="5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47650" y="1681163"/>
            <a:ext cx="8778700" cy="380523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74307208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MUX-based Logic Block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38</a:t>
            </a:fld>
            <a:endParaRPr lang="en-US"/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219200" y="1303338"/>
            <a:ext cx="6629400" cy="517683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12581172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Actel</a:t>
            </a:r>
            <a:r>
              <a:rPr lang="en-US" dirty="0"/>
              <a:t> ACT X Logic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39</a:t>
            </a:fld>
            <a:endParaRPr lang="en-US"/>
          </a:p>
        </p:txBody>
      </p:sp>
      <p:pic>
        <p:nvPicPr>
          <p:cNvPr id="5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600200" y="1457325"/>
            <a:ext cx="6248400" cy="505936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41737301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LUT size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dirty="0"/>
              <a:t>Large size: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More inputs</a:t>
            </a:r>
          </a:p>
          <a:p>
            <a:pPr lvl="2">
              <a:lnSpc>
                <a:spcPct val="90000"/>
              </a:lnSpc>
            </a:pPr>
            <a:r>
              <a:rPr lang="en-US" dirty="0"/>
              <a:t>more complex functions (+)</a:t>
            </a:r>
          </a:p>
          <a:p>
            <a:pPr lvl="2">
              <a:lnSpc>
                <a:spcPct val="90000"/>
              </a:lnSpc>
            </a:pPr>
            <a:r>
              <a:rPr lang="en-US" dirty="0"/>
              <a:t>doubles the number of SRAM cells (-)</a:t>
            </a:r>
          </a:p>
          <a:p>
            <a:pPr lvl="2">
              <a:lnSpc>
                <a:spcPct val="90000"/>
              </a:lnSpc>
            </a:pPr>
            <a:r>
              <a:rPr lang="en-US" dirty="0"/>
              <a:t>Not possible to completely fill each logic block</a:t>
            </a:r>
          </a:p>
          <a:p>
            <a:r>
              <a:rPr lang="en-US" dirty="0"/>
              <a:t>Small size</a:t>
            </a:r>
          </a:p>
          <a:p>
            <a:pPr lvl="1"/>
            <a:r>
              <a:rPr lang="en-US" dirty="0"/>
              <a:t>More delay due to more logic blocks for critical path</a:t>
            </a:r>
          </a:p>
          <a:p>
            <a:pPr lvl="2">
              <a:lnSpc>
                <a:spcPct val="90000"/>
              </a:lnSpc>
            </a:pPr>
            <a:endParaRPr lang="en-US" dirty="0"/>
          </a:p>
          <a:p>
            <a:pPr lvl="2">
              <a:lnSpc>
                <a:spcPct val="90000"/>
              </a:lnSpc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40</a:t>
            </a:fld>
            <a:endParaRPr lang="en-US"/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4455318"/>
            <a:ext cx="6858000" cy="20280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0473380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LUT Size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Research results indicates that a basic </a:t>
            </a:r>
            <a:r>
              <a:rPr lang="en-US" dirty="0">
                <a:solidFill>
                  <a:srgbClr val="FF3300"/>
                </a:solidFill>
              </a:rPr>
              <a:t>6-LUT</a:t>
            </a:r>
            <a:r>
              <a:rPr lang="en-US" dirty="0"/>
              <a:t> could yield a </a:t>
            </a:r>
            <a:r>
              <a:rPr lang="en-US" dirty="0">
                <a:solidFill>
                  <a:srgbClr val="FF3300"/>
                </a:solidFill>
              </a:rPr>
              <a:t>14% performance improvement</a:t>
            </a:r>
            <a:r>
              <a:rPr lang="en-US" dirty="0"/>
              <a:t> by reducing the number of levels of logic elements on the critical paths of circuits.</a:t>
            </a:r>
          </a:p>
          <a:p>
            <a:r>
              <a:rPr lang="en-US" dirty="0"/>
              <a:t>But 30% of the functions can fully exploit 6-input LUTs</a:t>
            </a:r>
          </a:p>
          <a:p>
            <a:r>
              <a:rPr lang="en-US" dirty="0"/>
              <a:t>A </a:t>
            </a:r>
            <a:r>
              <a:rPr lang="en-US" dirty="0">
                <a:solidFill>
                  <a:srgbClr val="FF3300"/>
                </a:solidFill>
              </a:rPr>
              <a:t>17% area increase</a:t>
            </a:r>
            <a:r>
              <a:rPr lang="en-US" dirty="0"/>
              <a:t> resulting from a larger LUT-mask and more inputs for the LUT.</a:t>
            </a:r>
          </a:p>
          <a:p>
            <a:r>
              <a:rPr lang="en-US" dirty="0"/>
              <a:t>Solution: Adaptive LUT size</a:t>
            </a:r>
          </a:p>
          <a:p>
            <a:pPr lvl="1"/>
            <a:r>
              <a:rPr lang="en-US" dirty="0"/>
              <a:t>Using wide multiplexers to combine LUTs </a:t>
            </a:r>
          </a:p>
          <a:p>
            <a:pPr lvl="1"/>
            <a:r>
              <a:rPr lang="en-US" dirty="0"/>
              <a:t>Divide large LUTs into smaller ones internally</a:t>
            </a:r>
          </a:p>
          <a:p>
            <a:pPr lvl="2"/>
            <a:r>
              <a:rPr lang="en-US" dirty="0"/>
              <a:t>Example: Xilinx Series-7 CLBs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52024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LUT structure 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42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GB" dirty="0"/>
              <a:t>Xilinx 7-series FPGAs</a:t>
            </a:r>
          </a:p>
          <a:p>
            <a:r>
              <a:rPr lang="en-GB" dirty="0"/>
              <a:t>Artix-7, Virtex-7,…</a:t>
            </a:r>
          </a:p>
          <a:p>
            <a:endParaRPr lang="en-GB" dirty="0"/>
          </a:p>
        </p:txBody>
      </p:sp>
      <p:pic>
        <p:nvPicPr>
          <p:cNvPr id="151556" name="Picture 4" descr="Image result for artix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2667000"/>
            <a:ext cx="6553200" cy="3686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5177604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CLB in Artix-7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43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4343400" cy="4572000"/>
          </a:xfrm>
        </p:spPr>
        <p:txBody>
          <a:bodyPr/>
          <a:lstStyle/>
          <a:p>
            <a:r>
              <a:rPr lang="en-US" dirty="0"/>
              <a:t>Each CLB has two slices</a:t>
            </a:r>
          </a:p>
          <a:p>
            <a:r>
              <a:rPr lang="en-US" dirty="0"/>
              <a:t>Slices still can be either </a:t>
            </a:r>
            <a:r>
              <a:rPr lang="en-US" dirty="0" err="1"/>
              <a:t>SliceM</a:t>
            </a:r>
            <a:r>
              <a:rPr lang="en-US" dirty="0"/>
              <a:t> and </a:t>
            </a:r>
            <a:r>
              <a:rPr lang="en-US" dirty="0" err="1"/>
              <a:t>SliceL</a:t>
            </a:r>
            <a:endParaRPr lang="en-US" dirty="0"/>
          </a:p>
          <a:p>
            <a:endParaRPr lang="en-US" dirty="0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4505325" y="3054350"/>
            <a:ext cx="3114675" cy="2681288"/>
          </a:xfrm>
          <a:prstGeom prst="rect">
            <a:avLst/>
          </a:prstGeom>
          <a:gradFill rotWithShape="1">
            <a:gsLst>
              <a:gs pos="0">
                <a:schemeClr val="tx2"/>
              </a:gs>
              <a:gs pos="50000">
                <a:schemeClr val="tx2">
                  <a:gamma/>
                  <a:tint val="63922"/>
                  <a:invGamma/>
                </a:schemeClr>
              </a:gs>
              <a:gs pos="100000">
                <a:schemeClr val="tx2"/>
              </a:gs>
            </a:gsLst>
            <a:lin ang="2700000" scaled="1"/>
          </a:gradFill>
          <a:ln w="9525" algn="ctr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>
              <a:defRPr/>
            </a:pPr>
            <a:endParaRPr lang="en-US" dirty="0"/>
          </a:p>
        </p:txBody>
      </p:sp>
      <p:pic>
        <p:nvPicPr>
          <p:cNvPr id="7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4863" y="3216275"/>
            <a:ext cx="2439987" cy="247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Freeform 7"/>
          <p:cNvSpPr>
            <a:spLocks/>
          </p:cNvSpPr>
          <p:nvPr/>
        </p:nvSpPr>
        <p:spPr bwMode="auto">
          <a:xfrm>
            <a:off x="3708400" y="3086100"/>
            <a:ext cx="782638" cy="2613025"/>
          </a:xfrm>
          <a:custGeom>
            <a:avLst/>
            <a:gdLst>
              <a:gd name="T0" fmla="*/ 0 w 192"/>
              <a:gd name="T1" fmla="*/ 2147483647 h 1968"/>
              <a:gd name="T2" fmla="*/ 2147483647 w 192"/>
              <a:gd name="T3" fmla="*/ 0 h 1968"/>
              <a:gd name="T4" fmla="*/ 2147483647 w 192"/>
              <a:gd name="T5" fmla="*/ 2147483647 h 1968"/>
              <a:gd name="T6" fmla="*/ 0 w 192"/>
              <a:gd name="T7" fmla="*/ 2147483647 h 1968"/>
              <a:gd name="T8" fmla="*/ 0 w 192"/>
              <a:gd name="T9" fmla="*/ 2147483647 h 196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92"/>
              <a:gd name="T16" fmla="*/ 0 h 1968"/>
              <a:gd name="T17" fmla="*/ 192 w 192"/>
              <a:gd name="T18" fmla="*/ 1968 h 196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92" h="1968">
                <a:moveTo>
                  <a:pt x="0" y="768"/>
                </a:moveTo>
                <a:lnTo>
                  <a:pt x="192" y="0"/>
                </a:lnTo>
                <a:lnTo>
                  <a:pt x="192" y="1968"/>
                </a:lnTo>
                <a:lnTo>
                  <a:pt x="0" y="1296"/>
                </a:lnTo>
                <a:lnTo>
                  <a:pt x="0" y="768"/>
                </a:lnTo>
                <a:close/>
              </a:path>
            </a:pathLst>
          </a:custGeom>
          <a:solidFill>
            <a:srgbClr val="FFFF99">
              <a:alpha val="50195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76197" tIns="38098" rIns="76197" bIns="38098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 rot="16200000" flipH="1">
            <a:off x="3826669" y="4102894"/>
            <a:ext cx="2300287" cy="568325"/>
          </a:xfrm>
          <a:prstGeom prst="rect">
            <a:avLst/>
          </a:prstGeom>
          <a:gradFill rotWithShape="1">
            <a:gsLst>
              <a:gs pos="0">
                <a:schemeClr val="accent2"/>
              </a:gs>
              <a:gs pos="100000">
                <a:schemeClr val="accent2">
                  <a:gamma/>
                  <a:tint val="21569"/>
                  <a:invGamma/>
                </a:schemeClr>
              </a:gs>
            </a:gsLst>
            <a:lin ang="18900000" scaled="1"/>
          </a:gradFill>
          <a:ln w="9525" algn="ctr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rot="10800000" lIns="76197" tIns="38098" rIns="76197" bIns="38098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dirty="0"/>
              <a:t>Switch</a:t>
            </a:r>
            <a:br>
              <a:rPr lang="en-US" dirty="0"/>
            </a:br>
            <a:r>
              <a:rPr lang="en-US" dirty="0"/>
              <a:t>Matrix</a:t>
            </a:r>
          </a:p>
        </p:txBody>
      </p:sp>
      <p:sp>
        <p:nvSpPr>
          <p:cNvPr id="10" name="AutoShape 1131"/>
          <p:cNvSpPr>
            <a:spLocks noChangeArrowheads="1"/>
          </p:cNvSpPr>
          <p:nvPr/>
        </p:nvSpPr>
        <p:spPr bwMode="auto">
          <a:xfrm>
            <a:off x="5265738" y="5024438"/>
            <a:ext cx="519112" cy="255587"/>
          </a:xfrm>
          <a:prstGeom prst="leftRightArrow">
            <a:avLst>
              <a:gd name="adj1" fmla="val 50000"/>
              <a:gd name="adj2" fmla="val 40621"/>
            </a:avLst>
          </a:prstGeom>
          <a:solidFill>
            <a:schemeClr val="bg1"/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rgbClr val="B2B2B2"/>
            </a:outerShdw>
          </a:effectLst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>
              <a:defRPr/>
            </a:pPr>
            <a:endParaRPr lang="en-US" dirty="0"/>
          </a:p>
        </p:txBody>
      </p:sp>
      <p:sp>
        <p:nvSpPr>
          <p:cNvPr id="11" name="Text Box 1137"/>
          <p:cNvSpPr txBox="1">
            <a:spLocks noChangeArrowheads="1"/>
          </p:cNvSpPr>
          <p:nvPr/>
        </p:nvSpPr>
        <p:spPr bwMode="auto">
          <a:xfrm>
            <a:off x="5911850" y="6103938"/>
            <a:ext cx="59213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6197" tIns="38098" rIns="76197" bIns="38098">
            <a:spAutoFit/>
          </a:bodyPr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1300"/>
              <a:t>CIN</a:t>
            </a:r>
          </a:p>
        </p:txBody>
      </p:sp>
      <p:sp>
        <p:nvSpPr>
          <p:cNvPr id="12" name="Line 1138"/>
          <p:cNvSpPr>
            <a:spLocks noChangeShapeType="1"/>
          </p:cNvSpPr>
          <p:nvPr/>
        </p:nvSpPr>
        <p:spPr bwMode="auto">
          <a:xfrm flipV="1">
            <a:off x="6218238" y="5532438"/>
            <a:ext cx="0" cy="5715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lg" len="lg"/>
          </a:ln>
          <a:effectLst>
            <a:outerShdw dist="35921" dir="2700000" algn="ctr" rotWithShape="0">
              <a:srgbClr val="B2B2B2"/>
            </a:outerShdw>
          </a:effectLst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>
              <a:defRPr/>
            </a:pPr>
            <a:endParaRPr lang="en-US" dirty="0"/>
          </a:p>
        </p:txBody>
      </p:sp>
      <p:sp>
        <p:nvSpPr>
          <p:cNvPr id="13" name="Text Box 1139"/>
          <p:cNvSpPr txBox="1">
            <a:spLocks noChangeArrowheads="1"/>
          </p:cNvSpPr>
          <p:nvPr/>
        </p:nvSpPr>
        <p:spPr bwMode="auto">
          <a:xfrm>
            <a:off x="6748463" y="6103938"/>
            <a:ext cx="592137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prstDash val="dash"/>
                <a:miter lim="800000"/>
                <a:headEnd/>
                <a:tailEnd/>
              </a14:hiddenLine>
            </a:ext>
          </a:extLst>
        </p:spPr>
        <p:txBody>
          <a:bodyPr lIns="76197" tIns="38098" rIns="76197" bIns="38098">
            <a:spAutoFit/>
          </a:bodyPr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1300"/>
              <a:t>CIN</a:t>
            </a:r>
          </a:p>
        </p:txBody>
      </p:sp>
      <p:sp>
        <p:nvSpPr>
          <p:cNvPr id="14" name="Line 1140"/>
          <p:cNvSpPr>
            <a:spLocks noChangeShapeType="1"/>
          </p:cNvSpPr>
          <p:nvPr/>
        </p:nvSpPr>
        <p:spPr bwMode="auto">
          <a:xfrm flipV="1">
            <a:off x="7054850" y="4305300"/>
            <a:ext cx="0" cy="1798638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  <a:round/>
            <a:headEnd/>
            <a:tailEnd type="triangle" w="lg" len="lg"/>
          </a:ln>
          <a:effectLst>
            <a:outerShdw dist="35921" dir="2700000" algn="ctr" rotWithShape="0">
              <a:srgbClr val="B2B2B2"/>
            </a:outerShdw>
          </a:effectLst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>
              <a:defRPr/>
            </a:pPr>
            <a:endParaRPr lang="en-US" dirty="0"/>
          </a:p>
        </p:txBody>
      </p:sp>
      <p:sp>
        <p:nvSpPr>
          <p:cNvPr id="15" name="Text Box 1141"/>
          <p:cNvSpPr txBox="1">
            <a:spLocks noChangeArrowheads="1"/>
          </p:cNvSpPr>
          <p:nvPr/>
        </p:nvSpPr>
        <p:spPr bwMode="auto">
          <a:xfrm>
            <a:off x="5891213" y="2590800"/>
            <a:ext cx="6556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6197" tIns="38098" rIns="76197" bIns="38098">
            <a:spAutoFit/>
          </a:bodyPr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1300"/>
              <a:t>COUT</a:t>
            </a:r>
          </a:p>
        </p:txBody>
      </p:sp>
      <p:sp>
        <p:nvSpPr>
          <p:cNvPr id="16" name="Line 1143"/>
          <p:cNvSpPr>
            <a:spLocks noChangeShapeType="1"/>
          </p:cNvSpPr>
          <p:nvPr/>
        </p:nvSpPr>
        <p:spPr bwMode="auto">
          <a:xfrm flipV="1">
            <a:off x="6218238" y="2844800"/>
            <a:ext cx="0" cy="18526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lg" len="lg"/>
          </a:ln>
          <a:effectLst>
            <a:outerShdw dist="35921" dir="2700000" algn="ctr" rotWithShape="0">
              <a:srgbClr val="B2B2B2"/>
            </a:outerShdw>
          </a:effectLst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>
              <a:defRPr/>
            </a:pPr>
            <a:endParaRPr lang="en-US" dirty="0"/>
          </a:p>
        </p:txBody>
      </p:sp>
      <p:sp>
        <p:nvSpPr>
          <p:cNvPr id="17" name="Text Box 1144"/>
          <p:cNvSpPr txBox="1">
            <a:spLocks noChangeArrowheads="1"/>
          </p:cNvSpPr>
          <p:nvPr/>
        </p:nvSpPr>
        <p:spPr bwMode="auto">
          <a:xfrm>
            <a:off x="6716713" y="2590800"/>
            <a:ext cx="6556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6197" tIns="38098" rIns="76197" bIns="38098">
            <a:spAutoFit/>
          </a:bodyPr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1300"/>
              <a:t>COUT</a:t>
            </a:r>
          </a:p>
        </p:txBody>
      </p:sp>
      <p:sp>
        <p:nvSpPr>
          <p:cNvPr id="18" name="Line 1145"/>
          <p:cNvSpPr>
            <a:spLocks noChangeShapeType="1"/>
          </p:cNvSpPr>
          <p:nvPr/>
        </p:nvSpPr>
        <p:spPr bwMode="auto">
          <a:xfrm flipV="1">
            <a:off x="7054850" y="2833688"/>
            <a:ext cx="0" cy="614362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  <a:round/>
            <a:headEnd/>
            <a:tailEnd type="triangle" w="lg" len="lg"/>
          </a:ln>
          <a:effectLst>
            <a:outerShdw dist="35921" dir="2700000" algn="ctr" rotWithShape="0">
              <a:srgbClr val="B2B2B2"/>
            </a:outerShdw>
          </a:effectLst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>
              <a:defRPr/>
            </a:pPr>
            <a:endParaRPr lang="en-US" dirty="0"/>
          </a:p>
        </p:txBody>
      </p:sp>
      <p:sp>
        <p:nvSpPr>
          <p:cNvPr id="19" name="AutoShape 1136"/>
          <p:cNvSpPr>
            <a:spLocks noChangeArrowheads="1"/>
          </p:cNvSpPr>
          <p:nvPr/>
        </p:nvSpPr>
        <p:spPr bwMode="auto">
          <a:xfrm>
            <a:off x="5245100" y="3786188"/>
            <a:ext cx="1397000" cy="255587"/>
          </a:xfrm>
          <a:prstGeom prst="leftRightArrow">
            <a:avLst>
              <a:gd name="adj1" fmla="val 41972"/>
              <a:gd name="adj2" fmla="val 51242"/>
            </a:avLst>
          </a:prstGeom>
          <a:solidFill>
            <a:schemeClr val="bg1"/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rgbClr val="B2B2B2"/>
            </a:outerShdw>
          </a:effectLst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>
              <a:defRPr/>
            </a:pPr>
            <a:endParaRPr lang="en-US" dirty="0"/>
          </a:p>
        </p:txBody>
      </p:sp>
      <p:pic>
        <p:nvPicPr>
          <p:cNvPr id="20" name="Picture 1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2788" y="4686300"/>
            <a:ext cx="8382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" name="Picture 2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43688" y="3451225"/>
            <a:ext cx="8382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9239918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Slice structure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44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4419600" cy="4572000"/>
          </a:xfrm>
        </p:spPr>
        <p:txBody>
          <a:bodyPr/>
          <a:lstStyle/>
          <a:p>
            <a:r>
              <a:rPr lang="en-US" dirty="0"/>
              <a:t>Each slice has four 6-input LUTs</a:t>
            </a:r>
          </a:p>
          <a:p>
            <a:endParaRPr lang="en-US" dirty="0"/>
          </a:p>
        </p:txBody>
      </p:sp>
      <p:grpSp>
        <p:nvGrpSpPr>
          <p:cNvPr id="282" name="Group 281"/>
          <p:cNvGrpSpPr/>
          <p:nvPr/>
        </p:nvGrpSpPr>
        <p:grpSpPr>
          <a:xfrm>
            <a:off x="-4287411" y="2426892"/>
            <a:ext cx="8574821" cy="4164012"/>
            <a:chOff x="-4625983" y="1891919"/>
            <a:chExt cx="9051072" cy="4627562"/>
          </a:xfrm>
        </p:grpSpPr>
        <p:sp>
          <p:nvSpPr>
            <p:cNvPr id="7" name="Rectangle 6"/>
            <p:cNvSpPr>
              <a:spLocks noChangeArrowheads="1"/>
            </p:cNvSpPr>
            <p:nvPr/>
          </p:nvSpPr>
          <p:spPr bwMode="ltGray">
            <a:xfrm>
              <a:off x="654776" y="1891919"/>
              <a:ext cx="3770313" cy="4540250"/>
            </a:xfrm>
            <a:prstGeom prst="rect">
              <a:avLst/>
            </a:prstGeom>
            <a:gradFill rotWithShape="0">
              <a:gsLst>
                <a:gs pos="0">
                  <a:srgbClr val="0000CC"/>
                </a:gs>
                <a:gs pos="50000">
                  <a:srgbClr val="5C8EFB"/>
                </a:gs>
                <a:gs pos="100000">
                  <a:srgbClr val="0000CC"/>
                </a:gs>
              </a:gsLst>
              <a:lin ang="2700000" scaled="1"/>
            </a:gradFill>
            <a:ln w="28575">
              <a:solidFill>
                <a:schemeClr val="bg1"/>
              </a:solidFill>
              <a:miter lim="800000"/>
              <a:headEnd/>
              <a:tailEnd/>
            </a:ln>
            <a:effectLst>
              <a:outerShdw dist="17961" dir="2700000" algn="ctr" rotWithShape="0">
                <a:schemeClr val="tx1"/>
              </a:outerShdw>
            </a:effectLst>
          </p:spPr>
          <p:txBody>
            <a:bodyPr wrap="none" lIns="91425" tIns="45713" rIns="91425" bIns="45713" anchor="ctr"/>
            <a:lstStyle>
              <a:defPPr>
                <a:defRPr lang="en-US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endParaRPr lang="en-US" sz="2400" noProof="1">
                <a:latin typeface="Times New Roman" pitchFamily="18" charset="0"/>
              </a:endParaRPr>
            </a:p>
          </p:txBody>
        </p:sp>
        <p:sp>
          <p:nvSpPr>
            <p:cNvPr id="8" name="Line 29"/>
            <p:cNvSpPr>
              <a:spLocks noChangeShapeType="1"/>
            </p:cNvSpPr>
            <p:nvPr/>
          </p:nvSpPr>
          <p:spPr bwMode="auto">
            <a:xfrm>
              <a:off x="1875564" y="2788856"/>
              <a:ext cx="1360487" cy="0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9" name="Line 30"/>
            <p:cNvSpPr>
              <a:spLocks noChangeShapeType="1"/>
            </p:cNvSpPr>
            <p:nvPr/>
          </p:nvSpPr>
          <p:spPr bwMode="auto">
            <a:xfrm>
              <a:off x="2053364" y="2833306"/>
              <a:ext cx="1169987" cy="0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0" name="AutoShape 41"/>
            <p:cNvSpPr>
              <a:spLocks noChangeArrowheads="1"/>
            </p:cNvSpPr>
            <p:nvPr/>
          </p:nvSpPr>
          <p:spPr bwMode="auto">
            <a:xfrm>
              <a:off x="2739164" y="2045906"/>
              <a:ext cx="71437" cy="60325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1270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>
              <a:defPPr>
                <a:defRPr lang="en-US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1" name="Line 46"/>
            <p:cNvSpPr>
              <a:spLocks noChangeShapeType="1"/>
            </p:cNvSpPr>
            <p:nvPr/>
          </p:nvSpPr>
          <p:spPr bwMode="auto">
            <a:xfrm>
              <a:off x="2775676" y="2679319"/>
              <a:ext cx="0" cy="692150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2" name="Line 71"/>
            <p:cNvSpPr>
              <a:spLocks noChangeShapeType="1"/>
            </p:cNvSpPr>
            <p:nvPr/>
          </p:nvSpPr>
          <p:spPr bwMode="auto">
            <a:xfrm flipV="1">
              <a:off x="2051776" y="3723894"/>
              <a:ext cx="1169988" cy="4762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3" name="Line 72"/>
            <p:cNvSpPr>
              <a:spLocks noChangeShapeType="1"/>
            </p:cNvSpPr>
            <p:nvPr/>
          </p:nvSpPr>
          <p:spPr bwMode="auto">
            <a:xfrm flipV="1">
              <a:off x="2048601" y="3769931"/>
              <a:ext cx="1184275" cy="3175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4" name="Line 87"/>
            <p:cNvSpPr>
              <a:spLocks noChangeShapeType="1"/>
            </p:cNvSpPr>
            <p:nvPr/>
          </p:nvSpPr>
          <p:spPr bwMode="auto">
            <a:xfrm>
              <a:off x="2766151" y="3615944"/>
              <a:ext cx="0" cy="690562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5" name="AutoShape 190"/>
            <p:cNvSpPr>
              <a:spLocks noChangeArrowheads="1"/>
            </p:cNvSpPr>
            <p:nvPr/>
          </p:nvSpPr>
          <p:spPr bwMode="auto">
            <a:xfrm rot="5400000" flipV="1">
              <a:off x="2111308" y="3300825"/>
              <a:ext cx="217487" cy="53975"/>
            </a:xfrm>
            <a:custGeom>
              <a:avLst/>
              <a:gdLst>
                <a:gd name="T0" fmla="*/ 2147483647 w 21600"/>
                <a:gd name="T1" fmla="*/ 2147483647 h 21600"/>
                <a:gd name="T2" fmla="*/ 2147483647 w 21600"/>
                <a:gd name="T3" fmla="*/ 2147483647 h 21600"/>
                <a:gd name="T4" fmla="*/ 2147483647 w 21600"/>
                <a:gd name="T5" fmla="*/ 2147483647 h 21600"/>
                <a:gd name="T6" fmla="*/ 2147483647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3188 w 21600"/>
                <a:gd name="T13" fmla="*/ 3188 h 21600"/>
                <a:gd name="T14" fmla="*/ 18412 w 21600"/>
                <a:gd name="T15" fmla="*/ 18412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2776" y="21600"/>
                  </a:lnTo>
                  <a:lnTo>
                    <a:pt x="18824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chemeClr val="accent1"/>
            </a:solidFill>
            <a:ln w="12700">
              <a:solidFill>
                <a:schemeClr val="bg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defPPr>
                <a:defRPr lang="en-US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6" name="Line 193"/>
            <p:cNvSpPr>
              <a:spLocks noChangeShapeType="1"/>
            </p:cNvSpPr>
            <p:nvPr/>
          </p:nvSpPr>
          <p:spPr bwMode="auto">
            <a:xfrm>
              <a:off x="2215289" y="3425444"/>
              <a:ext cx="0" cy="512762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7" name="Line 194"/>
            <p:cNvSpPr>
              <a:spLocks noChangeShapeType="1"/>
            </p:cNvSpPr>
            <p:nvPr/>
          </p:nvSpPr>
          <p:spPr bwMode="auto">
            <a:xfrm flipH="1">
              <a:off x="804001" y="3576256"/>
              <a:ext cx="1417638" cy="0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8" name="Line 198"/>
            <p:cNvSpPr>
              <a:spLocks noChangeShapeType="1"/>
            </p:cNvSpPr>
            <p:nvPr/>
          </p:nvSpPr>
          <p:spPr bwMode="auto">
            <a:xfrm>
              <a:off x="2099401" y="3380994"/>
              <a:ext cx="4763" cy="354012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9" name="Line 199"/>
            <p:cNvSpPr>
              <a:spLocks noChangeShapeType="1"/>
            </p:cNvSpPr>
            <p:nvPr/>
          </p:nvSpPr>
          <p:spPr bwMode="auto">
            <a:xfrm flipH="1">
              <a:off x="2096226" y="3379406"/>
              <a:ext cx="95250" cy="3175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20" name="Line 200"/>
            <p:cNvSpPr>
              <a:spLocks noChangeShapeType="1"/>
            </p:cNvSpPr>
            <p:nvPr/>
          </p:nvSpPr>
          <p:spPr bwMode="auto">
            <a:xfrm flipH="1">
              <a:off x="2096226" y="3292094"/>
              <a:ext cx="95250" cy="0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21" name="Line 201"/>
            <p:cNvSpPr>
              <a:spLocks noChangeShapeType="1"/>
            </p:cNvSpPr>
            <p:nvPr/>
          </p:nvSpPr>
          <p:spPr bwMode="auto">
            <a:xfrm>
              <a:off x="2099401" y="2787269"/>
              <a:ext cx="4763" cy="501650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22" name="Line 256"/>
            <p:cNvSpPr>
              <a:spLocks noChangeShapeType="1"/>
            </p:cNvSpPr>
            <p:nvPr/>
          </p:nvSpPr>
          <p:spPr bwMode="auto">
            <a:xfrm flipV="1">
              <a:off x="2210526" y="3928681"/>
              <a:ext cx="1008063" cy="6350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23" name="AutoShape 61"/>
            <p:cNvSpPr>
              <a:spLocks noChangeArrowheads="1"/>
            </p:cNvSpPr>
            <p:nvPr/>
          </p:nvSpPr>
          <p:spPr bwMode="auto">
            <a:xfrm rot="16200000">
              <a:off x="3110639" y="3325431"/>
              <a:ext cx="311150" cy="85725"/>
            </a:xfrm>
            <a:custGeom>
              <a:avLst/>
              <a:gdLst>
                <a:gd name="T0" fmla="*/ 2147483647 w 21600"/>
                <a:gd name="T1" fmla="*/ 2147483647 h 21600"/>
                <a:gd name="T2" fmla="*/ 2147483647 w 21600"/>
                <a:gd name="T3" fmla="*/ 2147483647 h 21600"/>
                <a:gd name="T4" fmla="*/ 2147483647 w 21600"/>
                <a:gd name="T5" fmla="*/ 2147483647 h 21600"/>
                <a:gd name="T6" fmla="*/ 2147483647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3188 w 21600"/>
                <a:gd name="T13" fmla="*/ 3188 h 21600"/>
                <a:gd name="T14" fmla="*/ 18412 w 21600"/>
                <a:gd name="T15" fmla="*/ 18412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2776" y="21600"/>
                  </a:lnTo>
                  <a:lnTo>
                    <a:pt x="18824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chemeClr val="accent1"/>
            </a:solidFill>
            <a:ln w="12700">
              <a:solidFill>
                <a:schemeClr val="bg1"/>
              </a:solidFill>
              <a:miter lim="800000"/>
              <a:headEnd/>
              <a:tailEnd/>
            </a:ln>
          </p:spPr>
          <p:txBody>
            <a:bodyPr vert="eaVert" wrap="none" lIns="76197" tIns="38098" rIns="76197" bIns="38098" anchor="ctr"/>
            <a:lstStyle>
              <a:defPPr>
                <a:defRPr lang="en-US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24" name="Line 62"/>
            <p:cNvSpPr>
              <a:spLocks noChangeShapeType="1"/>
            </p:cNvSpPr>
            <p:nvPr/>
          </p:nvSpPr>
          <p:spPr bwMode="auto">
            <a:xfrm>
              <a:off x="3309076" y="3368294"/>
              <a:ext cx="762000" cy="0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25" name="AutoShape 63"/>
            <p:cNvSpPr>
              <a:spLocks noChangeArrowheads="1"/>
            </p:cNvSpPr>
            <p:nvPr/>
          </p:nvSpPr>
          <p:spPr bwMode="auto">
            <a:xfrm rot="5400000">
              <a:off x="4049645" y="3332575"/>
              <a:ext cx="60325" cy="71437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1270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>
              <a:defPPr>
                <a:defRPr lang="en-US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26" name="Freeform 25"/>
            <p:cNvSpPr>
              <a:spLocks/>
            </p:cNvSpPr>
            <p:nvPr/>
          </p:nvSpPr>
          <p:spPr bwMode="auto">
            <a:xfrm>
              <a:off x="3072539" y="3382581"/>
              <a:ext cx="161925" cy="430213"/>
            </a:xfrm>
            <a:custGeom>
              <a:avLst/>
              <a:gdLst>
                <a:gd name="T0" fmla="*/ 2147483647 w 36"/>
                <a:gd name="T1" fmla="*/ 2147483647 h 219"/>
                <a:gd name="T2" fmla="*/ 0 w 36"/>
                <a:gd name="T3" fmla="*/ 2147483647 h 219"/>
                <a:gd name="T4" fmla="*/ 0 w 36"/>
                <a:gd name="T5" fmla="*/ 0 h 219"/>
                <a:gd name="T6" fmla="*/ 2147483647 w 36"/>
                <a:gd name="T7" fmla="*/ 0 h 21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6"/>
                <a:gd name="T13" fmla="*/ 0 h 219"/>
                <a:gd name="T14" fmla="*/ 36 w 36"/>
                <a:gd name="T15" fmla="*/ 219 h 21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6" h="219">
                  <a:moveTo>
                    <a:pt x="36" y="219"/>
                  </a:moveTo>
                  <a:lnTo>
                    <a:pt x="0" y="219"/>
                  </a:lnTo>
                  <a:lnTo>
                    <a:pt x="0" y="0"/>
                  </a:lnTo>
                  <a:lnTo>
                    <a:pt x="33" y="0"/>
                  </a:lnTo>
                </a:path>
              </a:pathLst>
            </a:custGeom>
            <a:noFill/>
            <a:ln w="1270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27" name="AutoShape 79"/>
            <p:cNvSpPr>
              <a:spLocks noChangeArrowheads="1"/>
            </p:cNvSpPr>
            <p:nvPr/>
          </p:nvSpPr>
          <p:spPr bwMode="auto">
            <a:xfrm flipV="1">
              <a:off x="2689951" y="3561969"/>
              <a:ext cx="104775" cy="52387"/>
            </a:xfrm>
            <a:custGeom>
              <a:avLst/>
              <a:gdLst>
                <a:gd name="T0" fmla="*/ 2147483647 w 21600"/>
                <a:gd name="T1" fmla="*/ 2147483647 h 21600"/>
                <a:gd name="T2" fmla="*/ 2147483647 w 21600"/>
                <a:gd name="T3" fmla="*/ 2147483647 h 21600"/>
                <a:gd name="T4" fmla="*/ 2147483647 w 21600"/>
                <a:gd name="T5" fmla="*/ 2147483647 h 21600"/>
                <a:gd name="T6" fmla="*/ 2147483647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3188 w 21600"/>
                <a:gd name="T13" fmla="*/ 3188 h 21600"/>
                <a:gd name="T14" fmla="*/ 18412 w 21600"/>
                <a:gd name="T15" fmla="*/ 18412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2776" y="21600"/>
                  </a:lnTo>
                  <a:lnTo>
                    <a:pt x="18824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chemeClr val="accent1"/>
            </a:solidFill>
            <a:ln w="12700">
              <a:solidFill>
                <a:schemeClr val="bg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defPPr>
                <a:defRPr lang="en-US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28" name="AutoShape 80"/>
            <p:cNvSpPr>
              <a:spLocks noChangeArrowheads="1"/>
            </p:cNvSpPr>
            <p:nvPr/>
          </p:nvSpPr>
          <p:spPr bwMode="auto">
            <a:xfrm flipV="1">
              <a:off x="2731226" y="3449256"/>
              <a:ext cx="103188" cy="52388"/>
            </a:xfrm>
            <a:custGeom>
              <a:avLst/>
              <a:gdLst>
                <a:gd name="T0" fmla="*/ 2147483647 w 21600"/>
                <a:gd name="T1" fmla="*/ 2147483647 h 21600"/>
                <a:gd name="T2" fmla="*/ 2147483647 w 21600"/>
                <a:gd name="T3" fmla="*/ 2147483647 h 21600"/>
                <a:gd name="T4" fmla="*/ 2147483647 w 21600"/>
                <a:gd name="T5" fmla="*/ 2147483647 h 21600"/>
                <a:gd name="T6" fmla="*/ 2147483647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3188 w 21600"/>
                <a:gd name="T13" fmla="*/ 3188 h 21600"/>
                <a:gd name="T14" fmla="*/ 18412 w 21600"/>
                <a:gd name="T15" fmla="*/ 18412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2776" y="21600"/>
                  </a:lnTo>
                  <a:lnTo>
                    <a:pt x="18824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chemeClr val="accent1"/>
            </a:solidFill>
            <a:ln w="12700">
              <a:solidFill>
                <a:schemeClr val="bg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defPPr>
                <a:defRPr lang="en-US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29" name="Line 81"/>
            <p:cNvSpPr>
              <a:spLocks noChangeShapeType="1"/>
            </p:cNvSpPr>
            <p:nvPr/>
          </p:nvSpPr>
          <p:spPr bwMode="auto">
            <a:xfrm flipV="1">
              <a:off x="2743926" y="3503231"/>
              <a:ext cx="0" cy="55563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30" name="Line 82"/>
            <p:cNvSpPr>
              <a:spLocks noChangeShapeType="1"/>
            </p:cNvSpPr>
            <p:nvPr/>
          </p:nvSpPr>
          <p:spPr bwMode="auto">
            <a:xfrm flipV="1">
              <a:off x="2721701" y="3615944"/>
              <a:ext cx="0" cy="155575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31" name="Line 83"/>
            <p:cNvSpPr>
              <a:spLocks noChangeShapeType="1"/>
            </p:cNvSpPr>
            <p:nvPr/>
          </p:nvSpPr>
          <p:spPr bwMode="auto">
            <a:xfrm flipV="1">
              <a:off x="2775676" y="3201606"/>
              <a:ext cx="0" cy="244475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32" name="Line 84"/>
            <p:cNvSpPr>
              <a:spLocks noChangeShapeType="1"/>
            </p:cNvSpPr>
            <p:nvPr/>
          </p:nvSpPr>
          <p:spPr bwMode="auto">
            <a:xfrm flipH="1">
              <a:off x="2770914" y="3295269"/>
              <a:ext cx="444500" cy="0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33" name="AutoShape 85"/>
            <p:cNvSpPr>
              <a:spLocks noChangeArrowheads="1"/>
            </p:cNvSpPr>
            <p:nvPr/>
          </p:nvSpPr>
          <p:spPr bwMode="auto">
            <a:xfrm flipH="1">
              <a:off x="2834414" y="3528631"/>
              <a:ext cx="95250" cy="69850"/>
            </a:xfrm>
            <a:prstGeom prst="flowChartOnlineStorage">
              <a:avLst/>
            </a:prstGeom>
            <a:solidFill>
              <a:schemeClr val="accent1"/>
            </a:solidFill>
            <a:ln w="1270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>
              <a:defPPr>
                <a:defRPr lang="en-US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34" name="Line 86"/>
            <p:cNvSpPr>
              <a:spLocks noChangeShapeType="1"/>
            </p:cNvSpPr>
            <p:nvPr/>
          </p:nvSpPr>
          <p:spPr bwMode="auto">
            <a:xfrm>
              <a:off x="2934426" y="3561969"/>
              <a:ext cx="136525" cy="0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35" name="Line 197"/>
            <p:cNvSpPr>
              <a:spLocks noChangeShapeType="1"/>
            </p:cNvSpPr>
            <p:nvPr/>
          </p:nvSpPr>
          <p:spPr bwMode="auto">
            <a:xfrm flipV="1">
              <a:off x="2245451" y="3334956"/>
              <a:ext cx="990600" cy="6350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grpSp>
          <p:nvGrpSpPr>
            <p:cNvPr id="36" name="Group 35"/>
            <p:cNvGrpSpPr>
              <a:grpSpLocks/>
            </p:cNvGrpSpPr>
            <p:nvPr/>
          </p:nvGrpSpPr>
          <p:grpSpPr bwMode="auto">
            <a:xfrm>
              <a:off x="-4618045" y="3469894"/>
              <a:ext cx="47" cy="257175"/>
              <a:chOff x="5481" y="2519"/>
              <a:chExt cx="47" cy="194"/>
            </a:xfrm>
          </p:grpSpPr>
          <p:sp>
            <p:nvSpPr>
              <p:cNvPr id="280" name="Line 250"/>
              <p:cNvSpPr>
                <a:spLocks noChangeShapeType="1"/>
              </p:cNvSpPr>
              <p:nvPr/>
            </p:nvSpPr>
            <p:spPr bwMode="auto">
              <a:xfrm flipV="1">
                <a:off x="5485" y="2520"/>
                <a:ext cx="0" cy="193"/>
              </a:xfrm>
              <a:prstGeom prst="line">
                <a:avLst/>
              </a:prstGeom>
              <a:noFill/>
              <a:ln w="1270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>
                <a:defPPr>
                  <a:defRPr lang="en-US"/>
                </a:defPPr>
                <a:lvl1pPr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1pPr>
                <a:lvl2pPr marL="4572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2pPr>
                <a:lvl3pPr marL="9144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3pPr>
                <a:lvl4pPr marL="13716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4pPr>
                <a:lvl5pPr marL="18288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281" name="Line 251"/>
              <p:cNvSpPr>
                <a:spLocks noChangeShapeType="1"/>
              </p:cNvSpPr>
              <p:nvPr/>
            </p:nvSpPr>
            <p:spPr bwMode="auto">
              <a:xfrm rot="16200000" flipV="1">
                <a:off x="5505" y="2495"/>
                <a:ext cx="0" cy="47"/>
              </a:xfrm>
              <a:prstGeom prst="line">
                <a:avLst/>
              </a:prstGeom>
              <a:noFill/>
              <a:ln w="1270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>
                <a:defPPr>
                  <a:defRPr lang="en-US"/>
                </a:defPPr>
                <a:lvl1pPr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1pPr>
                <a:lvl2pPr marL="4572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2pPr>
                <a:lvl3pPr marL="9144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3pPr>
                <a:lvl4pPr marL="13716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4pPr>
                <a:lvl5pPr marL="18288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</p:grpSp>
        <p:sp>
          <p:nvSpPr>
            <p:cNvPr id="37" name="Line 259"/>
            <p:cNvSpPr>
              <a:spLocks noChangeShapeType="1"/>
            </p:cNvSpPr>
            <p:nvPr/>
          </p:nvSpPr>
          <p:spPr bwMode="auto">
            <a:xfrm flipV="1">
              <a:off x="3113814" y="3427031"/>
              <a:ext cx="0" cy="347663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38" name="Line 260"/>
            <p:cNvSpPr>
              <a:spLocks noChangeShapeType="1"/>
            </p:cNvSpPr>
            <p:nvPr/>
          </p:nvSpPr>
          <p:spPr bwMode="auto">
            <a:xfrm rot="16200000" flipV="1">
              <a:off x="3166201" y="3371469"/>
              <a:ext cx="0" cy="114300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39" name="Line 261"/>
            <p:cNvSpPr>
              <a:spLocks noChangeShapeType="1"/>
            </p:cNvSpPr>
            <p:nvPr/>
          </p:nvSpPr>
          <p:spPr bwMode="auto">
            <a:xfrm>
              <a:off x="3155089" y="3593719"/>
              <a:ext cx="915987" cy="0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40" name="AutoShape 262"/>
            <p:cNvSpPr>
              <a:spLocks noChangeArrowheads="1"/>
            </p:cNvSpPr>
            <p:nvPr/>
          </p:nvSpPr>
          <p:spPr bwMode="auto">
            <a:xfrm rot="5400000">
              <a:off x="4049645" y="3558000"/>
              <a:ext cx="60325" cy="71437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1270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>
              <a:defPPr>
                <a:defRPr lang="en-US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41" name="Rectangle 40"/>
            <p:cNvSpPr>
              <a:spLocks noChangeArrowheads="1"/>
            </p:cNvSpPr>
            <p:nvPr/>
          </p:nvSpPr>
          <p:spPr bwMode="auto">
            <a:xfrm>
              <a:off x="3620226" y="3728656"/>
              <a:ext cx="214313" cy="236538"/>
            </a:xfrm>
            <a:prstGeom prst="rect">
              <a:avLst/>
            </a:prstGeom>
            <a:gradFill rotWithShape="1">
              <a:gsLst>
                <a:gs pos="0">
                  <a:srgbClr val="FFFFCC"/>
                </a:gs>
                <a:gs pos="100000">
                  <a:srgbClr val="76765E"/>
                </a:gs>
              </a:gsLst>
              <a:lin ang="2700000" scaled="1"/>
            </a:gradFill>
            <a:ln w="12700">
              <a:solidFill>
                <a:schemeClr val="bg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defPPr>
                <a:defRPr lang="en-US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42" name="AutoShape 66"/>
            <p:cNvSpPr>
              <a:spLocks noChangeArrowheads="1"/>
            </p:cNvSpPr>
            <p:nvPr/>
          </p:nvSpPr>
          <p:spPr bwMode="auto">
            <a:xfrm rot="5400000">
              <a:off x="3617051" y="3903281"/>
              <a:ext cx="60325" cy="53975"/>
            </a:xfrm>
            <a:prstGeom prst="triangle">
              <a:avLst>
                <a:gd name="adj" fmla="val 50000"/>
              </a:avLst>
            </a:prstGeom>
            <a:noFill/>
            <a:ln w="12700">
              <a:solidFill>
                <a:schemeClr val="bg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defPPr>
                <a:defRPr lang="en-US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43" name="AutoShape 67"/>
            <p:cNvSpPr>
              <a:spLocks noChangeArrowheads="1"/>
            </p:cNvSpPr>
            <p:nvPr/>
          </p:nvSpPr>
          <p:spPr bwMode="auto">
            <a:xfrm rot="16200000">
              <a:off x="3109845" y="3780250"/>
              <a:ext cx="312737" cy="85725"/>
            </a:xfrm>
            <a:custGeom>
              <a:avLst/>
              <a:gdLst>
                <a:gd name="T0" fmla="*/ 2147483647 w 21600"/>
                <a:gd name="T1" fmla="*/ 2147483647 h 21600"/>
                <a:gd name="T2" fmla="*/ 2147483647 w 21600"/>
                <a:gd name="T3" fmla="*/ 2147483647 h 21600"/>
                <a:gd name="T4" fmla="*/ 2147483647 w 21600"/>
                <a:gd name="T5" fmla="*/ 2147483647 h 21600"/>
                <a:gd name="T6" fmla="*/ 2147483647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3188 w 21600"/>
                <a:gd name="T13" fmla="*/ 3188 h 21600"/>
                <a:gd name="T14" fmla="*/ 18412 w 21600"/>
                <a:gd name="T15" fmla="*/ 18412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2776" y="21600"/>
                  </a:lnTo>
                  <a:lnTo>
                    <a:pt x="18824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chemeClr val="accent1"/>
            </a:solidFill>
            <a:ln w="1270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>
              <a:defPPr>
                <a:defRPr lang="en-US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44" name="Line 68"/>
            <p:cNvSpPr>
              <a:spLocks noChangeShapeType="1"/>
            </p:cNvSpPr>
            <p:nvPr/>
          </p:nvSpPr>
          <p:spPr bwMode="auto">
            <a:xfrm>
              <a:off x="3312251" y="3817556"/>
              <a:ext cx="303213" cy="0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45" name="Line 69"/>
            <p:cNvSpPr>
              <a:spLocks noChangeShapeType="1"/>
            </p:cNvSpPr>
            <p:nvPr/>
          </p:nvSpPr>
          <p:spPr bwMode="auto">
            <a:xfrm>
              <a:off x="3837714" y="3817556"/>
              <a:ext cx="238125" cy="0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46" name="AutoShape 70"/>
            <p:cNvSpPr>
              <a:spLocks noChangeArrowheads="1"/>
            </p:cNvSpPr>
            <p:nvPr/>
          </p:nvSpPr>
          <p:spPr bwMode="auto">
            <a:xfrm rot="5400000">
              <a:off x="4054407" y="3778663"/>
              <a:ext cx="60325" cy="71438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1270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>
              <a:defPPr>
                <a:defRPr lang="en-US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47" name="Line 263"/>
            <p:cNvSpPr>
              <a:spLocks noChangeShapeType="1"/>
            </p:cNvSpPr>
            <p:nvPr/>
          </p:nvSpPr>
          <p:spPr bwMode="auto">
            <a:xfrm>
              <a:off x="3029676" y="3852481"/>
              <a:ext cx="192088" cy="0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48" name="Line 264"/>
            <p:cNvSpPr>
              <a:spLocks noChangeShapeType="1"/>
            </p:cNvSpPr>
            <p:nvPr/>
          </p:nvSpPr>
          <p:spPr bwMode="auto">
            <a:xfrm flipV="1">
              <a:off x="3034439" y="3293681"/>
              <a:ext cx="0" cy="555625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49" name="Line 265"/>
            <p:cNvSpPr>
              <a:spLocks noChangeShapeType="1"/>
            </p:cNvSpPr>
            <p:nvPr/>
          </p:nvSpPr>
          <p:spPr bwMode="auto">
            <a:xfrm flipV="1">
              <a:off x="2997926" y="3336544"/>
              <a:ext cx="0" cy="554037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50" name="Line 266"/>
            <p:cNvSpPr>
              <a:spLocks noChangeShapeType="1"/>
            </p:cNvSpPr>
            <p:nvPr/>
          </p:nvSpPr>
          <p:spPr bwMode="auto">
            <a:xfrm>
              <a:off x="2994751" y="3887406"/>
              <a:ext cx="231775" cy="0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51" name="AutoShape 267"/>
            <p:cNvSpPr>
              <a:spLocks noChangeArrowheads="1"/>
            </p:cNvSpPr>
            <p:nvPr/>
          </p:nvSpPr>
          <p:spPr bwMode="auto">
            <a:xfrm rot="5400000" flipV="1">
              <a:off x="2563745" y="3081750"/>
              <a:ext cx="149225" cy="52387"/>
            </a:xfrm>
            <a:custGeom>
              <a:avLst/>
              <a:gdLst>
                <a:gd name="T0" fmla="*/ 2147483647 w 21600"/>
                <a:gd name="T1" fmla="*/ 2147483647 h 21600"/>
                <a:gd name="T2" fmla="*/ 2147483647 w 21600"/>
                <a:gd name="T3" fmla="*/ 2147483647 h 21600"/>
                <a:gd name="T4" fmla="*/ 2147483647 w 21600"/>
                <a:gd name="T5" fmla="*/ 2147483647 h 21600"/>
                <a:gd name="T6" fmla="*/ 2147483647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5050 w 21600"/>
                <a:gd name="T13" fmla="*/ 5050 h 21600"/>
                <a:gd name="T14" fmla="*/ 16550 w 21600"/>
                <a:gd name="T15" fmla="*/ 1655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6499" y="21600"/>
                  </a:lnTo>
                  <a:lnTo>
                    <a:pt x="15101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chemeClr val="accent1"/>
            </a:solidFill>
            <a:ln w="12700" cap="rnd">
              <a:solidFill>
                <a:schemeClr val="bg1"/>
              </a:solidFill>
              <a:prstDash val="sysDot"/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defPPr>
                <a:defRPr lang="en-US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52" name="Line 268"/>
            <p:cNvSpPr>
              <a:spLocks noChangeShapeType="1"/>
            </p:cNvSpPr>
            <p:nvPr/>
          </p:nvSpPr>
          <p:spPr bwMode="auto">
            <a:xfrm flipV="1">
              <a:off x="2512151" y="3068256"/>
              <a:ext cx="0" cy="698500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53" name="Line 269"/>
            <p:cNvSpPr>
              <a:spLocks noChangeShapeType="1"/>
            </p:cNvSpPr>
            <p:nvPr/>
          </p:nvSpPr>
          <p:spPr bwMode="auto">
            <a:xfrm flipV="1">
              <a:off x="2543901" y="3158744"/>
              <a:ext cx="0" cy="774700"/>
            </a:xfrm>
            <a:prstGeom prst="line">
              <a:avLst/>
            </a:prstGeom>
            <a:no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54" name="Line 270"/>
            <p:cNvSpPr>
              <a:spLocks noChangeShapeType="1"/>
            </p:cNvSpPr>
            <p:nvPr/>
          </p:nvSpPr>
          <p:spPr bwMode="auto">
            <a:xfrm rot="16200000" flipV="1">
              <a:off x="2558983" y="3023012"/>
              <a:ext cx="0" cy="96837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55" name="Line 271"/>
            <p:cNvSpPr>
              <a:spLocks noChangeShapeType="1"/>
            </p:cNvSpPr>
            <p:nvPr/>
          </p:nvSpPr>
          <p:spPr bwMode="auto">
            <a:xfrm rot="16200000" flipV="1">
              <a:off x="2579620" y="3116675"/>
              <a:ext cx="0" cy="77788"/>
            </a:xfrm>
            <a:prstGeom prst="line">
              <a:avLst/>
            </a:prstGeom>
            <a:no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56" name="Line 274"/>
            <p:cNvSpPr>
              <a:spLocks noChangeShapeType="1"/>
            </p:cNvSpPr>
            <p:nvPr/>
          </p:nvSpPr>
          <p:spPr bwMode="auto">
            <a:xfrm rot="16200000" flipV="1">
              <a:off x="2918551" y="2847594"/>
              <a:ext cx="0" cy="514350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57" name="Line 276"/>
            <p:cNvSpPr>
              <a:spLocks noChangeShapeType="1"/>
            </p:cNvSpPr>
            <p:nvPr/>
          </p:nvSpPr>
          <p:spPr bwMode="auto">
            <a:xfrm rot="16200000" flipV="1">
              <a:off x="3195570" y="3218275"/>
              <a:ext cx="0" cy="55562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58" name="Line 277"/>
            <p:cNvSpPr>
              <a:spLocks noChangeShapeType="1"/>
            </p:cNvSpPr>
            <p:nvPr/>
          </p:nvSpPr>
          <p:spPr bwMode="auto">
            <a:xfrm flipV="1">
              <a:off x="3170964" y="3107944"/>
              <a:ext cx="0" cy="134937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grpSp>
          <p:nvGrpSpPr>
            <p:cNvPr id="59" name="Group 58"/>
            <p:cNvGrpSpPr>
              <a:grpSpLocks/>
            </p:cNvGrpSpPr>
            <p:nvPr/>
          </p:nvGrpSpPr>
          <p:grpSpPr bwMode="auto">
            <a:xfrm>
              <a:off x="2967764" y="3060319"/>
              <a:ext cx="150812" cy="182562"/>
              <a:chOff x="5234" y="2189"/>
              <a:chExt cx="114" cy="138"/>
            </a:xfrm>
          </p:grpSpPr>
          <p:sp>
            <p:nvSpPr>
              <p:cNvPr id="278" name="Rectangle 277"/>
              <p:cNvSpPr>
                <a:spLocks noChangeArrowheads="1"/>
              </p:cNvSpPr>
              <p:nvPr/>
            </p:nvSpPr>
            <p:spPr bwMode="auto">
              <a:xfrm>
                <a:off x="5234" y="2189"/>
                <a:ext cx="114" cy="138"/>
              </a:xfrm>
              <a:prstGeom prst="rect">
                <a:avLst/>
              </a:prstGeom>
              <a:gradFill rotWithShape="1">
                <a:gsLst>
                  <a:gs pos="0">
                    <a:srgbClr val="FFFFCC"/>
                  </a:gs>
                  <a:gs pos="100000">
                    <a:srgbClr val="76765E"/>
                  </a:gs>
                </a:gsLst>
                <a:lin ang="2700000" scaled="1"/>
              </a:gradFill>
              <a:ln w="12700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>
                <a:defPPr>
                  <a:defRPr lang="en-US"/>
                </a:defPPr>
                <a:lvl1pPr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1pPr>
                <a:lvl2pPr marL="4572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2pPr>
                <a:lvl3pPr marL="9144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3pPr>
                <a:lvl4pPr marL="13716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4pPr>
                <a:lvl5pPr marL="18288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279" name="AutoShape 273"/>
              <p:cNvSpPr>
                <a:spLocks noChangeArrowheads="1"/>
              </p:cNvSpPr>
              <p:nvPr/>
            </p:nvSpPr>
            <p:spPr bwMode="auto">
              <a:xfrm rot="5400000">
                <a:off x="5229" y="2292"/>
                <a:ext cx="39" cy="27"/>
              </a:xfrm>
              <a:prstGeom prst="triangle">
                <a:avLst>
                  <a:gd name="adj" fmla="val 50000"/>
                </a:avLst>
              </a:prstGeom>
              <a:noFill/>
              <a:ln w="12700">
                <a:solidFill>
                  <a:schemeClr val="bg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>
                <a:defPPr>
                  <a:defRPr lang="en-US"/>
                </a:defPPr>
                <a:lvl1pPr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1pPr>
                <a:lvl2pPr marL="4572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2pPr>
                <a:lvl3pPr marL="9144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3pPr>
                <a:lvl4pPr marL="13716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4pPr>
                <a:lvl5pPr marL="18288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</p:grpSp>
        <p:sp>
          <p:nvSpPr>
            <p:cNvPr id="60" name="AutoShape 281"/>
            <p:cNvSpPr>
              <a:spLocks noChangeArrowheads="1"/>
            </p:cNvSpPr>
            <p:nvPr/>
          </p:nvSpPr>
          <p:spPr bwMode="auto">
            <a:xfrm rot="16200000">
              <a:off x="3109845" y="2386425"/>
              <a:ext cx="312737" cy="85725"/>
            </a:xfrm>
            <a:custGeom>
              <a:avLst/>
              <a:gdLst>
                <a:gd name="T0" fmla="*/ 2147483647 w 21600"/>
                <a:gd name="T1" fmla="*/ 2147483647 h 21600"/>
                <a:gd name="T2" fmla="*/ 2147483647 w 21600"/>
                <a:gd name="T3" fmla="*/ 2147483647 h 21600"/>
                <a:gd name="T4" fmla="*/ 2147483647 w 21600"/>
                <a:gd name="T5" fmla="*/ 2147483647 h 21600"/>
                <a:gd name="T6" fmla="*/ 2147483647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3188 w 21600"/>
                <a:gd name="T13" fmla="*/ 3188 h 21600"/>
                <a:gd name="T14" fmla="*/ 18412 w 21600"/>
                <a:gd name="T15" fmla="*/ 18412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2776" y="21600"/>
                  </a:lnTo>
                  <a:lnTo>
                    <a:pt x="18824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chemeClr val="accent1"/>
            </a:solidFill>
            <a:ln w="12700">
              <a:solidFill>
                <a:schemeClr val="bg1"/>
              </a:solidFill>
              <a:miter lim="800000"/>
              <a:headEnd/>
              <a:tailEnd/>
            </a:ln>
          </p:spPr>
          <p:txBody>
            <a:bodyPr vert="eaVert" wrap="none" lIns="76197" tIns="38098" rIns="76197" bIns="38098" anchor="ctr"/>
            <a:lstStyle>
              <a:defPPr>
                <a:defRPr lang="en-US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61" name="Line 282"/>
            <p:cNvSpPr>
              <a:spLocks noChangeShapeType="1"/>
            </p:cNvSpPr>
            <p:nvPr/>
          </p:nvSpPr>
          <p:spPr bwMode="auto">
            <a:xfrm>
              <a:off x="3309076" y="2428494"/>
              <a:ext cx="762000" cy="0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62" name="AutoShape 283"/>
            <p:cNvSpPr>
              <a:spLocks noChangeArrowheads="1"/>
            </p:cNvSpPr>
            <p:nvPr/>
          </p:nvSpPr>
          <p:spPr bwMode="auto">
            <a:xfrm rot="5400000">
              <a:off x="4048851" y="2393569"/>
              <a:ext cx="61913" cy="71437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1270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>
              <a:defPPr>
                <a:defRPr lang="en-US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63" name="Freeform 62"/>
            <p:cNvSpPr>
              <a:spLocks/>
            </p:cNvSpPr>
            <p:nvPr/>
          </p:nvSpPr>
          <p:spPr bwMode="auto">
            <a:xfrm>
              <a:off x="3072539" y="2444369"/>
              <a:ext cx="161925" cy="428625"/>
            </a:xfrm>
            <a:custGeom>
              <a:avLst/>
              <a:gdLst>
                <a:gd name="T0" fmla="*/ 2147483647 w 36"/>
                <a:gd name="T1" fmla="*/ 2147483647 h 219"/>
                <a:gd name="T2" fmla="*/ 0 w 36"/>
                <a:gd name="T3" fmla="*/ 2147483647 h 219"/>
                <a:gd name="T4" fmla="*/ 0 w 36"/>
                <a:gd name="T5" fmla="*/ 0 h 219"/>
                <a:gd name="T6" fmla="*/ 2147483647 w 36"/>
                <a:gd name="T7" fmla="*/ 0 h 21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6"/>
                <a:gd name="T13" fmla="*/ 0 h 219"/>
                <a:gd name="T14" fmla="*/ 36 w 36"/>
                <a:gd name="T15" fmla="*/ 219 h 21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6" h="219">
                  <a:moveTo>
                    <a:pt x="36" y="219"/>
                  </a:moveTo>
                  <a:lnTo>
                    <a:pt x="0" y="219"/>
                  </a:lnTo>
                  <a:lnTo>
                    <a:pt x="0" y="0"/>
                  </a:lnTo>
                  <a:lnTo>
                    <a:pt x="33" y="0"/>
                  </a:lnTo>
                </a:path>
              </a:pathLst>
            </a:custGeom>
            <a:noFill/>
            <a:ln w="1270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64" name="AutoShape 285"/>
            <p:cNvSpPr>
              <a:spLocks noChangeArrowheads="1"/>
            </p:cNvSpPr>
            <p:nvPr/>
          </p:nvSpPr>
          <p:spPr bwMode="auto">
            <a:xfrm flipV="1">
              <a:off x="2689951" y="2622169"/>
              <a:ext cx="104775" cy="52387"/>
            </a:xfrm>
            <a:custGeom>
              <a:avLst/>
              <a:gdLst>
                <a:gd name="T0" fmla="*/ 2147483647 w 21600"/>
                <a:gd name="T1" fmla="*/ 2147483647 h 21600"/>
                <a:gd name="T2" fmla="*/ 2147483647 w 21600"/>
                <a:gd name="T3" fmla="*/ 2147483647 h 21600"/>
                <a:gd name="T4" fmla="*/ 2147483647 w 21600"/>
                <a:gd name="T5" fmla="*/ 2147483647 h 21600"/>
                <a:gd name="T6" fmla="*/ 2147483647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3188 w 21600"/>
                <a:gd name="T13" fmla="*/ 3188 h 21600"/>
                <a:gd name="T14" fmla="*/ 18412 w 21600"/>
                <a:gd name="T15" fmla="*/ 18412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2776" y="21600"/>
                  </a:lnTo>
                  <a:lnTo>
                    <a:pt x="18824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chemeClr val="accent1"/>
            </a:solidFill>
            <a:ln w="12700">
              <a:solidFill>
                <a:schemeClr val="bg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defPPr>
                <a:defRPr lang="en-US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65" name="AutoShape 286"/>
            <p:cNvSpPr>
              <a:spLocks noChangeArrowheads="1"/>
            </p:cNvSpPr>
            <p:nvPr/>
          </p:nvSpPr>
          <p:spPr bwMode="auto">
            <a:xfrm flipV="1">
              <a:off x="2731226" y="2509456"/>
              <a:ext cx="103188" cy="53975"/>
            </a:xfrm>
            <a:custGeom>
              <a:avLst/>
              <a:gdLst>
                <a:gd name="T0" fmla="*/ 2147483647 w 21600"/>
                <a:gd name="T1" fmla="*/ 2147483647 h 21600"/>
                <a:gd name="T2" fmla="*/ 2147483647 w 21600"/>
                <a:gd name="T3" fmla="*/ 2147483647 h 21600"/>
                <a:gd name="T4" fmla="*/ 2147483647 w 21600"/>
                <a:gd name="T5" fmla="*/ 2147483647 h 21600"/>
                <a:gd name="T6" fmla="*/ 2147483647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3188 w 21600"/>
                <a:gd name="T13" fmla="*/ 3188 h 21600"/>
                <a:gd name="T14" fmla="*/ 18412 w 21600"/>
                <a:gd name="T15" fmla="*/ 18412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2776" y="21600"/>
                  </a:lnTo>
                  <a:lnTo>
                    <a:pt x="18824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chemeClr val="accent1"/>
            </a:solidFill>
            <a:ln w="12700">
              <a:solidFill>
                <a:schemeClr val="bg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defPPr>
                <a:defRPr lang="en-US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66" name="Line 287"/>
            <p:cNvSpPr>
              <a:spLocks noChangeShapeType="1"/>
            </p:cNvSpPr>
            <p:nvPr/>
          </p:nvSpPr>
          <p:spPr bwMode="auto">
            <a:xfrm flipV="1">
              <a:off x="2743926" y="2563431"/>
              <a:ext cx="0" cy="55563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67" name="Line 288"/>
            <p:cNvSpPr>
              <a:spLocks noChangeShapeType="1"/>
            </p:cNvSpPr>
            <p:nvPr/>
          </p:nvSpPr>
          <p:spPr bwMode="auto">
            <a:xfrm flipV="1">
              <a:off x="2721701" y="2676144"/>
              <a:ext cx="0" cy="157162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68" name="Line 289"/>
            <p:cNvSpPr>
              <a:spLocks noChangeShapeType="1"/>
            </p:cNvSpPr>
            <p:nvPr/>
          </p:nvSpPr>
          <p:spPr bwMode="auto">
            <a:xfrm flipV="1">
              <a:off x="2775676" y="2103056"/>
              <a:ext cx="0" cy="404813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69" name="Line 290"/>
            <p:cNvSpPr>
              <a:spLocks noChangeShapeType="1"/>
            </p:cNvSpPr>
            <p:nvPr/>
          </p:nvSpPr>
          <p:spPr bwMode="auto">
            <a:xfrm flipH="1">
              <a:off x="2770914" y="2357056"/>
              <a:ext cx="444500" cy="0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70" name="AutoShape 291"/>
            <p:cNvSpPr>
              <a:spLocks noChangeArrowheads="1"/>
            </p:cNvSpPr>
            <p:nvPr/>
          </p:nvSpPr>
          <p:spPr bwMode="auto">
            <a:xfrm flipH="1">
              <a:off x="2834414" y="2588831"/>
              <a:ext cx="95250" cy="69850"/>
            </a:xfrm>
            <a:prstGeom prst="flowChartOnlineStorage">
              <a:avLst/>
            </a:prstGeom>
            <a:solidFill>
              <a:schemeClr val="accent1"/>
            </a:solidFill>
            <a:ln w="1270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>
              <a:defPPr>
                <a:defRPr lang="en-US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71" name="Line 292"/>
            <p:cNvSpPr>
              <a:spLocks noChangeShapeType="1"/>
            </p:cNvSpPr>
            <p:nvPr/>
          </p:nvSpPr>
          <p:spPr bwMode="auto">
            <a:xfrm>
              <a:off x="2934426" y="2622169"/>
              <a:ext cx="136525" cy="0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grpSp>
          <p:nvGrpSpPr>
            <p:cNvPr id="72" name="Group 71"/>
            <p:cNvGrpSpPr>
              <a:grpSpLocks/>
            </p:cNvGrpSpPr>
            <p:nvPr/>
          </p:nvGrpSpPr>
          <p:grpSpPr bwMode="auto">
            <a:xfrm>
              <a:off x="-4618045" y="2531681"/>
              <a:ext cx="47" cy="255588"/>
              <a:chOff x="5481" y="2519"/>
              <a:chExt cx="47" cy="194"/>
            </a:xfrm>
          </p:grpSpPr>
          <p:sp>
            <p:nvSpPr>
              <p:cNvPr id="276" name="Line 295"/>
              <p:cNvSpPr>
                <a:spLocks noChangeShapeType="1"/>
              </p:cNvSpPr>
              <p:nvPr/>
            </p:nvSpPr>
            <p:spPr bwMode="auto">
              <a:xfrm flipV="1">
                <a:off x="5485" y="2520"/>
                <a:ext cx="0" cy="193"/>
              </a:xfrm>
              <a:prstGeom prst="line">
                <a:avLst/>
              </a:prstGeom>
              <a:noFill/>
              <a:ln w="1270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>
                <a:defPPr>
                  <a:defRPr lang="en-US"/>
                </a:defPPr>
                <a:lvl1pPr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1pPr>
                <a:lvl2pPr marL="4572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2pPr>
                <a:lvl3pPr marL="9144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3pPr>
                <a:lvl4pPr marL="13716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4pPr>
                <a:lvl5pPr marL="18288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277" name="Line 296"/>
              <p:cNvSpPr>
                <a:spLocks noChangeShapeType="1"/>
              </p:cNvSpPr>
              <p:nvPr/>
            </p:nvSpPr>
            <p:spPr bwMode="auto">
              <a:xfrm rot="16200000" flipV="1">
                <a:off x="5505" y="2495"/>
                <a:ext cx="0" cy="47"/>
              </a:xfrm>
              <a:prstGeom prst="line">
                <a:avLst/>
              </a:prstGeom>
              <a:noFill/>
              <a:ln w="1270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>
                <a:defPPr>
                  <a:defRPr lang="en-US"/>
                </a:defPPr>
                <a:lvl1pPr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1pPr>
                <a:lvl2pPr marL="4572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2pPr>
                <a:lvl3pPr marL="9144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3pPr>
                <a:lvl4pPr marL="13716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4pPr>
                <a:lvl5pPr marL="18288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</p:grpSp>
        <p:sp>
          <p:nvSpPr>
            <p:cNvPr id="73" name="Line 297"/>
            <p:cNvSpPr>
              <a:spLocks noChangeShapeType="1"/>
            </p:cNvSpPr>
            <p:nvPr/>
          </p:nvSpPr>
          <p:spPr bwMode="auto">
            <a:xfrm flipV="1">
              <a:off x="3113814" y="2487231"/>
              <a:ext cx="0" cy="347663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74" name="Line 298"/>
            <p:cNvSpPr>
              <a:spLocks noChangeShapeType="1"/>
            </p:cNvSpPr>
            <p:nvPr/>
          </p:nvSpPr>
          <p:spPr bwMode="auto">
            <a:xfrm rot="16200000" flipV="1">
              <a:off x="3166201" y="2431669"/>
              <a:ext cx="0" cy="114300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75" name="Line 299"/>
            <p:cNvSpPr>
              <a:spLocks noChangeShapeType="1"/>
            </p:cNvSpPr>
            <p:nvPr/>
          </p:nvSpPr>
          <p:spPr bwMode="auto">
            <a:xfrm>
              <a:off x="3155089" y="2653919"/>
              <a:ext cx="915987" cy="0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76" name="AutoShape 300"/>
            <p:cNvSpPr>
              <a:spLocks noChangeArrowheads="1"/>
            </p:cNvSpPr>
            <p:nvPr/>
          </p:nvSpPr>
          <p:spPr bwMode="auto">
            <a:xfrm rot="5400000">
              <a:off x="4049645" y="2618200"/>
              <a:ext cx="60325" cy="71437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1270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>
              <a:defPPr>
                <a:defRPr lang="en-US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77" name="Rectangle 76"/>
            <p:cNvSpPr>
              <a:spLocks noChangeArrowheads="1"/>
            </p:cNvSpPr>
            <p:nvPr/>
          </p:nvSpPr>
          <p:spPr bwMode="auto">
            <a:xfrm>
              <a:off x="3620226" y="2788856"/>
              <a:ext cx="214313" cy="236538"/>
            </a:xfrm>
            <a:prstGeom prst="rect">
              <a:avLst/>
            </a:prstGeom>
            <a:gradFill rotWithShape="1">
              <a:gsLst>
                <a:gs pos="0">
                  <a:srgbClr val="FFFFCC"/>
                </a:gs>
                <a:gs pos="100000">
                  <a:srgbClr val="76765E"/>
                </a:gs>
              </a:gsLst>
              <a:lin ang="2700000" scaled="1"/>
            </a:gradFill>
            <a:ln w="12700">
              <a:solidFill>
                <a:schemeClr val="bg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defPPr>
                <a:defRPr lang="en-US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78" name="AutoShape 302"/>
            <p:cNvSpPr>
              <a:spLocks noChangeArrowheads="1"/>
            </p:cNvSpPr>
            <p:nvPr/>
          </p:nvSpPr>
          <p:spPr bwMode="auto">
            <a:xfrm rot="5400000">
              <a:off x="3616257" y="2964275"/>
              <a:ext cx="61913" cy="53975"/>
            </a:xfrm>
            <a:prstGeom prst="triangle">
              <a:avLst>
                <a:gd name="adj" fmla="val 50000"/>
              </a:avLst>
            </a:prstGeom>
            <a:noFill/>
            <a:ln w="12700">
              <a:solidFill>
                <a:schemeClr val="bg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defPPr>
                <a:defRPr lang="en-US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79" name="AutoShape 303"/>
            <p:cNvSpPr>
              <a:spLocks noChangeArrowheads="1"/>
            </p:cNvSpPr>
            <p:nvPr/>
          </p:nvSpPr>
          <p:spPr bwMode="auto">
            <a:xfrm rot="16200000">
              <a:off x="3109845" y="2840450"/>
              <a:ext cx="312737" cy="85725"/>
            </a:xfrm>
            <a:custGeom>
              <a:avLst/>
              <a:gdLst>
                <a:gd name="T0" fmla="*/ 2147483647 w 21600"/>
                <a:gd name="T1" fmla="*/ 2147483647 h 21600"/>
                <a:gd name="T2" fmla="*/ 2147483647 w 21600"/>
                <a:gd name="T3" fmla="*/ 2147483647 h 21600"/>
                <a:gd name="T4" fmla="*/ 2147483647 w 21600"/>
                <a:gd name="T5" fmla="*/ 2147483647 h 21600"/>
                <a:gd name="T6" fmla="*/ 2147483647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3188 w 21600"/>
                <a:gd name="T13" fmla="*/ 3188 h 21600"/>
                <a:gd name="T14" fmla="*/ 18412 w 21600"/>
                <a:gd name="T15" fmla="*/ 18412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2776" y="21600"/>
                  </a:lnTo>
                  <a:lnTo>
                    <a:pt x="18824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chemeClr val="accent1"/>
            </a:solidFill>
            <a:ln w="1270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>
              <a:defPPr>
                <a:defRPr lang="en-US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80" name="Line 304"/>
            <p:cNvSpPr>
              <a:spLocks noChangeShapeType="1"/>
            </p:cNvSpPr>
            <p:nvPr/>
          </p:nvSpPr>
          <p:spPr bwMode="auto">
            <a:xfrm>
              <a:off x="3312251" y="2879344"/>
              <a:ext cx="303213" cy="0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81" name="Line 305"/>
            <p:cNvSpPr>
              <a:spLocks noChangeShapeType="1"/>
            </p:cNvSpPr>
            <p:nvPr/>
          </p:nvSpPr>
          <p:spPr bwMode="auto">
            <a:xfrm>
              <a:off x="3837714" y="2879344"/>
              <a:ext cx="238125" cy="0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82" name="AutoShape 306"/>
            <p:cNvSpPr>
              <a:spLocks noChangeArrowheads="1"/>
            </p:cNvSpPr>
            <p:nvPr/>
          </p:nvSpPr>
          <p:spPr bwMode="auto">
            <a:xfrm rot="5400000">
              <a:off x="4054407" y="2838863"/>
              <a:ext cx="60325" cy="71438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1270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>
              <a:defPPr>
                <a:defRPr lang="en-US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83" name="Line 307"/>
            <p:cNvSpPr>
              <a:spLocks noChangeShapeType="1"/>
            </p:cNvSpPr>
            <p:nvPr/>
          </p:nvSpPr>
          <p:spPr bwMode="auto">
            <a:xfrm>
              <a:off x="3029676" y="2912681"/>
              <a:ext cx="192088" cy="0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84" name="Line 308"/>
            <p:cNvSpPr>
              <a:spLocks noChangeShapeType="1"/>
            </p:cNvSpPr>
            <p:nvPr/>
          </p:nvSpPr>
          <p:spPr bwMode="auto">
            <a:xfrm flipV="1">
              <a:off x="3034439" y="2355469"/>
              <a:ext cx="0" cy="554037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85" name="AutoShape 311"/>
            <p:cNvSpPr>
              <a:spLocks noChangeArrowheads="1"/>
            </p:cNvSpPr>
            <p:nvPr/>
          </p:nvSpPr>
          <p:spPr bwMode="auto">
            <a:xfrm rot="5400000" flipV="1">
              <a:off x="2563745" y="2143538"/>
              <a:ext cx="149225" cy="52387"/>
            </a:xfrm>
            <a:custGeom>
              <a:avLst/>
              <a:gdLst>
                <a:gd name="T0" fmla="*/ 2147483647 w 21600"/>
                <a:gd name="T1" fmla="*/ 2147483647 h 21600"/>
                <a:gd name="T2" fmla="*/ 2147483647 w 21600"/>
                <a:gd name="T3" fmla="*/ 2147483647 h 21600"/>
                <a:gd name="T4" fmla="*/ 2147483647 w 21600"/>
                <a:gd name="T5" fmla="*/ 2147483647 h 21600"/>
                <a:gd name="T6" fmla="*/ 2147483647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5050 w 21600"/>
                <a:gd name="T13" fmla="*/ 5050 h 21600"/>
                <a:gd name="T14" fmla="*/ 16550 w 21600"/>
                <a:gd name="T15" fmla="*/ 1655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6499" y="21600"/>
                  </a:lnTo>
                  <a:lnTo>
                    <a:pt x="15101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chemeClr val="accent1"/>
            </a:solidFill>
            <a:ln w="12700" cap="rnd">
              <a:solidFill>
                <a:schemeClr val="bg1"/>
              </a:solidFill>
              <a:prstDash val="sysDot"/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defPPr>
                <a:defRPr lang="en-US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86" name="Line 312"/>
            <p:cNvSpPr>
              <a:spLocks noChangeShapeType="1"/>
            </p:cNvSpPr>
            <p:nvPr/>
          </p:nvSpPr>
          <p:spPr bwMode="auto">
            <a:xfrm flipV="1">
              <a:off x="2512151" y="2128456"/>
              <a:ext cx="0" cy="650875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87" name="Line 314"/>
            <p:cNvSpPr>
              <a:spLocks noChangeShapeType="1"/>
            </p:cNvSpPr>
            <p:nvPr/>
          </p:nvSpPr>
          <p:spPr bwMode="auto">
            <a:xfrm rot="16200000" flipV="1">
              <a:off x="2558983" y="2083212"/>
              <a:ext cx="0" cy="96837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88" name="Line 316"/>
            <p:cNvSpPr>
              <a:spLocks noChangeShapeType="1"/>
            </p:cNvSpPr>
            <p:nvPr/>
          </p:nvSpPr>
          <p:spPr bwMode="auto">
            <a:xfrm rot="16200000" flipV="1">
              <a:off x="2918551" y="1909381"/>
              <a:ext cx="0" cy="514350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89" name="Line 317"/>
            <p:cNvSpPr>
              <a:spLocks noChangeShapeType="1"/>
            </p:cNvSpPr>
            <p:nvPr/>
          </p:nvSpPr>
          <p:spPr bwMode="auto">
            <a:xfrm rot="16200000" flipV="1">
              <a:off x="3195570" y="2278475"/>
              <a:ext cx="0" cy="55562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90" name="Line 318"/>
            <p:cNvSpPr>
              <a:spLocks noChangeShapeType="1"/>
            </p:cNvSpPr>
            <p:nvPr/>
          </p:nvSpPr>
          <p:spPr bwMode="auto">
            <a:xfrm flipV="1">
              <a:off x="3170964" y="2168144"/>
              <a:ext cx="0" cy="134937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grpSp>
          <p:nvGrpSpPr>
            <p:cNvPr id="91" name="Group 90"/>
            <p:cNvGrpSpPr>
              <a:grpSpLocks/>
            </p:cNvGrpSpPr>
            <p:nvPr/>
          </p:nvGrpSpPr>
          <p:grpSpPr bwMode="auto">
            <a:xfrm>
              <a:off x="2967764" y="2120519"/>
              <a:ext cx="150812" cy="182562"/>
              <a:chOff x="5234" y="2189"/>
              <a:chExt cx="114" cy="138"/>
            </a:xfrm>
          </p:grpSpPr>
          <p:sp>
            <p:nvSpPr>
              <p:cNvPr id="274" name="Rectangle 273"/>
              <p:cNvSpPr>
                <a:spLocks noChangeArrowheads="1"/>
              </p:cNvSpPr>
              <p:nvPr/>
            </p:nvSpPr>
            <p:spPr bwMode="auto">
              <a:xfrm>
                <a:off x="5234" y="2189"/>
                <a:ext cx="114" cy="138"/>
              </a:xfrm>
              <a:prstGeom prst="rect">
                <a:avLst/>
              </a:prstGeom>
              <a:gradFill rotWithShape="1">
                <a:gsLst>
                  <a:gs pos="0">
                    <a:srgbClr val="FFFFCC"/>
                  </a:gs>
                  <a:gs pos="100000">
                    <a:srgbClr val="76765E"/>
                  </a:gs>
                </a:gsLst>
                <a:lin ang="2700000" scaled="1"/>
              </a:gradFill>
              <a:ln w="12700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>
                <a:defPPr>
                  <a:defRPr lang="en-US"/>
                </a:defPPr>
                <a:lvl1pPr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1pPr>
                <a:lvl2pPr marL="4572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2pPr>
                <a:lvl3pPr marL="9144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3pPr>
                <a:lvl4pPr marL="13716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4pPr>
                <a:lvl5pPr marL="18288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275" name="AutoShape 321"/>
              <p:cNvSpPr>
                <a:spLocks noChangeArrowheads="1"/>
              </p:cNvSpPr>
              <p:nvPr/>
            </p:nvSpPr>
            <p:spPr bwMode="auto">
              <a:xfrm rot="5400000">
                <a:off x="5229" y="2292"/>
                <a:ext cx="39" cy="27"/>
              </a:xfrm>
              <a:prstGeom prst="triangle">
                <a:avLst>
                  <a:gd name="adj" fmla="val 50000"/>
                </a:avLst>
              </a:prstGeom>
              <a:noFill/>
              <a:ln w="12700">
                <a:solidFill>
                  <a:schemeClr val="bg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>
                <a:defPPr>
                  <a:defRPr lang="en-US"/>
                </a:defPPr>
                <a:lvl1pPr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1pPr>
                <a:lvl2pPr marL="4572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2pPr>
                <a:lvl3pPr marL="9144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3pPr>
                <a:lvl4pPr marL="13716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4pPr>
                <a:lvl5pPr marL="18288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</p:grpSp>
        <p:sp>
          <p:nvSpPr>
            <p:cNvPr id="92" name="Line 323"/>
            <p:cNvSpPr>
              <a:spLocks noChangeShapeType="1"/>
            </p:cNvSpPr>
            <p:nvPr/>
          </p:nvSpPr>
          <p:spPr bwMode="auto">
            <a:xfrm flipH="1">
              <a:off x="830989" y="2636456"/>
              <a:ext cx="1709737" cy="0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93" name="Line 325"/>
            <p:cNvSpPr>
              <a:spLocks noChangeShapeType="1"/>
            </p:cNvSpPr>
            <p:nvPr/>
          </p:nvSpPr>
          <p:spPr bwMode="auto">
            <a:xfrm>
              <a:off x="2027964" y="4916106"/>
              <a:ext cx="1187450" cy="0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94" name="Line 326"/>
            <p:cNvSpPr>
              <a:spLocks noChangeShapeType="1"/>
            </p:cNvSpPr>
            <p:nvPr/>
          </p:nvSpPr>
          <p:spPr bwMode="auto">
            <a:xfrm>
              <a:off x="2045426" y="4960556"/>
              <a:ext cx="1177925" cy="0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95" name="Line 328"/>
            <p:cNvSpPr>
              <a:spLocks noChangeShapeType="1"/>
            </p:cNvSpPr>
            <p:nvPr/>
          </p:nvSpPr>
          <p:spPr bwMode="auto">
            <a:xfrm>
              <a:off x="2767739" y="4806569"/>
              <a:ext cx="0" cy="692150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96" name="Line 343"/>
            <p:cNvSpPr>
              <a:spLocks noChangeShapeType="1"/>
            </p:cNvSpPr>
            <p:nvPr/>
          </p:nvSpPr>
          <p:spPr bwMode="auto">
            <a:xfrm flipV="1">
              <a:off x="2043839" y="5851144"/>
              <a:ext cx="1169987" cy="4762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97" name="Line 344"/>
            <p:cNvSpPr>
              <a:spLocks noChangeShapeType="1"/>
            </p:cNvSpPr>
            <p:nvPr/>
          </p:nvSpPr>
          <p:spPr bwMode="auto">
            <a:xfrm flipV="1">
              <a:off x="2040664" y="5897181"/>
              <a:ext cx="1168400" cy="3175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98" name="AutoShape 345"/>
            <p:cNvSpPr>
              <a:spLocks noChangeArrowheads="1"/>
            </p:cNvSpPr>
            <p:nvPr/>
          </p:nvSpPr>
          <p:spPr bwMode="auto">
            <a:xfrm rot="5400000" flipV="1">
              <a:off x="2103370" y="5428075"/>
              <a:ext cx="217487" cy="53975"/>
            </a:xfrm>
            <a:custGeom>
              <a:avLst/>
              <a:gdLst>
                <a:gd name="T0" fmla="*/ 2147483647 w 21600"/>
                <a:gd name="T1" fmla="*/ 2147483647 h 21600"/>
                <a:gd name="T2" fmla="*/ 2147483647 w 21600"/>
                <a:gd name="T3" fmla="*/ 2147483647 h 21600"/>
                <a:gd name="T4" fmla="*/ 2147483647 w 21600"/>
                <a:gd name="T5" fmla="*/ 2147483647 h 21600"/>
                <a:gd name="T6" fmla="*/ 2147483647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3188 w 21600"/>
                <a:gd name="T13" fmla="*/ 3188 h 21600"/>
                <a:gd name="T14" fmla="*/ 18412 w 21600"/>
                <a:gd name="T15" fmla="*/ 18412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2776" y="21600"/>
                  </a:lnTo>
                  <a:lnTo>
                    <a:pt x="18824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chemeClr val="accent1"/>
            </a:solidFill>
            <a:ln w="12700">
              <a:solidFill>
                <a:schemeClr val="bg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defPPr>
                <a:defRPr lang="en-US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99" name="Line 346"/>
            <p:cNvSpPr>
              <a:spLocks noChangeShapeType="1"/>
            </p:cNvSpPr>
            <p:nvPr/>
          </p:nvSpPr>
          <p:spPr bwMode="auto">
            <a:xfrm>
              <a:off x="2207351" y="5552694"/>
              <a:ext cx="0" cy="512762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00" name="Line 347"/>
            <p:cNvSpPr>
              <a:spLocks noChangeShapeType="1"/>
            </p:cNvSpPr>
            <p:nvPr/>
          </p:nvSpPr>
          <p:spPr bwMode="auto">
            <a:xfrm flipH="1">
              <a:off x="804001" y="5719381"/>
              <a:ext cx="1409700" cy="0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01" name="Line 350"/>
            <p:cNvSpPr>
              <a:spLocks noChangeShapeType="1"/>
            </p:cNvSpPr>
            <p:nvPr/>
          </p:nvSpPr>
          <p:spPr bwMode="auto">
            <a:xfrm>
              <a:off x="2091464" y="5508244"/>
              <a:ext cx="4762" cy="354012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02" name="Line 351"/>
            <p:cNvSpPr>
              <a:spLocks noChangeShapeType="1"/>
            </p:cNvSpPr>
            <p:nvPr/>
          </p:nvSpPr>
          <p:spPr bwMode="auto">
            <a:xfrm flipH="1">
              <a:off x="2088289" y="5506656"/>
              <a:ext cx="95250" cy="3175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03" name="Line 352"/>
            <p:cNvSpPr>
              <a:spLocks noChangeShapeType="1"/>
            </p:cNvSpPr>
            <p:nvPr/>
          </p:nvSpPr>
          <p:spPr bwMode="auto">
            <a:xfrm flipH="1">
              <a:off x="2088289" y="5419344"/>
              <a:ext cx="95250" cy="0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04" name="Line 353"/>
            <p:cNvSpPr>
              <a:spLocks noChangeShapeType="1"/>
            </p:cNvSpPr>
            <p:nvPr/>
          </p:nvSpPr>
          <p:spPr bwMode="auto">
            <a:xfrm>
              <a:off x="2091464" y="4914519"/>
              <a:ext cx="4762" cy="501650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05" name="Line 358"/>
            <p:cNvSpPr>
              <a:spLocks noChangeShapeType="1"/>
            </p:cNvSpPr>
            <p:nvPr/>
          </p:nvSpPr>
          <p:spPr bwMode="auto">
            <a:xfrm flipV="1">
              <a:off x="2202589" y="6055931"/>
              <a:ext cx="1008062" cy="6350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06" name="AutoShape 360"/>
            <p:cNvSpPr>
              <a:spLocks noChangeArrowheads="1"/>
            </p:cNvSpPr>
            <p:nvPr/>
          </p:nvSpPr>
          <p:spPr bwMode="auto">
            <a:xfrm rot="16200000">
              <a:off x="3102702" y="5452681"/>
              <a:ext cx="311150" cy="85725"/>
            </a:xfrm>
            <a:custGeom>
              <a:avLst/>
              <a:gdLst>
                <a:gd name="T0" fmla="*/ 2147483647 w 21600"/>
                <a:gd name="T1" fmla="*/ 2147483647 h 21600"/>
                <a:gd name="T2" fmla="*/ 2147483647 w 21600"/>
                <a:gd name="T3" fmla="*/ 2147483647 h 21600"/>
                <a:gd name="T4" fmla="*/ 2147483647 w 21600"/>
                <a:gd name="T5" fmla="*/ 2147483647 h 21600"/>
                <a:gd name="T6" fmla="*/ 2147483647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3188 w 21600"/>
                <a:gd name="T13" fmla="*/ 3188 h 21600"/>
                <a:gd name="T14" fmla="*/ 18412 w 21600"/>
                <a:gd name="T15" fmla="*/ 18412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2776" y="21600"/>
                  </a:lnTo>
                  <a:lnTo>
                    <a:pt x="18824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chemeClr val="accent1"/>
            </a:solidFill>
            <a:ln w="12700">
              <a:solidFill>
                <a:schemeClr val="bg1"/>
              </a:solidFill>
              <a:miter lim="800000"/>
              <a:headEnd/>
              <a:tailEnd/>
            </a:ln>
          </p:spPr>
          <p:txBody>
            <a:bodyPr vert="eaVert" wrap="none" lIns="76197" tIns="38098" rIns="76197" bIns="38098" anchor="ctr"/>
            <a:lstStyle>
              <a:defPPr>
                <a:defRPr lang="en-US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07" name="Line 361"/>
            <p:cNvSpPr>
              <a:spLocks noChangeShapeType="1"/>
            </p:cNvSpPr>
            <p:nvPr/>
          </p:nvSpPr>
          <p:spPr bwMode="auto">
            <a:xfrm>
              <a:off x="3301139" y="5495544"/>
              <a:ext cx="762000" cy="0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08" name="AutoShape 362"/>
            <p:cNvSpPr>
              <a:spLocks noChangeArrowheads="1"/>
            </p:cNvSpPr>
            <p:nvPr/>
          </p:nvSpPr>
          <p:spPr bwMode="auto">
            <a:xfrm rot="5400000">
              <a:off x="4041707" y="5459825"/>
              <a:ext cx="60325" cy="71438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1270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>
              <a:defPPr>
                <a:defRPr lang="en-US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09" name="Freeform 108"/>
            <p:cNvSpPr>
              <a:spLocks/>
            </p:cNvSpPr>
            <p:nvPr/>
          </p:nvSpPr>
          <p:spPr bwMode="auto">
            <a:xfrm>
              <a:off x="3064601" y="5509831"/>
              <a:ext cx="161925" cy="430213"/>
            </a:xfrm>
            <a:custGeom>
              <a:avLst/>
              <a:gdLst>
                <a:gd name="T0" fmla="*/ 2147483647 w 36"/>
                <a:gd name="T1" fmla="*/ 2147483647 h 219"/>
                <a:gd name="T2" fmla="*/ 0 w 36"/>
                <a:gd name="T3" fmla="*/ 2147483647 h 219"/>
                <a:gd name="T4" fmla="*/ 0 w 36"/>
                <a:gd name="T5" fmla="*/ 0 h 219"/>
                <a:gd name="T6" fmla="*/ 2147483647 w 36"/>
                <a:gd name="T7" fmla="*/ 0 h 21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6"/>
                <a:gd name="T13" fmla="*/ 0 h 219"/>
                <a:gd name="T14" fmla="*/ 36 w 36"/>
                <a:gd name="T15" fmla="*/ 219 h 21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6" h="219">
                  <a:moveTo>
                    <a:pt x="36" y="219"/>
                  </a:moveTo>
                  <a:lnTo>
                    <a:pt x="0" y="219"/>
                  </a:lnTo>
                  <a:lnTo>
                    <a:pt x="0" y="0"/>
                  </a:lnTo>
                  <a:lnTo>
                    <a:pt x="33" y="0"/>
                  </a:lnTo>
                </a:path>
              </a:pathLst>
            </a:custGeom>
            <a:noFill/>
            <a:ln w="1270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10" name="AutoShape 364"/>
            <p:cNvSpPr>
              <a:spLocks noChangeArrowheads="1"/>
            </p:cNvSpPr>
            <p:nvPr/>
          </p:nvSpPr>
          <p:spPr bwMode="auto">
            <a:xfrm flipV="1">
              <a:off x="2682014" y="5689219"/>
              <a:ext cx="104775" cy="52387"/>
            </a:xfrm>
            <a:custGeom>
              <a:avLst/>
              <a:gdLst>
                <a:gd name="T0" fmla="*/ 2147483647 w 21600"/>
                <a:gd name="T1" fmla="*/ 2147483647 h 21600"/>
                <a:gd name="T2" fmla="*/ 2147483647 w 21600"/>
                <a:gd name="T3" fmla="*/ 2147483647 h 21600"/>
                <a:gd name="T4" fmla="*/ 2147483647 w 21600"/>
                <a:gd name="T5" fmla="*/ 2147483647 h 21600"/>
                <a:gd name="T6" fmla="*/ 2147483647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3188 w 21600"/>
                <a:gd name="T13" fmla="*/ 3188 h 21600"/>
                <a:gd name="T14" fmla="*/ 18412 w 21600"/>
                <a:gd name="T15" fmla="*/ 18412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2776" y="21600"/>
                  </a:lnTo>
                  <a:lnTo>
                    <a:pt x="18824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chemeClr val="accent1"/>
            </a:solidFill>
            <a:ln w="12700">
              <a:solidFill>
                <a:schemeClr val="bg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defPPr>
                <a:defRPr lang="en-US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11" name="AutoShape 365"/>
            <p:cNvSpPr>
              <a:spLocks noChangeArrowheads="1"/>
            </p:cNvSpPr>
            <p:nvPr/>
          </p:nvSpPr>
          <p:spPr bwMode="auto">
            <a:xfrm flipV="1">
              <a:off x="2723289" y="5576506"/>
              <a:ext cx="103187" cy="52388"/>
            </a:xfrm>
            <a:custGeom>
              <a:avLst/>
              <a:gdLst>
                <a:gd name="T0" fmla="*/ 2147483647 w 21600"/>
                <a:gd name="T1" fmla="*/ 2147483647 h 21600"/>
                <a:gd name="T2" fmla="*/ 2147483647 w 21600"/>
                <a:gd name="T3" fmla="*/ 2147483647 h 21600"/>
                <a:gd name="T4" fmla="*/ 2147483647 w 21600"/>
                <a:gd name="T5" fmla="*/ 2147483647 h 21600"/>
                <a:gd name="T6" fmla="*/ 2147483647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3188 w 21600"/>
                <a:gd name="T13" fmla="*/ 3188 h 21600"/>
                <a:gd name="T14" fmla="*/ 18412 w 21600"/>
                <a:gd name="T15" fmla="*/ 18412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2776" y="21600"/>
                  </a:lnTo>
                  <a:lnTo>
                    <a:pt x="18824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chemeClr val="accent1"/>
            </a:solidFill>
            <a:ln w="12700">
              <a:solidFill>
                <a:schemeClr val="bg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defPPr>
                <a:defRPr lang="en-US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12" name="Line 366"/>
            <p:cNvSpPr>
              <a:spLocks noChangeShapeType="1"/>
            </p:cNvSpPr>
            <p:nvPr/>
          </p:nvSpPr>
          <p:spPr bwMode="auto">
            <a:xfrm flipV="1">
              <a:off x="2735989" y="5630481"/>
              <a:ext cx="0" cy="55563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13" name="Line 367"/>
            <p:cNvSpPr>
              <a:spLocks noChangeShapeType="1"/>
            </p:cNvSpPr>
            <p:nvPr/>
          </p:nvSpPr>
          <p:spPr bwMode="auto">
            <a:xfrm flipV="1">
              <a:off x="2713764" y="5743194"/>
              <a:ext cx="0" cy="155575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14" name="Line 368"/>
            <p:cNvSpPr>
              <a:spLocks noChangeShapeType="1"/>
            </p:cNvSpPr>
            <p:nvPr/>
          </p:nvSpPr>
          <p:spPr bwMode="auto">
            <a:xfrm flipV="1">
              <a:off x="2767739" y="5328856"/>
              <a:ext cx="0" cy="244475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15" name="Line 369"/>
            <p:cNvSpPr>
              <a:spLocks noChangeShapeType="1"/>
            </p:cNvSpPr>
            <p:nvPr/>
          </p:nvSpPr>
          <p:spPr bwMode="auto">
            <a:xfrm flipH="1">
              <a:off x="2762976" y="5422519"/>
              <a:ext cx="444500" cy="0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16" name="AutoShape 370"/>
            <p:cNvSpPr>
              <a:spLocks noChangeArrowheads="1"/>
            </p:cNvSpPr>
            <p:nvPr/>
          </p:nvSpPr>
          <p:spPr bwMode="auto">
            <a:xfrm flipH="1">
              <a:off x="2826476" y="5655881"/>
              <a:ext cx="95250" cy="69850"/>
            </a:xfrm>
            <a:prstGeom prst="flowChartOnlineStorage">
              <a:avLst/>
            </a:prstGeom>
            <a:solidFill>
              <a:schemeClr val="accent1"/>
            </a:solidFill>
            <a:ln w="1270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>
              <a:defPPr>
                <a:defRPr lang="en-US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17" name="Line 371"/>
            <p:cNvSpPr>
              <a:spLocks noChangeShapeType="1"/>
            </p:cNvSpPr>
            <p:nvPr/>
          </p:nvSpPr>
          <p:spPr bwMode="auto">
            <a:xfrm>
              <a:off x="2926489" y="5689219"/>
              <a:ext cx="136525" cy="0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18" name="Line 372"/>
            <p:cNvSpPr>
              <a:spLocks noChangeShapeType="1"/>
            </p:cNvSpPr>
            <p:nvPr/>
          </p:nvSpPr>
          <p:spPr bwMode="auto">
            <a:xfrm flipV="1">
              <a:off x="2237514" y="5462206"/>
              <a:ext cx="977900" cy="6350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grpSp>
          <p:nvGrpSpPr>
            <p:cNvPr id="119" name="Group 118"/>
            <p:cNvGrpSpPr>
              <a:grpSpLocks/>
            </p:cNvGrpSpPr>
            <p:nvPr/>
          </p:nvGrpSpPr>
          <p:grpSpPr bwMode="auto">
            <a:xfrm>
              <a:off x="-4625983" y="5597144"/>
              <a:ext cx="47" cy="257175"/>
              <a:chOff x="5481" y="2519"/>
              <a:chExt cx="47" cy="194"/>
            </a:xfrm>
          </p:grpSpPr>
          <p:sp>
            <p:nvSpPr>
              <p:cNvPr id="272" name="Line 374"/>
              <p:cNvSpPr>
                <a:spLocks noChangeShapeType="1"/>
              </p:cNvSpPr>
              <p:nvPr/>
            </p:nvSpPr>
            <p:spPr bwMode="auto">
              <a:xfrm flipV="1">
                <a:off x="5485" y="2520"/>
                <a:ext cx="0" cy="193"/>
              </a:xfrm>
              <a:prstGeom prst="line">
                <a:avLst/>
              </a:prstGeom>
              <a:noFill/>
              <a:ln w="1270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>
                <a:defPPr>
                  <a:defRPr lang="en-US"/>
                </a:defPPr>
                <a:lvl1pPr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1pPr>
                <a:lvl2pPr marL="4572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2pPr>
                <a:lvl3pPr marL="9144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3pPr>
                <a:lvl4pPr marL="13716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4pPr>
                <a:lvl5pPr marL="18288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273" name="Line 375"/>
              <p:cNvSpPr>
                <a:spLocks noChangeShapeType="1"/>
              </p:cNvSpPr>
              <p:nvPr/>
            </p:nvSpPr>
            <p:spPr bwMode="auto">
              <a:xfrm rot="16200000" flipV="1">
                <a:off x="5505" y="2495"/>
                <a:ext cx="0" cy="47"/>
              </a:xfrm>
              <a:prstGeom prst="line">
                <a:avLst/>
              </a:prstGeom>
              <a:noFill/>
              <a:ln w="1270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>
                <a:defPPr>
                  <a:defRPr lang="en-US"/>
                </a:defPPr>
                <a:lvl1pPr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1pPr>
                <a:lvl2pPr marL="4572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2pPr>
                <a:lvl3pPr marL="9144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3pPr>
                <a:lvl4pPr marL="13716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4pPr>
                <a:lvl5pPr marL="18288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</p:grpSp>
        <p:sp>
          <p:nvSpPr>
            <p:cNvPr id="120" name="Line 376"/>
            <p:cNvSpPr>
              <a:spLocks noChangeShapeType="1"/>
            </p:cNvSpPr>
            <p:nvPr/>
          </p:nvSpPr>
          <p:spPr bwMode="auto">
            <a:xfrm flipV="1">
              <a:off x="3105876" y="5554281"/>
              <a:ext cx="0" cy="347663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21" name="Line 377"/>
            <p:cNvSpPr>
              <a:spLocks noChangeShapeType="1"/>
            </p:cNvSpPr>
            <p:nvPr/>
          </p:nvSpPr>
          <p:spPr bwMode="auto">
            <a:xfrm rot="16200000" flipV="1">
              <a:off x="3158264" y="5498719"/>
              <a:ext cx="0" cy="114300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22" name="Line 378"/>
            <p:cNvSpPr>
              <a:spLocks noChangeShapeType="1"/>
            </p:cNvSpPr>
            <p:nvPr/>
          </p:nvSpPr>
          <p:spPr bwMode="auto">
            <a:xfrm>
              <a:off x="3147151" y="5720969"/>
              <a:ext cx="915988" cy="0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23" name="AutoShape 379"/>
            <p:cNvSpPr>
              <a:spLocks noChangeArrowheads="1"/>
            </p:cNvSpPr>
            <p:nvPr/>
          </p:nvSpPr>
          <p:spPr bwMode="auto">
            <a:xfrm rot="5400000">
              <a:off x="4041707" y="5685250"/>
              <a:ext cx="60325" cy="71438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1270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>
              <a:defPPr>
                <a:defRPr lang="en-US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24" name="Rectangle 123"/>
            <p:cNvSpPr>
              <a:spLocks noChangeArrowheads="1"/>
            </p:cNvSpPr>
            <p:nvPr/>
          </p:nvSpPr>
          <p:spPr bwMode="auto">
            <a:xfrm>
              <a:off x="3612289" y="5855906"/>
              <a:ext cx="214312" cy="236538"/>
            </a:xfrm>
            <a:prstGeom prst="rect">
              <a:avLst/>
            </a:prstGeom>
            <a:gradFill rotWithShape="1">
              <a:gsLst>
                <a:gs pos="0">
                  <a:srgbClr val="FFFFCC"/>
                </a:gs>
                <a:gs pos="100000">
                  <a:srgbClr val="76765E"/>
                </a:gs>
              </a:gsLst>
              <a:lin ang="2700000" scaled="1"/>
            </a:gradFill>
            <a:ln w="12700">
              <a:solidFill>
                <a:schemeClr val="bg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defPPr>
                <a:defRPr lang="en-US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25" name="AutoShape 381"/>
            <p:cNvSpPr>
              <a:spLocks noChangeArrowheads="1"/>
            </p:cNvSpPr>
            <p:nvPr/>
          </p:nvSpPr>
          <p:spPr bwMode="auto">
            <a:xfrm rot="5400000">
              <a:off x="3609114" y="6030531"/>
              <a:ext cx="60325" cy="53975"/>
            </a:xfrm>
            <a:prstGeom prst="triangle">
              <a:avLst>
                <a:gd name="adj" fmla="val 50000"/>
              </a:avLst>
            </a:prstGeom>
            <a:noFill/>
            <a:ln w="12700">
              <a:solidFill>
                <a:schemeClr val="bg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defPPr>
                <a:defRPr lang="en-US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26" name="AutoShape 382"/>
            <p:cNvSpPr>
              <a:spLocks noChangeArrowheads="1"/>
            </p:cNvSpPr>
            <p:nvPr/>
          </p:nvSpPr>
          <p:spPr bwMode="auto">
            <a:xfrm rot="16200000">
              <a:off x="3101908" y="5907500"/>
              <a:ext cx="312737" cy="85725"/>
            </a:xfrm>
            <a:custGeom>
              <a:avLst/>
              <a:gdLst>
                <a:gd name="T0" fmla="*/ 2147483647 w 21600"/>
                <a:gd name="T1" fmla="*/ 2147483647 h 21600"/>
                <a:gd name="T2" fmla="*/ 2147483647 w 21600"/>
                <a:gd name="T3" fmla="*/ 2147483647 h 21600"/>
                <a:gd name="T4" fmla="*/ 2147483647 w 21600"/>
                <a:gd name="T5" fmla="*/ 2147483647 h 21600"/>
                <a:gd name="T6" fmla="*/ 2147483647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3188 w 21600"/>
                <a:gd name="T13" fmla="*/ 3188 h 21600"/>
                <a:gd name="T14" fmla="*/ 18412 w 21600"/>
                <a:gd name="T15" fmla="*/ 18412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2776" y="21600"/>
                  </a:lnTo>
                  <a:lnTo>
                    <a:pt x="18824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chemeClr val="accent1"/>
            </a:solidFill>
            <a:ln w="1270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>
              <a:defPPr>
                <a:defRPr lang="en-US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27" name="Line 383"/>
            <p:cNvSpPr>
              <a:spLocks noChangeShapeType="1"/>
            </p:cNvSpPr>
            <p:nvPr/>
          </p:nvSpPr>
          <p:spPr bwMode="auto">
            <a:xfrm>
              <a:off x="3304314" y="5944806"/>
              <a:ext cx="303212" cy="0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28" name="Line 384"/>
            <p:cNvSpPr>
              <a:spLocks noChangeShapeType="1"/>
            </p:cNvSpPr>
            <p:nvPr/>
          </p:nvSpPr>
          <p:spPr bwMode="auto">
            <a:xfrm>
              <a:off x="3829776" y="5944806"/>
              <a:ext cx="238125" cy="0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29" name="AutoShape 385"/>
            <p:cNvSpPr>
              <a:spLocks noChangeArrowheads="1"/>
            </p:cNvSpPr>
            <p:nvPr/>
          </p:nvSpPr>
          <p:spPr bwMode="auto">
            <a:xfrm rot="5400000">
              <a:off x="4046470" y="5905913"/>
              <a:ext cx="60325" cy="71437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1270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>
              <a:defPPr>
                <a:defRPr lang="en-US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30" name="Line 386"/>
            <p:cNvSpPr>
              <a:spLocks noChangeShapeType="1"/>
            </p:cNvSpPr>
            <p:nvPr/>
          </p:nvSpPr>
          <p:spPr bwMode="auto">
            <a:xfrm>
              <a:off x="3021739" y="5979731"/>
              <a:ext cx="192087" cy="0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31" name="Line 387"/>
            <p:cNvSpPr>
              <a:spLocks noChangeShapeType="1"/>
            </p:cNvSpPr>
            <p:nvPr/>
          </p:nvSpPr>
          <p:spPr bwMode="auto">
            <a:xfrm flipV="1">
              <a:off x="3026501" y="5420931"/>
              <a:ext cx="0" cy="555625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32" name="Line 388"/>
            <p:cNvSpPr>
              <a:spLocks noChangeShapeType="1"/>
            </p:cNvSpPr>
            <p:nvPr/>
          </p:nvSpPr>
          <p:spPr bwMode="auto">
            <a:xfrm flipV="1">
              <a:off x="2989989" y="5463794"/>
              <a:ext cx="0" cy="554037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33" name="Line 389"/>
            <p:cNvSpPr>
              <a:spLocks noChangeShapeType="1"/>
            </p:cNvSpPr>
            <p:nvPr/>
          </p:nvSpPr>
          <p:spPr bwMode="auto">
            <a:xfrm>
              <a:off x="2986814" y="6014656"/>
              <a:ext cx="231775" cy="0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34" name="AutoShape 390"/>
            <p:cNvSpPr>
              <a:spLocks noChangeArrowheads="1"/>
            </p:cNvSpPr>
            <p:nvPr/>
          </p:nvSpPr>
          <p:spPr bwMode="auto">
            <a:xfrm rot="5400000" flipV="1">
              <a:off x="2555807" y="5209000"/>
              <a:ext cx="149225" cy="52388"/>
            </a:xfrm>
            <a:custGeom>
              <a:avLst/>
              <a:gdLst>
                <a:gd name="T0" fmla="*/ 2147483647 w 21600"/>
                <a:gd name="T1" fmla="*/ 2147483647 h 21600"/>
                <a:gd name="T2" fmla="*/ 2147483647 w 21600"/>
                <a:gd name="T3" fmla="*/ 2147483647 h 21600"/>
                <a:gd name="T4" fmla="*/ 2147483647 w 21600"/>
                <a:gd name="T5" fmla="*/ 2147483647 h 21600"/>
                <a:gd name="T6" fmla="*/ 2147483647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5050 w 21600"/>
                <a:gd name="T13" fmla="*/ 5050 h 21600"/>
                <a:gd name="T14" fmla="*/ 16550 w 21600"/>
                <a:gd name="T15" fmla="*/ 1655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6499" y="21600"/>
                  </a:lnTo>
                  <a:lnTo>
                    <a:pt x="15101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chemeClr val="accent1"/>
            </a:solidFill>
            <a:ln w="12700" cap="rnd">
              <a:solidFill>
                <a:schemeClr val="bg1"/>
              </a:solidFill>
              <a:prstDash val="sysDot"/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defPPr>
                <a:defRPr lang="en-US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35" name="Line 391"/>
            <p:cNvSpPr>
              <a:spLocks noChangeShapeType="1"/>
            </p:cNvSpPr>
            <p:nvPr/>
          </p:nvSpPr>
          <p:spPr bwMode="auto">
            <a:xfrm flipV="1">
              <a:off x="2504214" y="5195506"/>
              <a:ext cx="0" cy="698500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36" name="Line 392"/>
            <p:cNvSpPr>
              <a:spLocks noChangeShapeType="1"/>
            </p:cNvSpPr>
            <p:nvPr/>
          </p:nvSpPr>
          <p:spPr bwMode="auto">
            <a:xfrm flipV="1">
              <a:off x="2535964" y="5285994"/>
              <a:ext cx="0" cy="774700"/>
            </a:xfrm>
            <a:prstGeom prst="line">
              <a:avLst/>
            </a:prstGeom>
            <a:no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37" name="Line 393"/>
            <p:cNvSpPr>
              <a:spLocks noChangeShapeType="1"/>
            </p:cNvSpPr>
            <p:nvPr/>
          </p:nvSpPr>
          <p:spPr bwMode="auto">
            <a:xfrm rot="16200000" flipV="1">
              <a:off x="2551045" y="5150262"/>
              <a:ext cx="0" cy="96838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38" name="Line 394"/>
            <p:cNvSpPr>
              <a:spLocks noChangeShapeType="1"/>
            </p:cNvSpPr>
            <p:nvPr/>
          </p:nvSpPr>
          <p:spPr bwMode="auto">
            <a:xfrm rot="16200000" flipV="1">
              <a:off x="2571683" y="5243925"/>
              <a:ext cx="0" cy="77787"/>
            </a:xfrm>
            <a:prstGeom prst="line">
              <a:avLst/>
            </a:prstGeom>
            <a:no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39" name="Line 395"/>
            <p:cNvSpPr>
              <a:spLocks noChangeShapeType="1"/>
            </p:cNvSpPr>
            <p:nvPr/>
          </p:nvSpPr>
          <p:spPr bwMode="auto">
            <a:xfrm rot="16200000" flipV="1">
              <a:off x="2910614" y="4974844"/>
              <a:ext cx="0" cy="514350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40" name="Line 396"/>
            <p:cNvSpPr>
              <a:spLocks noChangeShapeType="1"/>
            </p:cNvSpPr>
            <p:nvPr/>
          </p:nvSpPr>
          <p:spPr bwMode="auto">
            <a:xfrm rot="16200000" flipV="1">
              <a:off x="3187633" y="5345524"/>
              <a:ext cx="0" cy="55563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41" name="Line 397"/>
            <p:cNvSpPr>
              <a:spLocks noChangeShapeType="1"/>
            </p:cNvSpPr>
            <p:nvPr/>
          </p:nvSpPr>
          <p:spPr bwMode="auto">
            <a:xfrm flipV="1">
              <a:off x="3163026" y="5235194"/>
              <a:ext cx="0" cy="134937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grpSp>
          <p:nvGrpSpPr>
            <p:cNvPr id="142" name="Group 141"/>
            <p:cNvGrpSpPr>
              <a:grpSpLocks/>
            </p:cNvGrpSpPr>
            <p:nvPr/>
          </p:nvGrpSpPr>
          <p:grpSpPr bwMode="auto">
            <a:xfrm>
              <a:off x="2959826" y="5187569"/>
              <a:ext cx="150813" cy="182562"/>
              <a:chOff x="5234" y="2189"/>
              <a:chExt cx="114" cy="138"/>
            </a:xfrm>
          </p:grpSpPr>
          <p:sp>
            <p:nvSpPr>
              <p:cNvPr id="270" name="Rectangle 269"/>
              <p:cNvSpPr>
                <a:spLocks noChangeArrowheads="1"/>
              </p:cNvSpPr>
              <p:nvPr/>
            </p:nvSpPr>
            <p:spPr bwMode="auto">
              <a:xfrm>
                <a:off x="5234" y="2189"/>
                <a:ext cx="114" cy="138"/>
              </a:xfrm>
              <a:prstGeom prst="rect">
                <a:avLst/>
              </a:prstGeom>
              <a:gradFill rotWithShape="1">
                <a:gsLst>
                  <a:gs pos="0">
                    <a:srgbClr val="FFFFCC"/>
                  </a:gs>
                  <a:gs pos="100000">
                    <a:srgbClr val="76765E"/>
                  </a:gs>
                </a:gsLst>
                <a:lin ang="2700000" scaled="1"/>
              </a:gradFill>
              <a:ln w="12700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>
                <a:defPPr>
                  <a:defRPr lang="en-US"/>
                </a:defPPr>
                <a:lvl1pPr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1pPr>
                <a:lvl2pPr marL="4572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2pPr>
                <a:lvl3pPr marL="9144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3pPr>
                <a:lvl4pPr marL="13716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4pPr>
                <a:lvl5pPr marL="18288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271" name="AutoShape 400"/>
              <p:cNvSpPr>
                <a:spLocks noChangeArrowheads="1"/>
              </p:cNvSpPr>
              <p:nvPr/>
            </p:nvSpPr>
            <p:spPr bwMode="auto">
              <a:xfrm rot="5400000">
                <a:off x="5229" y="2292"/>
                <a:ext cx="39" cy="27"/>
              </a:xfrm>
              <a:prstGeom prst="triangle">
                <a:avLst>
                  <a:gd name="adj" fmla="val 50000"/>
                </a:avLst>
              </a:prstGeom>
              <a:noFill/>
              <a:ln w="12700">
                <a:solidFill>
                  <a:schemeClr val="bg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>
                <a:defPPr>
                  <a:defRPr lang="en-US"/>
                </a:defPPr>
                <a:lvl1pPr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1pPr>
                <a:lvl2pPr marL="4572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2pPr>
                <a:lvl3pPr marL="9144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3pPr>
                <a:lvl4pPr marL="13716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4pPr>
                <a:lvl5pPr marL="18288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</p:grpSp>
        <p:sp>
          <p:nvSpPr>
            <p:cNvPr id="143" name="AutoShape 401"/>
            <p:cNvSpPr>
              <a:spLocks noChangeArrowheads="1"/>
            </p:cNvSpPr>
            <p:nvPr/>
          </p:nvSpPr>
          <p:spPr bwMode="auto">
            <a:xfrm rot="16200000">
              <a:off x="3101908" y="4513675"/>
              <a:ext cx="312737" cy="85725"/>
            </a:xfrm>
            <a:custGeom>
              <a:avLst/>
              <a:gdLst>
                <a:gd name="T0" fmla="*/ 2147483647 w 21600"/>
                <a:gd name="T1" fmla="*/ 2147483647 h 21600"/>
                <a:gd name="T2" fmla="*/ 2147483647 w 21600"/>
                <a:gd name="T3" fmla="*/ 2147483647 h 21600"/>
                <a:gd name="T4" fmla="*/ 2147483647 w 21600"/>
                <a:gd name="T5" fmla="*/ 2147483647 h 21600"/>
                <a:gd name="T6" fmla="*/ 2147483647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3188 w 21600"/>
                <a:gd name="T13" fmla="*/ 3188 h 21600"/>
                <a:gd name="T14" fmla="*/ 18412 w 21600"/>
                <a:gd name="T15" fmla="*/ 18412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2776" y="21600"/>
                  </a:lnTo>
                  <a:lnTo>
                    <a:pt x="18824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chemeClr val="accent1"/>
            </a:solidFill>
            <a:ln w="12700">
              <a:solidFill>
                <a:schemeClr val="bg1"/>
              </a:solidFill>
              <a:miter lim="800000"/>
              <a:headEnd/>
              <a:tailEnd/>
            </a:ln>
          </p:spPr>
          <p:txBody>
            <a:bodyPr vert="eaVert" wrap="none" lIns="76197" tIns="38098" rIns="76197" bIns="38098" anchor="ctr"/>
            <a:lstStyle>
              <a:defPPr>
                <a:defRPr lang="en-US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44" name="Line 402"/>
            <p:cNvSpPr>
              <a:spLocks noChangeShapeType="1"/>
            </p:cNvSpPr>
            <p:nvPr/>
          </p:nvSpPr>
          <p:spPr bwMode="auto">
            <a:xfrm>
              <a:off x="3301139" y="4555744"/>
              <a:ext cx="762000" cy="0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45" name="AutoShape 403"/>
            <p:cNvSpPr>
              <a:spLocks noChangeArrowheads="1"/>
            </p:cNvSpPr>
            <p:nvPr/>
          </p:nvSpPr>
          <p:spPr bwMode="auto">
            <a:xfrm rot="5400000">
              <a:off x="4040913" y="4520819"/>
              <a:ext cx="61913" cy="71438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1270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>
              <a:defPPr>
                <a:defRPr lang="en-US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46" name="Freeform 145"/>
            <p:cNvSpPr>
              <a:spLocks/>
            </p:cNvSpPr>
            <p:nvPr/>
          </p:nvSpPr>
          <p:spPr bwMode="auto">
            <a:xfrm>
              <a:off x="3064601" y="4571619"/>
              <a:ext cx="161925" cy="428625"/>
            </a:xfrm>
            <a:custGeom>
              <a:avLst/>
              <a:gdLst>
                <a:gd name="T0" fmla="*/ 2147483647 w 36"/>
                <a:gd name="T1" fmla="*/ 2147483647 h 219"/>
                <a:gd name="T2" fmla="*/ 0 w 36"/>
                <a:gd name="T3" fmla="*/ 2147483647 h 219"/>
                <a:gd name="T4" fmla="*/ 0 w 36"/>
                <a:gd name="T5" fmla="*/ 0 h 219"/>
                <a:gd name="T6" fmla="*/ 2147483647 w 36"/>
                <a:gd name="T7" fmla="*/ 0 h 21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6"/>
                <a:gd name="T13" fmla="*/ 0 h 219"/>
                <a:gd name="T14" fmla="*/ 36 w 36"/>
                <a:gd name="T15" fmla="*/ 219 h 21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6" h="219">
                  <a:moveTo>
                    <a:pt x="36" y="219"/>
                  </a:moveTo>
                  <a:lnTo>
                    <a:pt x="0" y="219"/>
                  </a:lnTo>
                  <a:lnTo>
                    <a:pt x="0" y="0"/>
                  </a:lnTo>
                  <a:lnTo>
                    <a:pt x="33" y="0"/>
                  </a:lnTo>
                </a:path>
              </a:pathLst>
            </a:custGeom>
            <a:noFill/>
            <a:ln w="1270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47" name="AutoShape 405"/>
            <p:cNvSpPr>
              <a:spLocks noChangeArrowheads="1"/>
            </p:cNvSpPr>
            <p:nvPr/>
          </p:nvSpPr>
          <p:spPr bwMode="auto">
            <a:xfrm flipV="1">
              <a:off x="2682014" y="4749419"/>
              <a:ext cx="104775" cy="52387"/>
            </a:xfrm>
            <a:custGeom>
              <a:avLst/>
              <a:gdLst>
                <a:gd name="T0" fmla="*/ 2147483647 w 21600"/>
                <a:gd name="T1" fmla="*/ 2147483647 h 21600"/>
                <a:gd name="T2" fmla="*/ 2147483647 w 21600"/>
                <a:gd name="T3" fmla="*/ 2147483647 h 21600"/>
                <a:gd name="T4" fmla="*/ 2147483647 w 21600"/>
                <a:gd name="T5" fmla="*/ 2147483647 h 21600"/>
                <a:gd name="T6" fmla="*/ 2147483647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3188 w 21600"/>
                <a:gd name="T13" fmla="*/ 3188 h 21600"/>
                <a:gd name="T14" fmla="*/ 18412 w 21600"/>
                <a:gd name="T15" fmla="*/ 18412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2776" y="21600"/>
                  </a:lnTo>
                  <a:lnTo>
                    <a:pt x="18824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chemeClr val="accent1"/>
            </a:solidFill>
            <a:ln w="12700">
              <a:solidFill>
                <a:schemeClr val="bg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defPPr>
                <a:defRPr lang="en-US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48" name="AutoShape 406"/>
            <p:cNvSpPr>
              <a:spLocks noChangeArrowheads="1"/>
            </p:cNvSpPr>
            <p:nvPr/>
          </p:nvSpPr>
          <p:spPr bwMode="auto">
            <a:xfrm flipV="1">
              <a:off x="2723289" y="4636706"/>
              <a:ext cx="103187" cy="53975"/>
            </a:xfrm>
            <a:custGeom>
              <a:avLst/>
              <a:gdLst>
                <a:gd name="T0" fmla="*/ 2147483647 w 21600"/>
                <a:gd name="T1" fmla="*/ 2147483647 h 21600"/>
                <a:gd name="T2" fmla="*/ 2147483647 w 21600"/>
                <a:gd name="T3" fmla="*/ 2147483647 h 21600"/>
                <a:gd name="T4" fmla="*/ 2147483647 w 21600"/>
                <a:gd name="T5" fmla="*/ 2147483647 h 21600"/>
                <a:gd name="T6" fmla="*/ 2147483647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3188 w 21600"/>
                <a:gd name="T13" fmla="*/ 3188 h 21600"/>
                <a:gd name="T14" fmla="*/ 18412 w 21600"/>
                <a:gd name="T15" fmla="*/ 18412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2776" y="21600"/>
                  </a:lnTo>
                  <a:lnTo>
                    <a:pt x="18824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chemeClr val="accent1"/>
            </a:solidFill>
            <a:ln w="12700">
              <a:solidFill>
                <a:schemeClr val="bg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defPPr>
                <a:defRPr lang="en-US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49" name="Line 407"/>
            <p:cNvSpPr>
              <a:spLocks noChangeShapeType="1"/>
            </p:cNvSpPr>
            <p:nvPr/>
          </p:nvSpPr>
          <p:spPr bwMode="auto">
            <a:xfrm flipV="1">
              <a:off x="2735989" y="4690681"/>
              <a:ext cx="0" cy="55563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50" name="Line 408"/>
            <p:cNvSpPr>
              <a:spLocks noChangeShapeType="1"/>
            </p:cNvSpPr>
            <p:nvPr/>
          </p:nvSpPr>
          <p:spPr bwMode="auto">
            <a:xfrm flipV="1">
              <a:off x="2713764" y="4803394"/>
              <a:ext cx="0" cy="157162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51" name="Line 409"/>
            <p:cNvSpPr>
              <a:spLocks noChangeShapeType="1"/>
            </p:cNvSpPr>
            <p:nvPr/>
          </p:nvSpPr>
          <p:spPr bwMode="auto">
            <a:xfrm flipV="1">
              <a:off x="2767739" y="4230306"/>
              <a:ext cx="0" cy="404813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52" name="Line 410"/>
            <p:cNvSpPr>
              <a:spLocks noChangeShapeType="1"/>
            </p:cNvSpPr>
            <p:nvPr/>
          </p:nvSpPr>
          <p:spPr bwMode="auto">
            <a:xfrm flipH="1">
              <a:off x="2762976" y="4484306"/>
              <a:ext cx="444500" cy="0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53" name="AutoShape 411"/>
            <p:cNvSpPr>
              <a:spLocks noChangeArrowheads="1"/>
            </p:cNvSpPr>
            <p:nvPr/>
          </p:nvSpPr>
          <p:spPr bwMode="auto">
            <a:xfrm flipH="1">
              <a:off x="2826476" y="4716081"/>
              <a:ext cx="95250" cy="69850"/>
            </a:xfrm>
            <a:prstGeom prst="flowChartOnlineStorage">
              <a:avLst/>
            </a:prstGeom>
            <a:solidFill>
              <a:schemeClr val="accent1"/>
            </a:solidFill>
            <a:ln w="1270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>
              <a:defPPr>
                <a:defRPr lang="en-US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54" name="Line 412"/>
            <p:cNvSpPr>
              <a:spLocks noChangeShapeType="1"/>
            </p:cNvSpPr>
            <p:nvPr/>
          </p:nvSpPr>
          <p:spPr bwMode="auto">
            <a:xfrm>
              <a:off x="2926489" y="4749419"/>
              <a:ext cx="136525" cy="0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grpSp>
          <p:nvGrpSpPr>
            <p:cNvPr id="155" name="Group 154"/>
            <p:cNvGrpSpPr>
              <a:grpSpLocks/>
            </p:cNvGrpSpPr>
            <p:nvPr/>
          </p:nvGrpSpPr>
          <p:grpSpPr bwMode="auto">
            <a:xfrm>
              <a:off x="-4625983" y="4658931"/>
              <a:ext cx="47" cy="255588"/>
              <a:chOff x="5481" y="2519"/>
              <a:chExt cx="47" cy="194"/>
            </a:xfrm>
          </p:grpSpPr>
          <p:sp>
            <p:nvSpPr>
              <p:cNvPr id="268" name="Line 415"/>
              <p:cNvSpPr>
                <a:spLocks noChangeShapeType="1"/>
              </p:cNvSpPr>
              <p:nvPr/>
            </p:nvSpPr>
            <p:spPr bwMode="auto">
              <a:xfrm flipV="1">
                <a:off x="5485" y="2520"/>
                <a:ext cx="0" cy="193"/>
              </a:xfrm>
              <a:prstGeom prst="line">
                <a:avLst/>
              </a:prstGeom>
              <a:noFill/>
              <a:ln w="1270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>
                <a:defPPr>
                  <a:defRPr lang="en-US"/>
                </a:defPPr>
                <a:lvl1pPr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1pPr>
                <a:lvl2pPr marL="4572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2pPr>
                <a:lvl3pPr marL="9144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3pPr>
                <a:lvl4pPr marL="13716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4pPr>
                <a:lvl5pPr marL="18288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269" name="Line 416"/>
              <p:cNvSpPr>
                <a:spLocks noChangeShapeType="1"/>
              </p:cNvSpPr>
              <p:nvPr/>
            </p:nvSpPr>
            <p:spPr bwMode="auto">
              <a:xfrm rot="16200000" flipV="1">
                <a:off x="5505" y="2495"/>
                <a:ext cx="0" cy="47"/>
              </a:xfrm>
              <a:prstGeom prst="line">
                <a:avLst/>
              </a:prstGeom>
              <a:noFill/>
              <a:ln w="1270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>
                <a:defPPr>
                  <a:defRPr lang="en-US"/>
                </a:defPPr>
                <a:lvl1pPr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1pPr>
                <a:lvl2pPr marL="4572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2pPr>
                <a:lvl3pPr marL="9144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3pPr>
                <a:lvl4pPr marL="13716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4pPr>
                <a:lvl5pPr marL="18288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</p:grpSp>
        <p:sp>
          <p:nvSpPr>
            <p:cNvPr id="156" name="Line 417"/>
            <p:cNvSpPr>
              <a:spLocks noChangeShapeType="1"/>
            </p:cNvSpPr>
            <p:nvPr/>
          </p:nvSpPr>
          <p:spPr bwMode="auto">
            <a:xfrm flipV="1">
              <a:off x="3105876" y="4614481"/>
              <a:ext cx="0" cy="347663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57" name="Line 418"/>
            <p:cNvSpPr>
              <a:spLocks noChangeShapeType="1"/>
            </p:cNvSpPr>
            <p:nvPr/>
          </p:nvSpPr>
          <p:spPr bwMode="auto">
            <a:xfrm rot="16200000" flipV="1">
              <a:off x="3158264" y="4558919"/>
              <a:ext cx="0" cy="114300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58" name="Line 419"/>
            <p:cNvSpPr>
              <a:spLocks noChangeShapeType="1"/>
            </p:cNvSpPr>
            <p:nvPr/>
          </p:nvSpPr>
          <p:spPr bwMode="auto">
            <a:xfrm>
              <a:off x="3147151" y="4781169"/>
              <a:ext cx="915988" cy="0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59" name="AutoShape 420"/>
            <p:cNvSpPr>
              <a:spLocks noChangeArrowheads="1"/>
            </p:cNvSpPr>
            <p:nvPr/>
          </p:nvSpPr>
          <p:spPr bwMode="auto">
            <a:xfrm rot="5400000">
              <a:off x="4041707" y="4745450"/>
              <a:ext cx="60325" cy="71438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1270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>
              <a:defPPr>
                <a:defRPr lang="en-US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60" name="Rectangle 159"/>
            <p:cNvSpPr>
              <a:spLocks noChangeArrowheads="1"/>
            </p:cNvSpPr>
            <p:nvPr/>
          </p:nvSpPr>
          <p:spPr bwMode="auto">
            <a:xfrm>
              <a:off x="3612289" y="4916106"/>
              <a:ext cx="214312" cy="236538"/>
            </a:xfrm>
            <a:prstGeom prst="rect">
              <a:avLst/>
            </a:prstGeom>
            <a:gradFill rotWithShape="1">
              <a:gsLst>
                <a:gs pos="0">
                  <a:srgbClr val="FFFFCC"/>
                </a:gs>
                <a:gs pos="100000">
                  <a:srgbClr val="76765E"/>
                </a:gs>
              </a:gsLst>
              <a:lin ang="2700000" scaled="1"/>
            </a:gradFill>
            <a:ln w="12700">
              <a:solidFill>
                <a:schemeClr val="bg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defPPr>
                <a:defRPr lang="en-US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61" name="AutoShape 422"/>
            <p:cNvSpPr>
              <a:spLocks noChangeArrowheads="1"/>
            </p:cNvSpPr>
            <p:nvPr/>
          </p:nvSpPr>
          <p:spPr bwMode="auto">
            <a:xfrm rot="5400000">
              <a:off x="3608320" y="5091525"/>
              <a:ext cx="61913" cy="53975"/>
            </a:xfrm>
            <a:prstGeom prst="triangle">
              <a:avLst>
                <a:gd name="adj" fmla="val 50000"/>
              </a:avLst>
            </a:prstGeom>
            <a:noFill/>
            <a:ln w="12700">
              <a:solidFill>
                <a:schemeClr val="bg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defPPr>
                <a:defRPr lang="en-US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62" name="AutoShape 423"/>
            <p:cNvSpPr>
              <a:spLocks noChangeArrowheads="1"/>
            </p:cNvSpPr>
            <p:nvPr/>
          </p:nvSpPr>
          <p:spPr bwMode="auto">
            <a:xfrm rot="16200000">
              <a:off x="3101908" y="4967700"/>
              <a:ext cx="312737" cy="85725"/>
            </a:xfrm>
            <a:custGeom>
              <a:avLst/>
              <a:gdLst>
                <a:gd name="T0" fmla="*/ 2147483647 w 21600"/>
                <a:gd name="T1" fmla="*/ 2147483647 h 21600"/>
                <a:gd name="T2" fmla="*/ 2147483647 w 21600"/>
                <a:gd name="T3" fmla="*/ 2147483647 h 21600"/>
                <a:gd name="T4" fmla="*/ 2147483647 w 21600"/>
                <a:gd name="T5" fmla="*/ 2147483647 h 21600"/>
                <a:gd name="T6" fmla="*/ 2147483647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3188 w 21600"/>
                <a:gd name="T13" fmla="*/ 3188 h 21600"/>
                <a:gd name="T14" fmla="*/ 18412 w 21600"/>
                <a:gd name="T15" fmla="*/ 18412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2776" y="21600"/>
                  </a:lnTo>
                  <a:lnTo>
                    <a:pt x="18824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chemeClr val="accent1"/>
            </a:solidFill>
            <a:ln w="1270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>
              <a:defPPr>
                <a:defRPr lang="en-US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63" name="Line 424"/>
            <p:cNvSpPr>
              <a:spLocks noChangeShapeType="1"/>
            </p:cNvSpPr>
            <p:nvPr/>
          </p:nvSpPr>
          <p:spPr bwMode="auto">
            <a:xfrm>
              <a:off x="3304314" y="5006594"/>
              <a:ext cx="303212" cy="0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64" name="Line 425"/>
            <p:cNvSpPr>
              <a:spLocks noChangeShapeType="1"/>
            </p:cNvSpPr>
            <p:nvPr/>
          </p:nvSpPr>
          <p:spPr bwMode="auto">
            <a:xfrm>
              <a:off x="3829776" y="5006594"/>
              <a:ext cx="238125" cy="0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65" name="AutoShape 426"/>
            <p:cNvSpPr>
              <a:spLocks noChangeArrowheads="1"/>
            </p:cNvSpPr>
            <p:nvPr/>
          </p:nvSpPr>
          <p:spPr bwMode="auto">
            <a:xfrm rot="5400000">
              <a:off x="4046470" y="4966113"/>
              <a:ext cx="60325" cy="71437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1270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>
              <a:defPPr>
                <a:defRPr lang="en-US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66" name="Line 427"/>
            <p:cNvSpPr>
              <a:spLocks noChangeShapeType="1"/>
            </p:cNvSpPr>
            <p:nvPr/>
          </p:nvSpPr>
          <p:spPr bwMode="auto">
            <a:xfrm>
              <a:off x="3021739" y="5039931"/>
              <a:ext cx="192087" cy="0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67" name="Line 428"/>
            <p:cNvSpPr>
              <a:spLocks noChangeShapeType="1"/>
            </p:cNvSpPr>
            <p:nvPr/>
          </p:nvSpPr>
          <p:spPr bwMode="auto">
            <a:xfrm flipV="1">
              <a:off x="3026501" y="4482719"/>
              <a:ext cx="0" cy="554037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68" name="Line 429"/>
            <p:cNvSpPr>
              <a:spLocks noChangeShapeType="1"/>
            </p:cNvSpPr>
            <p:nvPr/>
          </p:nvSpPr>
          <p:spPr bwMode="auto">
            <a:xfrm flipV="1">
              <a:off x="2989989" y="4523994"/>
              <a:ext cx="0" cy="555625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69" name="Line 430"/>
            <p:cNvSpPr>
              <a:spLocks noChangeShapeType="1"/>
            </p:cNvSpPr>
            <p:nvPr/>
          </p:nvSpPr>
          <p:spPr bwMode="auto">
            <a:xfrm>
              <a:off x="2986814" y="5074856"/>
              <a:ext cx="231775" cy="0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70" name="Line 432"/>
            <p:cNvSpPr>
              <a:spLocks noChangeShapeType="1"/>
            </p:cNvSpPr>
            <p:nvPr/>
          </p:nvSpPr>
          <p:spPr bwMode="auto">
            <a:xfrm flipV="1">
              <a:off x="2504214" y="4255706"/>
              <a:ext cx="0" cy="650875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71" name="Line 433"/>
            <p:cNvSpPr>
              <a:spLocks noChangeShapeType="1"/>
            </p:cNvSpPr>
            <p:nvPr/>
          </p:nvSpPr>
          <p:spPr bwMode="auto">
            <a:xfrm rot="16200000" flipV="1">
              <a:off x="2551045" y="4210462"/>
              <a:ext cx="0" cy="96838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72" name="Line 434"/>
            <p:cNvSpPr>
              <a:spLocks noChangeShapeType="1"/>
            </p:cNvSpPr>
            <p:nvPr/>
          </p:nvSpPr>
          <p:spPr bwMode="auto">
            <a:xfrm rot="16200000" flipV="1">
              <a:off x="2910614" y="4036631"/>
              <a:ext cx="0" cy="514350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73" name="Line 435"/>
            <p:cNvSpPr>
              <a:spLocks noChangeShapeType="1"/>
            </p:cNvSpPr>
            <p:nvPr/>
          </p:nvSpPr>
          <p:spPr bwMode="auto">
            <a:xfrm rot="16200000" flipV="1">
              <a:off x="3187633" y="4405724"/>
              <a:ext cx="0" cy="55563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74" name="Line 436"/>
            <p:cNvSpPr>
              <a:spLocks noChangeShapeType="1"/>
            </p:cNvSpPr>
            <p:nvPr/>
          </p:nvSpPr>
          <p:spPr bwMode="auto">
            <a:xfrm flipV="1">
              <a:off x="3163026" y="4295394"/>
              <a:ext cx="0" cy="134937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grpSp>
          <p:nvGrpSpPr>
            <p:cNvPr id="175" name="Group 174"/>
            <p:cNvGrpSpPr>
              <a:grpSpLocks/>
            </p:cNvGrpSpPr>
            <p:nvPr/>
          </p:nvGrpSpPr>
          <p:grpSpPr bwMode="auto">
            <a:xfrm>
              <a:off x="2959826" y="4247769"/>
              <a:ext cx="150813" cy="182562"/>
              <a:chOff x="5234" y="2189"/>
              <a:chExt cx="114" cy="138"/>
            </a:xfrm>
          </p:grpSpPr>
          <p:sp>
            <p:nvSpPr>
              <p:cNvPr id="266" name="Rectangle 265"/>
              <p:cNvSpPr>
                <a:spLocks noChangeArrowheads="1"/>
              </p:cNvSpPr>
              <p:nvPr/>
            </p:nvSpPr>
            <p:spPr bwMode="auto">
              <a:xfrm>
                <a:off x="5234" y="2189"/>
                <a:ext cx="114" cy="138"/>
              </a:xfrm>
              <a:prstGeom prst="rect">
                <a:avLst/>
              </a:prstGeom>
              <a:gradFill rotWithShape="1">
                <a:gsLst>
                  <a:gs pos="0">
                    <a:srgbClr val="FFFFCC"/>
                  </a:gs>
                  <a:gs pos="100000">
                    <a:srgbClr val="76765E"/>
                  </a:gs>
                </a:gsLst>
                <a:lin ang="2700000" scaled="1"/>
              </a:gradFill>
              <a:ln w="12700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>
                <a:defPPr>
                  <a:defRPr lang="en-US"/>
                </a:defPPr>
                <a:lvl1pPr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1pPr>
                <a:lvl2pPr marL="4572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2pPr>
                <a:lvl3pPr marL="9144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3pPr>
                <a:lvl4pPr marL="13716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4pPr>
                <a:lvl5pPr marL="18288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267" name="AutoShape 439"/>
              <p:cNvSpPr>
                <a:spLocks noChangeArrowheads="1"/>
              </p:cNvSpPr>
              <p:nvPr/>
            </p:nvSpPr>
            <p:spPr bwMode="auto">
              <a:xfrm rot="5400000">
                <a:off x="5229" y="2292"/>
                <a:ext cx="39" cy="27"/>
              </a:xfrm>
              <a:prstGeom prst="triangle">
                <a:avLst>
                  <a:gd name="adj" fmla="val 50000"/>
                </a:avLst>
              </a:prstGeom>
              <a:noFill/>
              <a:ln w="12700">
                <a:solidFill>
                  <a:schemeClr val="bg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>
                <a:defPPr>
                  <a:defRPr lang="en-US"/>
                </a:defPPr>
                <a:lvl1pPr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1pPr>
                <a:lvl2pPr marL="4572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2pPr>
                <a:lvl3pPr marL="9144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3pPr>
                <a:lvl4pPr marL="13716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4pPr>
                <a:lvl5pPr marL="18288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</p:grpSp>
        <p:sp>
          <p:nvSpPr>
            <p:cNvPr id="176" name="Line 440"/>
            <p:cNvSpPr>
              <a:spLocks noChangeShapeType="1"/>
            </p:cNvSpPr>
            <p:nvPr/>
          </p:nvSpPr>
          <p:spPr bwMode="auto">
            <a:xfrm flipH="1">
              <a:off x="775426" y="4755769"/>
              <a:ext cx="1762125" cy="0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77" name="Line 456"/>
            <p:cNvSpPr>
              <a:spLocks noChangeShapeType="1"/>
            </p:cNvSpPr>
            <p:nvPr/>
          </p:nvSpPr>
          <p:spPr bwMode="auto">
            <a:xfrm flipV="1">
              <a:off x="2543901" y="2206244"/>
              <a:ext cx="0" cy="433387"/>
            </a:xfrm>
            <a:prstGeom prst="line">
              <a:avLst/>
            </a:prstGeom>
            <a:no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78" name="Line 457"/>
            <p:cNvSpPr>
              <a:spLocks noChangeShapeType="1"/>
            </p:cNvSpPr>
            <p:nvPr/>
          </p:nvSpPr>
          <p:spPr bwMode="auto">
            <a:xfrm rot="16200000" flipV="1">
              <a:off x="2579620" y="2164175"/>
              <a:ext cx="0" cy="77788"/>
            </a:xfrm>
            <a:prstGeom prst="line">
              <a:avLst/>
            </a:prstGeom>
            <a:no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79" name="Line 458"/>
            <p:cNvSpPr>
              <a:spLocks noChangeShapeType="1"/>
            </p:cNvSpPr>
            <p:nvPr/>
          </p:nvSpPr>
          <p:spPr bwMode="auto">
            <a:xfrm flipV="1">
              <a:off x="2540726" y="4328731"/>
              <a:ext cx="0" cy="433388"/>
            </a:xfrm>
            <a:prstGeom prst="line">
              <a:avLst/>
            </a:prstGeom>
            <a:no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80" name="Line 459"/>
            <p:cNvSpPr>
              <a:spLocks noChangeShapeType="1"/>
            </p:cNvSpPr>
            <p:nvPr/>
          </p:nvSpPr>
          <p:spPr bwMode="auto">
            <a:xfrm rot="16200000" flipV="1">
              <a:off x="2574858" y="4286662"/>
              <a:ext cx="0" cy="77787"/>
            </a:xfrm>
            <a:prstGeom prst="line">
              <a:avLst/>
            </a:prstGeom>
            <a:no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81" name="AutoShape 431"/>
            <p:cNvSpPr>
              <a:spLocks noChangeArrowheads="1"/>
            </p:cNvSpPr>
            <p:nvPr/>
          </p:nvSpPr>
          <p:spPr bwMode="auto">
            <a:xfrm rot="5400000" flipV="1">
              <a:off x="2555807" y="4270788"/>
              <a:ext cx="149225" cy="52388"/>
            </a:xfrm>
            <a:custGeom>
              <a:avLst/>
              <a:gdLst>
                <a:gd name="T0" fmla="*/ 2147483647 w 21600"/>
                <a:gd name="T1" fmla="*/ 2147483647 h 21600"/>
                <a:gd name="T2" fmla="*/ 2147483647 w 21600"/>
                <a:gd name="T3" fmla="*/ 2147483647 h 21600"/>
                <a:gd name="T4" fmla="*/ 2147483647 w 21600"/>
                <a:gd name="T5" fmla="*/ 2147483647 h 21600"/>
                <a:gd name="T6" fmla="*/ 2147483647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5050 w 21600"/>
                <a:gd name="T13" fmla="*/ 5050 h 21600"/>
                <a:gd name="T14" fmla="*/ 16550 w 21600"/>
                <a:gd name="T15" fmla="*/ 1655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6499" y="21600"/>
                  </a:lnTo>
                  <a:lnTo>
                    <a:pt x="15101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chemeClr val="accent1"/>
            </a:solidFill>
            <a:ln w="12700" cap="rnd">
              <a:solidFill>
                <a:schemeClr val="bg1"/>
              </a:solidFill>
              <a:prstDash val="sysDot"/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defPPr>
                <a:defRPr lang="en-US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82" name="AutoShape 460"/>
            <p:cNvSpPr>
              <a:spLocks noChangeArrowheads="1"/>
            </p:cNvSpPr>
            <p:nvPr/>
          </p:nvSpPr>
          <p:spPr bwMode="auto">
            <a:xfrm rot="5400000" flipV="1">
              <a:off x="2293870" y="4499387"/>
              <a:ext cx="217488" cy="53975"/>
            </a:xfrm>
            <a:custGeom>
              <a:avLst/>
              <a:gdLst>
                <a:gd name="T0" fmla="*/ 2147483647 w 21600"/>
                <a:gd name="T1" fmla="*/ 2147483647 h 21600"/>
                <a:gd name="T2" fmla="*/ 2147483647 w 21600"/>
                <a:gd name="T3" fmla="*/ 2147483647 h 21600"/>
                <a:gd name="T4" fmla="*/ 2147483647 w 21600"/>
                <a:gd name="T5" fmla="*/ 2147483647 h 21600"/>
                <a:gd name="T6" fmla="*/ 2147483647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3188 w 21600"/>
                <a:gd name="T13" fmla="*/ 3188 h 21600"/>
                <a:gd name="T14" fmla="*/ 18412 w 21600"/>
                <a:gd name="T15" fmla="*/ 18412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2776" y="21600"/>
                  </a:lnTo>
                  <a:lnTo>
                    <a:pt x="18824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chemeClr val="accent1"/>
            </a:solidFill>
            <a:ln w="12700">
              <a:solidFill>
                <a:schemeClr val="bg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defPPr>
                <a:defRPr lang="en-US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83" name="Line 461"/>
            <p:cNvSpPr>
              <a:spLocks noChangeShapeType="1"/>
            </p:cNvSpPr>
            <p:nvPr/>
          </p:nvSpPr>
          <p:spPr bwMode="auto">
            <a:xfrm>
              <a:off x="2429601" y="4527169"/>
              <a:ext cx="790575" cy="0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84" name="Line 462"/>
            <p:cNvSpPr>
              <a:spLocks noChangeShapeType="1"/>
            </p:cNvSpPr>
            <p:nvPr/>
          </p:nvSpPr>
          <p:spPr bwMode="auto">
            <a:xfrm flipV="1">
              <a:off x="2310539" y="4587494"/>
              <a:ext cx="0" cy="333375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85" name="Line 463"/>
            <p:cNvSpPr>
              <a:spLocks noChangeShapeType="1"/>
            </p:cNvSpPr>
            <p:nvPr/>
          </p:nvSpPr>
          <p:spPr bwMode="auto">
            <a:xfrm rot="16200000" flipV="1">
              <a:off x="2341495" y="4558125"/>
              <a:ext cx="0" cy="65088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86" name="Line 464"/>
            <p:cNvSpPr>
              <a:spLocks noChangeShapeType="1"/>
            </p:cNvSpPr>
            <p:nvPr/>
          </p:nvSpPr>
          <p:spPr bwMode="auto">
            <a:xfrm rot="16200000" flipV="1">
              <a:off x="2341495" y="4427950"/>
              <a:ext cx="0" cy="65088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87" name="Line 466"/>
            <p:cNvSpPr>
              <a:spLocks noChangeShapeType="1"/>
            </p:cNvSpPr>
            <p:nvPr/>
          </p:nvSpPr>
          <p:spPr bwMode="auto">
            <a:xfrm flipV="1">
              <a:off x="2310539" y="3722306"/>
              <a:ext cx="0" cy="738188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88" name="Line 467"/>
            <p:cNvSpPr>
              <a:spLocks noChangeShapeType="1"/>
            </p:cNvSpPr>
            <p:nvPr/>
          </p:nvSpPr>
          <p:spPr bwMode="auto">
            <a:xfrm flipV="1">
              <a:off x="2405789" y="4614481"/>
              <a:ext cx="0" cy="139700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grpSp>
          <p:nvGrpSpPr>
            <p:cNvPr id="189" name="Group 188"/>
            <p:cNvGrpSpPr>
              <a:grpSpLocks/>
            </p:cNvGrpSpPr>
            <p:nvPr/>
          </p:nvGrpSpPr>
          <p:grpSpPr bwMode="auto">
            <a:xfrm>
              <a:off x="761154" y="2609455"/>
              <a:ext cx="1287466" cy="735008"/>
              <a:chOff x="3788" y="1868"/>
              <a:chExt cx="974" cy="556"/>
            </a:xfrm>
          </p:grpSpPr>
          <p:sp>
            <p:nvSpPr>
              <p:cNvPr id="249" name="AutoShape 324"/>
              <p:cNvSpPr>
                <a:spLocks noChangeArrowheads="1"/>
              </p:cNvSpPr>
              <p:nvPr/>
            </p:nvSpPr>
            <p:spPr bwMode="auto">
              <a:xfrm rot="5400000">
                <a:off x="3792" y="1864"/>
                <a:ext cx="46" cy="54"/>
              </a:xfrm>
              <a:prstGeom prst="triangle">
                <a:avLst>
                  <a:gd name="adj" fmla="val 50000"/>
                </a:avLst>
              </a:prstGeom>
              <a:solidFill>
                <a:schemeClr val="accent1"/>
              </a:solidFill>
              <a:ln w="12700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>
                <a:defPPr>
                  <a:defRPr lang="en-US"/>
                </a:defPPr>
                <a:lvl1pPr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1pPr>
                <a:lvl2pPr marL="4572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2pPr>
                <a:lvl3pPr marL="9144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3pPr>
                <a:lvl4pPr marL="13716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4pPr>
                <a:lvl5pPr marL="18288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250" name="Line 7"/>
              <p:cNvSpPr>
                <a:spLocks noChangeShapeType="1"/>
              </p:cNvSpPr>
              <p:nvPr/>
            </p:nvSpPr>
            <p:spPr bwMode="auto">
              <a:xfrm>
                <a:off x="3834" y="2004"/>
                <a:ext cx="273" cy="0"/>
              </a:xfrm>
              <a:prstGeom prst="line">
                <a:avLst/>
              </a:prstGeom>
              <a:noFill/>
              <a:ln w="1270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>
                <a:defPPr>
                  <a:defRPr lang="en-US"/>
                </a:defPPr>
                <a:lvl1pPr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1pPr>
                <a:lvl2pPr marL="4572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2pPr>
                <a:lvl3pPr marL="9144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3pPr>
                <a:lvl4pPr marL="13716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4pPr>
                <a:lvl5pPr marL="18288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251" name="Line 8"/>
              <p:cNvSpPr>
                <a:spLocks noChangeShapeType="1"/>
              </p:cNvSpPr>
              <p:nvPr/>
            </p:nvSpPr>
            <p:spPr bwMode="auto">
              <a:xfrm>
                <a:off x="3834" y="2050"/>
                <a:ext cx="273" cy="0"/>
              </a:xfrm>
              <a:prstGeom prst="line">
                <a:avLst/>
              </a:prstGeom>
              <a:noFill/>
              <a:ln w="1270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>
                <a:defPPr>
                  <a:defRPr lang="en-US"/>
                </a:defPPr>
                <a:lvl1pPr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1pPr>
                <a:lvl2pPr marL="4572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2pPr>
                <a:lvl3pPr marL="9144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3pPr>
                <a:lvl4pPr marL="13716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4pPr>
                <a:lvl5pPr marL="18288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252" name="Line 9"/>
              <p:cNvSpPr>
                <a:spLocks noChangeShapeType="1"/>
              </p:cNvSpPr>
              <p:nvPr/>
            </p:nvSpPr>
            <p:spPr bwMode="auto">
              <a:xfrm>
                <a:off x="3834" y="2094"/>
                <a:ext cx="273" cy="0"/>
              </a:xfrm>
              <a:prstGeom prst="line">
                <a:avLst/>
              </a:prstGeom>
              <a:noFill/>
              <a:ln w="1270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>
                <a:defPPr>
                  <a:defRPr lang="en-US"/>
                </a:defPPr>
                <a:lvl1pPr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1pPr>
                <a:lvl2pPr marL="4572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2pPr>
                <a:lvl3pPr marL="9144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3pPr>
                <a:lvl4pPr marL="13716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4pPr>
                <a:lvl5pPr marL="18288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253" name="Line 10"/>
              <p:cNvSpPr>
                <a:spLocks noChangeShapeType="1"/>
              </p:cNvSpPr>
              <p:nvPr/>
            </p:nvSpPr>
            <p:spPr bwMode="auto">
              <a:xfrm>
                <a:off x="3834" y="2140"/>
                <a:ext cx="273" cy="0"/>
              </a:xfrm>
              <a:prstGeom prst="line">
                <a:avLst/>
              </a:prstGeom>
              <a:noFill/>
              <a:ln w="1270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>
                <a:defPPr>
                  <a:defRPr lang="en-US"/>
                </a:defPPr>
                <a:lvl1pPr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1pPr>
                <a:lvl2pPr marL="4572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2pPr>
                <a:lvl3pPr marL="9144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3pPr>
                <a:lvl4pPr marL="13716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4pPr>
                <a:lvl5pPr marL="18288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254" name="Line 11"/>
              <p:cNvSpPr>
                <a:spLocks noChangeShapeType="1"/>
              </p:cNvSpPr>
              <p:nvPr/>
            </p:nvSpPr>
            <p:spPr bwMode="auto">
              <a:xfrm>
                <a:off x="3834" y="2186"/>
                <a:ext cx="273" cy="0"/>
              </a:xfrm>
              <a:prstGeom prst="line">
                <a:avLst/>
              </a:prstGeom>
              <a:noFill/>
              <a:ln w="1270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>
                <a:defPPr>
                  <a:defRPr lang="en-US"/>
                </a:defPPr>
                <a:lvl1pPr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1pPr>
                <a:lvl2pPr marL="4572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2pPr>
                <a:lvl3pPr marL="9144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3pPr>
                <a:lvl4pPr marL="13716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4pPr>
                <a:lvl5pPr marL="18288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255" name="Line 12"/>
              <p:cNvSpPr>
                <a:spLocks noChangeShapeType="1"/>
              </p:cNvSpPr>
              <p:nvPr/>
            </p:nvSpPr>
            <p:spPr bwMode="auto">
              <a:xfrm>
                <a:off x="3834" y="2232"/>
                <a:ext cx="273" cy="0"/>
              </a:xfrm>
              <a:prstGeom prst="line">
                <a:avLst/>
              </a:prstGeom>
              <a:noFill/>
              <a:ln w="1270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>
                <a:defPPr>
                  <a:defRPr lang="en-US"/>
                </a:defPPr>
                <a:lvl1pPr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1pPr>
                <a:lvl2pPr marL="4572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2pPr>
                <a:lvl3pPr marL="9144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3pPr>
                <a:lvl4pPr marL="13716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4pPr>
                <a:lvl5pPr marL="18288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256" name="AutoShape 13"/>
              <p:cNvSpPr>
                <a:spLocks noChangeArrowheads="1"/>
              </p:cNvSpPr>
              <p:nvPr/>
            </p:nvSpPr>
            <p:spPr bwMode="auto">
              <a:xfrm rot="5400000">
                <a:off x="3797" y="1977"/>
                <a:ext cx="46" cy="54"/>
              </a:xfrm>
              <a:prstGeom prst="triangle">
                <a:avLst>
                  <a:gd name="adj" fmla="val 50000"/>
                </a:avLst>
              </a:prstGeom>
              <a:solidFill>
                <a:schemeClr val="accent1"/>
              </a:solidFill>
              <a:ln w="12700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>
                <a:defPPr>
                  <a:defRPr lang="en-US"/>
                </a:defPPr>
                <a:lvl1pPr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1pPr>
                <a:lvl2pPr marL="4572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2pPr>
                <a:lvl3pPr marL="9144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3pPr>
                <a:lvl4pPr marL="13716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4pPr>
                <a:lvl5pPr marL="18288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257" name="AutoShape 14"/>
              <p:cNvSpPr>
                <a:spLocks noChangeArrowheads="1"/>
              </p:cNvSpPr>
              <p:nvPr/>
            </p:nvSpPr>
            <p:spPr bwMode="auto">
              <a:xfrm rot="5400000">
                <a:off x="3798" y="2022"/>
                <a:ext cx="44" cy="54"/>
              </a:xfrm>
              <a:prstGeom prst="triangle">
                <a:avLst>
                  <a:gd name="adj" fmla="val 50000"/>
                </a:avLst>
              </a:prstGeom>
              <a:solidFill>
                <a:schemeClr val="accent1"/>
              </a:solidFill>
              <a:ln w="12700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>
                <a:defPPr>
                  <a:defRPr lang="en-US"/>
                </a:defPPr>
                <a:lvl1pPr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1pPr>
                <a:lvl2pPr marL="4572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2pPr>
                <a:lvl3pPr marL="9144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3pPr>
                <a:lvl4pPr marL="13716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4pPr>
                <a:lvl5pPr marL="18288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258" name="AutoShape 15"/>
              <p:cNvSpPr>
                <a:spLocks noChangeArrowheads="1"/>
              </p:cNvSpPr>
              <p:nvPr/>
            </p:nvSpPr>
            <p:spPr bwMode="auto">
              <a:xfrm rot="5400000">
                <a:off x="3797" y="2067"/>
                <a:ext cx="46" cy="54"/>
              </a:xfrm>
              <a:prstGeom prst="triangle">
                <a:avLst>
                  <a:gd name="adj" fmla="val 50000"/>
                </a:avLst>
              </a:prstGeom>
              <a:solidFill>
                <a:schemeClr val="accent1"/>
              </a:solidFill>
              <a:ln w="12700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>
                <a:defPPr>
                  <a:defRPr lang="en-US"/>
                </a:defPPr>
                <a:lvl1pPr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1pPr>
                <a:lvl2pPr marL="4572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2pPr>
                <a:lvl3pPr marL="9144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3pPr>
                <a:lvl4pPr marL="13716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4pPr>
                <a:lvl5pPr marL="18288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259" name="AutoShape 16"/>
              <p:cNvSpPr>
                <a:spLocks noChangeArrowheads="1"/>
              </p:cNvSpPr>
              <p:nvPr/>
            </p:nvSpPr>
            <p:spPr bwMode="auto">
              <a:xfrm rot="5400000">
                <a:off x="3797" y="2113"/>
                <a:ext cx="46" cy="54"/>
              </a:xfrm>
              <a:prstGeom prst="triangle">
                <a:avLst>
                  <a:gd name="adj" fmla="val 50000"/>
                </a:avLst>
              </a:prstGeom>
              <a:solidFill>
                <a:schemeClr val="accent1"/>
              </a:solidFill>
              <a:ln w="12700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>
                <a:defPPr>
                  <a:defRPr lang="en-US"/>
                </a:defPPr>
                <a:lvl1pPr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1pPr>
                <a:lvl2pPr marL="4572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2pPr>
                <a:lvl3pPr marL="9144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3pPr>
                <a:lvl4pPr marL="13716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4pPr>
                <a:lvl5pPr marL="18288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260" name="AutoShape 17"/>
              <p:cNvSpPr>
                <a:spLocks noChangeArrowheads="1"/>
              </p:cNvSpPr>
              <p:nvPr/>
            </p:nvSpPr>
            <p:spPr bwMode="auto">
              <a:xfrm rot="5400000">
                <a:off x="3797" y="2159"/>
                <a:ext cx="46" cy="54"/>
              </a:xfrm>
              <a:prstGeom prst="triangle">
                <a:avLst>
                  <a:gd name="adj" fmla="val 50000"/>
                </a:avLst>
              </a:prstGeom>
              <a:solidFill>
                <a:schemeClr val="accent1"/>
              </a:solidFill>
              <a:ln w="12700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>
                <a:defPPr>
                  <a:defRPr lang="en-US"/>
                </a:defPPr>
                <a:lvl1pPr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1pPr>
                <a:lvl2pPr marL="4572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2pPr>
                <a:lvl3pPr marL="9144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3pPr>
                <a:lvl4pPr marL="13716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4pPr>
                <a:lvl5pPr marL="18288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261" name="AutoShape 18"/>
              <p:cNvSpPr>
                <a:spLocks noChangeArrowheads="1"/>
              </p:cNvSpPr>
              <p:nvPr/>
            </p:nvSpPr>
            <p:spPr bwMode="auto">
              <a:xfrm rot="5400000">
                <a:off x="3798" y="2204"/>
                <a:ext cx="44" cy="54"/>
              </a:xfrm>
              <a:prstGeom prst="triangle">
                <a:avLst>
                  <a:gd name="adj" fmla="val 50000"/>
                </a:avLst>
              </a:prstGeom>
              <a:solidFill>
                <a:schemeClr val="accent1"/>
              </a:solidFill>
              <a:ln w="12700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>
                <a:defPPr>
                  <a:defRPr lang="en-US"/>
                </a:defPPr>
                <a:lvl1pPr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1pPr>
                <a:lvl2pPr marL="4572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2pPr>
                <a:lvl3pPr marL="9144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3pPr>
                <a:lvl4pPr marL="13716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4pPr>
                <a:lvl5pPr marL="18288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262" name="Line 468"/>
              <p:cNvSpPr>
                <a:spLocks noChangeShapeType="1"/>
              </p:cNvSpPr>
              <p:nvPr/>
            </p:nvSpPr>
            <p:spPr bwMode="auto">
              <a:xfrm flipH="1">
                <a:off x="3841" y="2399"/>
                <a:ext cx="573" cy="0"/>
              </a:xfrm>
              <a:prstGeom prst="line">
                <a:avLst/>
              </a:prstGeom>
              <a:noFill/>
              <a:ln w="1270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>
                <a:defPPr>
                  <a:defRPr lang="en-US"/>
                </a:defPPr>
                <a:lvl1pPr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1pPr>
                <a:lvl2pPr marL="4572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2pPr>
                <a:lvl3pPr marL="9144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3pPr>
                <a:lvl4pPr marL="13716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4pPr>
                <a:lvl5pPr marL="18288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263" name="AutoShape 469"/>
              <p:cNvSpPr>
                <a:spLocks noChangeArrowheads="1"/>
              </p:cNvSpPr>
              <p:nvPr/>
            </p:nvSpPr>
            <p:spPr bwMode="auto">
              <a:xfrm rot="5400000">
                <a:off x="3792" y="2374"/>
                <a:ext cx="46" cy="54"/>
              </a:xfrm>
              <a:prstGeom prst="triangle">
                <a:avLst>
                  <a:gd name="adj" fmla="val 50000"/>
                </a:avLst>
              </a:prstGeom>
              <a:solidFill>
                <a:schemeClr val="accent1"/>
              </a:solidFill>
              <a:ln w="12700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>
                <a:defPPr>
                  <a:defRPr lang="en-US"/>
                </a:defPPr>
                <a:lvl1pPr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1pPr>
                <a:lvl2pPr marL="4572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2pPr>
                <a:lvl3pPr marL="9144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3pPr>
                <a:lvl4pPr marL="13716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4pPr>
                <a:lvl5pPr marL="18288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264" name="Line 470"/>
              <p:cNvSpPr>
                <a:spLocks noChangeShapeType="1"/>
              </p:cNvSpPr>
              <p:nvPr/>
            </p:nvSpPr>
            <p:spPr bwMode="auto">
              <a:xfrm flipV="1">
                <a:off x="4409" y="1892"/>
                <a:ext cx="0" cy="508"/>
              </a:xfrm>
              <a:prstGeom prst="line">
                <a:avLst/>
              </a:prstGeom>
              <a:noFill/>
              <a:ln w="1270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>
                <a:defPPr>
                  <a:defRPr lang="en-US"/>
                </a:defPPr>
                <a:lvl1pPr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1pPr>
                <a:lvl2pPr marL="4572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2pPr>
                <a:lvl3pPr marL="9144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3pPr>
                <a:lvl4pPr marL="13716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4pPr>
                <a:lvl5pPr marL="18288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265" name="Rectangle 264"/>
              <p:cNvSpPr>
                <a:spLocks noChangeArrowheads="1"/>
              </p:cNvSpPr>
              <p:nvPr/>
            </p:nvSpPr>
            <p:spPr bwMode="auto">
              <a:xfrm>
                <a:off x="4107" y="1958"/>
                <a:ext cx="655" cy="364"/>
              </a:xfrm>
              <a:prstGeom prst="rect">
                <a:avLst/>
              </a:prstGeom>
              <a:gradFill rotWithShape="1">
                <a:gsLst>
                  <a:gs pos="0">
                    <a:srgbClr val="003366"/>
                  </a:gs>
                  <a:gs pos="100000">
                    <a:srgbClr val="FFFFFF"/>
                  </a:gs>
                </a:gsLst>
                <a:lin ang="2700000" scaled="1"/>
              </a:gradFill>
              <a:ln w="12700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lIns="76197" tIns="38098" rIns="76197" bIns="38098" anchor="ctr"/>
              <a:lstStyle>
                <a:defPPr>
                  <a:defRPr lang="en-US"/>
                </a:defPPr>
                <a:lvl1pPr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1pPr>
                <a:lvl2pPr marL="4572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2pPr>
                <a:lvl3pPr marL="9144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3pPr>
                <a:lvl4pPr marL="13716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4pPr>
                <a:lvl5pPr marL="18288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9pPr>
              </a:lstStyle>
              <a:p>
                <a:r>
                  <a:rPr lang="en-US" sz="800"/>
                  <a:t>LUT/RAM/SRL</a:t>
                </a:r>
              </a:p>
            </p:txBody>
          </p:sp>
        </p:grpSp>
        <p:grpSp>
          <p:nvGrpSpPr>
            <p:cNvPr id="190" name="Group 189"/>
            <p:cNvGrpSpPr>
              <a:grpSpLocks/>
            </p:cNvGrpSpPr>
            <p:nvPr/>
          </p:nvGrpSpPr>
          <p:grpSpPr bwMode="auto">
            <a:xfrm>
              <a:off x="761154" y="3546080"/>
              <a:ext cx="1287466" cy="735008"/>
              <a:chOff x="3788" y="1868"/>
              <a:chExt cx="974" cy="556"/>
            </a:xfrm>
          </p:grpSpPr>
          <p:sp>
            <p:nvSpPr>
              <p:cNvPr id="232" name="AutoShape 473"/>
              <p:cNvSpPr>
                <a:spLocks noChangeArrowheads="1"/>
              </p:cNvSpPr>
              <p:nvPr/>
            </p:nvSpPr>
            <p:spPr bwMode="auto">
              <a:xfrm rot="5400000">
                <a:off x="3792" y="1864"/>
                <a:ext cx="46" cy="54"/>
              </a:xfrm>
              <a:prstGeom prst="triangle">
                <a:avLst>
                  <a:gd name="adj" fmla="val 50000"/>
                </a:avLst>
              </a:prstGeom>
              <a:solidFill>
                <a:schemeClr val="accent1"/>
              </a:solidFill>
              <a:ln w="12700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>
                <a:defPPr>
                  <a:defRPr lang="en-US"/>
                </a:defPPr>
                <a:lvl1pPr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1pPr>
                <a:lvl2pPr marL="4572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2pPr>
                <a:lvl3pPr marL="9144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3pPr>
                <a:lvl4pPr marL="13716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4pPr>
                <a:lvl5pPr marL="18288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233" name="Line 474"/>
              <p:cNvSpPr>
                <a:spLocks noChangeShapeType="1"/>
              </p:cNvSpPr>
              <p:nvPr/>
            </p:nvSpPr>
            <p:spPr bwMode="auto">
              <a:xfrm>
                <a:off x="3834" y="2004"/>
                <a:ext cx="273" cy="0"/>
              </a:xfrm>
              <a:prstGeom prst="line">
                <a:avLst/>
              </a:prstGeom>
              <a:noFill/>
              <a:ln w="1270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>
                <a:defPPr>
                  <a:defRPr lang="en-US"/>
                </a:defPPr>
                <a:lvl1pPr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1pPr>
                <a:lvl2pPr marL="4572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2pPr>
                <a:lvl3pPr marL="9144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3pPr>
                <a:lvl4pPr marL="13716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4pPr>
                <a:lvl5pPr marL="18288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234" name="Line 475"/>
              <p:cNvSpPr>
                <a:spLocks noChangeShapeType="1"/>
              </p:cNvSpPr>
              <p:nvPr/>
            </p:nvSpPr>
            <p:spPr bwMode="auto">
              <a:xfrm>
                <a:off x="3834" y="2050"/>
                <a:ext cx="273" cy="0"/>
              </a:xfrm>
              <a:prstGeom prst="line">
                <a:avLst/>
              </a:prstGeom>
              <a:noFill/>
              <a:ln w="1270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>
                <a:defPPr>
                  <a:defRPr lang="en-US"/>
                </a:defPPr>
                <a:lvl1pPr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1pPr>
                <a:lvl2pPr marL="4572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2pPr>
                <a:lvl3pPr marL="9144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3pPr>
                <a:lvl4pPr marL="13716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4pPr>
                <a:lvl5pPr marL="18288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235" name="Line 476"/>
              <p:cNvSpPr>
                <a:spLocks noChangeShapeType="1"/>
              </p:cNvSpPr>
              <p:nvPr/>
            </p:nvSpPr>
            <p:spPr bwMode="auto">
              <a:xfrm>
                <a:off x="3834" y="2094"/>
                <a:ext cx="273" cy="0"/>
              </a:xfrm>
              <a:prstGeom prst="line">
                <a:avLst/>
              </a:prstGeom>
              <a:noFill/>
              <a:ln w="1270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>
                <a:defPPr>
                  <a:defRPr lang="en-US"/>
                </a:defPPr>
                <a:lvl1pPr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1pPr>
                <a:lvl2pPr marL="4572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2pPr>
                <a:lvl3pPr marL="9144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3pPr>
                <a:lvl4pPr marL="13716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4pPr>
                <a:lvl5pPr marL="18288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236" name="Line 477"/>
              <p:cNvSpPr>
                <a:spLocks noChangeShapeType="1"/>
              </p:cNvSpPr>
              <p:nvPr/>
            </p:nvSpPr>
            <p:spPr bwMode="auto">
              <a:xfrm>
                <a:off x="3834" y="2140"/>
                <a:ext cx="273" cy="0"/>
              </a:xfrm>
              <a:prstGeom prst="line">
                <a:avLst/>
              </a:prstGeom>
              <a:noFill/>
              <a:ln w="1270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>
                <a:defPPr>
                  <a:defRPr lang="en-US"/>
                </a:defPPr>
                <a:lvl1pPr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1pPr>
                <a:lvl2pPr marL="4572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2pPr>
                <a:lvl3pPr marL="9144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3pPr>
                <a:lvl4pPr marL="13716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4pPr>
                <a:lvl5pPr marL="18288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237" name="Line 478"/>
              <p:cNvSpPr>
                <a:spLocks noChangeShapeType="1"/>
              </p:cNvSpPr>
              <p:nvPr/>
            </p:nvSpPr>
            <p:spPr bwMode="auto">
              <a:xfrm>
                <a:off x="3834" y="2186"/>
                <a:ext cx="273" cy="0"/>
              </a:xfrm>
              <a:prstGeom prst="line">
                <a:avLst/>
              </a:prstGeom>
              <a:noFill/>
              <a:ln w="1270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>
                <a:defPPr>
                  <a:defRPr lang="en-US"/>
                </a:defPPr>
                <a:lvl1pPr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1pPr>
                <a:lvl2pPr marL="4572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2pPr>
                <a:lvl3pPr marL="9144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3pPr>
                <a:lvl4pPr marL="13716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4pPr>
                <a:lvl5pPr marL="18288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238" name="Line 479"/>
              <p:cNvSpPr>
                <a:spLocks noChangeShapeType="1"/>
              </p:cNvSpPr>
              <p:nvPr/>
            </p:nvSpPr>
            <p:spPr bwMode="auto">
              <a:xfrm>
                <a:off x="3834" y="2232"/>
                <a:ext cx="273" cy="0"/>
              </a:xfrm>
              <a:prstGeom prst="line">
                <a:avLst/>
              </a:prstGeom>
              <a:noFill/>
              <a:ln w="1270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>
                <a:defPPr>
                  <a:defRPr lang="en-US"/>
                </a:defPPr>
                <a:lvl1pPr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1pPr>
                <a:lvl2pPr marL="4572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2pPr>
                <a:lvl3pPr marL="9144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3pPr>
                <a:lvl4pPr marL="13716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4pPr>
                <a:lvl5pPr marL="18288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239" name="AutoShape 480"/>
              <p:cNvSpPr>
                <a:spLocks noChangeArrowheads="1"/>
              </p:cNvSpPr>
              <p:nvPr/>
            </p:nvSpPr>
            <p:spPr bwMode="auto">
              <a:xfrm rot="5400000">
                <a:off x="3797" y="1977"/>
                <a:ext cx="46" cy="54"/>
              </a:xfrm>
              <a:prstGeom prst="triangle">
                <a:avLst>
                  <a:gd name="adj" fmla="val 50000"/>
                </a:avLst>
              </a:prstGeom>
              <a:solidFill>
                <a:schemeClr val="accent1"/>
              </a:solidFill>
              <a:ln w="12700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>
                <a:defPPr>
                  <a:defRPr lang="en-US"/>
                </a:defPPr>
                <a:lvl1pPr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1pPr>
                <a:lvl2pPr marL="4572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2pPr>
                <a:lvl3pPr marL="9144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3pPr>
                <a:lvl4pPr marL="13716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4pPr>
                <a:lvl5pPr marL="18288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240" name="AutoShape 481"/>
              <p:cNvSpPr>
                <a:spLocks noChangeArrowheads="1"/>
              </p:cNvSpPr>
              <p:nvPr/>
            </p:nvSpPr>
            <p:spPr bwMode="auto">
              <a:xfrm rot="5400000">
                <a:off x="3798" y="2022"/>
                <a:ext cx="44" cy="54"/>
              </a:xfrm>
              <a:prstGeom prst="triangle">
                <a:avLst>
                  <a:gd name="adj" fmla="val 50000"/>
                </a:avLst>
              </a:prstGeom>
              <a:solidFill>
                <a:schemeClr val="accent1"/>
              </a:solidFill>
              <a:ln w="12700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>
                <a:defPPr>
                  <a:defRPr lang="en-US"/>
                </a:defPPr>
                <a:lvl1pPr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1pPr>
                <a:lvl2pPr marL="4572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2pPr>
                <a:lvl3pPr marL="9144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3pPr>
                <a:lvl4pPr marL="13716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4pPr>
                <a:lvl5pPr marL="18288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241" name="AutoShape 482"/>
              <p:cNvSpPr>
                <a:spLocks noChangeArrowheads="1"/>
              </p:cNvSpPr>
              <p:nvPr/>
            </p:nvSpPr>
            <p:spPr bwMode="auto">
              <a:xfrm rot="5400000">
                <a:off x="3797" y="2067"/>
                <a:ext cx="46" cy="54"/>
              </a:xfrm>
              <a:prstGeom prst="triangle">
                <a:avLst>
                  <a:gd name="adj" fmla="val 50000"/>
                </a:avLst>
              </a:prstGeom>
              <a:solidFill>
                <a:schemeClr val="accent1"/>
              </a:solidFill>
              <a:ln w="12700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>
                <a:defPPr>
                  <a:defRPr lang="en-US"/>
                </a:defPPr>
                <a:lvl1pPr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1pPr>
                <a:lvl2pPr marL="4572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2pPr>
                <a:lvl3pPr marL="9144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3pPr>
                <a:lvl4pPr marL="13716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4pPr>
                <a:lvl5pPr marL="18288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242" name="AutoShape 483"/>
              <p:cNvSpPr>
                <a:spLocks noChangeArrowheads="1"/>
              </p:cNvSpPr>
              <p:nvPr/>
            </p:nvSpPr>
            <p:spPr bwMode="auto">
              <a:xfrm rot="5400000">
                <a:off x="3797" y="2113"/>
                <a:ext cx="46" cy="54"/>
              </a:xfrm>
              <a:prstGeom prst="triangle">
                <a:avLst>
                  <a:gd name="adj" fmla="val 50000"/>
                </a:avLst>
              </a:prstGeom>
              <a:solidFill>
                <a:schemeClr val="accent1"/>
              </a:solidFill>
              <a:ln w="12700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>
                <a:defPPr>
                  <a:defRPr lang="en-US"/>
                </a:defPPr>
                <a:lvl1pPr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1pPr>
                <a:lvl2pPr marL="4572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2pPr>
                <a:lvl3pPr marL="9144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3pPr>
                <a:lvl4pPr marL="13716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4pPr>
                <a:lvl5pPr marL="18288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243" name="AutoShape 484"/>
              <p:cNvSpPr>
                <a:spLocks noChangeArrowheads="1"/>
              </p:cNvSpPr>
              <p:nvPr/>
            </p:nvSpPr>
            <p:spPr bwMode="auto">
              <a:xfrm rot="5400000">
                <a:off x="3797" y="2159"/>
                <a:ext cx="46" cy="54"/>
              </a:xfrm>
              <a:prstGeom prst="triangle">
                <a:avLst>
                  <a:gd name="adj" fmla="val 50000"/>
                </a:avLst>
              </a:prstGeom>
              <a:solidFill>
                <a:schemeClr val="accent1"/>
              </a:solidFill>
              <a:ln w="12700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>
                <a:defPPr>
                  <a:defRPr lang="en-US"/>
                </a:defPPr>
                <a:lvl1pPr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1pPr>
                <a:lvl2pPr marL="4572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2pPr>
                <a:lvl3pPr marL="9144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3pPr>
                <a:lvl4pPr marL="13716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4pPr>
                <a:lvl5pPr marL="18288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244" name="AutoShape 485"/>
              <p:cNvSpPr>
                <a:spLocks noChangeArrowheads="1"/>
              </p:cNvSpPr>
              <p:nvPr/>
            </p:nvSpPr>
            <p:spPr bwMode="auto">
              <a:xfrm rot="5400000">
                <a:off x="3798" y="2204"/>
                <a:ext cx="44" cy="54"/>
              </a:xfrm>
              <a:prstGeom prst="triangle">
                <a:avLst>
                  <a:gd name="adj" fmla="val 50000"/>
                </a:avLst>
              </a:prstGeom>
              <a:solidFill>
                <a:schemeClr val="accent1"/>
              </a:solidFill>
              <a:ln w="12700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>
                <a:defPPr>
                  <a:defRPr lang="en-US"/>
                </a:defPPr>
                <a:lvl1pPr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1pPr>
                <a:lvl2pPr marL="4572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2pPr>
                <a:lvl3pPr marL="9144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3pPr>
                <a:lvl4pPr marL="13716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4pPr>
                <a:lvl5pPr marL="18288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245" name="Line 486"/>
              <p:cNvSpPr>
                <a:spLocks noChangeShapeType="1"/>
              </p:cNvSpPr>
              <p:nvPr/>
            </p:nvSpPr>
            <p:spPr bwMode="auto">
              <a:xfrm flipH="1">
                <a:off x="3841" y="2399"/>
                <a:ext cx="573" cy="0"/>
              </a:xfrm>
              <a:prstGeom prst="line">
                <a:avLst/>
              </a:prstGeom>
              <a:noFill/>
              <a:ln w="1270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>
                <a:defPPr>
                  <a:defRPr lang="en-US"/>
                </a:defPPr>
                <a:lvl1pPr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1pPr>
                <a:lvl2pPr marL="4572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2pPr>
                <a:lvl3pPr marL="9144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3pPr>
                <a:lvl4pPr marL="13716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4pPr>
                <a:lvl5pPr marL="18288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246" name="AutoShape 487"/>
              <p:cNvSpPr>
                <a:spLocks noChangeArrowheads="1"/>
              </p:cNvSpPr>
              <p:nvPr/>
            </p:nvSpPr>
            <p:spPr bwMode="auto">
              <a:xfrm rot="5400000">
                <a:off x="3792" y="2374"/>
                <a:ext cx="46" cy="54"/>
              </a:xfrm>
              <a:prstGeom prst="triangle">
                <a:avLst>
                  <a:gd name="adj" fmla="val 50000"/>
                </a:avLst>
              </a:prstGeom>
              <a:solidFill>
                <a:schemeClr val="accent1"/>
              </a:solidFill>
              <a:ln w="12700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>
                <a:defPPr>
                  <a:defRPr lang="en-US"/>
                </a:defPPr>
                <a:lvl1pPr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1pPr>
                <a:lvl2pPr marL="4572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2pPr>
                <a:lvl3pPr marL="9144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3pPr>
                <a:lvl4pPr marL="13716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4pPr>
                <a:lvl5pPr marL="18288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247" name="Line 488"/>
              <p:cNvSpPr>
                <a:spLocks noChangeShapeType="1"/>
              </p:cNvSpPr>
              <p:nvPr/>
            </p:nvSpPr>
            <p:spPr bwMode="auto">
              <a:xfrm flipV="1">
                <a:off x="4409" y="1892"/>
                <a:ext cx="0" cy="508"/>
              </a:xfrm>
              <a:prstGeom prst="line">
                <a:avLst/>
              </a:prstGeom>
              <a:noFill/>
              <a:ln w="1270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>
                <a:defPPr>
                  <a:defRPr lang="en-US"/>
                </a:defPPr>
                <a:lvl1pPr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1pPr>
                <a:lvl2pPr marL="4572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2pPr>
                <a:lvl3pPr marL="9144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3pPr>
                <a:lvl4pPr marL="13716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4pPr>
                <a:lvl5pPr marL="18288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248" name="Rectangle 247"/>
              <p:cNvSpPr>
                <a:spLocks noChangeArrowheads="1"/>
              </p:cNvSpPr>
              <p:nvPr/>
            </p:nvSpPr>
            <p:spPr bwMode="auto">
              <a:xfrm>
                <a:off x="4107" y="1958"/>
                <a:ext cx="655" cy="364"/>
              </a:xfrm>
              <a:prstGeom prst="rect">
                <a:avLst/>
              </a:prstGeom>
              <a:gradFill rotWithShape="1">
                <a:gsLst>
                  <a:gs pos="0">
                    <a:srgbClr val="003366"/>
                  </a:gs>
                  <a:gs pos="100000">
                    <a:srgbClr val="FFFFFF"/>
                  </a:gs>
                </a:gsLst>
                <a:lin ang="2700000" scaled="1"/>
              </a:gradFill>
              <a:ln w="12700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lIns="76197" tIns="38098" rIns="76197" bIns="38098" anchor="ctr"/>
              <a:lstStyle>
                <a:defPPr>
                  <a:defRPr lang="en-US"/>
                </a:defPPr>
                <a:lvl1pPr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1pPr>
                <a:lvl2pPr marL="4572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2pPr>
                <a:lvl3pPr marL="9144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3pPr>
                <a:lvl4pPr marL="13716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4pPr>
                <a:lvl5pPr marL="18288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9pPr>
              </a:lstStyle>
              <a:p>
                <a:r>
                  <a:rPr lang="en-US" sz="800"/>
                  <a:t>LUT/RAM/SRL</a:t>
                </a:r>
              </a:p>
            </p:txBody>
          </p:sp>
        </p:grpSp>
        <p:grpSp>
          <p:nvGrpSpPr>
            <p:cNvPr id="191" name="Group 190"/>
            <p:cNvGrpSpPr>
              <a:grpSpLocks/>
            </p:cNvGrpSpPr>
            <p:nvPr/>
          </p:nvGrpSpPr>
          <p:grpSpPr bwMode="auto">
            <a:xfrm>
              <a:off x="761154" y="4724026"/>
              <a:ext cx="1287466" cy="736602"/>
              <a:chOff x="3788" y="1868"/>
              <a:chExt cx="974" cy="556"/>
            </a:xfrm>
          </p:grpSpPr>
          <p:sp>
            <p:nvSpPr>
              <p:cNvPr id="215" name="AutoShape 491"/>
              <p:cNvSpPr>
                <a:spLocks noChangeArrowheads="1"/>
              </p:cNvSpPr>
              <p:nvPr/>
            </p:nvSpPr>
            <p:spPr bwMode="auto">
              <a:xfrm rot="5400000">
                <a:off x="3792" y="1864"/>
                <a:ext cx="46" cy="54"/>
              </a:xfrm>
              <a:prstGeom prst="triangle">
                <a:avLst>
                  <a:gd name="adj" fmla="val 50000"/>
                </a:avLst>
              </a:prstGeom>
              <a:solidFill>
                <a:schemeClr val="accent1"/>
              </a:solidFill>
              <a:ln w="12700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>
                <a:defPPr>
                  <a:defRPr lang="en-US"/>
                </a:defPPr>
                <a:lvl1pPr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1pPr>
                <a:lvl2pPr marL="4572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2pPr>
                <a:lvl3pPr marL="9144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3pPr>
                <a:lvl4pPr marL="13716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4pPr>
                <a:lvl5pPr marL="18288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216" name="Line 492"/>
              <p:cNvSpPr>
                <a:spLocks noChangeShapeType="1"/>
              </p:cNvSpPr>
              <p:nvPr/>
            </p:nvSpPr>
            <p:spPr bwMode="auto">
              <a:xfrm>
                <a:off x="3834" y="2004"/>
                <a:ext cx="273" cy="0"/>
              </a:xfrm>
              <a:prstGeom prst="line">
                <a:avLst/>
              </a:prstGeom>
              <a:noFill/>
              <a:ln w="1270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>
                <a:defPPr>
                  <a:defRPr lang="en-US"/>
                </a:defPPr>
                <a:lvl1pPr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1pPr>
                <a:lvl2pPr marL="4572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2pPr>
                <a:lvl3pPr marL="9144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3pPr>
                <a:lvl4pPr marL="13716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4pPr>
                <a:lvl5pPr marL="18288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217" name="Line 493"/>
              <p:cNvSpPr>
                <a:spLocks noChangeShapeType="1"/>
              </p:cNvSpPr>
              <p:nvPr/>
            </p:nvSpPr>
            <p:spPr bwMode="auto">
              <a:xfrm>
                <a:off x="3834" y="2050"/>
                <a:ext cx="273" cy="0"/>
              </a:xfrm>
              <a:prstGeom prst="line">
                <a:avLst/>
              </a:prstGeom>
              <a:noFill/>
              <a:ln w="1270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>
                <a:defPPr>
                  <a:defRPr lang="en-US"/>
                </a:defPPr>
                <a:lvl1pPr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1pPr>
                <a:lvl2pPr marL="4572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2pPr>
                <a:lvl3pPr marL="9144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3pPr>
                <a:lvl4pPr marL="13716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4pPr>
                <a:lvl5pPr marL="18288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218" name="Line 494"/>
              <p:cNvSpPr>
                <a:spLocks noChangeShapeType="1"/>
              </p:cNvSpPr>
              <p:nvPr/>
            </p:nvSpPr>
            <p:spPr bwMode="auto">
              <a:xfrm>
                <a:off x="3834" y="2094"/>
                <a:ext cx="273" cy="0"/>
              </a:xfrm>
              <a:prstGeom prst="line">
                <a:avLst/>
              </a:prstGeom>
              <a:noFill/>
              <a:ln w="1270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>
                <a:defPPr>
                  <a:defRPr lang="en-US"/>
                </a:defPPr>
                <a:lvl1pPr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1pPr>
                <a:lvl2pPr marL="4572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2pPr>
                <a:lvl3pPr marL="9144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3pPr>
                <a:lvl4pPr marL="13716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4pPr>
                <a:lvl5pPr marL="18288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219" name="Line 495"/>
              <p:cNvSpPr>
                <a:spLocks noChangeShapeType="1"/>
              </p:cNvSpPr>
              <p:nvPr/>
            </p:nvSpPr>
            <p:spPr bwMode="auto">
              <a:xfrm>
                <a:off x="3834" y="2140"/>
                <a:ext cx="273" cy="0"/>
              </a:xfrm>
              <a:prstGeom prst="line">
                <a:avLst/>
              </a:prstGeom>
              <a:noFill/>
              <a:ln w="1270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>
                <a:defPPr>
                  <a:defRPr lang="en-US"/>
                </a:defPPr>
                <a:lvl1pPr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1pPr>
                <a:lvl2pPr marL="4572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2pPr>
                <a:lvl3pPr marL="9144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3pPr>
                <a:lvl4pPr marL="13716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4pPr>
                <a:lvl5pPr marL="18288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220" name="Line 496"/>
              <p:cNvSpPr>
                <a:spLocks noChangeShapeType="1"/>
              </p:cNvSpPr>
              <p:nvPr/>
            </p:nvSpPr>
            <p:spPr bwMode="auto">
              <a:xfrm>
                <a:off x="3834" y="2186"/>
                <a:ext cx="273" cy="0"/>
              </a:xfrm>
              <a:prstGeom prst="line">
                <a:avLst/>
              </a:prstGeom>
              <a:noFill/>
              <a:ln w="1270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>
                <a:defPPr>
                  <a:defRPr lang="en-US"/>
                </a:defPPr>
                <a:lvl1pPr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1pPr>
                <a:lvl2pPr marL="4572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2pPr>
                <a:lvl3pPr marL="9144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3pPr>
                <a:lvl4pPr marL="13716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4pPr>
                <a:lvl5pPr marL="18288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221" name="Line 497"/>
              <p:cNvSpPr>
                <a:spLocks noChangeShapeType="1"/>
              </p:cNvSpPr>
              <p:nvPr/>
            </p:nvSpPr>
            <p:spPr bwMode="auto">
              <a:xfrm>
                <a:off x="3834" y="2232"/>
                <a:ext cx="273" cy="0"/>
              </a:xfrm>
              <a:prstGeom prst="line">
                <a:avLst/>
              </a:prstGeom>
              <a:noFill/>
              <a:ln w="1270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>
                <a:defPPr>
                  <a:defRPr lang="en-US"/>
                </a:defPPr>
                <a:lvl1pPr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1pPr>
                <a:lvl2pPr marL="4572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2pPr>
                <a:lvl3pPr marL="9144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3pPr>
                <a:lvl4pPr marL="13716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4pPr>
                <a:lvl5pPr marL="18288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222" name="AutoShape 498"/>
              <p:cNvSpPr>
                <a:spLocks noChangeArrowheads="1"/>
              </p:cNvSpPr>
              <p:nvPr/>
            </p:nvSpPr>
            <p:spPr bwMode="auto">
              <a:xfrm rot="5400000">
                <a:off x="3797" y="1977"/>
                <a:ext cx="46" cy="54"/>
              </a:xfrm>
              <a:prstGeom prst="triangle">
                <a:avLst>
                  <a:gd name="adj" fmla="val 50000"/>
                </a:avLst>
              </a:prstGeom>
              <a:solidFill>
                <a:schemeClr val="accent1"/>
              </a:solidFill>
              <a:ln w="12700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>
                <a:defPPr>
                  <a:defRPr lang="en-US"/>
                </a:defPPr>
                <a:lvl1pPr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1pPr>
                <a:lvl2pPr marL="4572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2pPr>
                <a:lvl3pPr marL="9144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3pPr>
                <a:lvl4pPr marL="13716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4pPr>
                <a:lvl5pPr marL="18288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223" name="AutoShape 499"/>
              <p:cNvSpPr>
                <a:spLocks noChangeArrowheads="1"/>
              </p:cNvSpPr>
              <p:nvPr/>
            </p:nvSpPr>
            <p:spPr bwMode="auto">
              <a:xfrm rot="5400000">
                <a:off x="3798" y="2022"/>
                <a:ext cx="44" cy="54"/>
              </a:xfrm>
              <a:prstGeom prst="triangle">
                <a:avLst>
                  <a:gd name="adj" fmla="val 50000"/>
                </a:avLst>
              </a:prstGeom>
              <a:solidFill>
                <a:schemeClr val="accent1"/>
              </a:solidFill>
              <a:ln w="12700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>
                <a:defPPr>
                  <a:defRPr lang="en-US"/>
                </a:defPPr>
                <a:lvl1pPr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1pPr>
                <a:lvl2pPr marL="4572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2pPr>
                <a:lvl3pPr marL="9144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3pPr>
                <a:lvl4pPr marL="13716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4pPr>
                <a:lvl5pPr marL="18288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224" name="AutoShape 500"/>
              <p:cNvSpPr>
                <a:spLocks noChangeArrowheads="1"/>
              </p:cNvSpPr>
              <p:nvPr/>
            </p:nvSpPr>
            <p:spPr bwMode="auto">
              <a:xfrm rot="5400000">
                <a:off x="3797" y="2067"/>
                <a:ext cx="46" cy="54"/>
              </a:xfrm>
              <a:prstGeom prst="triangle">
                <a:avLst>
                  <a:gd name="adj" fmla="val 50000"/>
                </a:avLst>
              </a:prstGeom>
              <a:solidFill>
                <a:schemeClr val="accent1"/>
              </a:solidFill>
              <a:ln w="12700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>
                <a:defPPr>
                  <a:defRPr lang="en-US"/>
                </a:defPPr>
                <a:lvl1pPr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1pPr>
                <a:lvl2pPr marL="4572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2pPr>
                <a:lvl3pPr marL="9144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3pPr>
                <a:lvl4pPr marL="13716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4pPr>
                <a:lvl5pPr marL="18288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225" name="AutoShape 501"/>
              <p:cNvSpPr>
                <a:spLocks noChangeArrowheads="1"/>
              </p:cNvSpPr>
              <p:nvPr/>
            </p:nvSpPr>
            <p:spPr bwMode="auto">
              <a:xfrm rot="5400000">
                <a:off x="3797" y="2113"/>
                <a:ext cx="46" cy="54"/>
              </a:xfrm>
              <a:prstGeom prst="triangle">
                <a:avLst>
                  <a:gd name="adj" fmla="val 50000"/>
                </a:avLst>
              </a:prstGeom>
              <a:solidFill>
                <a:schemeClr val="accent1"/>
              </a:solidFill>
              <a:ln w="12700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>
                <a:defPPr>
                  <a:defRPr lang="en-US"/>
                </a:defPPr>
                <a:lvl1pPr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1pPr>
                <a:lvl2pPr marL="4572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2pPr>
                <a:lvl3pPr marL="9144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3pPr>
                <a:lvl4pPr marL="13716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4pPr>
                <a:lvl5pPr marL="18288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226" name="AutoShape 502"/>
              <p:cNvSpPr>
                <a:spLocks noChangeArrowheads="1"/>
              </p:cNvSpPr>
              <p:nvPr/>
            </p:nvSpPr>
            <p:spPr bwMode="auto">
              <a:xfrm rot="5400000">
                <a:off x="3797" y="2159"/>
                <a:ext cx="46" cy="54"/>
              </a:xfrm>
              <a:prstGeom prst="triangle">
                <a:avLst>
                  <a:gd name="adj" fmla="val 50000"/>
                </a:avLst>
              </a:prstGeom>
              <a:solidFill>
                <a:schemeClr val="accent1"/>
              </a:solidFill>
              <a:ln w="12700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>
                <a:defPPr>
                  <a:defRPr lang="en-US"/>
                </a:defPPr>
                <a:lvl1pPr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1pPr>
                <a:lvl2pPr marL="4572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2pPr>
                <a:lvl3pPr marL="9144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3pPr>
                <a:lvl4pPr marL="13716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4pPr>
                <a:lvl5pPr marL="18288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227" name="AutoShape 503"/>
              <p:cNvSpPr>
                <a:spLocks noChangeArrowheads="1"/>
              </p:cNvSpPr>
              <p:nvPr/>
            </p:nvSpPr>
            <p:spPr bwMode="auto">
              <a:xfrm rot="5400000">
                <a:off x="3798" y="2204"/>
                <a:ext cx="44" cy="54"/>
              </a:xfrm>
              <a:prstGeom prst="triangle">
                <a:avLst>
                  <a:gd name="adj" fmla="val 50000"/>
                </a:avLst>
              </a:prstGeom>
              <a:solidFill>
                <a:schemeClr val="accent1"/>
              </a:solidFill>
              <a:ln w="12700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>
                <a:defPPr>
                  <a:defRPr lang="en-US"/>
                </a:defPPr>
                <a:lvl1pPr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1pPr>
                <a:lvl2pPr marL="4572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2pPr>
                <a:lvl3pPr marL="9144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3pPr>
                <a:lvl4pPr marL="13716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4pPr>
                <a:lvl5pPr marL="18288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228" name="Line 504"/>
              <p:cNvSpPr>
                <a:spLocks noChangeShapeType="1"/>
              </p:cNvSpPr>
              <p:nvPr/>
            </p:nvSpPr>
            <p:spPr bwMode="auto">
              <a:xfrm flipH="1">
                <a:off x="3841" y="2399"/>
                <a:ext cx="573" cy="0"/>
              </a:xfrm>
              <a:prstGeom prst="line">
                <a:avLst/>
              </a:prstGeom>
              <a:noFill/>
              <a:ln w="1270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>
                <a:defPPr>
                  <a:defRPr lang="en-US"/>
                </a:defPPr>
                <a:lvl1pPr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1pPr>
                <a:lvl2pPr marL="4572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2pPr>
                <a:lvl3pPr marL="9144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3pPr>
                <a:lvl4pPr marL="13716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4pPr>
                <a:lvl5pPr marL="18288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229" name="AutoShape 505"/>
              <p:cNvSpPr>
                <a:spLocks noChangeArrowheads="1"/>
              </p:cNvSpPr>
              <p:nvPr/>
            </p:nvSpPr>
            <p:spPr bwMode="auto">
              <a:xfrm rot="5400000">
                <a:off x="3792" y="2374"/>
                <a:ext cx="46" cy="54"/>
              </a:xfrm>
              <a:prstGeom prst="triangle">
                <a:avLst>
                  <a:gd name="adj" fmla="val 50000"/>
                </a:avLst>
              </a:prstGeom>
              <a:solidFill>
                <a:schemeClr val="accent1"/>
              </a:solidFill>
              <a:ln w="12700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>
                <a:defPPr>
                  <a:defRPr lang="en-US"/>
                </a:defPPr>
                <a:lvl1pPr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1pPr>
                <a:lvl2pPr marL="4572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2pPr>
                <a:lvl3pPr marL="9144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3pPr>
                <a:lvl4pPr marL="13716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4pPr>
                <a:lvl5pPr marL="18288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230" name="Line 506"/>
              <p:cNvSpPr>
                <a:spLocks noChangeShapeType="1"/>
              </p:cNvSpPr>
              <p:nvPr/>
            </p:nvSpPr>
            <p:spPr bwMode="auto">
              <a:xfrm flipV="1">
                <a:off x="4409" y="1892"/>
                <a:ext cx="0" cy="508"/>
              </a:xfrm>
              <a:prstGeom prst="line">
                <a:avLst/>
              </a:prstGeom>
              <a:noFill/>
              <a:ln w="1270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>
                <a:defPPr>
                  <a:defRPr lang="en-US"/>
                </a:defPPr>
                <a:lvl1pPr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1pPr>
                <a:lvl2pPr marL="4572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2pPr>
                <a:lvl3pPr marL="9144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3pPr>
                <a:lvl4pPr marL="13716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4pPr>
                <a:lvl5pPr marL="18288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231" name="Rectangle 230"/>
              <p:cNvSpPr>
                <a:spLocks noChangeArrowheads="1"/>
              </p:cNvSpPr>
              <p:nvPr/>
            </p:nvSpPr>
            <p:spPr bwMode="auto">
              <a:xfrm>
                <a:off x="4107" y="1958"/>
                <a:ext cx="655" cy="364"/>
              </a:xfrm>
              <a:prstGeom prst="rect">
                <a:avLst/>
              </a:prstGeom>
              <a:gradFill rotWithShape="1">
                <a:gsLst>
                  <a:gs pos="0">
                    <a:srgbClr val="003366"/>
                  </a:gs>
                  <a:gs pos="100000">
                    <a:srgbClr val="FFFFFF"/>
                  </a:gs>
                </a:gsLst>
                <a:lin ang="2700000" scaled="1"/>
              </a:gradFill>
              <a:ln w="12700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lIns="76197" tIns="38098" rIns="76197" bIns="38098" anchor="ctr"/>
              <a:lstStyle>
                <a:defPPr>
                  <a:defRPr lang="en-US"/>
                </a:defPPr>
                <a:lvl1pPr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1pPr>
                <a:lvl2pPr marL="4572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2pPr>
                <a:lvl3pPr marL="9144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3pPr>
                <a:lvl4pPr marL="13716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4pPr>
                <a:lvl5pPr marL="18288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9pPr>
              </a:lstStyle>
              <a:p>
                <a:r>
                  <a:rPr lang="en-US" sz="800"/>
                  <a:t>LUT/RAM/SRL</a:t>
                </a:r>
              </a:p>
            </p:txBody>
          </p:sp>
        </p:grpSp>
        <p:grpSp>
          <p:nvGrpSpPr>
            <p:cNvPr id="192" name="Group 191"/>
            <p:cNvGrpSpPr>
              <a:grpSpLocks/>
            </p:cNvGrpSpPr>
            <p:nvPr/>
          </p:nvGrpSpPr>
          <p:grpSpPr bwMode="auto">
            <a:xfrm>
              <a:off x="761154" y="5689205"/>
              <a:ext cx="1287466" cy="735008"/>
              <a:chOff x="3788" y="1868"/>
              <a:chExt cx="974" cy="556"/>
            </a:xfrm>
          </p:grpSpPr>
          <p:sp>
            <p:nvSpPr>
              <p:cNvPr id="198" name="AutoShape 509"/>
              <p:cNvSpPr>
                <a:spLocks noChangeArrowheads="1"/>
              </p:cNvSpPr>
              <p:nvPr/>
            </p:nvSpPr>
            <p:spPr bwMode="auto">
              <a:xfrm rot="5400000">
                <a:off x="3792" y="1864"/>
                <a:ext cx="46" cy="54"/>
              </a:xfrm>
              <a:prstGeom prst="triangle">
                <a:avLst>
                  <a:gd name="adj" fmla="val 50000"/>
                </a:avLst>
              </a:prstGeom>
              <a:solidFill>
                <a:schemeClr val="accent1"/>
              </a:solidFill>
              <a:ln w="12700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>
                <a:defPPr>
                  <a:defRPr lang="en-US"/>
                </a:defPPr>
                <a:lvl1pPr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1pPr>
                <a:lvl2pPr marL="4572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2pPr>
                <a:lvl3pPr marL="9144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3pPr>
                <a:lvl4pPr marL="13716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4pPr>
                <a:lvl5pPr marL="18288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199" name="Line 510"/>
              <p:cNvSpPr>
                <a:spLocks noChangeShapeType="1"/>
              </p:cNvSpPr>
              <p:nvPr/>
            </p:nvSpPr>
            <p:spPr bwMode="auto">
              <a:xfrm>
                <a:off x="3834" y="2004"/>
                <a:ext cx="273" cy="0"/>
              </a:xfrm>
              <a:prstGeom prst="line">
                <a:avLst/>
              </a:prstGeom>
              <a:noFill/>
              <a:ln w="1270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>
                <a:defPPr>
                  <a:defRPr lang="en-US"/>
                </a:defPPr>
                <a:lvl1pPr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1pPr>
                <a:lvl2pPr marL="4572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2pPr>
                <a:lvl3pPr marL="9144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3pPr>
                <a:lvl4pPr marL="13716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4pPr>
                <a:lvl5pPr marL="18288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200" name="Line 511"/>
              <p:cNvSpPr>
                <a:spLocks noChangeShapeType="1"/>
              </p:cNvSpPr>
              <p:nvPr/>
            </p:nvSpPr>
            <p:spPr bwMode="auto">
              <a:xfrm>
                <a:off x="3834" y="2050"/>
                <a:ext cx="273" cy="0"/>
              </a:xfrm>
              <a:prstGeom prst="line">
                <a:avLst/>
              </a:prstGeom>
              <a:noFill/>
              <a:ln w="1270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>
                <a:defPPr>
                  <a:defRPr lang="en-US"/>
                </a:defPPr>
                <a:lvl1pPr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1pPr>
                <a:lvl2pPr marL="4572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2pPr>
                <a:lvl3pPr marL="9144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3pPr>
                <a:lvl4pPr marL="13716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4pPr>
                <a:lvl5pPr marL="18288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201" name="Line 512"/>
              <p:cNvSpPr>
                <a:spLocks noChangeShapeType="1"/>
              </p:cNvSpPr>
              <p:nvPr/>
            </p:nvSpPr>
            <p:spPr bwMode="auto">
              <a:xfrm>
                <a:off x="3834" y="2094"/>
                <a:ext cx="273" cy="0"/>
              </a:xfrm>
              <a:prstGeom prst="line">
                <a:avLst/>
              </a:prstGeom>
              <a:noFill/>
              <a:ln w="1270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>
                <a:defPPr>
                  <a:defRPr lang="en-US"/>
                </a:defPPr>
                <a:lvl1pPr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1pPr>
                <a:lvl2pPr marL="4572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2pPr>
                <a:lvl3pPr marL="9144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3pPr>
                <a:lvl4pPr marL="13716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4pPr>
                <a:lvl5pPr marL="18288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202" name="Line 513"/>
              <p:cNvSpPr>
                <a:spLocks noChangeShapeType="1"/>
              </p:cNvSpPr>
              <p:nvPr/>
            </p:nvSpPr>
            <p:spPr bwMode="auto">
              <a:xfrm>
                <a:off x="3834" y="2140"/>
                <a:ext cx="273" cy="0"/>
              </a:xfrm>
              <a:prstGeom prst="line">
                <a:avLst/>
              </a:prstGeom>
              <a:noFill/>
              <a:ln w="1270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>
                <a:defPPr>
                  <a:defRPr lang="en-US"/>
                </a:defPPr>
                <a:lvl1pPr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1pPr>
                <a:lvl2pPr marL="4572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2pPr>
                <a:lvl3pPr marL="9144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3pPr>
                <a:lvl4pPr marL="13716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4pPr>
                <a:lvl5pPr marL="18288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203" name="Line 514"/>
              <p:cNvSpPr>
                <a:spLocks noChangeShapeType="1"/>
              </p:cNvSpPr>
              <p:nvPr/>
            </p:nvSpPr>
            <p:spPr bwMode="auto">
              <a:xfrm>
                <a:off x="3834" y="2186"/>
                <a:ext cx="273" cy="0"/>
              </a:xfrm>
              <a:prstGeom prst="line">
                <a:avLst/>
              </a:prstGeom>
              <a:noFill/>
              <a:ln w="1270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>
                <a:defPPr>
                  <a:defRPr lang="en-US"/>
                </a:defPPr>
                <a:lvl1pPr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1pPr>
                <a:lvl2pPr marL="4572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2pPr>
                <a:lvl3pPr marL="9144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3pPr>
                <a:lvl4pPr marL="13716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4pPr>
                <a:lvl5pPr marL="18288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204" name="Line 515"/>
              <p:cNvSpPr>
                <a:spLocks noChangeShapeType="1"/>
              </p:cNvSpPr>
              <p:nvPr/>
            </p:nvSpPr>
            <p:spPr bwMode="auto">
              <a:xfrm>
                <a:off x="3834" y="2232"/>
                <a:ext cx="273" cy="0"/>
              </a:xfrm>
              <a:prstGeom prst="line">
                <a:avLst/>
              </a:prstGeom>
              <a:noFill/>
              <a:ln w="1270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>
                <a:defPPr>
                  <a:defRPr lang="en-US"/>
                </a:defPPr>
                <a:lvl1pPr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1pPr>
                <a:lvl2pPr marL="4572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2pPr>
                <a:lvl3pPr marL="9144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3pPr>
                <a:lvl4pPr marL="13716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4pPr>
                <a:lvl5pPr marL="18288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205" name="AutoShape 516"/>
              <p:cNvSpPr>
                <a:spLocks noChangeArrowheads="1"/>
              </p:cNvSpPr>
              <p:nvPr/>
            </p:nvSpPr>
            <p:spPr bwMode="auto">
              <a:xfrm rot="5400000">
                <a:off x="3797" y="1977"/>
                <a:ext cx="46" cy="54"/>
              </a:xfrm>
              <a:prstGeom prst="triangle">
                <a:avLst>
                  <a:gd name="adj" fmla="val 50000"/>
                </a:avLst>
              </a:prstGeom>
              <a:solidFill>
                <a:schemeClr val="accent1"/>
              </a:solidFill>
              <a:ln w="12700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>
                <a:defPPr>
                  <a:defRPr lang="en-US"/>
                </a:defPPr>
                <a:lvl1pPr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1pPr>
                <a:lvl2pPr marL="4572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2pPr>
                <a:lvl3pPr marL="9144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3pPr>
                <a:lvl4pPr marL="13716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4pPr>
                <a:lvl5pPr marL="18288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206" name="AutoShape 517"/>
              <p:cNvSpPr>
                <a:spLocks noChangeArrowheads="1"/>
              </p:cNvSpPr>
              <p:nvPr/>
            </p:nvSpPr>
            <p:spPr bwMode="auto">
              <a:xfrm rot="5400000">
                <a:off x="3798" y="2022"/>
                <a:ext cx="44" cy="54"/>
              </a:xfrm>
              <a:prstGeom prst="triangle">
                <a:avLst>
                  <a:gd name="adj" fmla="val 50000"/>
                </a:avLst>
              </a:prstGeom>
              <a:solidFill>
                <a:schemeClr val="accent1"/>
              </a:solidFill>
              <a:ln w="12700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>
                <a:defPPr>
                  <a:defRPr lang="en-US"/>
                </a:defPPr>
                <a:lvl1pPr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1pPr>
                <a:lvl2pPr marL="4572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2pPr>
                <a:lvl3pPr marL="9144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3pPr>
                <a:lvl4pPr marL="13716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4pPr>
                <a:lvl5pPr marL="18288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207" name="AutoShape 518"/>
              <p:cNvSpPr>
                <a:spLocks noChangeArrowheads="1"/>
              </p:cNvSpPr>
              <p:nvPr/>
            </p:nvSpPr>
            <p:spPr bwMode="auto">
              <a:xfrm rot="5400000">
                <a:off x="3797" y="2067"/>
                <a:ext cx="46" cy="54"/>
              </a:xfrm>
              <a:prstGeom prst="triangle">
                <a:avLst>
                  <a:gd name="adj" fmla="val 50000"/>
                </a:avLst>
              </a:prstGeom>
              <a:solidFill>
                <a:schemeClr val="accent1"/>
              </a:solidFill>
              <a:ln w="12700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>
                <a:defPPr>
                  <a:defRPr lang="en-US"/>
                </a:defPPr>
                <a:lvl1pPr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1pPr>
                <a:lvl2pPr marL="4572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2pPr>
                <a:lvl3pPr marL="9144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3pPr>
                <a:lvl4pPr marL="13716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4pPr>
                <a:lvl5pPr marL="18288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208" name="AutoShape 519"/>
              <p:cNvSpPr>
                <a:spLocks noChangeArrowheads="1"/>
              </p:cNvSpPr>
              <p:nvPr/>
            </p:nvSpPr>
            <p:spPr bwMode="auto">
              <a:xfrm rot="5400000">
                <a:off x="3797" y="2113"/>
                <a:ext cx="46" cy="54"/>
              </a:xfrm>
              <a:prstGeom prst="triangle">
                <a:avLst>
                  <a:gd name="adj" fmla="val 50000"/>
                </a:avLst>
              </a:prstGeom>
              <a:solidFill>
                <a:schemeClr val="accent1"/>
              </a:solidFill>
              <a:ln w="12700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>
                <a:defPPr>
                  <a:defRPr lang="en-US"/>
                </a:defPPr>
                <a:lvl1pPr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1pPr>
                <a:lvl2pPr marL="4572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2pPr>
                <a:lvl3pPr marL="9144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3pPr>
                <a:lvl4pPr marL="13716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4pPr>
                <a:lvl5pPr marL="18288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209" name="AutoShape 520"/>
              <p:cNvSpPr>
                <a:spLocks noChangeArrowheads="1"/>
              </p:cNvSpPr>
              <p:nvPr/>
            </p:nvSpPr>
            <p:spPr bwMode="auto">
              <a:xfrm rot="5400000">
                <a:off x="3797" y="2159"/>
                <a:ext cx="46" cy="54"/>
              </a:xfrm>
              <a:prstGeom prst="triangle">
                <a:avLst>
                  <a:gd name="adj" fmla="val 50000"/>
                </a:avLst>
              </a:prstGeom>
              <a:solidFill>
                <a:schemeClr val="accent1"/>
              </a:solidFill>
              <a:ln w="12700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>
                <a:defPPr>
                  <a:defRPr lang="en-US"/>
                </a:defPPr>
                <a:lvl1pPr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1pPr>
                <a:lvl2pPr marL="4572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2pPr>
                <a:lvl3pPr marL="9144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3pPr>
                <a:lvl4pPr marL="13716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4pPr>
                <a:lvl5pPr marL="18288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210" name="AutoShape 521"/>
              <p:cNvSpPr>
                <a:spLocks noChangeArrowheads="1"/>
              </p:cNvSpPr>
              <p:nvPr/>
            </p:nvSpPr>
            <p:spPr bwMode="auto">
              <a:xfrm rot="5400000">
                <a:off x="3798" y="2204"/>
                <a:ext cx="44" cy="54"/>
              </a:xfrm>
              <a:prstGeom prst="triangle">
                <a:avLst>
                  <a:gd name="adj" fmla="val 50000"/>
                </a:avLst>
              </a:prstGeom>
              <a:solidFill>
                <a:schemeClr val="accent1"/>
              </a:solidFill>
              <a:ln w="12700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>
                <a:defPPr>
                  <a:defRPr lang="en-US"/>
                </a:defPPr>
                <a:lvl1pPr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1pPr>
                <a:lvl2pPr marL="4572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2pPr>
                <a:lvl3pPr marL="9144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3pPr>
                <a:lvl4pPr marL="13716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4pPr>
                <a:lvl5pPr marL="18288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211" name="Line 522"/>
              <p:cNvSpPr>
                <a:spLocks noChangeShapeType="1"/>
              </p:cNvSpPr>
              <p:nvPr/>
            </p:nvSpPr>
            <p:spPr bwMode="auto">
              <a:xfrm flipH="1">
                <a:off x="3841" y="2399"/>
                <a:ext cx="573" cy="0"/>
              </a:xfrm>
              <a:prstGeom prst="line">
                <a:avLst/>
              </a:prstGeom>
              <a:noFill/>
              <a:ln w="1270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>
                <a:defPPr>
                  <a:defRPr lang="en-US"/>
                </a:defPPr>
                <a:lvl1pPr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1pPr>
                <a:lvl2pPr marL="4572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2pPr>
                <a:lvl3pPr marL="9144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3pPr>
                <a:lvl4pPr marL="13716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4pPr>
                <a:lvl5pPr marL="18288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212" name="AutoShape 523"/>
              <p:cNvSpPr>
                <a:spLocks noChangeArrowheads="1"/>
              </p:cNvSpPr>
              <p:nvPr/>
            </p:nvSpPr>
            <p:spPr bwMode="auto">
              <a:xfrm rot="5400000">
                <a:off x="3792" y="2374"/>
                <a:ext cx="46" cy="54"/>
              </a:xfrm>
              <a:prstGeom prst="triangle">
                <a:avLst>
                  <a:gd name="adj" fmla="val 50000"/>
                </a:avLst>
              </a:prstGeom>
              <a:solidFill>
                <a:schemeClr val="accent1"/>
              </a:solidFill>
              <a:ln w="12700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>
                <a:defPPr>
                  <a:defRPr lang="en-US"/>
                </a:defPPr>
                <a:lvl1pPr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1pPr>
                <a:lvl2pPr marL="4572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2pPr>
                <a:lvl3pPr marL="9144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3pPr>
                <a:lvl4pPr marL="13716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4pPr>
                <a:lvl5pPr marL="18288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213" name="Line 524"/>
              <p:cNvSpPr>
                <a:spLocks noChangeShapeType="1"/>
              </p:cNvSpPr>
              <p:nvPr/>
            </p:nvSpPr>
            <p:spPr bwMode="auto">
              <a:xfrm flipV="1">
                <a:off x="4409" y="1892"/>
                <a:ext cx="0" cy="508"/>
              </a:xfrm>
              <a:prstGeom prst="line">
                <a:avLst/>
              </a:prstGeom>
              <a:noFill/>
              <a:ln w="1270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>
                <a:defPPr>
                  <a:defRPr lang="en-US"/>
                </a:defPPr>
                <a:lvl1pPr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1pPr>
                <a:lvl2pPr marL="4572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2pPr>
                <a:lvl3pPr marL="9144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3pPr>
                <a:lvl4pPr marL="13716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4pPr>
                <a:lvl5pPr marL="18288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214" name="Rectangle 213"/>
              <p:cNvSpPr>
                <a:spLocks noChangeArrowheads="1"/>
              </p:cNvSpPr>
              <p:nvPr/>
            </p:nvSpPr>
            <p:spPr bwMode="auto">
              <a:xfrm>
                <a:off x="4107" y="1958"/>
                <a:ext cx="655" cy="364"/>
              </a:xfrm>
              <a:prstGeom prst="rect">
                <a:avLst/>
              </a:prstGeom>
              <a:gradFill rotWithShape="1">
                <a:gsLst>
                  <a:gs pos="0">
                    <a:srgbClr val="003366"/>
                  </a:gs>
                  <a:gs pos="100000">
                    <a:srgbClr val="FFFFFF"/>
                  </a:gs>
                </a:gsLst>
                <a:lin ang="2700000" scaled="1"/>
              </a:gradFill>
              <a:ln w="12700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lIns="76197" tIns="38098" rIns="76197" bIns="38098" anchor="ctr"/>
              <a:lstStyle>
                <a:defPPr>
                  <a:defRPr lang="en-US"/>
                </a:defPPr>
                <a:lvl1pPr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1pPr>
                <a:lvl2pPr marL="4572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2pPr>
                <a:lvl3pPr marL="9144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3pPr>
                <a:lvl4pPr marL="13716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4pPr>
                <a:lvl5pPr marL="1828800" algn="ctr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9pPr>
              </a:lstStyle>
              <a:p>
                <a:r>
                  <a:rPr lang="en-US" sz="800"/>
                  <a:t>LUT/RAM/SRL</a:t>
                </a:r>
              </a:p>
            </p:txBody>
          </p:sp>
        </p:grpSp>
        <p:sp>
          <p:nvSpPr>
            <p:cNvPr id="193" name="Line 526"/>
            <p:cNvSpPr>
              <a:spLocks noChangeShapeType="1"/>
            </p:cNvSpPr>
            <p:nvPr/>
          </p:nvSpPr>
          <p:spPr bwMode="auto">
            <a:xfrm>
              <a:off x="2755039" y="5754306"/>
              <a:ext cx="0" cy="450850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94" name="AutoShape 527"/>
            <p:cNvSpPr>
              <a:spLocks noChangeArrowheads="1"/>
            </p:cNvSpPr>
            <p:nvPr/>
          </p:nvSpPr>
          <p:spPr bwMode="auto">
            <a:xfrm flipV="1">
              <a:off x="2675664" y="6203569"/>
              <a:ext cx="158750" cy="82550"/>
            </a:xfrm>
            <a:custGeom>
              <a:avLst/>
              <a:gdLst>
                <a:gd name="T0" fmla="*/ 2147483647 w 21600"/>
                <a:gd name="T1" fmla="*/ 2147483647 h 21600"/>
                <a:gd name="T2" fmla="*/ 2147483647 w 21600"/>
                <a:gd name="T3" fmla="*/ 2147483647 h 21600"/>
                <a:gd name="T4" fmla="*/ 2147483647 w 21600"/>
                <a:gd name="T5" fmla="*/ 2147483647 h 21600"/>
                <a:gd name="T6" fmla="*/ 2147483647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3188 w 21600"/>
                <a:gd name="T13" fmla="*/ 3188 h 21600"/>
                <a:gd name="T14" fmla="*/ 18412 w 21600"/>
                <a:gd name="T15" fmla="*/ 18412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2776" y="21600"/>
                  </a:lnTo>
                  <a:lnTo>
                    <a:pt x="18824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chemeClr val="accent1"/>
            </a:solidFill>
            <a:ln w="12700">
              <a:solidFill>
                <a:schemeClr val="bg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defPPr>
                <a:defRPr lang="en-US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95" name="Line 528"/>
            <p:cNvSpPr>
              <a:spLocks noChangeShapeType="1"/>
            </p:cNvSpPr>
            <p:nvPr/>
          </p:nvSpPr>
          <p:spPr bwMode="auto">
            <a:xfrm>
              <a:off x="2815364" y="6286119"/>
              <a:ext cx="0" cy="188912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96" name="AutoShape 529"/>
            <p:cNvSpPr>
              <a:spLocks noChangeArrowheads="1"/>
            </p:cNvSpPr>
            <p:nvPr/>
          </p:nvSpPr>
          <p:spPr bwMode="auto">
            <a:xfrm>
              <a:off x="2778851" y="6459156"/>
              <a:ext cx="71438" cy="60325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1270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>
              <a:defPPr>
                <a:defRPr lang="en-US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97" name="Text Box 530"/>
            <p:cNvSpPr txBox="1">
              <a:spLocks noChangeArrowheads="1"/>
            </p:cNvSpPr>
            <p:nvPr/>
          </p:nvSpPr>
          <p:spPr bwMode="auto">
            <a:xfrm>
              <a:off x="2602639" y="6248019"/>
              <a:ext cx="276225" cy="1825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6197" tIns="38098" rIns="76197" bIns="38098">
              <a:spAutoFit/>
            </a:bodyPr>
            <a:lstStyle>
              <a:defPPr>
                <a:defRPr lang="en-US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pPr eaLnBrk="1" hangingPunct="1"/>
              <a:r>
                <a:rPr lang="en-US" sz="700">
                  <a:solidFill>
                    <a:schemeClr val="bg1"/>
                  </a:solidFill>
                </a:rPr>
                <a:t>0 1</a:t>
              </a:r>
            </a:p>
          </p:txBody>
        </p:sp>
      </p:grpSp>
      <p:pic>
        <p:nvPicPr>
          <p:cNvPr id="15155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2600" y="3403241"/>
            <a:ext cx="3219450" cy="1381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84" name="Oval 283"/>
          <p:cNvSpPr/>
          <p:nvPr/>
        </p:nvSpPr>
        <p:spPr>
          <a:xfrm>
            <a:off x="955918" y="3443968"/>
            <a:ext cx="3203857" cy="1064024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85" name="Straight Arrow Connector 284"/>
          <p:cNvCxnSpPr/>
          <p:nvPr/>
        </p:nvCxnSpPr>
        <p:spPr>
          <a:xfrm flipV="1">
            <a:off x="4159775" y="3799659"/>
            <a:ext cx="1268223" cy="95708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914785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/>
              <a:t>6-Input LUT with Dual Output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4563" y="1481137"/>
            <a:ext cx="7772400" cy="4572000"/>
          </a:xfrm>
        </p:spPr>
        <p:txBody>
          <a:bodyPr/>
          <a:lstStyle/>
          <a:p>
            <a:pPr eaLnBrk="1" hangingPunct="1"/>
            <a:r>
              <a:rPr lang="en-US" dirty="0"/>
              <a:t>6-input LUT can be two 5-input LUTs with common inputs</a:t>
            </a:r>
          </a:p>
          <a:p>
            <a:pPr lvl="1" eaLnBrk="1" hangingPunct="1"/>
            <a:r>
              <a:rPr lang="en-US" dirty="0"/>
              <a:t>Any function of six variables or two independent functions of </a:t>
            </a:r>
            <a:br>
              <a:rPr lang="en-US" dirty="0"/>
            </a:br>
            <a:r>
              <a:rPr lang="en-US" dirty="0"/>
              <a:t>five variables</a:t>
            </a:r>
          </a:p>
          <a:p>
            <a:pPr eaLnBrk="1" hangingPunct="1"/>
            <a:endParaRPr lang="en-US" dirty="0"/>
          </a:p>
        </p:txBody>
      </p:sp>
      <p:sp>
        <p:nvSpPr>
          <p:cNvPr id="13316" name="Rectangle 4"/>
          <p:cNvSpPr>
            <a:spLocks noChangeArrowheads="1"/>
          </p:cNvSpPr>
          <p:nvPr/>
        </p:nvSpPr>
        <p:spPr bwMode="auto">
          <a:xfrm>
            <a:off x="1828800" y="16811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3317" name="Rectangle 5"/>
          <p:cNvSpPr>
            <a:spLocks noChangeArrowheads="1"/>
          </p:cNvSpPr>
          <p:nvPr/>
        </p:nvSpPr>
        <p:spPr bwMode="auto">
          <a:xfrm>
            <a:off x="2219325" y="15811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2057400" y="2706687"/>
            <a:ext cx="5095875" cy="3770313"/>
            <a:chOff x="2057400" y="2706687"/>
            <a:chExt cx="5095875" cy="3770313"/>
          </a:xfrm>
        </p:grpSpPr>
        <p:sp>
          <p:nvSpPr>
            <p:cNvPr id="13318" name="Text Box 6"/>
            <p:cNvSpPr txBox="1">
              <a:spLocks noChangeArrowheads="1"/>
            </p:cNvSpPr>
            <p:nvPr/>
          </p:nvSpPr>
          <p:spPr bwMode="auto">
            <a:xfrm>
              <a:off x="4467225" y="2706687"/>
              <a:ext cx="2479675" cy="4270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45713" rIns="91425" bIns="45713">
              <a:spAutoFit/>
            </a:bodyPr>
            <a:lstStyle>
              <a:lvl1pPr marL="350838" indent="-350838"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l">
                <a:buSzPct val="50000"/>
                <a:buFontTx/>
                <a:buChar char="•"/>
              </a:pPr>
              <a:endParaRPr lang="en-US" sz="2200" dirty="0">
                <a:latin typeface="Arial Narrow" pitchFamily="34" charset="0"/>
              </a:endParaRPr>
            </a:p>
          </p:txBody>
        </p:sp>
        <p:sp>
          <p:nvSpPr>
            <p:cNvPr id="13319" name="Rectangle 8"/>
            <p:cNvSpPr>
              <a:spLocks noChangeArrowheads="1"/>
            </p:cNvSpPr>
            <p:nvPr/>
          </p:nvSpPr>
          <p:spPr bwMode="auto">
            <a:xfrm>
              <a:off x="2749550" y="3065462"/>
              <a:ext cx="3638550" cy="3411538"/>
            </a:xfrm>
            <a:prstGeom prst="rect">
              <a:avLst/>
            </a:prstGeom>
            <a:gradFill rotWithShape="1">
              <a:gsLst>
                <a:gs pos="0">
                  <a:srgbClr val="0066FF"/>
                </a:gs>
                <a:gs pos="50000">
                  <a:srgbClr val="6DA7FF"/>
                </a:gs>
                <a:gs pos="100000">
                  <a:srgbClr val="0066FF"/>
                </a:gs>
              </a:gsLst>
              <a:lin ang="2700000" scaled="1"/>
            </a:gradFill>
            <a:ln w="17526" algn="ctr">
              <a:solidFill>
                <a:schemeClr val="tx1"/>
              </a:solidFill>
              <a:prstDash val="dash"/>
              <a:miter lim="800000"/>
              <a:headEnd type="none" w="sm" len="sm"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3320" name="Group 10"/>
            <p:cNvGrpSpPr>
              <a:grpSpLocks/>
            </p:cNvGrpSpPr>
            <p:nvPr>
              <p:custDataLst>
                <p:tags r:id="rId2"/>
              </p:custDataLst>
            </p:nvPr>
          </p:nvGrpSpPr>
          <p:grpSpPr bwMode="auto">
            <a:xfrm>
              <a:off x="2505075" y="3890962"/>
              <a:ext cx="1155700" cy="84138"/>
              <a:chOff x="128" y="1232"/>
              <a:chExt cx="381" cy="49"/>
            </a:xfrm>
          </p:grpSpPr>
          <p:sp>
            <p:nvSpPr>
              <p:cNvPr id="13363" name="Line 11"/>
              <p:cNvSpPr>
                <a:spLocks noChangeShapeType="1"/>
              </p:cNvSpPr>
              <p:nvPr/>
            </p:nvSpPr>
            <p:spPr bwMode="auto">
              <a:xfrm>
                <a:off x="177" y="1256"/>
                <a:ext cx="33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364" name="AutoShape 12"/>
              <p:cNvSpPr>
                <a:spLocks noChangeArrowheads="1"/>
              </p:cNvSpPr>
              <p:nvPr/>
            </p:nvSpPr>
            <p:spPr bwMode="auto">
              <a:xfrm rot="5400000">
                <a:off x="136" y="1224"/>
                <a:ext cx="49" cy="66"/>
              </a:xfrm>
              <a:prstGeom prst="triangle">
                <a:avLst>
                  <a:gd name="adj" fmla="val 50000"/>
                </a:avLst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</p:grpSp>
        <p:grpSp>
          <p:nvGrpSpPr>
            <p:cNvPr id="13321" name="Group 13"/>
            <p:cNvGrpSpPr>
              <a:grpSpLocks/>
            </p:cNvGrpSpPr>
            <p:nvPr>
              <p:custDataLst>
                <p:tags r:id="rId3"/>
              </p:custDataLst>
            </p:nvPr>
          </p:nvGrpSpPr>
          <p:grpSpPr bwMode="auto">
            <a:xfrm>
              <a:off x="2505075" y="4087812"/>
              <a:ext cx="1155700" cy="82550"/>
              <a:chOff x="128" y="1281"/>
              <a:chExt cx="381" cy="48"/>
            </a:xfrm>
          </p:grpSpPr>
          <p:sp>
            <p:nvSpPr>
              <p:cNvPr id="13361" name="Line 14"/>
              <p:cNvSpPr>
                <a:spLocks noChangeShapeType="1"/>
              </p:cNvSpPr>
              <p:nvPr/>
            </p:nvSpPr>
            <p:spPr bwMode="auto">
              <a:xfrm>
                <a:off x="177" y="1306"/>
                <a:ext cx="33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362" name="AutoShape 15"/>
              <p:cNvSpPr>
                <a:spLocks noChangeArrowheads="1"/>
              </p:cNvSpPr>
              <p:nvPr/>
            </p:nvSpPr>
            <p:spPr bwMode="auto">
              <a:xfrm rot="5400000">
                <a:off x="137" y="1272"/>
                <a:ext cx="48" cy="66"/>
              </a:xfrm>
              <a:prstGeom prst="triangle">
                <a:avLst>
                  <a:gd name="adj" fmla="val 50000"/>
                </a:avLst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</p:grpSp>
        <p:grpSp>
          <p:nvGrpSpPr>
            <p:cNvPr id="13322" name="Group 16"/>
            <p:cNvGrpSpPr>
              <a:grpSpLocks/>
            </p:cNvGrpSpPr>
            <p:nvPr>
              <p:custDataLst>
                <p:tags r:id="rId4"/>
              </p:custDataLst>
            </p:nvPr>
          </p:nvGrpSpPr>
          <p:grpSpPr bwMode="auto">
            <a:xfrm>
              <a:off x="2505075" y="4284662"/>
              <a:ext cx="1155700" cy="84138"/>
              <a:chOff x="128" y="1413"/>
              <a:chExt cx="381" cy="49"/>
            </a:xfrm>
          </p:grpSpPr>
          <p:sp>
            <p:nvSpPr>
              <p:cNvPr id="13359" name="Line 17"/>
              <p:cNvSpPr>
                <a:spLocks noChangeShapeType="1"/>
              </p:cNvSpPr>
              <p:nvPr/>
            </p:nvSpPr>
            <p:spPr bwMode="auto">
              <a:xfrm>
                <a:off x="177" y="1438"/>
                <a:ext cx="33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360" name="AutoShape 18"/>
              <p:cNvSpPr>
                <a:spLocks noChangeArrowheads="1"/>
              </p:cNvSpPr>
              <p:nvPr/>
            </p:nvSpPr>
            <p:spPr bwMode="auto">
              <a:xfrm rot="5400000">
                <a:off x="136" y="1405"/>
                <a:ext cx="49" cy="66"/>
              </a:xfrm>
              <a:prstGeom prst="triangle">
                <a:avLst>
                  <a:gd name="adj" fmla="val 50000"/>
                </a:avLst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</p:grpSp>
        <p:grpSp>
          <p:nvGrpSpPr>
            <p:cNvPr id="13323" name="Group 19"/>
            <p:cNvGrpSpPr>
              <a:grpSpLocks/>
            </p:cNvGrpSpPr>
            <p:nvPr>
              <p:custDataLst>
                <p:tags r:id="rId5"/>
              </p:custDataLst>
            </p:nvPr>
          </p:nvGrpSpPr>
          <p:grpSpPr bwMode="auto">
            <a:xfrm>
              <a:off x="2505075" y="4481512"/>
              <a:ext cx="1155700" cy="85725"/>
              <a:chOff x="128" y="1522"/>
              <a:chExt cx="381" cy="50"/>
            </a:xfrm>
          </p:grpSpPr>
          <p:sp>
            <p:nvSpPr>
              <p:cNvPr id="13357" name="Line 20"/>
              <p:cNvSpPr>
                <a:spLocks noChangeShapeType="1"/>
              </p:cNvSpPr>
              <p:nvPr/>
            </p:nvSpPr>
            <p:spPr bwMode="auto">
              <a:xfrm>
                <a:off x="177" y="1547"/>
                <a:ext cx="33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358" name="AutoShape 21"/>
              <p:cNvSpPr>
                <a:spLocks noChangeArrowheads="1"/>
              </p:cNvSpPr>
              <p:nvPr/>
            </p:nvSpPr>
            <p:spPr bwMode="auto">
              <a:xfrm rot="5400000">
                <a:off x="136" y="1514"/>
                <a:ext cx="50" cy="66"/>
              </a:xfrm>
              <a:prstGeom prst="triangle">
                <a:avLst>
                  <a:gd name="adj" fmla="val 50000"/>
                </a:avLst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13324" name="Line 22"/>
            <p:cNvSpPr>
              <a:spLocks noChangeShapeType="1"/>
            </p:cNvSpPr>
            <p:nvPr/>
          </p:nvSpPr>
          <p:spPr bwMode="auto">
            <a:xfrm>
              <a:off x="2652713" y="4722812"/>
              <a:ext cx="100806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3325" name="AutoShape 23"/>
            <p:cNvSpPr>
              <a:spLocks noChangeArrowheads="1"/>
            </p:cNvSpPr>
            <p:nvPr/>
          </p:nvSpPr>
          <p:spPr bwMode="auto">
            <a:xfrm rot="5400000">
              <a:off x="2563019" y="4623593"/>
              <a:ext cx="84138" cy="200025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3326" name="AutoShape 24"/>
            <p:cNvSpPr>
              <a:spLocks noChangeArrowheads="1"/>
            </p:cNvSpPr>
            <p:nvPr/>
          </p:nvSpPr>
          <p:spPr bwMode="auto">
            <a:xfrm rot="5400000" flipV="1">
              <a:off x="5582444" y="4828381"/>
              <a:ext cx="306388" cy="107950"/>
            </a:xfrm>
            <a:custGeom>
              <a:avLst/>
              <a:gdLst>
                <a:gd name="T0" fmla="*/ 2147483647 w 21600"/>
                <a:gd name="T1" fmla="*/ 2147483647 h 21600"/>
                <a:gd name="T2" fmla="*/ 2147483647 w 21600"/>
                <a:gd name="T3" fmla="*/ 2147483647 h 21600"/>
                <a:gd name="T4" fmla="*/ 2147483647 w 21600"/>
                <a:gd name="T5" fmla="*/ 2147483647 h 21600"/>
                <a:gd name="T6" fmla="*/ 2147483647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3188 w 21600"/>
                <a:gd name="T13" fmla="*/ 3188 h 21600"/>
                <a:gd name="T14" fmla="*/ 18412 w 21600"/>
                <a:gd name="T15" fmla="*/ 18412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2776" y="21600"/>
                  </a:lnTo>
                  <a:lnTo>
                    <a:pt x="18824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grpSp>
          <p:nvGrpSpPr>
            <p:cNvPr id="13327" name="Group 25"/>
            <p:cNvGrpSpPr>
              <a:grpSpLocks/>
            </p:cNvGrpSpPr>
            <p:nvPr>
              <p:custDataLst>
                <p:tags r:id="rId6"/>
              </p:custDataLst>
            </p:nvPr>
          </p:nvGrpSpPr>
          <p:grpSpPr bwMode="auto">
            <a:xfrm flipV="1">
              <a:off x="2511425" y="3478212"/>
              <a:ext cx="3238500" cy="1260475"/>
              <a:chOff x="3717" y="3279"/>
              <a:chExt cx="1027" cy="522"/>
            </a:xfrm>
          </p:grpSpPr>
          <p:sp>
            <p:nvSpPr>
              <p:cNvPr id="13354" name="Line 26"/>
              <p:cNvSpPr>
                <a:spLocks noChangeShapeType="1"/>
              </p:cNvSpPr>
              <p:nvPr/>
            </p:nvSpPr>
            <p:spPr bwMode="auto">
              <a:xfrm>
                <a:off x="4740" y="3279"/>
                <a:ext cx="0" cy="50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355" name="Line 27"/>
              <p:cNvSpPr>
                <a:spLocks noChangeShapeType="1"/>
              </p:cNvSpPr>
              <p:nvPr/>
            </p:nvSpPr>
            <p:spPr bwMode="auto">
              <a:xfrm flipH="1">
                <a:off x="3756" y="3779"/>
                <a:ext cx="988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356" name="AutoShape 28"/>
              <p:cNvSpPr>
                <a:spLocks noChangeArrowheads="1"/>
              </p:cNvSpPr>
              <p:nvPr/>
            </p:nvSpPr>
            <p:spPr bwMode="auto">
              <a:xfrm rot="5400000">
                <a:off x="3721" y="3753"/>
                <a:ext cx="44" cy="52"/>
              </a:xfrm>
              <a:prstGeom prst="triangle">
                <a:avLst>
                  <a:gd name="adj" fmla="val 50000"/>
                </a:avLst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</p:grpSp>
        <p:grpSp>
          <p:nvGrpSpPr>
            <p:cNvPr id="13328" name="Group 29"/>
            <p:cNvGrpSpPr>
              <a:grpSpLocks/>
            </p:cNvGrpSpPr>
            <p:nvPr>
              <p:custDataLst>
                <p:tags r:id="rId7"/>
              </p:custDataLst>
            </p:nvPr>
          </p:nvGrpSpPr>
          <p:grpSpPr bwMode="auto">
            <a:xfrm>
              <a:off x="5489575" y="4932362"/>
              <a:ext cx="185738" cy="669925"/>
              <a:chOff x="1345" y="1736"/>
              <a:chExt cx="85" cy="443"/>
            </a:xfrm>
          </p:grpSpPr>
          <p:sp>
            <p:nvSpPr>
              <p:cNvPr id="13352" name="Line 30"/>
              <p:cNvSpPr>
                <a:spLocks noChangeShapeType="1"/>
              </p:cNvSpPr>
              <p:nvPr/>
            </p:nvSpPr>
            <p:spPr bwMode="auto">
              <a:xfrm>
                <a:off x="1347" y="1738"/>
                <a:ext cx="1" cy="441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353" name="Line 31"/>
              <p:cNvSpPr>
                <a:spLocks noChangeShapeType="1"/>
              </p:cNvSpPr>
              <p:nvPr/>
            </p:nvSpPr>
            <p:spPr bwMode="auto">
              <a:xfrm flipH="1">
                <a:off x="1345" y="1736"/>
                <a:ext cx="85" cy="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</p:grpSp>
        <p:grpSp>
          <p:nvGrpSpPr>
            <p:cNvPr id="13329" name="Group 32"/>
            <p:cNvGrpSpPr>
              <a:grpSpLocks/>
            </p:cNvGrpSpPr>
            <p:nvPr>
              <p:custDataLst>
                <p:tags r:id="rId8"/>
              </p:custDataLst>
            </p:nvPr>
          </p:nvGrpSpPr>
          <p:grpSpPr bwMode="auto">
            <a:xfrm>
              <a:off x="5492750" y="4233862"/>
              <a:ext cx="182563" cy="579438"/>
              <a:chOff x="1347" y="1384"/>
              <a:chExt cx="83" cy="282"/>
            </a:xfrm>
          </p:grpSpPr>
          <p:sp>
            <p:nvSpPr>
              <p:cNvPr id="13350" name="Line 33"/>
              <p:cNvSpPr>
                <a:spLocks noChangeShapeType="1"/>
              </p:cNvSpPr>
              <p:nvPr/>
            </p:nvSpPr>
            <p:spPr bwMode="auto">
              <a:xfrm flipH="1">
                <a:off x="1348" y="1666"/>
                <a:ext cx="8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3351" name="Line 34"/>
              <p:cNvSpPr>
                <a:spLocks noChangeShapeType="1"/>
              </p:cNvSpPr>
              <p:nvPr/>
            </p:nvSpPr>
            <p:spPr bwMode="auto">
              <a:xfrm>
                <a:off x="1347" y="1384"/>
                <a:ext cx="4" cy="279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13330" name="Line 35"/>
            <p:cNvSpPr>
              <a:spLocks noChangeShapeType="1"/>
            </p:cNvSpPr>
            <p:nvPr/>
          </p:nvSpPr>
          <p:spPr bwMode="auto">
            <a:xfrm flipH="1">
              <a:off x="5384800" y="4240212"/>
              <a:ext cx="10001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3331" name="Line 36"/>
            <p:cNvSpPr>
              <a:spLocks noChangeShapeType="1"/>
            </p:cNvSpPr>
            <p:nvPr/>
          </p:nvSpPr>
          <p:spPr bwMode="auto">
            <a:xfrm flipH="1">
              <a:off x="5391150" y="5603875"/>
              <a:ext cx="1092200" cy="158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3332" name="Line 37"/>
            <p:cNvSpPr>
              <a:spLocks noChangeShapeType="1"/>
            </p:cNvSpPr>
            <p:nvPr/>
          </p:nvSpPr>
          <p:spPr bwMode="auto">
            <a:xfrm flipH="1">
              <a:off x="5776913" y="4876800"/>
              <a:ext cx="70643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3333" name="Freeform 38"/>
            <p:cNvSpPr>
              <a:spLocks/>
            </p:cNvSpPr>
            <p:nvPr/>
          </p:nvSpPr>
          <p:spPr bwMode="auto">
            <a:xfrm>
              <a:off x="3482975" y="3932237"/>
              <a:ext cx="160338" cy="1436688"/>
            </a:xfrm>
            <a:custGeom>
              <a:avLst/>
              <a:gdLst>
                <a:gd name="T0" fmla="*/ 0 w 66"/>
                <a:gd name="T1" fmla="*/ 0 h 801"/>
                <a:gd name="T2" fmla="*/ 0 w 66"/>
                <a:gd name="T3" fmla="*/ 2147483647 h 801"/>
                <a:gd name="T4" fmla="*/ 2147483647 w 66"/>
                <a:gd name="T5" fmla="*/ 2147483647 h 801"/>
                <a:gd name="T6" fmla="*/ 0 60000 65536"/>
                <a:gd name="T7" fmla="*/ 0 60000 65536"/>
                <a:gd name="T8" fmla="*/ 0 60000 65536"/>
                <a:gd name="T9" fmla="*/ 0 w 66"/>
                <a:gd name="T10" fmla="*/ 0 h 801"/>
                <a:gd name="T11" fmla="*/ 66 w 66"/>
                <a:gd name="T12" fmla="*/ 801 h 80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6" h="801">
                  <a:moveTo>
                    <a:pt x="0" y="0"/>
                  </a:moveTo>
                  <a:lnTo>
                    <a:pt x="0" y="801"/>
                  </a:lnTo>
                  <a:lnTo>
                    <a:pt x="66" y="801"/>
                  </a:lnTo>
                </a:path>
              </a:pathLst>
            </a:custGeom>
            <a:noFill/>
            <a:ln w="17526" cap="rnd" cmpd="sng">
              <a:solidFill>
                <a:schemeClr val="tx1"/>
              </a:solidFill>
              <a:prstDash val="solid"/>
              <a:round/>
              <a:headEnd type="oval" w="sm" len="sm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34" name="Freeform 39"/>
            <p:cNvSpPr>
              <a:spLocks/>
            </p:cNvSpPr>
            <p:nvPr/>
          </p:nvSpPr>
          <p:spPr bwMode="auto">
            <a:xfrm>
              <a:off x="3381375" y="4124325"/>
              <a:ext cx="282575" cy="1463675"/>
            </a:xfrm>
            <a:custGeom>
              <a:avLst/>
              <a:gdLst>
                <a:gd name="T0" fmla="*/ 0 w 66"/>
                <a:gd name="T1" fmla="*/ 0 h 801"/>
                <a:gd name="T2" fmla="*/ 0 w 66"/>
                <a:gd name="T3" fmla="*/ 2147483647 h 801"/>
                <a:gd name="T4" fmla="*/ 2147483647 w 66"/>
                <a:gd name="T5" fmla="*/ 2147483647 h 801"/>
                <a:gd name="T6" fmla="*/ 0 60000 65536"/>
                <a:gd name="T7" fmla="*/ 0 60000 65536"/>
                <a:gd name="T8" fmla="*/ 0 60000 65536"/>
                <a:gd name="T9" fmla="*/ 0 w 66"/>
                <a:gd name="T10" fmla="*/ 0 h 801"/>
                <a:gd name="T11" fmla="*/ 66 w 66"/>
                <a:gd name="T12" fmla="*/ 801 h 80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6" h="801">
                  <a:moveTo>
                    <a:pt x="0" y="0"/>
                  </a:moveTo>
                  <a:lnTo>
                    <a:pt x="0" y="801"/>
                  </a:lnTo>
                  <a:lnTo>
                    <a:pt x="66" y="801"/>
                  </a:lnTo>
                </a:path>
              </a:pathLst>
            </a:custGeom>
            <a:noFill/>
            <a:ln w="17526" cap="rnd" cmpd="sng">
              <a:solidFill>
                <a:schemeClr val="tx1"/>
              </a:solidFill>
              <a:prstDash val="solid"/>
              <a:round/>
              <a:headEnd type="oval" w="sm" len="sm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35" name="Freeform 40"/>
            <p:cNvSpPr>
              <a:spLocks/>
            </p:cNvSpPr>
            <p:nvPr/>
          </p:nvSpPr>
          <p:spPr bwMode="auto">
            <a:xfrm>
              <a:off x="3276600" y="4314825"/>
              <a:ext cx="360363" cy="1466850"/>
            </a:xfrm>
            <a:custGeom>
              <a:avLst/>
              <a:gdLst>
                <a:gd name="T0" fmla="*/ 0 w 66"/>
                <a:gd name="T1" fmla="*/ 0 h 801"/>
                <a:gd name="T2" fmla="*/ 0 w 66"/>
                <a:gd name="T3" fmla="*/ 2147483647 h 801"/>
                <a:gd name="T4" fmla="*/ 2147483647 w 66"/>
                <a:gd name="T5" fmla="*/ 2147483647 h 801"/>
                <a:gd name="T6" fmla="*/ 0 60000 65536"/>
                <a:gd name="T7" fmla="*/ 0 60000 65536"/>
                <a:gd name="T8" fmla="*/ 0 60000 65536"/>
                <a:gd name="T9" fmla="*/ 0 w 66"/>
                <a:gd name="T10" fmla="*/ 0 h 801"/>
                <a:gd name="T11" fmla="*/ 66 w 66"/>
                <a:gd name="T12" fmla="*/ 801 h 80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6" h="801">
                  <a:moveTo>
                    <a:pt x="0" y="0"/>
                  </a:moveTo>
                  <a:lnTo>
                    <a:pt x="0" y="801"/>
                  </a:lnTo>
                  <a:lnTo>
                    <a:pt x="66" y="801"/>
                  </a:lnTo>
                </a:path>
              </a:pathLst>
            </a:custGeom>
            <a:noFill/>
            <a:ln w="17526" cap="rnd" cmpd="sng">
              <a:solidFill>
                <a:schemeClr val="tx1"/>
              </a:solidFill>
              <a:prstDash val="solid"/>
              <a:round/>
              <a:headEnd type="oval" w="sm" len="sm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36" name="Freeform 41"/>
            <p:cNvSpPr>
              <a:spLocks/>
            </p:cNvSpPr>
            <p:nvPr/>
          </p:nvSpPr>
          <p:spPr bwMode="auto">
            <a:xfrm>
              <a:off x="3148013" y="4511675"/>
              <a:ext cx="501650" cy="1482725"/>
            </a:xfrm>
            <a:custGeom>
              <a:avLst/>
              <a:gdLst>
                <a:gd name="T0" fmla="*/ 0 w 66"/>
                <a:gd name="T1" fmla="*/ 0 h 801"/>
                <a:gd name="T2" fmla="*/ 0 w 66"/>
                <a:gd name="T3" fmla="*/ 2147483647 h 801"/>
                <a:gd name="T4" fmla="*/ 2147483647 w 66"/>
                <a:gd name="T5" fmla="*/ 2147483647 h 801"/>
                <a:gd name="T6" fmla="*/ 0 60000 65536"/>
                <a:gd name="T7" fmla="*/ 0 60000 65536"/>
                <a:gd name="T8" fmla="*/ 0 60000 65536"/>
                <a:gd name="T9" fmla="*/ 0 w 66"/>
                <a:gd name="T10" fmla="*/ 0 h 801"/>
                <a:gd name="T11" fmla="*/ 66 w 66"/>
                <a:gd name="T12" fmla="*/ 801 h 80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6" h="801">
                  <a:moveTo>
                    <a:pt x="0" y="0"/>
                  </a:moveTo>
                  <a:lnTo>
                    <a:pt x="0" y="801"/>
                  </a:lnTo>
                  <a:lnTo>
                    <a:pt x="66" y="801"/>
                  </a:lnTo>
                </a:path>
              </a:pathLst>
            </a:custGeom>
            <a:noFill/>
            <a:ln w="17526" cap="rnd" cmpd="sng">
              <a:solidFill>
                <a:schemeClr val="tx1"/>
              </a:solidFill>
              <a:prstDash val="solid"/>
              <a:round/>
              <a:headEnd type="oval" w="sm" len="sm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37" name="Freeform 42"/>
            <p:cNvSpPr>
              <a:spLocks/>
            </p:cNvSpPr>
            <p:nvPr/>
          </p:nvSpPr>
          <p:spPr bwMode="auto">
            <a:xfrm>
              <a:off x="3036888" y="4729162"/>
              <a:ext cx="600075" cy="1489075"/>
            </a:xfrm>
            <a:custGeom>
              <a:avLst/>
              <a:gdLst>
                <a:gd name="T0" fmla="*/ 0 w 66"/>
                <a:gd name="T1" fmla="*/ 0 h 801"/>
                <a:gd name="T2" fmla="*/ 0 w 66"/>
                <a:gd name="T3" fmla="*/ 2147483647 h 801"/>
                <a:gd name="T4" fmla="*/ 2147483647 w 66"/>
                <a:gd name="T5" fmla="*/ 2147483647 h 801"/>
                <a:gd name="T6" fmla="*/ 0 60000 65536"/>
                <a:gd name="T7" fmla="*/ 0 60000 65536"/>
                <a:gd name="T8" fmla="*/ 0 60000 65536"/>
                <a:gd name="T9" fmla="*/ 0 w 66"/>
                <a:gd name="T10" fmla="*/ 0 h 801"/>
                <a:gd name="T11" fmla="*/ 66 w 66"/>
                <a:gd name="T12" fmla="*/ 801 h 80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6" h="801">
                  <a:moveTo>
                    <a:pt x="0" y="0"/>
                  </a:moveTo>
                  <a:lnTo>
                    <a:pt x="0" y="801"/>
                  </a:lnTo>
                  <a:lnTo>
                    <a:pt x="66" y="801"/>
                  </a:lnTo>
                </a:path>
              </a:pathLst>
            </a:custGeom>
            <a:noFill/>
            <a:ln w="17526" cap="rnd" cmpd="sng">
              <a:solidFill>
                <a:schemeClr val="tx1"/>
              </a:solidFill>
              <a:prstDash val="solid"/>
              <a:round/>
              <a:headEnd type="oval" w="sm" len="sm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79980" name="Rectangle 44"/>
            <p:cNvSpPr>
              <a:spLocks noChangeArrowheads="1"/>
            </p:cNvSpPr>
            <p:nvPr/>
          </p:nvSpPr>
          <p:spPr bwMode="auto">
            <a:xfrm>
              <a:off x="3660775" y="5256212"/>
              <a:ext cx="1731963" cy="1063625"/>
            </a:xfrm>
            <a:prstGeom prst="rect">
              <a:avLst/>
            </a:prstGeom>
            <a:gradFill rotWithShape="1">
              <a:gsLst>
                <a:gs pos="0">
                  <a:schemeClr val="tx1"/>
                </a:gs>
                <a:gs pos="100000">
                  <a:schemeClr val="tx1">
                    <a:gamma/>
                    <a:tint val="12549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91425" tIns="45713" rIns="91425" bIns="45713" anchor="ctr"/>
            <a:lstStyle/>
            <a:p>
              <a:pPr eaLnBrk="0" hangingPunct="0">
                <a:defRPr/>
              </a:pPr>
              <a:r>
                <a:rPr lang="en-US" sz="1600" dirty="0">
                  <a:solidFill>
                    <a:schemeClr val="bg1"/>
                  </a:solidFill>
                  <a:latin typeface="Arial Narrow" pitchFamily="34" charset="0"/>
                </a:rPr>
                <a:t>             5-LUT</a:t>
              </a:r>
            </a:p>
          </p:txBody>
        </p:sp>
        <p:sp>
          <p:nvSpPr>
            <p:cNvPr id="13339" name="Text Box 45"/>
            <p:cNvSpPr txBox="1">
              <a:spLocks noChangeArrowheads="1"/>
            </p:cNvSpPr>
            <p:nvPr/>
          </p:nvSpPr>
          <p:spPr bwMode="auto">
            <a:xfrm>
              <a:off x="5132388" y="5432425"/>
              <a:ext cx="274637" cy="2746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7526" cap="rnd" algn="ctr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 wrap="none" lIns="91425" tIns="45713" rIns="91425" bIns="45713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sz="1200" b="1">
                  <a:latin typeface="Arial Narrow" pitchFamily="34" charset="0"/>
                </a:rPr>
                <a:t>D</a:t>
              </a:r>
            </a:p>
          </p:txBody>
        </p:sp>
        <p:sp>
          <p:nvSpPr>
            <p:cNvPr id="13340" name="Text Box 46"/>
            <p:cNvSpPr txBox="1">
              <a:spLocks noChangeArrowheads="1"/>
            </p:cNvSpPr>
            <p:nvPr/>
          </p:nvSpPr>
          <p:spPr bwMode="auto">
            <a:xfrm>
              <a:off x="3671888" y="5214937"/>
              <a:ext cx="357187" cy="1084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7526" cap="rnd" algn="ctr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 wrap="none" lIns="91425" tIns="45713" rIns="91425" bIns="45713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sz="1300" b="1">
                  <a:latin typeface="Arial Narrow" pitchFamily="34" charset="0"/>
                </a:rPr>
                <a:t>A5</a:t>
              </a:r>
            </a:p>
            <a:p>
              <a:r>
                <a:rPr lang="en-US" sz="1300" b="1">
                  <a:latin typeface="Arial Narrow" pitchFamily="34" charset="0"/>
                </a:rPr>
                <a:t>A4</a:t>
              </a:r>
            </a:p>
            <a:p>
              <a:r>
                <a:rPr lang="en-US" sz="1300" b="1">
                  <a:latin typeface="Arial Narrow" pitchFamily="34" charset="0"/>
                </a:rPr>
                <a:t>A3</a:t>
              </a:r>
            </a:p>
            <a:p>
              <a:r>
                <a:rPr lang="en-US" sz="1300" b="1">
                  <a:latin typeface="Arial Narrow" pitchFamily="34" charset="0"/>
                </a:rPr>
                <a:t>A2</a:t>
              </a:r>
            </a:p>
            <a:p>
              <a:r>
                <a:rPr lang="en-US" sz="1300" b="1">
                  <a:latin typeface="Arial Narrow" pitchFamily="34" charset="0"/>
                </a:rPr>
                <a:t>A1</a:t>
              </a:r>
            </a:p>
          </p:txBody>
        </p:sp>
        <p:sp>
          <p:nvSpPr>
            <p:cNvPr id="679984" name="Rectangle 48"/>
            <p:cNvSpPr>
              <a:spLocks noChangeArrowheads="1"/>
            </p:cNvSpPr>
            <p:nvPr/>
          </p:nvSpPr>
          <p:spPr bwMode="auto">
            <a:xfrm>
              <a:off x="3660775" y="3787775"/>
              <a:ext cx="1731963" cy="1062037"/>
            </a:xfrm>
            <a:prstGeom prst="rect">
              <a:avLst/>
            </a:prstGeom>
            <a:gradFill rotWithShape="1">
              <a:gsLst>
                <a:gs pos="0">
                  <a:schemeClr val="tx1"/>
                </a:gs>
                <a:gs pos="100000">
                  <a:schemeClr val="tx1">
                    <a:gamma/>
                    <a:tint val="12549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91425" tIns="45713" rIns="91425" bIns="45713" anchor="ctr"/>
            <a:lstStyle/>
            <a:p>
              <a:pPr eaLnBrk="0" hangingPunct="0">
                <a:defRPr/>
              </a:pPr>
              <a:r>
                <a:rPr lang="en-US" sz="1600" dirty="0">
                  <a:solidFill>
                    <a:schemeClr val="bg1"/>
                  </a:solidFill>
                  <a:latin typeface="Arial Narrow" pitchFamily="34" charset="0"/>
                </a:rPr>
                <a:t>             5-LUT</a:t>
              </a:r>
            </a:p>
          </p:txBody>
        </p:sp>
        <p:sp>
          <p:nvSpPr>
            <p:cNvPr id="13342" name="Text Box 49"/>
            <p:cNvSpPr txBox="1">
              <a:spLocks noChangeArrowheads="1"/>
            </p:cNvSpPr>
            <p:nvPr/>
          </p:nvSpPr>
          <p:spPr bwMode="auto">
            <a:xfrm>
              <a:off x="5132388" y="3962400"/>
              <a:ext cx="274637" cy="2746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7526" cap="rnd" algn="ctr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 wrap="none" lIns="91425" tIns="45713" rIns="91425" bIns="45713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sz="1200" b="1">
                  <a:latin typeface="Arial Narrow" pitchFamily="34" charset="0"/>
                </a:rPr>
                <a:t>D</a:t>
              </a:r>
            </a:p>
          </p:txBody>
        </p:sp>
        <p:sp>
          <p:nvSpPr>
            <p:cNvPr id="13343" name="Text Box 50"/>
            <p:cNvSpPr txBox="1">
              <a:spLocks noChangeArrowheads="1"/>
            </p:cNvSpPr>
            <p:nvPr/>
          </p:nvSpPr>
          <p:spPr bwMode="auto">
            <a:xfrm>
              <a:off x="3671888" y="3767137"/>
              <a:ext cx="357187" cy="1084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7526" cap="rnd" algn="ctr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 wrap="none" lIns="91425" tIns="45713" rIns="91425" bIns="45713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sz="1300" b="1">
                  <a:latin typeface="Arial Narrow" pitchFamily="34" charset="0"/>
                </a:rPr>
                <a:t>A5</a:t>
              </a:r>
            </a:p>
            <a:p>
              <a:r>
                <a:rPr lang="en-US" sz="1300" b="1">
                  <a:latin typeface="Arial Narrow" pitchFamily="34" charset="0"/>
                </a:rPr>
                <a:t>A4</a:t>
              </a:r>
            </a:p>
            <a:p>
              <a:r>
                <a:rPr lang="en-US" sz="1300" b="1">
                  <a:latin typeface="Arial Narrow" pitchFamily="34" charset="0"/>
                </a:rPr>
                <a:t>A3</a:t>
              </a:r>
            </a:p>
            <a:p>
              <a:r>
                <a:rPr lang="en-US" sz="1300" b="1">
                  <a:latin typeface="Arial Narrow" pitchFamily="34" charset="0"/>
                </a:rPr>
                <a:t>A2</a:t>
              </a:r>
            </a:p>
            <a:p>
              <a:r>
                <a:rPr lang="en-US" sz="1300" b="1">
                  <a:latin typeface="Arial Narrow" pitchFamily="34" charset="0"/>
                </a:rPr>
                <a:t>A1</a:t>
              </a:r>
            </a:p>
          </p:txBody>
        </p:sp>
        <p:sp>
          <p:nvSpPr>
            <p:cNvPr id="13344" name="Text Box 51"/>
            <p:cNvSpPr txBox="1">
              <a:spLocks noChangeArrowheads="1"/>
            </p:cNvSpPr>
            <p:nvPr/>
          </p:nvSpPr>
          <p:spPr bwMode="auto">
            <a:xfrm>
              <a:off x="2057400" y="3363912"/>
              <a:ext cx="357188" cy="14811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7526" cap="rnd" algn="ctr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 wrap="none" lIns="91425" tIns="45713" rIns="91425" bIns="45713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sz="1300" b="1">
                  <a:latin typeface="Arial Narrow" pitchFamily="34" charset="0"/>
                </a:rPr>
                <a:t>A6</a:t>
              </a:r>
            </a:p>
            <a:p>
              <a:endParaRPr lang="en-US" sz="1300" b="1">
                <a:latin typeface="Arial Narrow" pitchFamily="34" charset="0"/>
              </a:endParaRPr>
            </a:p>
            <a:p>
              <a:r>
                <a:rPr lang="en-US" sz="1300" b="1">
                  <a:latin typeface="Arial Narrow" pitchFamily="34" charset="0"/>
                </a:rPr>
                <a:t>A5</a:t>
              </a:r>
            </a:p>
            <a:p>
              <a:r>
                <a:rPr lang="en-US" sz="1300" b="1">
                  <a:latin typeface="Arial Narrow" pitchFamily="34" charset="0"/>
                </a:rPr>
                <a:t>A4</a:t>
              </a:r>
            </a:p>
            <a:p>
              <a:r>
                <a:rPr lang="en-US" sz="1300" b="1">
                  <a:latin typeface="Arial Narrow" pitchFamily="34" charset="0"/>
                </a:rPr>
                <a:t>A3</a:t>
              </a:r>
            </a:p>
            <a:p>
              <a:r>
                <a:rPr lang="en-US" sz="1300" b="1">
                  <a:latin typeface="Arial Narrow" pitchFamily="34" charset="0"/>
                </a:rPr>
                <a:t>A2</a:t>
              </a:r>
            </a:p>
            <a:p>
              <a:r>
                <a:rPr lang="en-US" sz="1300" b="1">
                  <a:latin typeface="Arial Narrow" pitchFamily="34" charset="0"/>
                </a:rPr>
                <a:t>A1</a:t>
              </a:r>
            </a:p>
          </p:txBody>
        </p:sp>
        <p:sp>
          <p:nvSpPr>
            <p:cNvPr id="13345" name="Text Box 52"/>
            <p:cNvSpPr txBox="1">
              <a:spLocks noChangeArrowheads="1"/>
            </p:cNvSpPr>
            <p:nvPr/>
          </p:nvSpPr>
          <p:spPr bwMode="auto">
            <a:xfrm>
              <a:off x="6630988" y="4706937"/>
              <a:ext cx="522287" cy="2746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7526" cap="rnd" algn="ctr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 lIns="91425" tIns="45713" rIns="91425" bIns="45713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sz="1200" b="1">
                  <a:latin typeface="Arial Narrow" pitchFamily="34" charset="0"/>
                </a:rPr>
                <a:t>O6</a:t>
              </a:r>
            </a:p>
          </p:txBody>
        </p:sp>
        <p:sp>
          <p:nvSpPr>
            <p:cNvPr id="13346" name="AutoShape 53"/>
            <p:cNvSpPr>
              <a:spLocks noChangeArrowheads="1"/>
            </p:cNvSpPr>
            <p:nvPr/>
          </p:nvSpPr>
          <p:spPr bwMode="auto">
            <a:xfrm rot="5400000">
              <a:off x="6542088" y="4773612"/>
              <a:ext cx="84137" cy="201613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3347" name="AutoShape 54"/>
            <p:cNvSpPr>
              <a:spLocks noChangeArrowheads="1"/>
            </p:cNvSpPr>
            <p:nvPr/>
          </p:nvSpPr>
          <p:spPr bwMode="auto">
            <a:xfrm rot="5400000">
              <a:off x="6542088" y="5489574"/>
              <a:ext cx="84138" cy="201613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3348" name="Text Box 55"/>
            <p:cNvSpPr txBox="1">
              <a:spLocks noChangeArrowheads="1"/>
            </p:cNvSpPr>
            <p:nvPr/>
          </p:nvSpPr>
          <p:spPr bwMode="auto">
            <a:xfrm>
              <a:off x="6630988" y="5437187"/>
              <a:ext cx="522287" cy="2746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7526" cap="rnd" algn="ctr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 lIns="91425" tIns="45713" rIns="91425" bIns="45713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sz="1200" b="1">
                  <a:latin typeface="Arial Narrow" pitchFamily="34" charset="0"/>
                </a:rPr>
                <a:t>O5</a:t>
              </a:r>
            </a:p>
          </p:txBody>
        </p:sp>
        <p:sp>
          <p:nvSpPr>
            <p:cNvPr id="679992" name="Text Box 56"/>
            <p:cNvSpPr txBox="1">
              <a:spLocks noChangeArrowheads="1"/>
            </p:cNvSpPr>
            <p:nvPr/>
          </p:nvSpPr>
          <p:spPr bwMode="auto">
            <a:xfrm>
              <a:off x="4116388" y="3054350"/>
              <a:ext cx="714375" cy="366712"/>
            </a:xfrm>
            <a:prstGeom prst="rect">
              <a:avLst/>
            </a:prstGeom>
            <a:noFill/>
            <a:ln w="17526" cap="rnd" algn="ctr">
              <a:noFill/>
              <a:miter lim="800000"/>
              <a:headEnd type="none" w="sm" len="sm"/>
              <a:tailEnd/>
            </a:ln>
            <a:effectLst/>
          </p:spPr>
          <p:txBody>
            <a:bodyPr wrap="none" lIns="91425" tIns="45713" rIns="91425" bIns="45713">
              <a:spAutoFit/>
            </a:bodyPr>
            <a:lstStyle/>
            <a:p>
              <a:pPr eaLnBrk="0" hangingPunct="0">
                <a:defRPr/>
              </a:pPr>
              <a:r>
                <a:rPr lang="en-US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Arial Narrow" pitchFamily="34" charset="0"/>
                </a:rPr>
                <a:t>6-LUT</a:t>
              </a: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2453420511"/>
      </p:ext>
    </p:extLst>
  </p:cSld>
  <p:clrMapOvr>
    <a:masterClrMapping/>
  </p:clrMapOvr>
  <p:transition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8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Wide Multiplexers</a:t>
            </a:r>
          </a:p>
        </p:txBody>
      </p:sp>
      <p:sp>
        <p:nvSpPr>
          <p:cNvPr id="14339" name="Rectangle 28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4338638" cy="4799013"/>
          </a:xfrm>
        </p:spPr>
        <p:txBody>
          <a:bodyPr/>
          <a:lstStyle/>
          <a:p>
            <a:pPr eaLnBrk="1" hangingPunct="1"/>
            <a:r>
              <a:rPr lang="en-GB" sz="2000" dirty="0"/>
              <a:t>Each F7MUX combines the outputs of two LUTs together</a:t>
            </a:r>
          </a:p>
          <a:p>
            <a:pPr lvl="1" eaLnBrk="1" hangingPunct="1"/>
            <a:r>
              <a:rPr lang="en-GB" sz="1800" dirty="0"/>
              <a:t>Can implement an arbitrary 7-input function</a:t>
            </a:r>
          </a:p>
          <a:p>
            <a:pPr lvl="1" eaLnBrk="1" hangingPunct="1"/>
            <a:r>
              <a:rPr lang="en-GB" sz="1800" dirty="0"/>
              <a:t>Can implement an 8-1 multiplexer</a:t>
            </a:r>
          </a:p>
          <a:p>
            <a:pPr eaLnBrk="1" hangingPunct="1"/>
            <a:r>
              <a:rPr lang="en-GB" sz="2000" dirty="0"/>
              <a:t>The F8MUX combines the outputs of the two F7MUXes</a:t>
            </a:r>
          </a:p>
          <a:p>
            <a:pPr lvl="1" eaLnBrk="1" hangingPunct="1"/>
            <a:r>
              <a:rPr lang="en-GB" sz="1800" dirty="0"/>
              <a:t>Can implement an arbitrary 8-input function</a:t>
            </a:r>
          </a:p>
        </p:txBody>
      </p:sp>
      <p:sp>
        <p:nvSpPr>
          <p:cNvPr id="14340" name="Rectangle 3"/>
          <p:cNvSpPr>
            <a:spLocks noChangeArrowheads="1"/>
          </p:cNvSpPr>
          <p:nvPr/>
        </p:nvSpPr>
        <p:spPr bwMode="auto">
          <a:xfrm>
            <a:off x="395288" y="1628775"/>
            <a:ext cx="3960812" cy="4752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45718" rIns="91436" bIns="45718"/>
          <a:lstStyle/>
          <a:p>
            <a:pPr marL="228600" indent="-228600" algn="l">
              <a:lnSpc>
                <a:spcPct val="110000"/>
              </a:lnSpc>
              <a:spcBef>
                <a:spcPct val="20000"/>
              </a:spcBef>
              <a:buFont typeface="Wingdings" pitchFamily="2" charset="2"/>
              <a:buChar char="§"/>
            </a:pPr>
            <a:endParaRPr lang="en-US" sz="2000">
              <a:latin typeface="Arial Narrow" pitchFamily="34" charset="0"/>
            </a:endParaRPr>
          </a:p>
        </p:txBody>
      </p:sp>
      <p:sp>
        <p:nvSpPr>
          <p:cNvPr id="947205" name="Rectangle 5"/>
          <p:cNvSpPr>
            <a:spLocks noChangeArrowheads="1"/>
          </p:cNvSpPr>
          <p:nvPr/>
        </p:nvSpPr>
        <p:spPr bwMode="ltGray">
          <a:xfrm>
            <a:off x="4981575" y="1731963"/>
            <a:ext cx="3770313" cy="4540250"/>
          </a:xfrm>
          <a:prstGeom prst="rect">
            <a:avLst/>
          </a:prstGeom>
          <a:gradFill rotWithShape="0">
            <a:gsLst>
              <a:gs pos="0">
                <a:srgbClr val="0000CC"/>
              </a:gs>
              <a:gs pos="50000">
                <a:srgbClr val="5C8EFB"/>
              </a:gs>
              <a:gs pos="100000">
                <a:srgbClr val="0000CC"/>
              </a:gs>
            </a:gsLst>
            <a:lin ang="2700000" scaled="1"/>
          </a:gradFill>
          <a:ln w="28575">
            <a:solidFill>
              <a:schemeClr val="bg1"/>
            </a:solidFill>
            <a:miter lim="800000"/>
            <a:headEnd/>
            <a:tailEnd/>
          </a:ln>
          <a:effectLst>
            <a:outerShdw dist="17961" dir="2700000" algn="ctr" rotWithShape="0">
              <a:schemeClr val="tx1"/>
            </a:outerShdw>
          </a:effectLst>
        </p:spPr>
        <p:txBody>
          <a:bodyPr wrap="none" lIns="91425" tIns="45713" rIns="91425" bIns="45713" anchor="ctr"/>
          <a:lstStyle/>
          <a:p>
            <a:pPr>
              <a:defRPr/>
            </a:pPr>
            <a:endParaRPr lang="en-US" sz="2400" noProof="1">
              <a:latin typeface="Times New Roman" pitchFamily="18" charset="0"/>
            </a:endParaRPr>
          </a:p>
        </p:txBody>
      </p:sp>
      <p:sp>
        <p:nvSpPr>
          <p:cNvPr id="14342" name="Line 6"/>
          <p:cNvSpPr>
            <a:spLocks noChangeShapeType="1"/>
          </p:cNvSpPr>
          <p:nvPr/>
        </p:nvSpPr>
        <p:spPr bwMode="auto">
          <a:xfrm>
            <a:off x="6173788" y="2517775"/>
            <a:ext cx="1360487" cy="0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4343" name="Line 7"/>
          <p:cNvSpPr>
            <a:spLocks noChangeShapeType="1"/>
          </p:cNvSpPr>
          <p:nvPr/>
        </p:nvSpPr>
        <p:spPr bwMode="auto">
          <a:xfrm>
            <a:off x="6351588" y="2562225"/>
            <a:ext cx="1169987" cy="0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4344" name="AutoShape 8"/>
          <p:cNvSpPr>
            <a:spLocks noChangeArrowheads="1"/>
          </p:cNvSpPr>
          <p:nvPr/>
        </p:nvSpPr>
        <p:spPr bwMode="auto">
          <a:xfrm>
            <a:off x="7037388" y="1774825"/>
            <a:ext cx="71437" cy="60325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4345" name="Line 9"/>
          <p:cNvSpPr>
            <a:spLocks noChangeShapeType="1"/>
          </p:cNvSpPr>
          <p:nvPr/>
        </p:nvSpPr>
        <p:spPr bwMode="auto">
          <a:xfrm>
            <a:off x="7073900" y="2408238"/>
            <a:ext cx="0" cy="692150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4346" name="Line 10"/>
          <p:cNvSpPr>
            <a:spLocks noChangeShapeType="1"/>
          </p:cNvSpPr>
          <p:nvPr/>
        </p:nvSpPr>
        <p:spPr bwMode="auto">
          <a:xfrm flipV="1">
            <a:off x="6350000" y="3452813"/>
            <a:ext cx="1169988" cy="4762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4347" name="Line 11"/>
          <p:cNvSpPr>
            <a:spLocks noChangeShapeType="1"/>
          </p:cNvSpPr>
          <p:nvPr/>
        </p:nvSpPr>
        <p:spPr bwMode="auto">
          <a:xfrm flipV="1">
            <a:off x="6346825" y="3498850"/>
            <a:ext cx="1184275" cy="3175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4348" name="Line 12"/>
          <p:cNvSpPr>
            <a:spLocks noChangeShapeType="1"/>
          </p:cNvSpPr>
          <p:nvPr/>
        </p:nvSpPr>
        <p:spPr bwMode="auto">
          <a:xfrm>
            <a:off x="7064375" y="3344863"/>
            <a:ext cx="0" cy="690562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4349" name="AutoShape 13"/>
          <p:cNvSpPr>
            <a:spLocks noChangeArrowheads="1"/>
          </p:cNvSpPr>
          <p:nvPr/>
        </p:nvSpPr>
        <p:spPr bwMode="auto">
          <a:xfrm rot="5400000" flipV="1">
            <a:off x="6414294" y="3024982"/>
            <a:ext cx="230187" cy="76200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188 w 21600"/>
              <a:gd name="T13" fmla="*/ 3188 h 21600"/>
              <a:gd name="T14" fmla="*/ 18412 w 21600"/>
              <a:gd name="T15" fmla="*/ 18412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776" y="21600"/>
                </a:lnTo>
                <a:lnTo>
                  <a:pt x="18824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FF0000"/>
          </a:solidFill>
          <a:ln w="12700">
            <a:solidFill>
              <a:schemeClr val="bg1"/>
            </a:solidFill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endParaRPr lang="en-US"/>
          </a:p>
        </p:txBody>
      </p:sp>
      <p:sp>
        <p:nvSpPr>
          <p:cNvPr id="14350" name="Line 14"/>
          <p:cNvSpPr>
            <a:spLocks noChangeShapeType="1"/>
          </p:cNvSpPr>
          <p:nvPr/>
        </p:nvSpPr>
        <p:spPr bwMode="auto">
          <a:xfrm>
            <a:off x="6513513" y="3154363"/>
            <a:ext cx="0" cy="512762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4351" name="Line 15"/>
          <p:cNvSpPr>
            <a:spLocks noChangeShapeType="1"/>
          </p:cNvSpPr>
          <p:nvPr/>
        </p:nvSpPr>
        <p:spPr bwMode="auto">
          <a:xfrm flipH="1">
            <a:off x="5102225" y="3305175"/>
            <a:ext cx="1417638" cy="0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4352" name="Line 16"/>
          <p:cNvSpPr>
            <a:spLocks noChangeShapeType="1"/>
          </p:cNvSpPr>
          <p:nvPr/>
        </p:nvSpPr>
        <p:spPr bwMode="auto">
          <a:xfrm>
            <a:off x="6397625" y="3109913"/>
            <a:ext cx="4763" cy="354012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4353" name="Line 17"/>
          <p:cNvSpPr>
            <a:spLocks noChangeShapeType="1"/>
          </p:cNvSpPr>
          <p:nvPr/>
        </p:nvSpPr>
        <p:spPr bwMode="auto">
          <a:xfrm flipH="1">
            <a:off x="6394450" y="3108325"/>
            <a:ext cx="95250" cy="3175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4354" name="Line 18"/>
          <p:cNvSpPr>
            <a:spLocks noChangeShapeType="1"/>
          </p:cNvSpPr>
          <p:nvPr/>
        </p:nvSpPr>
        <p:spPr bwMode="auto">
          <a:xfrm flipH="1">
            <a:off x="6394450" y="3021013"/>
            <a:ext cx="95250" cy="0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4355" name="Line 19"/>
          <p:cNvSpPr>
            <a:spLocks noChangeShapeType="1"/>
          </p:cNvSpPr>
          <p:nvPr/>
        </p:nvSpPr>
        <p:spPr bwMode="auto">
          <a:xfrm>
            <a:off x="6397625" y="2516188"/>
            <a:ext cx="4763" cy="501650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4356" name="Line 20"/>
          <p:cNvSpPr>
            <a:spLocks noChangeShapeType="1"/>
          </p:cNvSpPr>
          <p:nvPr/>
        </p:nvSpPr>
        <p:spPr bwMode="auto">
          <a:xfrm flipV="1">
            <a:off x="6508750" y="3657600"/>
            <a:ext cx="1008063" cy="6350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4357" name="AutoShape 21"/>
          <p:cNvSpPr>
            <a:spLocks noChangeArrowheads="1"/>
          </p:cNvSpPr>
          <p:nvPr/>
        </p:nvSpPr>
        <p:spPr bwMode="auto">
          <a:xfrm rot="-5400000">
            <a:off x="7408863" y="3054350"/>
            <a:ext cx="311150" cy="85725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188 w 21600"/>
              <a:gd name="T13" fmla="*/ 3188 h 21600"/>
              <a:gd name="T14" fmla="*/ 18412 w 21600"/>
              <a:gd name="T15" fmla="*/ 18412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776" y="21600"/>
                </a:lnTo>
                <a:lnTo>
                  <a:pt x="18824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accent1"/>
          </a:solidFill>
          <a:ln w="12700">
            <a:solidFill>
              <a:schemeClr val="bg1"/>
            </a:solidFill>
            <a:miter lim="800000"/>
            <a:headEnd/>
            <a:tailEnd/>
          </a:ln>
        </p:spPr>
        <p:txBody>
          <a:bodyPr vert="eaVert" wrap="none" lIns="76197" tIns="38098" rIns="76197" bIns="38098" anchor="ctr"/>
          <a:lstStyle/>
          <a:p>
            <a:endParaRPr lang="en-US"/>
          </a:p>
        </p:txBody>
      </p:sp>
      <p:sp>
        <p:nvSpPr>
          <p:cNvPr id="14358" name="Line 22"/>
          <p:cNvSpPr>
            <a:spLocks noChangeShapeType="1"/>
          </p:cNvSpPr>
          <p:nvPr/>
        </p:nvSpPr>
        <p:spPr bwMode="auto">
          <a:xfrm>
            <a:off x="7607300" y="3097213"/>
            <a:ext cx="762000" cy="0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4359" name="AutoShape 23"/>
          <p:cNvSpPr>
            <a:spLocks noChangeArrowheads="1"/>
          </p:cNvSpPr>
          <p:nvPr/>
        </p:nvSpPr>
        <p:spPr bwMode="auto">
          <a:xfrm rot="5400000">
            <a:off x="8347869" y="3061494"/>
            <a:ext cx="60325" cy="71437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4360" name="Freeform 24"/>
          <p:cNvSpPr>
            <a:spLocks/>
          </p:cNvSpPr>
          <p:nvPr/>
        </p:nvSpPr>
        <p:spPr bwMode="auto">
          <a:xfrm>
            <a:off x="7370763" y="3111500"/>
            <a:ext cx="161925" cy="430213"/>
          </a:xfrm>
          <a:custGeom>
            <a:avLst/>
            <a:gdLst>
              <a:gd name="T0" fmla="*/ 2147483647 w 36"/>
              <a:gd name="T1" fmla="*/ 2147483647 h 219"/>
              <a:gd name="T2" fmla="*/ 0 w 36"/>
              <a:gd name="T3" fmla="*/ 2147483647 h 219"/>
              <a:gd name="T4" fmla="*/ 0 w 36"/>
              <a:gd name="T5" fmla="*/ 0 h 219"/>
              <a:gd name="T6" fmla="*/ 2147483647 w 36"/>
              <a:gd name="T7" fmla="*/ 0 h 219"/>
              <a:gd name="T8" fmla="*/ 0 60000 65536"/>
              <a:gd name="T9" fmla="*/ 0 60000 65536"/>
              <a:gd name="T10" fmla="*/ 0 60000 65536"/>
              <a:gd name="T11" fmla="*/ 0 60000 65536"/>
              <a:gd name="T12" fmla="*/ 0 w 36"/>
              <a:gd name="T13" fmla="*/ 0 h 219"/>
              <a:gd name="T14" fmla="*/ 36 w 36"/>
              <a:gd name="T15" fmla="*/ 219 h 219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6" h="219">
                <a:moveTo>
                  <a:pt x="36" y="219"/>
                </a:moveTo>
                <a:lnTo>
                  <a:pt x="0" y="219"/>
                </a:lnTo>
                <a:lnTo>
                  <a:pt x="0" y="0"/>
                </a:lnTo>
                <a:lnTo>
                  <a:pt x="33" y="0"/>
                </a:lnTo>
              </a:path>
            </a:pathLst>
          </a:custGeom>
          <a:noFill/>
          <a:ln w="12700" cap="flat" cmpd="sng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4361" name="AutoShape 25"/>
          <p:cNvSpPr>
            <a:spLocks noChangeArrowheads="1"/>
          </p:cNvSpPr>
          <p:nvPr/>
        </p:nvSpPr>
        <p:spPr bwMode="auto">
          <a:xfrm flipV="1">
            <a:off x="6988175" y="3290888"/>
            <a:ext cx="104775" cy="52387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188 w 21600"/>
              <a:gd name="T13" fmla="*/ 3188 h 21600"/>
              <a:gd name="T14" fmla="*/ 18412 w 21600"/>
              <a:gd name="T15" fmla="*/ 18412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776" y="21600"/>
                </a:lnTo>
                <a:lnTo>
                  <a:pt x="18824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accent1"/>
          </a:solidFill>
          <a:ln w="12700">
            <a:solidFill>
              <a:schemeClr val="bg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4362" name="AutoShape 26"/>
          <p:cNvSpPr>
            <a:spLocks noChangeArrowheads="1"/>
          </p:cNvSpPr>
          <p:nvPr/>
        </p:nvSpPr>
        <p:spPr bwMode="auto">
          <a:xfrm flipV="1">
            <a:off x="7029450" y="3178175"/>
            <a:ext cx="103188" cy="52388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188 w 21600"/>
              <a:gd name="T13" fmla="*/ 3188 h 21600"/>
              <a:gd name="T14" fmla="*/ 18412 w 21600"/>
              <a:gd name="T15" fmla="*/ 18412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776" y="21600"/>
                </a:lnTo>
                <a:lnTo>
                  <a:pt x="18824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accent1"/>
          </a:solidFill>
          <a:ln w="12700">
            <a:solidFill>
              <a:schemeClr val="bg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4363" name="Line 27"/>
          <p:cNvSpPr>
            <a:spLocks noChangeShapeType="1"/>
          </p:cNvSpPr>
          <p:nvPr/>
        </p:nvSpPr>
        <p:spPr bwMode="auto">
          <a:xfrm flipV="1">
            <a:off x="7042150" y="3232150"/>
            <a:ext cx="0" cy="55563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4364" name="Line 28"/>
          <p:cNvSpPr>
            <a:spLocks noChangeShapeType="1"/>
          </p:cNvSpPr>
          <p:nvPr/>
        </p:nvSpPr>
        <p:spPr bwMode="auto">
          <a:xfrm flipV="1">
            <a:off x="7019925" y="3344863"/>
            <a:ext cx="0" cy="155575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4365" name="Line 29"/>
          <p:cNvSpPr>
            <a:spLocks noChangeShapeType="1"/>
          </p:cNvSpPr>
          <p:nvPr/>
        </p:nvSpPr>
        <p:spPr bwMode="auto">
          <a:xfrm flipV="1">
            <a:off x="7073900" y="2930525"/>
            <a:ext cx="0" cy="244475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4366" name="Line 30"/>
          <p:cNvSpPr>
            <a:spLocks noChangeShapeType="1"/>
          </p:cNvSpPr>
          <p:nvPr/>
        </p:nvSpPr>
        <p:spPr bwMode="auto">
          <a:xfrm flipH="1">
            <a:off x="7069138" y="3024188"/>
            <a:ext cx="444500" cy="0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4367" name="AutoShape 31"/>
          <p:cNvSpPr>
            <a:spLocks noChangeArrowheads="1"/>
          </p:cNvSpPr>
          <p:nvPr/>
        </p:nvSpPr>
        <p:spPr bwMode="auto">
          <a:xfrm flipH="1">
            <a:off x="7132638" y="3257550"/>
            <a:ext cx="95250" cy="69850"/>
          </a:xfrm>
          <a:prstGeom prst="flowChartOnlineStorage">
            <a:avLst/>
          </a:prstGeom>
          <a:solidFill>
            <a:schemeClr val="accent1"/>
          </a:solidFill>
          <a:ln w="12700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4368" name="Line 32"/>
          <p:cNvSpPr>
            <a:spLocks noChangeShapeType="1"/>
          </p:cNvSpPr>
          <p:nvPr/>
        </p:nvSpPr>
        <p:spPr bwMode="auto">
          <a:xfrm>
            <a:off x="7232650" y="3290888"/>
            <a:ext cx="136525" cy="0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4369" name="Line 33"/>
          <p:cNvSpPr>
            <a:spLocks noChangeShapeType="1"/>
          </p:cNvSpPr>
          <p:nvPr/>
        </p:nvSpPr>
        <p:spPr bwMode="auto">
          <a:xfrm flipV="1">
            <a:off x="6543675" y="3063875"/>
            <a:ext cx="990600" cy="6350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grpSp>
        <p:nvGrpSpPr>
          <p:cNvPr id="14370" name="Group 34"/>
          <p:cNvGrpSpPr>
            <a:grpSpLocks/>
          </p:cNvGrpSpPr>
          <p:nvPr>
            <p:custDataLst>
              <p:tags r:id="rId2"/>
            </p:custDataLst>
          </p:nvPr>
        </p:nvGrpSpPr>
        <p:grpSpPr bwMode="auto">
          <a:xfrm>
            <a:off x="7450138" y="3198813"/>
            <a:ext cx="66675" cy="257175"/>
            <a:chOff x="5481" y="2519"/>
            <a:chExt cx="47" cy="194"/>
          </a:xfrm>
        </p:grpSpPr>
        <p:sp>
          <p:nvSpPr>
            <p:cNvPr id="14616" name="Line 35"/>
            <p:cNvSpPr>
              <a:spLocks noChangeShapeType="1"/>
            </p:cNvSpPr>
            <p:nvPr/>
          </p:nvSpPr>
          <p:spPr bwMode="auto">
            <a:xfrm flipV="1">
              <a:off x="5485" y="2520"/>
              <a:ext cx="0" cy="193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4617" name="Line 36"/>
            <p:cNvSpPr>
              <a:spLocks noChangeShapeType="1"/>
            </p:cNvSpPr>
            <p:nvPr/>
          </p:nvSpPr>
          <p:spPr bwMode="auto">
            <a:xfrm rot="16200000" flipV="1">
              <a:off x="5505" y="2495"/>
              <a:ext cx="0" cy="47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</p:grpSp>
      <p:sp>
        <p:nvSpPr>
          <p:cNvPr id="14371" name="Line 37"/>
          <p:cNvSpPr>
            <a:spLocks noChangeShapeType="1"/>
          </p:cNvSpPr>
          <p:nvPr/>
        </p:nvSpPr>
        <p:spPr bwMode="auto">
          <a:xfrm flipV="1">
            <a:off x="7412038" y="3155950"/>
            <a:ext cx="0" cy="347663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4372" name="Line 38"/>
          <p:cNvSpPr>
            <a:spLocks noChangeShapeType="1"/>
          </p:cNvSpPr>
          <p:nvPr/>
        </p:nvSpPr>
        <p:spPr bwMode="auto">
          <a:xfrm rot="16200000" flipV="1">
            <a:off x="7464425" y="3100388"/>
            <a:ext cx="0" cy="114300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4373" name="Line 39"/>
          <p:cNvSpPr>
            <a:spLocks noChangeShapeType="1"/>
          </p:cNvSpPr>
          <p:nvPr/>
        </p:nvSpPr>
        <p:spPr bwMode="auto">
          <a:xfrm>
            <a:off x="7453313" y="3322638"/>
            <a:ext cx="915987" cy="0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4374" name="AutoShape 40"/>
          <p:cNvSpPr>
            <a:spLocks noChangeArrowheads="1"/>
          </p:cNvSpPr>
          <p:nvPr/>
        </p:nvSpPr>
        <p:spPr bwMode="auto">
          <a:xfrm rot="5400000">
            <a:off x="8347869" y="3286919"/>
            <a:ext cx="60325" cy="71437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4375" name="Rectangle 41"/>
          <p:cNvSpPr>
            <a:spLocks noChangeArrowheads="1"/>
          </p:cNvSpPr>
          <p:nvPr/>
        </p:nvSpPr>
        <p:spPr bwMode="auto">
          <a:xfrm>
            <a:off x="7918450" y="3457575"/>
            <a:ext cx="214313" cy="236538"/>
          </a:xfrm>
          <a:prstGeom prst="rect">
            <a:avLst/>
          </a:prstGeom>
          <a:gradFill rotWithShape="1">
            <a:gsLst>
              <a:gs pos="0">
                <a:srgbClr val="FFFFCC"/>
              </a:gs>
              <a:gs pos="100000">
                <a:srgbClr val="76765E"/>
              </a:gs>
            </a:gsLst>
            <a:lin ang="2700000" scaled="1"/>
          </a:gradFill>
          <a:ln w="12700">
            <a:solidFill>
              <a:schemeClr val="bg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4376" name="AutoShape 42"/>
          <p:cNvSpPr>
            <a:spLocks noChangeArrowheads="1"/>
          </p:cNvSpPr>
          <p:nvPr/>
        </p:nvSpPr>
        <p:spPr bwMode="auto">
          <a:xfrm rot="5400000">
            <a:off x="7915275" y="3632200"/>
            <a:ext cx="60325" cy="53975"/>
          </a:xfrm>
          <a:prstGeom prst="triangle">
            <a:avLst>
              <a:gd name="adj" fmla="val 50000"/>
            </a:avLst>
          </a:prstGeom>
          <a:noFill/>
          <a:ln w="12700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4377" name="AutoShape 43"/>
          <p:cNvSpPr>
            <a:spLocks noChangeArrowheads="1"/>
          </p:cNvSpPr>
          <p:nvPr/>
        </p:nvSpPr>
        <p:spPr bwMode="auto">
          <a:xfrm rot="-5400000">
            <a:off x="7408069" y="3509169"/>
            <a:ext cx="312737" cy="85725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188 w 21600"/>
              <a:gd name="T13" fmla="*/ 3188 h 21600"/>
              <a:gd name="T14" fmla="*/ 18412 w 21600"/>
              <a:gd name="T15" fmla="*/ 18412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776" y="21600"/>
                </a:lnTo>
                <a:lnTo>
                  <a:pt x="18824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accent1"/>
          </a:solidFill>
          <a:ln w="12700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4378" name="Line 44"/>
          <p:cNvSpPr>
            <a:spLocks noChangeShapeType="1"/>
          </p:cNvSpPr>
          <p:nvPr/>
        </p:nvSpPr>
        <p:spPr bwMode="auto">
          <a:xfrm>
            <a:off x="7610475" y="3546475"/>
            <a:ext cx="303213" cy="0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4379" name="Line 45"/>
          <p:cNvSpPr>
            <a:spLocks noChangeShapeType="1"/>
          </p:cNvSpPr>
          <p:nvPr/>
        </p:nvSpPr>
        <p:spPr bwMode="auto">
          <a:xfrm>
            <a:off x="8135938" y="3546475"/>
            <a:ext cx="238125" cy="0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4380" name="AutoShape 46"/>
          <p:cNvSpPr>
            <a:spLocks noChangeArrowheads="1"/>
          </p:cNvSpPr>
          <p:nvPr/>
        </p:nvSpPr>
        <p:spPr bwMode="auto">
          <a:xfrm rot="5400000">
            <a:off x="8352631" y="3507582"/>
            <a:ext cx="60325" cy="71438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4381" name="Line 47"/>
          <p:cNvSpPr>
            <a:spLocks noChangeShapeType="1"/>
          </p:cNvSpPr>
          <p:nvPr/>
        </p:nvSpPr>
        <p:spPr bwMode="auto">
          <a:xfrm>
            <a:off x="7327900" y="3581400"/>
            <a:ext cx="192088" cy="0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4382" name="Line 48"/>
          <p:cNvSpPr>
            <a:spLocks noChangeShapeType="1"/>
          </p:cNvSpPr>
          <p:nvPr/>
        </p:nvSpPr>
        <p:spPr bwMode="auto">
          <a:xfrm flipV="1">
            <a:off x="7332663" y="3022600"/>
            <a:ext cx="0" cy="555625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4383" name="Line 49"/>
          <p:cNvSpPr>
            <a:spLocks noChangeShapeType="1"/>
          </p:cNvSpPr>
          <p:nvPr/>
        </p:nvSpPr>
        <p:spPr bwMode="auto">
          <a:xfrm flipV="1">
            <a:off x="7296150" y="3065463"/>
            <a:ext cx="0" cy="554037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4384" name="Line 50"/>
          <p:cNvSpPr>
            <a:spLocks noChangeShapeType="1"/>
          </p:cNvSpPr>
          <p:nvPr/>
        </p:nvSpPr>
        <p:spPr bwMode="auto">
          <a:xfrm>
            <a:off x="7292975" y="3616325"/>
            <a:ext cx="231775" cy="0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4385" name="AutoShape 51"/>
          <p:cNvSpPr>
            <a:spLocks noChangeArrowheads="1"/>
          </p:cNvSpPr>
          <p:nvPr/>
        </p:nvSpPr>
        <p:spPr bwMode="auto">
          <a:xfrm rot="5400000" flipV="1">
            <a:off x="6861969" y="2810669"/>
            <a:ext cx="149225" cy="52387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5050 w 21600"/>
              <a:gd name="T13" fmla="*/ 5050 h 21600"/>
              <a:gd name="T14" fmla="*/ 16550 w 21600"/>
              <a:gd name="T15" fmla="*/ 1655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6499" y="21600"/>
                </a:lnTo>
                <a:lnTo>
                  <a:pt x="15101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accent1"/>
          </a:solidFill>
          <a:ln w="12700" cap="rnd">
            <a:solidFill>
              <a:schemeClr val="bg1"/>
            </a:solidFill>
            <a:prstDash val="sysDot"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4386" name="Line 52"/>
          <p:cNvSpPr>
            <a:spLocks noChangeShapeType="1"/>
          </p:cNvSpPr>
          <p:nvPr/>
        </p:nvSpPr>
        <p:spPr bwMode="auto">
          <a:xfrm flipV="1">
            <a:off x="6810375" y="2797175"/>
            <a:ext cx="0" cy="698500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4387" name="Line 53"/>
          <p:cNvSpPr>
            <a:spLocks noChangeShapeType="1"/>
          </p:cNvSpPr>
          <p:nvPr/>
        </p:nvSpPr>
        <p:spPr bwMode="auto">
          <a:xfrm flipV="1">
            <a:off x="6842125" y="2887663"/>
            <a:ext cx="0" cy="774700"/>
          </a:xfrm>
          <a:prstGeom prst="line">
            <a:avLst/>
          </a:prstGeom>
          <a:noFill/>
          <a:ln w="12700" cap="rnd">
            <a:solidFill>
              <a:schemeClr val="bg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4388" name="Line 54"/>
          <p:cNvSpPr>
            <a:spLocks noChangeShapeType="1"/>
          </p:cNvSpPr>
          <p:nvPr/>
        </p:nvSpPr>
        <p:spPr bwMode="auto">
          <a:xfrm rot="16200000" flipV="1">
            <a:off x="6857207" y="2751931"/>
            <a:ext cx="0" cy="96837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4389" name="Line 55"/>
          <p:cNvSpPr>
            <a:spLocks noChangeShapeType="1"/>
          </p:cNvSpPr>
          <p:nvPr/>
        </p:nvSpPr>
        <p:spPr bwMode="auto">
          <a:xfrm rot="16200000" flipV="1">
            <a:off x="6877844" y="2845594"/>
            <a:ext cx="0" cy="77788"/>
          </a:xfrm>
          <a:prstGeom prst="line">
            <a:avLst/>
          </a:prstGeom>
          <a:noFill/>
          <a:ln w="12700" cap="rnd">
            <a:solidFill>
              <a:schemeClr val="bg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4390" name="Line 56"/>
          <p:cNvSpPr>
            <a:spLocks noChangeShapeType="1"/>
          </p:cNvSpPr>
          <p:nvPr/>
        </p:nvSpPr>
        <p:spPr bwMode="auto">
          <a:xfrm rot="16200000" flipV="1">
            <a:off x="7216775" y="2576513"/>
            <a:ext cx="0" cy="514350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4391" name="Line 57"/>
          <p:cNvSpPr>
            <a:spLocks noChangeShapeType="1"/>
          </p:cNvSpPr>
          <p:nvPr/>
        </p:nvSpPr>
        <p:spPr bwMode="auto">
          <a:xfrm rot="16200000" flipV="1">
            <a:off x="7493794" y="2947194"/>
            <a:ext cx="0" cy="55562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4392" name="Line 58"/>
          <p:cNvSpPr>
            <a:spLocks noChangeShapeType="1"/>
          </p:cNvSpPr>
          <p:nvPr/>
        </p:nvSpPr>
        <p:spPr bwMode="auto">
          <a:xfrm flipV="1">
            <a:off x="7469188" y="2836863"/>
            <a:ext cx="0" cy="134937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grpSp>
        <p:nvGrpSpPr>
          <p:cNvPr id="14393" name="Group 59"/>
          <p:cNvGrpSpPr>
            <a:grpSpLocks/>
          </p:cNvGrpSpPr>
          <p:nvPr>
            <p:custDataLst>
              <p:tags r:id="rId3"/>
            </p:custDataLst>
          </p:nvPr>
        </p:nvGrpSpPr>
        <p:grpSpPr bwMode="auto">
          <a:xfrm>
            <a:off x="7265988" y="2789238"/>
            <a:ext cx="150812" cy="182562"/>
            <a:chOff x="5234" y="2189"/>
            <a:chExt cx="114" cy="138"/>
          </a:xfrm>
        </p:grpSpPr>
        <p:sp>
          <p:nvSpPr>
            <p:cNvPr id="14614" name="Rectangle 60"/>
            <p:cNvSpPr>
              <a:spLocks noChangeArrowheads="1"/>
            </p:cNvSpPr>
            <p:nvPr/>
          </p:nvSpPr>
          <p:spPr bwMode="auto">
            <a:xfrm>
              <a:off x="5234" y="2189"/>
              <a:ext cx="114" cy="138"/>
            </a:xfrm>
            <a:prstGeom prst="rect">
              <a:avLst/>
            </a:prstGeom>
            <a:gradFill rotWithShape="1">
              <a:gsLst>
                <a:gs pos="0">
                  <a:srgbClr val="FFFFCC"/>
                </a:gs>
                <a:gs pos="100000">
                  <a:srgbClr val="76765E"/>
                </a:gs>
              </a:gsLst>
              <a:lin ang="2700000" scaled="1"/>
            </a:gradFill>
            <a:ln w="12700">
              <a:solidFill>
                <a:schemeClr val="bg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4615" name="AutoShape 61"/>
            <p:cNvSpPr>
              <a:spLocks noChangeArrowheads="1"/>
            </p:cNvSpPr>
            <p:nvPr/>
          </p:nvSpPr>
          <p:spPr bwMode="auto">
            <a:xfrm rot="5400000">
              <a:off x="5229" y="2292"/>
              <a:ext cx="39" cy="27"/>
            </a:xfrm>
            <a:prstGeom prst="triangle">
              <a:avLst>
                <a:gd name="adj" fmla="val 50000"/>
              </a:avLst>
            </a:prstGeom>
            <a:noFill/>
            <a:ln w="12700">
              <a:solidFill>
                <a:schemeClr val="bg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</p:grpSp>
      <p:sp>
        <p:nvSpPr>
          <p:cNvPr id="14394" name="AutoShape 62"/>
          <p:cNvSpPr>
            <a:spLocks noChangeArrowheads="1"/>
          </p:cNvSpPr>
          <p:nvPr/>
        </p:nvSpPr>
        <p:spPr bwMode="auto">
          <a:xfrm rot="-5400000">
            <a:off x="7408069" y="2115344"/>
            <a:ext cx="312737" cy="85725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188 w 21600"/>
              <a:gd name="T13" fmla="*/ 3188 h 21600"/>
              <a:gd name="T14" fmla="*/ 18412 w 21600"/>
              <a:gd name="T15" fmla="*/ 18412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776" y="21600"/>
                </a:lnTo>
                <a:lnTo>
                  <a:pt x="18824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accent1"/>
          </a:solidFill>
          <a:ln w="12700">
            <a:solidFill>
              <a:schemeClr val="bg1"/>
            </a:solidFill>
            <a:miter lim="800000"/>
            <a:headEnd/>
            <a:tailEnd/>
          </a:ln>
        </p:spPr>
        <p:txBody>
          <a:bodyPr vert="eaVert" wrap="none" lIns="76197" tIns="38098" rIns="76197" bIns="38098" anchor="ctr"/>
          <a:lstStyle/>
          <a:p>
            <a:endParaRPr lang="en-US"/>
          </a:p>
        </p:txBody>
      </p:sp>
      <p:sp>
        <p:nvSpPr>
          <p:cNvPr id="14395" name="Line 63"/>
          <p:cNvSpPr>
            <a:spLocks noChangeShapeType="1"/>
          </p:cNvSpPr>
          <p:nvPr/>
        </p:nvSpPr>
        <p:spPr bwMode="auto">
          <a:xfrm>
            <a:off x="7607300" y="2157413"/>
            <a:ext cx="762000" cy="0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4396" name="AutoShape 64"/>
          <p:cNvSpPr>
            <a:spLocks noChangeArrowheads="1"/>
          </p:cNvSpPr>
          <p:nvPr/>
        </p:nvSpPr>
        <p:spPr bwMode="auto">
          <a:xfrm rot="5400000">
            <a:off x="8347075" y="2122488"/>
            <a:ext cx="61913" cy="71437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4397" name="Freeform 65"/>
          <p:cNvSpPr>
            <a:spLocks/>
          </p:cNvSpPr>
          <p:nvPr/>
        </p:nvSpPr>
        <p:spPr bwMode="auto">
          <a:xfrm>
            <a:off x="7370763" y="2173288"/>
            <a:ext cx="161925" cy="428625"/>
          </a:xfrm>
          <a:custGeom>
            <a:avLst/>
            <a:gdLst>
              <a:gd name="T0" fmla="*/ 2147483647 w 36"/>
              <a:gd name="T1" fmla="*/ 2147483647 h 219"/>
              <a:gd name="T2" fmla="*/ 0 w 36"/>
              <a:gd name="T3" fmla="*/ 2147483647 h 219"/>
              <a:gd name="T4" fmla="*/ 0 w 36"/>
              <a:gd name="T5" fmla="*/ 0 h 219"/>
              <a:gd name="T6" fmla="*/ 2147483647 w 36"/>
              <a:gd name="T7" fmla="*/ 0 h 219"/>
              <a:gd name="T8" fmla="*/ 0 60000 65536"/>
              <a:gd name="T9" fmla="*/ 0 60000 65536"/>
              <a:gd name="T10" fmla="*/ 0 60000 65536"/>
              <a:gd name="T11" fmla="*/ 0 60000 65536"/>
              <a:gd name="T12" fmla="*/ 0 w 36"/>
              <a:gd name="T13" fmla="*/ 0 h 219"/>
              <a:gd name="T14" fmla="*/ 36 w 36"/>
              <a:gd name="T15" fmla="*/ 219 h 219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6" h="219">
                <a:moveTo>
                  <a:pt x="36" y="219"/>
                </a:moveTo>
                <a:lnTo>
                  <a:pt x="0" y="219"/>
                </a:lnTo>
                <a:lnTo>
                  <a:pt x="0" y="0"/>
                </a:lnTo>
                <a:lnTo>
                  <a:pt x="33" y="0"/>
                </a:lnTo>
              </a:path>
            </a:pathLst>
          </a:custGeom>
          <a:noFill/>
          <a:ln w="12700" cap="flat" cmpd="sng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4398" name="AutoShape 66"/>
          <p:cNvSpPr>
            <a:spLocks noChangeArrowheads="1"/>
          </p:cNvSpPr>
          <p:nvPr/>
        </p:nvSpPr>
        <p:spPr bwMode="auto">
          <a:xfrm flipV="1">
            <a:off x="6988175" y="2351088"/>
            <a:ext cx="104775" cy="52387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188 w 21600"/>
              <a:gd name="T13" fmla="*/ 3188 h 21600"/>
              <a:gd name="T14" fmla="*/ 18412 w 21600"/>
              <a:gd name="T15" fmla="*/ 18412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776" y="21600"/>
                </a:lnTo>
                <a:lnTo>
                  <a:pt x="18824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accent1"/>
          </a:solidFill>
          <a:ln w="12700">
            <a:solidFill>
              <a:schemeClr val="bg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4399" name="AutoShape 67"/>
          <p:cNvSpPr>
            <a:spLocks noChangeArrowheads="1"/>
          </p:cNvSpPr>
          <p:nvPr/>
        </p:nvSpPr>
        <p:spPr bwMode="auto">
          <a:xfrm flipV="1">
            <a:off x="7029450" y="2238375"/>
            <a:ext cx="103188" cy="53975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188 w 21600"/>
              <a:gd name="T13" fmla="*/ 3188 h 21600"/>
              <a:gd name="T14" fmla="*/ 18412 w 21600"/>
              <a:gd name="T15" fmla="*/ 18412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776" y="21600"/>
                </a:lnTo>
                <a:lnTo>
                  <a:pt x="18824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accent1"/>
          </a:solidFill>
          <a:ln w="12700">
            <a:solidFill>
              <a:schemeClr val="bg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4400" name="Line 68"/>
          <p:cNvSpPr>
            <a:spLocks noChangeShapeType="1"/>
          </p:cNvSpPr>
          <p:nvPr/>
        </p:nvSpPr>
        <p:spPr bwMode="auto">
          <a:xfrm flipV="1">
            <a:off x="7042150" y="2292350"/>
            <a:ext cx="0" cy="55563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4401" name="Line 69"/>
          <p:cNvSpPr>
            <a:spLocks noChangeShapeType="1"/>
          </p:cNvSpPr>
          <p:nvPr/>
        </p:nvSpPr>
        <p:spPr bwMode="auto">
          <a:xfrm flipV="1">
            <a:off x="7019925" y="2405063"/>
            <a:ext cx="0" cy="157162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4402" name="Line 70"/>
          <p:cNvSpPr>
            <a:spLocks noChangeShapeType="1"/>
          </p:cNvSpPr>
          <p:nvPr/>
        </p:nvSpPr>
        <p:spPr bwMode="auto">
          <a:xfrm flipV="1">
            <a:off x="7073900" y="1831975"/>
            <a:ext cx="0" cy="404813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4403" name="Line 71"/>
          <p:cNvSpPr>
            <a:spLocks noChangeShapeType="1"/>
          </p:cNvSpPr>
          <p:nvPr/>
        </p:nvSpPr>
        <p:spPr bwMode="auto">
          <a:xfrm flipH="1">
            <a:off x="7069138" y="2085975"/>
            <a:ext cx="444500" cy="0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4404" name="AutoShape 72"/>
          <p:cNvSpPr>
            <a:spLocks noChangeArrowheads="1"/>
          </p:cNvSpPr>
          <p:nvPr/>
        </p:nvSpPr>
        <p:spPr bwMode="auto">
          <a:xfrm flipH="1">
            <a:off x="7132638" y="2317750"/>
            <a:ext cx="95250" cy="69850"/>
          </a:xfrm>
          <a:prstGeom prst="flowChartOnlineStorage">
            <a:avLst/>
          </a:prstGeom>
          <a:solidFill>
            <a:schemeClr val="accent1"/>
          </a:solidFill>
          <a:ln w="12700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4405" name="Line 73"/>
          <p:cNvSpPr>
            <a:spLocks noChangeShapeType="1"/>
          </p:cNvSpPr>
          <p:nvPr/>
        </p:nvSpPr>
        <p:spPr bwMode="auto">
          <a:xfrm>
            <a:off x="7232650" y="2351088"/>
            <a:ext cx="136525" cy="0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grpSp>
        <p:nvGrpSpPr>
          <p:cNvPr id="14406" name="Group 74"/>
          <p:cNvGrpSpPr>
            <a:grpSpLocks/>
          </p:cNvGrpSpPr>
          <p:nvPr>
            <p:custDataLst>
              <p:tags r:id="rId4"/>
            </p:custDataLst>
          </p:nvPr>
        </p:nvGrpSpPr>
        <p:grpSpPr bwMode="auto">
          <a:xfrm>
            <a:off x="7450138" y="2260600"/>
            <a:ext cx="66675" cy="255588"/>
            <a:chOff x="5481" y="2519"/>
            <a:chExt cx="47" cy="194"/>
          </a:xfrm>
        </p:grpSpPr>
        <p:sp>
          <p:nvSpPr>
            <p:cNvPr id="14612" name="Line 75"/>
            <p:cNvSpPr>
              <a:spLocks noChangeShapeType="1"/>
            </p:cNvSpPr>
            <p:nvPr/>
          </p:nvSpPr>
          <p:spPr bwMode="auto">
            <a:xfrm flipV="1">
              <a:off x="5485" y="2520"/>
              <a:ext cx="0" cy="193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4613" name="Line 76"/>
            <p:cNvSpPr>
              <a:spLocks noChangeShapeType="1"/>
            </p:cNvSpPr>
            <p:nvPr/>
          </p:nvSpPr>
          <p:spPr bwMode="auto">
            <a:xfrm rot="16200000" flipV="1">
              <a:off x="5505" y="2495"/>
              <a:ext cx="0" cy="47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</p:grpSp>
      <p:sp>
        <p:nvSpPr>
          <p:cNvPr id="14407" name="Line 77"/>
          <p:cNvSpPr>
            <a:spLocks noChangeShapeType="1"/>
          </p:cNvSpPr>
          <p:nvPr/>
        </p:nvSpPr>
        <p:spPr bwMode="auto">
          <a:xfrm flipV="1">
            <a:off x="7412038" y="2216150"/>
            <a:ext cx="0" cy="347663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4408" name="Line 78"/>
          <p:cNvSpPr>
            <a:spLocks noChangeShapeType="1"/>
          </p:cNvSpPr>
          <p:nvPr/>
        </p:nvSpPr>
        <p:spPr bwMode="auto">
          <a:xfrm rot="16200000" flipV="1">
            <a:off x="7464425" y="2160588"/>
            <a:ext cx="0" cy="114300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4409" name="Line 79"/>
          <p:cNvSpPr>
            <a:spLocks noChangeShapeType="1"/>
          </p:cNvSpPr>
          <p:nvPr/>
        </p:nvSpPr>
        <p:spPr bwMode="auto">
          <a:xfrm>
            <a:off x="7453313" y="2382838"/>
            <a:ext cx="915987" cy="0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4410" name="AutoShape 80"/>
          <p:cNvSpPr>
            <a:spLocks noChangeArrowheads="1"/>
          </p:cNvSpPr>
          <p:nvPr/>
        </p:nvSpPr>
        <p:spPr bwMode="auto">
          <a:xfrm rot="5400000">
            <a:off x="8347869" y="2347119"/>
            <a:ext cx="60325" cy="71437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4411" name="Rectangle 81"/>
          <p:cNvSpPr>
            <a:spLocks noChangeArrowheads="1"/>
          </p:cNvSpPr>
          <p:nvPr/>
        </p:nvSpPr>
        <p:spPr bwMode="auto">
          <a:xfrm>
            <a:off x="7918450" y="2517775"/>
            <a:ext cx="214313" cy="236538"/>
          </a:xfrm>
          <a:prstGeom prst="rect">
            <a:avLst/>
          </a:prstGeom>
          <a:gradFill rotWithShape="1">
            <a:gsLst>
              <a:gs pos="0">
                <a:srgbClr val="FFFFCC"/>
              </a:gs>
              <a:gs pos="100000">
                <a:srgbClr val="76765E"/>
              </a:gs>
            </a:gsLst>
            <a:lin ang="2700000" scaled="1"/>
          </a:gradFill>
          <a:ln w="12700">
            <a:solidFill>
              <a:schemeClr val="bg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4412" name="AutoShape 82"/>
          <p:cNvSpPr>
            <a:spLocks noChangeArrowheads="1"/>
          </p:cNvSpPr>
          <p:nvPr/>
        </p:nvSpPr>
        <p:spPr bwMode="auto">
          <a:xfrm rot="5400000">
            <a:off x="7914481" y="2693194"/>
            <a:ext cx="61913" cy="53975"/>
          </a:xfrm>
          <a:prstGeom prst="triangle">
            <a:avLst>
              <a:gd name="adj" fmla="val 50000"/>
            </a:avLst>
          </a:prstGeom>
          <a:noFill/>
          <a:ln w="12700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4413" name="AutoShape 83"/>
          <p:cNvSpPr>
            <a:spLocks noChangeArrowheads="1"/>
          </p:cNvSpPr>
          <p:nvPr/>
        </p:nvSpPr>
        <p:spPr bwMode="auto">
          <a:xfrm rot="-5400000">
            <a:off x="7408069" y="2569369"/>
            <a:ext cx="312737" cy="85725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188 w 21600"/>
              <a:gd name="T13" fmla="*/ 3188 h 21600"/>
              <a:gd name="T14" fmla="*/ 18412 w 21600"/>
              <a:gd name="T15" fmla="*/ 18412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776" y="21600"/>
                </a:lnTo>
                <a:lnTo>
                  <a:pt x="18824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accent1"/>
          </a:solidFill>
          <a:ln w="12700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4414" name="Line 84"/>
          <p:cNvSpPr>
            <a:spLocks noChangeShapeType="1"/>
          </p:cNvSpPr>
          <p:nvPr/>
        </p:nvSpPr>
        <p:spPr bwMode="auto">
          <a:xfrm>
            <a:off x="7610475" y="2608263"/>
            <a:ext cx="303213" cy="0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4415" name="Line 85"/>
          <p:cNvSpPr>
            <a:spLocks noChangeShapeType="1"/>
          </p:cNvSpPr>
          <p:nvPr/>
        </p:nvSpPr>
        <p:spPr bwMode="auto">
          <a:xfrm>
            <a:off x="8135938" y="2608263"/>
            <a:ext cx="238125" cy="0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4416" name="AutoShape 86"/>
          <p:cNvSpPr>
            <a:spLocks noChangeArrowheads="1"/>
          </p:cNvSpPr>
          <p:nvPr/>
        </p:nvSpPr>
        <p:spPr bwMode="auto">
          <a:xfrm rot="5400000">
            <a:off x="8352631" y="2567782"/>
            <a:ext cx="60325" cy="71438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4417" name="Line 87"/>
          <p:cNvSpPr>
            <a:spLocks noChangeShapeType="1"/>
          </p:cNvSpPr>
          <p:nvPr/>
        </p:nvSpPr>
        <p:spPr bwMode="auto">
          <a:xfrm>
            <a:off x="7327900" y="2641600"/>
            <a:ext cx="192088" cy="0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4418" name="Line 88"/>
          <p:cNvSpPr>
            <a:spLocks noChangeShapeType="1"/>
          </p:cNvSpPr>
          <p:nvPr/>
        </p:nvSpPr>
        <p:spPr bwMode="auto">
          <a:xfrm flipV="1">
            <a:off x="7332663" y="2084388"/>
            <a:ext cx="0" cy="554037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4419" name="AutoShape 89"/>
          <p:cNvSpPr>
            <a:spLocks noChangeArrowheads="1"/>
          </p:cNvSpPr>
          <p:nvPr/>
        </p:nvSpPr>
        <p:spPr bwMode="auto">
          <a:xfrm rot="5400000" flipV="1">
            <a:off x="6861969" y="1872457"/>
            <a:ext cx="149225" cy="52387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5050 w 21600"/>
              <a:gd name="T13" fmla="*/ 5050 h 21600"/>
              <a:gd name="T14" fmla="*/ 16550 w 21600"/>
              <a:gd name="T15" fmla="*/ 1655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6499" y="21600"/>
                </a:lnTo>
                <a:lnTo>
                  <a:pt x="15101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accent1"/>
          </a:solidFill>
          <a:ln w="12700" cap="rnd">
            <a:solidFill>
              <a:schemeClr val="bg1"/>
            </a:solidFill>
            <a:prstDash val="sysDot"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4420" name="Line 90"/>
          <p:cNvSpPr>
            <a:spLocks noChangeShapeType="1"/>
          </p:cNvSpPr>
          <p:nvPr/>
        </p:nvSpPr>
        <p:spPr bwMode="auto">
          <a:xfrm flipV="1">
            <a:off x="6810375" y="1857375"/>
            <a:ext cx="0" cy="650875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4421" name="Line 91"/>
          <p:cNvSpPr>
            <a:spLocks noChangeShapeType="1"/>
          </p:cNvSpPr>
          <p:nvPr/>
        </p:nvSpPr>
        <p:spPr bwMode="auto">
          <a:xfrm rot="16200000" flipV="1">
            <a:off x="6857207" y="1812131"/>
            <a:ext cx="0" cy="96837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4422" name="Line 92"/>
          <p:cNvSpPr>
            <a:spLocks noChangeShapeType="1"/>
          </p:cNvSpPr>
          <p:nvPr/>
        </p:nvSpPr>
        <p:spPr bwMode="auto">
          <a:xfrm rot="16200000" flipV="1">
            <a:off x="7216775" y="1638300"/>
            <a:ext cx="0" cy="514350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4423" name="Line 93"/>
          <p:cNvSpPr>
            <a:spLocks noChangeShapeType="1"/>
          </p:cNvSpPr>
          <p:nvPr/>
        </p:nvSpPr>
        <p:spPr bwMode="auto">
          <a:xfrm rot="16200000" flipV="1">
            <a:off x="7493794" y="2007394"/>
            <a:ext cx="0" cy="55562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4424" name="Line 94"/>
          <p:cNvSpPr>
            <a:spLocks noChangeShapeType="1"/>
          </p:cNvSpPr>
          <p:nvPr/>
        </p:nvSpPr>
        <p:spPr bwMode="auto">
          <a:xfrm flipV="1">
            <a:off x="7469188" y="1897063"/>
            <a:ext cx="0" cy="134937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grpSp>
        <p:nvGrpSpPr>
          <p:cNvPr id="14425" name="Group 95"/>
          <p:cNvGrpSpPr>
            <a:grpSpLocks/>
          </p:cNvGrpSpPr>
          <p:nvPr>
            <p:custDataLst>
              <p:tags r:id="rId5"/>
            </p:custDataLst>
          </p:nvPr>
        </p:nvGrpSpPr>
        <p:grpSpPr bwMode="auto">
          <a:xfrm>
            <a:off x="7265988" y="1849438"/>
            <a:ext cx="150812" cy="182562"/>
            <a:chOff x="5234" y="2189"/>
            <a:chExt cx="114" cy="138"/>
          </a:xfrm>
        </p:grpSpPr>
        <p:sp>
          <p:nvSpPr>
            <p:cNvPr id="14610" name="Rectangle 96"/>
            <p:cNvSpPr>
              <a:spLocks noChangeArrowheads="1"/>
            </p:cNvSpPr>
            <p:nvPr/>
          </p:nvSpPr>
          <p:spPr bwMode="auto">
            <a:xfrm>
              <a:off x="5234" y="2189"/>
              <a:ext cx="114" cy="138"/>
            </a:xfrm>
            <a:prstGeom prst="rect">
              <a:avLst/>
            </a:prstGeom>
            <a:gradFill rotWithShape="1">
              <a:gsLst>
                <a:gs pos="0">
                  <a:srgbClr val="FFFFCC"/>
                </a:gs>
                <a:gs pos="100000">
                  <a:srgbClr val="76765E"/>
                </a:gs>
              </a:gsLst>
              <a:lin ang="2700000" scaled="1"/>
            </a:gradFill>
            <a:ln w="12700">
              <a:solidFill>
                <a:schemeClr val="bg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4611" name="AutoShape 97"/>
            <p:cNvSpPr>
              <a:spLocks noChangeArrowheads="1"/>
            </p:cNvSpPr>
            <p:nvPr/>
          </p:nvSpPr>
          <p:spPr bwMode="auto">
            <a:xfrm rot="5400000">
              <a:off x="5229" y="2292"/>
              <a:ext cx="39" cy="27"/>
            </a:xfrm>
            <a:prstGeom prst="triangle">
              <a:avLst>
                <a:gd name="adj" fmla="val 50000"/>
              </a:avLst>
            </a:prstGeom>
            <a:noFill/>
            <a:ln w="12700">
              <a:solidFill>
                <a:schemeClr val="bg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</p:grpSp>
      <p:sp>
        <p:nvSpPr>
          <p:cNvPr id="14426" name="Line 98"/>
          <p:cNvSpPr>
            <a:spLocks noChangeShapeType="1"/>
          </p:cNvSpPr>
          <p:nvPr/>
        </p:nvSpPr>
        <p:spPr bwMode="auto">
          <a:xfrm flipH="1">
            <a:off x="5129213" y="2365375"/>
            <a:ext cx="1709737" cy="0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4427" name="Line 99"/>
          <p:cNvSpPr>
            <a:spLocks noChangeShapeType="1"/>
          </p:cNvSpPr>
          <p:nvPr/>
        </p:nvSpPr>
        <p:spPr bwMode="auto">
          <a:xfrm>
            <a:off x="6326188" y="4645025"/>
            <a:ext cx="1187450" cy="0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4428" name="Line 100"/>
          <p:cNvSpPr>
            <a:spLocks noChangeShapeType="1"/>
          </p:cNvSpPr>
          <p:nvPr/>
        </p:nvSpPr>
        <p:spPr bwMode="auto">
          <a:xfrm>
            <a:off x="6343650" y="4689475"/>
            <a:ext cx="1177925" cy="0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4429" name="Line 101"/>
          <p:cNvSpPr>
            <a:spLocks noChangeShapeType="1"/>
          </p:cNvSpPr>
          <p:nvPr/>
        </p:nvSpPr>
        <p:spPr bwMode="auto">
          <a:xfrm>
            <a:off x="7065963" y="4535488"/>
            <a:ext cx="0" cy="692150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4430" name="Line 102"/>
          <p:cNvSpPr>
            <a:spLocks noChangeShapeType="1"/>
          </p:cNvSpPr>
          <p:nvPr/>
        </p:nvSpPr>
        <p:spPr bwMode="auto">
          <a:xfrm flipV="1">
            <a:off x="6342063" y="5580063"/>
            <a:ext cx="1169987" cy="4762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4431" name="Line 103"/>
          <p:cNvSpPr>
            <a:spLocks noChangeShapeType="1"/>
          </p:cNvSpPr>
          <p:nvPr/>
        </p:nvSpPr>
        <p:spPr bwMode="auto">
          <a:xfrm flipV="1">
            <a:off x="6338888" y="5626100"/>
            <a:ext cx="1168400" cy="3175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4432" name="AutoShape 104"/>
          <p:cNvSpPr>
            <a:spLocks noChangeArrowheads="1"/>
          </p:cNvSpPr>
          <p:nvPr/>
        </p:nvSpPr>
        <p:spPr bwMode="auto">
          <a:xfrm rot="5400000" flipV="1">
            <a:off x="6401594" y="5156994"/>
            <a:ext cx="217487" cy="53975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188 w 21600"/>
              <a:gd name="T13" fmla="*/ 3188 h 21600"/>
              <a:gd name="T14" fmla="*/ 18412 w 21600"/>
              <a:gd name="T15" fmla="*/ 18412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776" y="21600"/>
                </a:lnTo>
                <a:lnTo>
                  <a:pt x="18824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FF0000"/>
          </a:solidFill>
          <a:ln w="12700">
            <a:solidFill>
              <a:schemeClr val="bg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4433" name="Line 105"/>
          <p:cNvSpPr>
            <a:spLocks noChangeShapeType="1"/>
          </p:cNvSpPr>
          <p:nvPr/>
        </p:nvSpPr>
        <p:spPr bwMode="auto">
          <a:xfrm>
            <a:off x="6505575" y="5281613"/>
            <a:ext cx="0" cy="512762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4434" name="Line 106"/>
          <p:cNvSpPr>
            <a:spLocks noChangeShapeType="1"/>
          </p:cNvSpPr>
          <p:nvPr/>
        </p:nvSpPr>
        <p:spPr bwMode="auto">
          <a:xfrm flipH="1">
            <a:off x="5102225" y="5448300"/>
            <a:ext cx="1409700" cy="0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4435" name="Line 107"/>
          <p:cNvSpPr>
            <a:spLocks noChangeShapeType="1"/>
          </p:cNvSpPr>
          <p:nvPr/>
        </p:nvSpPr>
        <p:spPr bwMode="auto">
          <a:xfrm>
            <a:off x="6389688" y="5237163"/>
            <a:ext cx="4762" cy="354012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4436" name="Line 108"/>
          <p:cNvSpPr>
            <a:spLocks noChangeShapeType="1"/>
          </p:cNvSpPr>
          <p:nvPr/>
        </p:nvSpPr>
        <p:spPr bwMode="auto">
          <a:xfrm flipH="1">
            <a:off x="6386513" y="5235575"/>
            <a:ext cx="95250" cy="3175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4437" name="Line 109"/>
          <p:cNvSpPr>
            <a:spLocks noChangeShapeType="1"/>
          </p:cNvSpPr>
          <p:nvPr/>
        </p:nvSpPr>
        <p:spPr bwMode="auto">
          <a:xfrm flipH="1">
            <a:off x="6386513" y="5148263"/>
            <a:ext cx="95250" cy="0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4438" name="Line 110"/>
          <p:cNvSpPr>
            <a:spLocks noChangeShapeType="1"/>
          </p:cNvSpPr>
          <p:nvPr/>
        </p:nvSpPr>
        <p:spPr bwMode="auto">
          <a:xfrm>
            <a:off x="6389688" y="4643438"/>
            <a:ext cx="4762" cy="501650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4439" name="Line 111"/>
          <p:cNvSpPr>
            <a:spLocks noChangeShapeType="1"/>
          </p:cNvSpPr>
          <p:nvPr/>
        </p:nvSpPr>
        <p:spPr bwMode="auto">
          <a:xfrm flipV="1">
            <a:off x="6500813" y="5784850"/>
            <a:ext cx="1008062" cy="6350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4440" name="AutoShape 112"/>
          <p:cNvSpPr>
            <a:spLocks noChangeArrowheads="1"/>
          </p:cNvSpPr>
          <p:nvPr/>
        </p:nvSpPr>
        <p:spPr bwMode="auto">
          <a:xfrm rot="-5400000">
            <a:off x="7400926" y="5181600"/>
            <a:ext cx="311150" cy="85725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188 w 21600"/>
              <a:gd name="T13" fmla="*/ 3188 h 21600"/>
              <a:gd name="T14" fmla="*/ 18412 w 21600"/>
              <a:gd name="T15" fmla="*/ 18412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776" y="21600"/>
                </a:lnTo>
                <a:lnTo>
                  <a:pt x="18824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accent1"/>
          </a:solidFill>
          <a:ln w="12700">
            <a:solidFill>
              <a:schemeClr val="bg1"/>
            </a:solidFill>
            <a:miter lim="800000"/>
            <a:headEnd/>
            <a:tailEnd/>
          </a:ln>
        </p:spPr>
        <p:txBody>
          <a:bodyPr vert="eaVert" wrap="none" lIns="76197" tIns="38098" rIns="76197" bIns="38098" anchor="ctr"/>
          <a:lstStyle/>
          <a:p>
            <a:endParaRPr lang="en-US"/>
          </a:p>
        </p:txBody>
      </p:sp>
      <p:sp>
        <p:nvSpPr>
          <p:cNvPr id="14441" name="Line 113"/>
          <p:cNvSpPr>
            <a:spLocks noChangeShapeType="1"/>
          </p:cNvSpPr>
          <p:nvPr/>
        </p:nvSpPr>
        <p:spPr bwMode="auto">
          <a:xfrm>
            <a:off x="7599363" y="5224463"/>
            <a:ext cx="762000" cy="0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4442" name="AutoShape 114"/>
          <p:cNvSpPr>
            <a:spLocks noChangeArrowheads="1"/>
          </p:cNvSpPr>
          <p:nvPr/>
        </p:nvSpPr>
        <p:spPr bwMode="auto">
          <a:xfrm rot="5400000">
            <a:off x="8339931" y="5188744"/>
            <a:ext cx="60325" cy="71438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4443" name="Freeform 115"/>
          <p:cNvSpPr>
            <a:spLocks/>
          </p:cNvSpPr>
          <p:nvPr/>
        </p:nvSpPr>
        <p:spPr bwMode="auto">
          <a:xfrm>
            <a:off x="7362825" y="5238750"/>
            <a:ext cx="161925" cy="430213"/>
          </a:xfrm>
          <a:custGeom>
            <a:avLst/>
            <a:gdLst>
              <a:gd name="T0" fmla="*/ 2147483647 w 36"/>
              <a:gd name="T1" fmla="*/ 2147483647 h 219"/>
              <a:gd name="T2" fmla="*/ 0 w 36"/>
              <a:gd name="T3" fmla="*/ 2147483647 h 219"/>
              <a:gd name="T4" fmla="*/ 0 w 36"/>
              <a:gd name="T5" fmla="*/ 0 h 219"/>
              <a:gd name="T6" fmla="*/ 2147483647 w 36"/>
              <a:gd name="T7" fmla="*/ 0 h 219"/>
              <a:gd name="T8" fmla="*/ 0 60000 65536"/>
              <a:gd name="T9" fmla="*/ 0 60000 65536"/>
              <a:gd name="T10" fmla="*/ 0 60000 65536"/>
              <a:gd name="T11" fmla="*/ 0 60000 65536"/>
              <a:gd name="T12" fmla="*/ 0 w 36"/>
              <a:gd name="T13" fmla="*/ 0 h 219"/>
              <a:gd name="T14" fmla="*/ 36 w 36"/>
              <a:gd name="T15" fmla="*/ 219 h 219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6" h="219">
                <a:moveTo>
                  <a:pt x="36" y="219"/>
                </a:moveTo>
                <a:lnTo>
                  <a:pt x="0" y="219"/>
                </a:lnTo>
                <a:lnTo>
                  <a:pt x="0" y="0"/>
                </a:lnTo>
                <a:lnTo>
                  <a:pt x="33" y="0"/>
                </a:lnTo>
              </a:path>
            </a:pathLst>
          </a:custGeom>
          <a:noFill/>
          <a:ln w="12700" cap="flat" cmpd="sng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4444" name="AutoShape 116"/>
          <p:cNvSpPr>
            <a:spLocks noChangeArrowheads="1"/>
          </p:cNvSpPr>
          <p:nvPr/>
        </p:nvSpPr>
        <p:spPr bwMode="auto">
          <a:xfrm flipV="1">
            <a:off x="6980238" y="5418138"/>
            <a:ext cx="104775" cy="52387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188 w 21600"/>
              <a:gd name="T13" fmla="*/ 3188 h 21600"/>
              <a:gd name="T14" fmla="*/ 18412 w 21600"/>
              <a:gd name="T15" fmla="*/ 18412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776" y="21600"/>
                </a:lnTo>
                <a:lnTo>
                  <a:pt x="18824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accent1"/>
          </a:solidFill>
          <a:ln w="12700">
            <a:solidFill>
              <a:schemeClr val="bg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4445" name="AutoShape 117"/>
          <p:cNvSpPr>
            <a:spLocks noChangeArrowheads="1"/>
          </p:cNvSpPr>
          <p:nvPr/>
        </p:nvSpPr>
        <p:spPr bwMode="auto">
          <a:xfrm flipV="1">
            <a:off x="7021513" y="5305425"/>
            <a:ext cx="103187" cy="52388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188 w 21600"/>
              <a:gd name="T13" fmla="*/ 3188 h 21600"/>
              <a:gd name="T14" fmla="*/ 18412 w 21600"/>
              <a:gd name="T15" fmla="*/ 18412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776" y="21600"/>
                </a:lnTo>
                <a:lnTo>
                  <a:pt x="18824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accent1"/>
          </a:solidFill>
          <a:ln w="12700">
            <a:solidFill>
              <a:schemeClr val="bg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4446" name="Line 118"/>
          <p:cNvSpPr>
            <a:spLocks noChangeShapeType="1"/>
          </p:cNvSpPr>
          <p:nvPr/>
        </p:nvSpPr>
        <p:spPr bwMode="auto">
          <a:xfrm flipV="1">
            <a:off x="7034213" y="5359400"/>
            <a:ext cx="0" cy="55563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4447" name="Line 119"/>
          <p:cNvSpPr>
            <a:spLocks noChangeShapeType="1"/>
          </p:cNvSpPr>
          <p:nvPr/>
        </p:nvSpPr>
        <p:spPr bwMode="auto">
          <a:xfrm flipV="1">
            <a:off x="7011988" y="5472113"/>
            <a:ext cx="0" cy="155575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4448" name="Line 120"/>
          <p:cNvSpPr>
            <a:spLocks noChangeShapeType="1"/>
          </p:cNvSpPr>
          <p:nvPr/>
        </p:nvSpPr>
        <p:spPr bwMode="auto">
          <a:xfrm flipV="1">
            <a:off x="7065963" y="5057775"/>
            <a:ext cx="0" cy="244475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4449" name="Line 121"/>
          <p:cNvSpPr>
            <a:spLocks noChangeShapeType="1"/>
          </p:cNvSpPr>
          <p:nvPr/>
        </p:nvSpPr>
        <p:spPr bwMode="auto">
          <a:xfrm flipH="1">
            <a:off x="7061200" y="5151438"/>
            <a:ext cx="444500" cy="0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4450" name="AutoShape 122"/>
          <p:cNvSpPr>
            <a:spLocks noChangeArrowheads="1"/>
          </p:cNvSpPr>
          <p:nvPr/>
        </p:nvSpPr>
        <p:spPr bwMode="auto">
          <a:xfrm flipH="1">
            <a:off x="7124700" y="5384800"/>
            <a:ext cx="95250" cy="69850"/>
          </a:xfrm>
          <a:prstGeom prst="flowChartOnlineStorage">
            <a:avLst/>
          </a:prstGeom>
          <a:solidFill>
            <a:schemeClr val="accent1"/>
          </a:solidFill>
          <a:ln w="12700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4451" name="Line 123"/>
          <p:cNvSpPr>
            <a:spLocks noChangeShapeType="1"/>
          </p:cNvSpPr>
          <p:nvPr/>
        </p:nvSpPr>
        <p:spPr bwMode="auto">
          <a:xfrm>
            <a:off x="7224713" y="5418138"/>
            <a:ext cx="136525" cy="0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4452" name="Line 124"/>
          <p:cNvSpPr>
            <a:spLocks noChangeShapeType="1"/>
          </p:cNvSpPr>
          <p:nvPr/>
        </p:nvSpPr>
        <p:spPr bwMode="auto">
          <a:xfrm flipV="1">
            <a:off x="6535738" y="5191125"/>
            <a:ext cx="977900" cy="6350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grpSp>
        <p:nvGrpSpPr>
          <p:cNvPr id="14453" name="Group 125"/>
          <p:cNvGrpSpPr>
            <a:grpSpLocks/>
          </p:cNvGrpSpPr>
          <p:nvPr>
            <p:custDataLst>
              <p:tags r:id="rId6"/>
            </p:custDataLst>
          </p:nvPr>
        </p:nvGrpSpPr>
        <p:grpSpPr bwMode="auto">
          <a:xfrm>
            <a:off x="7442200" y="5326063"/>
            <a:ext cx="66675" cy="257175"/>
            <a:chOff x="5481" y="2519"/>
            <a:chExt cx="47" cy="194"/>
          </a:xfrm>
        </p:grpSpPr>
        <p:sp>
          <p:nvSpPr>
            <p:cNvPr id="14608" name="Line 126"/>
            <p:cNvSpPr>
              <a:spLocks noChangeShapeType="1"/>
            </p:cNvSpPr>
            <p:nvPr/>
          </p:nvSpPr>
          <p:spPr bwMode="auto">
            <a:xfrm flipV="1">
              <a:off x="5485" y="2520"/>
              <a:ext cx="0" cy="193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4609" name="Line 127"/>
            <p:cNvSpPr>
              <a:spLocks noChangeShapeType="1"/>
            </p:cNvSpPr>
            <p:nvPr/>
          </p:nvSpPr>
          <p:spPr bwMode="auto">
            <a:xfrm rot="16200000" flipV="1">
              <a:off x="5505" y="2495"/>
              <a:ext cx="0" cy="47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</p:grpSp>
      <p:sp>
        <p:nvSpPr>
          <p:cNvPr id="14454" name="Line 128"/>
          <p:cNvSpPr>
            <a:spLocks noChangeShapeType="1"/>
          </p:cNvSpPr>
          <p:nvPr/>
        </p:nvSpPr>
        <p:spPr bwMode="auto">
          <a:xfrm flipV="1">
            <a:off x="7404100" y="5283200"/>
            <a:ext cx="0" cy="347663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4455" name="Line 129"/>
          <p:cNvSpPr>
            <a:spLocks noChangeShapeType="1"/>
          </p:cNvSpPr>
          <p:nvPr/>
        </p:nvSpPr>
        <p:spPr bwMode="auto">
          <a:xfrm rot="16200000" flipV="1">
            <a:off x="7456488" y="5227638"/>
            <a:ext cx="0" cy="114300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4456" name="Line 130"/>
          <p:cNvSpPr>
            <a:spLocks noChangeShapeType="1"/>
          </p:cNvSpPr>
          <p:nvPr/>
        </p:nvSpPr>
        <p:spPr bwMode="auto">
          <a:xfrm>
            <a:off x="7445375" y="5449888"/>
            <a:ext cx="915988" cy="0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4457" name="AutoShape 131"/>
          <p:cNvSpPr>
            <a:spLocks noChangeArrowheads="1"/>
          </p:cNvSpPr>
          <p:nvPr/>
        </p:nvSpPr>
        <p:spPr bwMode="auto">
          <a:xfrm rot="5400000">
            <a:off x="8339931" y="5414169"/>
            <a:ext cx="60325" cy="71438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4458" name="Rectangle 132"/>
          <p:cNvSpPr>
            <a:spLocks noChangeArrowheads="1"/>
          </p:cNvSpPr>
          <p:nvPr/>
        </p:nvSpPr>
        <p:spPr bwMode="auto">
          <a:xfrm>
            <a:off x="7910513" y="5584825"/>
            <a:ext cx="214312" cy="236538"/>
          </a:xfrm>
          <a:prstGeom prst="rect">
            <a:avLst/>
          </a:prstGeom>
          <a:gradFill rotWithShape="1">
            <a:gsLst>
              <a:gs pos="0">
                <a:srgbClr val="FFFFCC"/>
              </a:gs>
              <a:gs pos="100000">
                <a:srgbClr val="76765E"/>
              </a:gs>
            </a:gsLst>
            <a:lin ang="2700000" scaled="1"/>
          </a:gradFill>
          <a:ln w="12700">
            <a:solidFill>
              <a:schemeClr val="bg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4459" name="AutoShape 133"/>
          <p:cNvSpPr>
            <a:spLocks noChangeArrowheads="1"/>
          </p:cNvSpPr>
          <p:nvPr/>
        </p:nvSpPr>
        <p:spPr bwMode="auto">
          <a:xfrm rot="5400000">
            <a:off x="7907338" y="5759450"/>
            <a:ext cx="60325" cy="53975"/>
          </a:xfrm>
          <a:prstGeom prst="triangle">
            <a:avLst>
              <a:gd name="adj" fmla="val 50000"/>
            </a:avLst>
          </a:prstGeom>
          <a:noFill/>
          <a:ln w="12700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4460" name="AutoShape 134"/>
          <p:cNvSpPr>
            <a:spLocks noChangeArrowheads="1"/>
          </p:cNvSpPr>
          <p:nvPr/>
        </p:nvSpPr>
        <p:spPr bwMode="auto">
          <a:xfrm rot="-5400000">
            <a:off x="7400132" y="5636419"/>
            <a:ext cx="312737" cy="85725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188 w 21600"/>
              <a:gd name="T13" fmla="*/ 3188 h 21600"/>
              <a:gd name="T14" fmla="*/ 18412 w 21600"/>
              <a:gd name="T15" fmla="*/ 18412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776" y="21600"/>
                </a:lnTo>
                <a:lnTo>
                  <a:pt x="18824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accent1"/>
          </a:solidFill>
          <a:ln w="12700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4461" name="Line 135"/>
          <p:cNvSpPr>
            <a:spLocks noChangeShapeType="1"/>
          </p:cNvSpPr>
          <p:nvPr/>
        </p:nvSpPr>
        <p:spPr bwMode="auto">
          <a:xfrm>
            <a:off x="7602538" y="5673725"/>
            <a:ext cx="303212" cy="0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4462" name="Line 136"/>
          <p:cNvSpPr>
            <a:spLocks noChangeShapeType="1"/>
          </p:cNvSpPr>
          <p:nvPr/>
        </p:nvSpPr>
        <p:spPr bwMode="auto">
          <a:xfrm>
            <a:off x="8128000" y="5673725"/>
            <a:ext cx="238125" cy="0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4463" name="AutoShape 137"/>
          <p:cNvSpPr>
            <a:spLocks noChangeArrowheads="1"/>
          </p:cNvSpPr>
          <p:nvPr/>
        </p:nvSpPr>
        <p:spPr bwMode="auto">
          <a:xfrm rot="5400000">
            <a:off x="8344694" y="5634832"/>
            <a:ext cx="60325" cy="71437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4464" name="Line 138"/>
          <p:cNvSpPr>
            <a:spLocks noChangeShapeType="1"/>
          </p:cNvSpPr>
          <p:nvPr/>
        </p:nvSpPr>
        <p:spPr bwMode="auto">
          <a:xfrm>
            <a:off x="7319963" y="5708650"/>
            <a:ext cx="192087" cy="0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4465" name="Line 139"/>
          <p:cNvSpPr>
            <a:spLocks noChangeShapeType="1"/>
          </p:cNvSpPr>
          <p:nvPr/>
        </p:nvSpPr>
        <p:spPr bwMode="auto">
          <a:xfrm flipV="1">
            <a:off x="7324725" y="5149850"/>
            <a:ext cx="0" cy="555625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4466" name="Line 140"/>
          <p:cNvSpPr>
            <a:spLocks noChangeShapeType="1"/>
          </p:cNvSpPr>
          <p:nvPr/>
        </p:nvSpPr>
        <p:spPr bwMode="auto">
          <a:xfrm flipV="1">
            <a:off x="7288213" y="5192713"/>
            <a:ext cx="0" cy="554037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4467" name="Line 141"/>
          <p:cNvSpPr>
            <a:spLocks noChangeShapeType="1"/>
          </p:cNvSpPr>
          <p:nvPr/>
        </p:nvSpPr>
        <p:spPr bwMode="auto">
          <a:xfrm>
            <a:off x="7285038" y="5743575"/>
            <a:ext cx="231775" cy="0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4468" name="AutoShape 142"/>
          <p:cNvSpPr>
            <a:spLocks noChangeArrowheads="1"/>
          </p:cNvSpPr>
          <p:nvPr/>
        </p:nvSpPr>
        <p:spPr bwMode="auto">
          <a:xfrm rot="5400000" flipV="1">
            <a:off x="6854031" y="4937919"/>
            <a:ext cx="149225" cy="52388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5050 w 21600"/>
              <a:gd name="T13" fmla="*/ 5050 h 21600"/>
              <a:gd name="T14" fmla="*/ 16550 w 21600"/>
              <a:gd name="T15" fmla="*/ 1655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6499" y="21600"/>
                </a:lnTo>
                <a:lnTo>
                  <a:pt x="15101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accent1"/>
          </a:solidFill>
          <a:ln w="12700" cap="rnd">
            <a:solidFill>
              <a:schemeClr val="bg1"/>
            </a:solidFill>
            <a:prstDash val="sysDot"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4469" name="Line 143"/>
          <p:cNvSpPr>
            <a:spLocks noChangeShapeType="1"/>
          </p:cNvSpPr>
          <p:nvPr/>
        </p:nvSpPr>
        <p:spPr bwMode="auto">
          <a:xfrm flipV="1">
            <a:off x="6802438" y="4924425"/>
            <a:ext cx="0" cy="698500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4470" name="Line 144"/>
          <p:cNvSpPr>
            <a:spLocks noChangeShapeType="1"/>
          </p:cNvSpPr>
          <p:nvPr/>
        </p:nvSpPr>
        <p:spPr bwMode="auto">
          <a:xfrm flipV="1">
            <a:off x="6834188" y="5014913"/>
            <a:ext cx="0" cy="774700"/>
          </a:xfrm>
          <a:prstGeom prst="line">
            <a:avLst/>
          </a:prstGeom>
          <a:noFill/>
          <a:ln w="12700" cap="rnd">
            <a:solidFill>
              <a:schemeClr val="bg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4471" name="Line 145"/>
          <p:cNvSpPr>
            <a:spLocks noChangeShapeType="1"/>
          </p:cNvSpPr>
          <p:nvPr/>
        </p:nvSpPr>
        <p:spPr bwMode="auto">
          <a:xfrm rot="16200000" flipV="1">
            <a:off x="6849269" y="4879181"/>
            <a:ext cx="0" cy="96838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4472" name="Line 146"/>
          <p:cNvSpPr>
            <a:spLocks noChangeShapeType="1"/>
          </p:cNvSpPr>
          <p:nvPr/>
        </p:nvSpPr>
        <p:spPr bwMode="auto">
          <a:xfrm rot="16200000" flipV="1">
            <a:off x="6869907" y="4972844"/>
            <a:ext cx="0" cy="77787"/>
          </a:xfrm>
          <a:prstGeom prst="line">
            <a:avLst/>
          </a:prstGeom>
          <a:noFill/>
          <a:ln w="12700" cap="rnd">
            <a:solidFill>
              <a:schemeClr val="bg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4473" name="Line 147"/>
          <p:cNvSpPr>
            <a:spLocks noChangeShapeType="1"/>
          </p:cNvSpPr>
          <p:nvPr/>
        </p:nvSpPr>
        <p:spPr bwMode="auto">
          <a:xfrm rot="16200000" flipV="1">
            <a:off x="7208838" y="4703763"/>
            <a:ext cx="0" cy="514350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4474" name="Line 148"/>
          <p:cNvSpPr>
            <a:spLocks noChangeShapeType="1"/>
          </p:cNvSpPr>
          <p:nvPr/>
        </p:nvSpPr>
        <p:spPr bwMode="auto">
          <a:xfrm rot="16200000" flipV="1">
            <a:off x="7485857" y="5074443"/>
            <a:ext cx="0" cy="55563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4475" name="Line 149"/>
          <p:cNvSpPr>
            <a:spLocks noChangeShapeType="1"/>
          </p:cNvSpPr>
          <p:nvPr/>
        </p:nvSpPr>
        <p:spPr bwMode="auto">
          <a:xfrm flipV="1">
            <a:off x="7461250" y="4964113"/>
            <a:ext cx="0" cy="134937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grpSp>
        <p:nvGrpSpPr>
          <p:cNvPr id="14476" name="Group 150"/>
          <p:cNvGrpSpPr>
            <a:grpSpLocks/>
          </p:cNvGrpSpPr>
          <p:nvPr>
            <p:custDataLst>
              <p:tags r:id="rId7"/>
            </p:custDataLst>
          </p:nvPr>
        </p:nvGrpSpPr>
        <p:grpSpPr bwMode="auto">
          <a:xfrm>
            <a:off x="7258050" y="4916488"/>
            <a:ext cx="150813" cy="182562"/>
            <a:chOff x="5234" y="2189"/>
            <a:chExt cx="114" cy="138"/>
          </a:xfrm>
        </p:grpSpPr>
        <p:sp>
          <p:nvSpPr>
            <p:cNvPr id="14606" name="Rectangle 151"/>
            <p:cNvSpPr>
              <a:spLocks noChangeArrowheads="1"/>
            </p:cNvSpPr>
            <p:nvPr/>
          </p:nvSpPr>
          <p:spPr bwMode="auto">
            <a:xfrm>
              <a:off x="5234" y="2189"/>
              <a:ext cx="114" cy="138"/>
            </a:xfrm>
            <a:prstGeom prst="rect">
              <a:avLst/>
            </a:prstGeom>
            <a:gradFill rotWithShape="1">
              <a:gsLst>
                <a:gs pos="0">
                  <a:srgbClr val="FFFFCC"/>
                </a:gs>
                <a:gs pos="100000">
                  <a:srgbClr val="76765E"/>
                </a:gs>
              </a:gsLst>
              <a:lin ang="2700000" scaled="1"/>
            </a:gradFill>
            <a:ln w="12700">
              <a:solidFill>
                <a:schemeClr val="bg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4607" name="AutoShape 152"/>
            <p:cNvSpPr>
              <a:spLocks noChangeArrowheads="1"/>
            </p:cNvSpPr>
            <p:nvPr/>
          </p:nvSpPr>
          <p:spPr bwMode="auto">
            <a:xfrm rot="5400000">
              <a:off x="5229" y="2292"/>
              <a:ext cx="39" cy="27"/>
            </a:xfrm>
            <a:prstGeom prst="triangle">
              <a:avLst>
                <a:gd name="adj" fmla="val 50000"/>
              </a:avLst>
            </a:prstGeom>
            <a:noFill/>
            <a:ln w="12700">
              <a:solidFill>
                <a:schemeClr val="bg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</p:grpSp>
      <p:sp>
        <p:nvSpPr>
          <p:cNvPr id="14477" name="AutoShape 153"/>
          <p:cNvSpPr>
            <a:spLocks noChangeArrowheads="1"/>
          </p:cNvSpPr>
          <p:nvPr/>
        </p:nvSpPr>
        <p:spPr bwMode="auto">
          <a:xfrm rot="-5400000">
            <a:off x="7400132" y="4242594"/>
            <a:ext cx="312737" cy="85725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188 w 21600"/>
              <a:gd name="T13" fmla="*/ 3188 h 21600"/>
              <a:gd name="T14" fmla="*/ 18412 w 21600"/>
              <a:gd name="T15" fmla="*/ 18412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776" y="21600"/>
                </a:lnTo>
                <a:lnTo>
                  <a:pt x="18824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accent1"/>
          </a:solidFill>
          <a:ln w="12700">
            <a:solidFill>
              <a:schemeClr val="bg1"/>
            </a:solidFill>
            <a:miter lim="800000"/>
            <a:headEnd/>
            <a:tailEnd/>
          </a:ln>
        </p:spPr>
        <p:txBody>
          <a:bodyPr vert="eaVert" wrap="none" lIns="76197" tIns="38098" rIns="76197" bIns="38098" anchor="ctr"/>
          <a:lstStyle/>
          <a:p>
            <a:endParaRPr lang="en-US"/>
          </a:p>
        </p:txBody>
      </p:sp>
      <p:sp>
        <p:nvSpPr>
          <p:cNvPr id="14478" name="Line 154"/>
          <p:cNvSpPr>
            <a:spLocks noChangeShapeType="1"/>
          </p:cNvSpPr>
          <p:nvPr/>
        </p:nvSpPr>
        <p:spPr bwMode="auto">
          <a:xfrm>
            <a:off x="7599363" y="4284663"/>
            <a:ext cx="762000" cy="0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4479" name="AutoShape 155"/>
          <p:cNvSpPr>
            <a:spLocks noChangeArrowheads="1"/>
          </p:cNvSpPr>
          <p:nvPr/>
        </p:nvSpPr>
        <p:spPr bwMode="auto">
          <a:xfrm rot="5400000">
            <a:off x="8339137" y="4249738"/>
            <a:ext cx="61913" cy="71438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4480" name="Freeform 156"/>
          <p:cNvSpPr>
            <a:spLocks/>
          </p:cNvSpPr>
          <p:nvPr/>
        </p:nvSpPr>
        <p:spPr bwMode="auto">
          <a:xfrm>
            <a:off x="7362825" y="4300538"/>
            <a:ext cx="161925" cy="428625"/>
          </a:xfrm>
          <a:custGeom>
            <a:avLst/>
            <a:gdLst>
              <a:gd name="T0" fmla="*/ 2147483647 w 36"/>
              <a:gd name="T1" fmla="*/ 2147483647 h 219"/>
              <a:gd name="T2" fmla="*/ 0 w 36"/>
              <a:gd name="T3" fmla="*/ 2147483647 h 219"/>
              <a:gd name="T4" fmla="*/ 0 w 36"/>
              <a:gd name="T5" fmla="*/ 0 h 219"/>
              <a:gd name="T6" fmla="*/ 2147483647 w 36"/>
              <a:gd name="T7" fmla="*/ 0 h 219"/>
              <a:gd name="T8" fmla="*/ 0 60000 65536"/>
              <a:gd name="T9" fmla="*/ 0 60000 65536"/>
              <a:gd name="T10" fmla="*/ 0 60000 65536"/>
              <a:gd name="T11" fmla="*/ 0 60000 65536"/>
              <a:gd name="T12" fmla="*/ 0 w 36"/>
              <a:gd name="T13" fmla="*/ 0 h 219"/>
              <a:gd name="T14" fmla="*/ 36 w 36"/>
              <a:gd name="T15" fmla="*/ 219 h 219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6" h="219">
                <a:moveTo>
                  <a:pt x="36" y="219"/>
                </a:moveTo>
                <a:lnTo>
                  <a:pt x="0" y="219"/>
                </a:lnTo>
                <a:lnTo>
                  <a:pt x="0" y="0"/>
                </a:lnTo>
                <a:lnTo>
                  <a:pt x="33" y="0"/>
                </a:lnTo>
              </a:path>
            </a:pathLst>
          </a:custGeom>
          <a:noFill/>
          <a:ln w="12700" cap="flat" cmpd="sng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4481" name="AutoShape 157"/>
          <p:cNvSpPr>
            <a:spLocks noChangeArrowheads="1"/>
          </p:cNvSpPr>
          <p:nvPr/>
        </p:nvSpPr>
        <p:spPr bwMode="auto">
          <a:xfrm flipV="1">
            <a:off x="6980238" y="4478338"/>
            <a:ext cx="104775" cy="52387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188 w 21600"/>
              <a:gd name="T13" fmla="*/ 3188 h 21600"/>
              <a:gd name="T14" fmla="*/ 18412 w 21600"/>
              <a:gd name="T15" fmla="*/ 18412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776" y="21600"/>
                </a:lnTo>
                <a:lnTo>
                  <a:pt x="18824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accent1"/>
          </a:solidFill>
          <a:ln w="12700">
            <a:solidFill>
              <a:schemeClr val="bg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4482" name="AutoShape 158"/>
          <p:cNvSpPr>
            <a:spLocks noChangeArrowheads="1"/>
          </p:cNvSpPr>
          <p:nvPr/>
        </p:nvSpPr>
        <p:spPr bwMode="auto">
          <a:xfrm flipV="1">
            <a:off x="7021513" y="4365625"/>
            <a:ext cx="103187" cy="53975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188 w 21600"/>
              <a:gd name="T13" fmla="*/ 3188 h 21600"/>
              <a:gd name="T14" fmla="*/ 18412 w 21600"/>
              <a:gd name="T15" fmla="*/ 18412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776" y="21600"/>
                </a:lnTo>
                <a:lnTo>
                  <a:pt x="18824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accent1"/>
          </a:solidFill>
          <a:ln w="12700">
            <a:solidFill>
              <a:schemeClr val="bg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4483" name="Line 159"/>
          <p:cNvSpPr>
            <a:spLocks noChangeShapeType="1"/>
          </p:cNvSpPr>
          <p:nvPr/>
        </p:nvSpPr>
        <p:spPr bwMode="auto">
          <a:xfrm flipV="1">
            <a:off x="7034213" y="4419600"/>
            <a:ext cx="0" cy="55563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4484" name="Line 160"/>
          <p:cNvSpPr>
            <a:spLocks noChangeShapeType="1"/>
          </p:cNvSpPr>
          <p:nvPr/>
        </p:nvSpPr>
        <p:spPr bwMode="auto">
          <a:xfrm flipV="1">
            <a:off x="7011988" y="4532313"/>
            <a:ext cx="0" cy="157162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4485" name="Line 161"/>
          <p:cNvSpPr>
            <a:spLocks noChangeShapeType="1"/>
          </p:cNvSpPr>
          <p:nvPr/>
        </p:nvSpPr>
        <p:spPr bwMode="auto">
          <a:xfrm flipV="1">
            <a:off x="7065963" y="3959225"/>
            <a:ext cx="0" cy="404813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4486" name="Line 162"/>
          <p:cNvSpPr>
            <a:spLocks noChangeShapeType="1"/>
          </p:cNvSpPr>
          <p:nvPr/>
        </p:nvSpPr>
        <p:spPr bwMode="auto">
          <a:xfrm flipH="1">
            <a:off x="7061200" y="4213225"/>
            <a:ext cx="444500" cy="0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4487" name="AutoShape 163"/>
          <p:cNvSpPr>
            <a:spLocks noChangeArrowheads="1"/>
          </p:cNvSpPr>
          <p:nvPr/>
        </p:nvSpPr>
        <p:spPr bwMode="auto">
          <a:xfrm flipH="1">
            <a:off x="7124700" y="4445000"/>
            <a:ext cx="95250" cy="69850"/>
          </a:xfrm>
          <a:prstGeom prst="flowChartOnlineStorage">
            <a:avLst/>
          </a:prstGeom>
          <a:solidFill>
            <a:schemeClr val="accent1"/>
          </a:solidFill>
          <a:ln w="12700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4488" name="Line 164"/>
          <p:cNvSpPr>
            <a:spLocks noChangeShapeType="1"/>
          </p:cNvSpPr>
          <p:nvPr/>
        </p:nvSpPr>
        <p:spPr bwMode="auto">
          <a:xfrm>
            <a:off x="7224713" y="4478338"/>
            <a:ext cx="136525" cy="0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grpSp>
        <p:nvGrpSpPr>
          <p:cNvPr id="14489" name="Group 165"/>
          <p:cNvGrpSpPr>
            <a:grpSpLocks/>
          </p:cNvGrpSpPr>
          <p:nvPr>
            <p:custDataLst>
              <p:tags r:id="rId8"/>
            </p:custDataLst>
          </p:nvPr>
        </p:nvGrpSpPr>
        <p:grpSpPr bwMode="auto">
          <a:xfrm>
            <a:off x="7442200" y="4387850"/>
            <a:ext cx="66675" cy="255588"/>
            <a:chOff x="5481" y="2519"/>
            <a:chExt cx="47" cy="194"/>
          </a:xfrm>
        </p:grpSpPr>
        <p:sp>
          <p:nvSpPr>
            <p:cNvPr id="14604" name="Line 166"/>
            <p:cNvSpPr>
              <a:spLocks noChangeShapeType="1"/>
            </p:cNvSpPr>
            <p:nvPr/>
          </p:nvSpPr>
          <p:spPr bwMode="auto">
            <a:xfrm flipV="1">
              <a:off x="5485" y="2520"/>
              <a:ext cx="0" cy="193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4605" name="Line 167"/>
            <p:cNvSpPr>
              <a:spLocks noChangeShapeType="1"/>
            </p:cNvSpPr>
            <p:nvPr/>
          </p:nvSpPr>
          <p:spPr bwMode="auto">
            <a:xfrm rot="16200000" flipV="1">
              <a:off x="5505" y="2495"/>
              <a:ext cx="0" cy="47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</p:grpSp>
      <p:sp>
        <p:nvSpPr>
          <p:cNvPr id="14490" name="Line 168"/>
          <p:cNvSpPr>
            <a:spLocks noChangeShapeType="1"/>
          </p:cNvSpPr>
          <p:nvPr/>
        </p:nvSpPr>
        <p:spPr bwMode="auto">
          <a:xfrm flipV="1">
            <a:off x="7404100" y="4343400"/>
            <a:ext cx="0" cy="347663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4491" name="Line 169"/>
          <p:cNvSpPr>
            <a:spLocks noChangeShapeType="1"/>
          </p:cNvSpPr>
          <p:nvPr/>
        </p:nvSpPr>
        <p:spPr bwMode="auto">
          <a:xfrm rot="16200000" flipV="1">
            <a:off x="7456488" y="4287838"/>
            <a:ext cx="0" cy="114300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4492" name="Line 170"/>
          <p:cNvSpPr>
            <a:spLocks noChangeShapeType="1"/>
          </p:cNvSpPr>
          <p:nvPr/>
        </p:nvSpPr>
        <p:spPr bwMode="auto">
          <a:xfrm>
            <a:off x="7445375" y="4510088"/>
            <a:ext cx="915988" cy="0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4493" name="AutoShape 171"/>
          <p:cNvSpPr>
            <a:spLocks noChangeArrowheads="1"/>
          </p:cNvSpPr>
          <p:nvPr/>
        </p:nvSpPr>
        <p:spPr bwMode="auto">
          <a:xfrm rot="5400000">
            <a:off x="8339931" y="4474369"/>
            <a:ext cx="60325" cy="71438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4494" name="Rectangle 172"/>
          <p:cNvSpPr>
            <a:spLocks noChangeArrowheads="1"/>
          </p:cNvSpPr>
          <p:nvPr/>
        </p:nvSpPr>
        <p:spPr bwMode="auto">
          <a:xfrm>
            <a:off x="7910513" y="4645025"/>
            <a:ext cx="214312" cy="236538"/>
          </a:xfrm>
          <a:prstGeom prst="rect">
            <a:avLst/>
          </a:prstGeom>
          <a:gradFill rotWithShape="1">
            <a:gsLst>
              <a:gs pos="0">
                <a:srgbClr val="FFFFCC"/>
              </a:gs>
              <a:gs pos="100000">
                <a:srgbClr val="76765E"/>
              </a:gs>
            </a:gsLst>
            <a:lin ang="2700000" scaled="1"/>
          </a:gradFill>
          <a:ln w="12700">
            <a:solidFill>
              <a:schemeClr val="bg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4495" name="AutoShape 173"/>
          <p:cNvSpPr>
            <a:spLocks noChangeArrowheads="1"/>
          </p:cNvSpPr>
          <p:nvPr/>
        </p:nvSpPr>
        <p:spPr bwMode="auto">
          <a:xfrm rot="5400000">
            <a:off x="7906544" y="4820444"/>
            <a:ext cx="61913" cy="53975"/>
          </a:xfrm>
          <a:prstGeom prst="triangle">
            <a:avLst>
              <a:gd name="adj" fmla="val 50000"/>
            </a:avLst>
          </a:prstGeom>
          <a:noFill/>
          <a:ln w="12700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4496" name="AutoShape 174"/>
          <p:cNvSpPr>
            <a:spLocks noChangeArrowheads="1"/>
          </p:cNvSpPr>
          <p:nvPr/>
        </p:nvSpPr>
        <p:spPr bwMode="auto">
          <a:xfrm rot="-5400000">
            <a:off x="7400132" y="4696619"/>
            <a:ext cx="312737" cy="85725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188 w 21600"/>
              <a:gd name="T13" fmla="*/ 3188 h 21600"/>
              <a:gd name="T14" fmla="*/ 18412 w 21600"/>
              <a:gd name="T15" fmla="*/ 18412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776" y="21600"/>
                </a:lnTo>
                <a:lnTo>
                  <a:pt x="18824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accent1"/>
          </a:solidFill>
          <a:ln w="12700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4497" name="Line 175"/>
          <p:cNvSpPr>
            <a:spLocks noChangeShapeType="1"/>
          </p:cNvSpPr>
          <p:nvPr/>
        </p:nvSpPr>
        <p:spPr bwMode="auto">
          <a:xfrm>
            <a:off x="7602538" y="4735513"/>
            <a:ext cx="303212" cy="0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4498" name="Line 176"/>
          <p:cNvSpPr>
            <a:spLocks noChangeShapeType="1"/>
          </p:cNvSpPr>
          <p:nvPr/>
        </p:nvSpPr>
        <p:spPr bwMode="auto">
          <a:xfrm>
            <a:off x="8128000" y="4735513"/>
            <a:ext cx="238125" cy="0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4499" name="AutoShape 177"/>
          <p:cNvSpPr>
            <a:spLocks noChangeArrowheads="1"/>
          </p:cNvSpPr>
          <p:nvPr/>
        </p:nvSpPr>
        <p:spPr bwMode="auto">
          <a:xfrm rot="5400000">
            <a:off x="8344694" y="4695032"/>
            <a:ext cx="60325" cy="71437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4500" name="Line 178"/>
          <p:cNvSpPr>
            <a:spLocks noChangeShapeType="1"/>
          </p:cNvSpPr>
          <p:nvPr/>
        </p:nvSpPr>
        <p:spPr bwMode="auto">
          <a:xfrm>
            <a:off x="7319963" y="4768850"/>
            <a:ext cx="192087" cy="0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4501" name="Line 179"/>
          <p:cNvSpPr>
            <a:spLocks noChangeShapeType="1"/>
          </p:cNvSpPr>
          <p:nvPr/>
        </p:nvSpPr>
        <p:spPr bwMode="auto">
          <a:xfrm flipV="1">
            <a:off x="7324725" y="4211638"/>
            <a:ext cx="0" cy="554037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4502" name="Line 180"/>
          <p:cNvSpPr>
            <a:spLocks noChangeShapeType="1"/>
          </p:cNvSpPr>
          <p:nvPr/>
        </p:nvSpPr>
        <p:spPr bwMode="auto">
          <a:xfrm flipV="1">
            <a:off x="7288213" y="4252913"/>
            <a:ext cx="0" cy="555625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4503" name="Line 181"/>
          <p:cNvSpPr>
            <a:spLocks noChangeShapeType="1"/>
          </p:cNvSpPr>
          <p:nvPr/>
        </p:nvSpPr>
        <p:spPr bwMode="auto">
          <a:xfrm>
            <a:off x="7285038" y="4803775"/>
            <a:ext cx="231775" cy="0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4504" name="Line 182"/>
          <p:cNvSpPr>
            <a:spLocks noChangeShapeType="1"/>
          </p:cNvSpPr>
          <p:nvPr/>
        </p:nvSpPr>
        <p:spPr bwMode="auto">
          <a:xfrm flipV="1">
            <a:off x="6802438" y="3984625"/>
            <a:ext cx="0" cy="650875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4505" name="Line 183"/>
          <p:cNvSpPr>
            <a:spLocks noChangeShapeType="1"/>
          </p:cNvSpPr>
          <p:nvPr/>
        </p:nvSpPr>
        <p:spPr bwMode="auto">
          <a:xfrm rot="16200000" flipV="1">
            <a:off x="6849269" y="3939381"/>
            <a:ext cx="0" cy="96838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4506" name="Line 184"/>
          <p:cNvSpPr>
            <a:spLocks noChangeShapeType="1"/>
          </p:cNvSpPr>
          <p:nvPr/>
        </p:nvSpPr>
        <p:spPr bwMode="auto">
          <a:xfrm rot="16200000" flipV="1">
            <a:off x="7208838" y="3765550"/>
            <a:ext cx="0" cy="514350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4507" name="Line 185"/>
          <p:cNvSpPr>
            <a:spLocks noChangeShapeType="1"/>
          </p:cNvSpPr>
          <p:nvPr/>
        </p:nvSpPr>
        <p:spPr bwMode="auto">
          <a:xfrm rot="16200000" flipV="1">
            <a:off x="7485857" y="4134643"/>
            <a:ext cx="0" cy="55563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4508" name="Line 186"/>
          <p:cNvSpPr>
            <a:spLocks noChangeShapeType="1"/>
          </p:cNvSpPr>
          <p:nvPr/>
        </p:nvSpPr>
        <p:spPr bwMode="auto">
          <a:xfrm flipV="1">
            <a:off x="7461250" y="4024313"/>
            <a:ext cx="0" cy="134937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grpSp>
        <p:nvGrpSpPr>
          <p:cNvPr id="14509" name="Group 187"/>
          <p:cNvGrpSpPr>
            <a:grpSpLocks/>
          </p:cNvGrpSpPr>
          <p:nvPr>
            <p:custDataLst>
              <p:tags r:id="rId9"/>
            </p:custDataLst>
          </p:nvPr>
        </p:nvGrpSpPr>
        <p:grpSpPr bwMode="auto">
          <a:xfrm>
            <a:off x="7258050" y="3976688"/>
            <a:ext cx="150813" cy="182562"/>
            <a:chOff x="5234" y="2189"/>
            <a:chExt cx="114" cy="138"/>
          </a:xfrm>
        </p:grpSpPr>
        <p:sp>
          <p:nvSpPr>
            <p:cNvPr id="14602" name="Rectangle 188"/>
            <p:cNvSpPr>
              <a:spLocks noChangeArrowheads="1"/>
            </p:cNvSpPr>
            <p:nvPr/>
          </p:nvSpPr>
          <p:spPr bwMode="auto">
            <a:xfrm>
              <a:off x="5234" y="2189"/>
              <a:ext cx="114" cy="138"/>
            </a:xfrm>
            <a:prstGeom prst="rect">
              <a:avLst/>
            </a:prstGeom>
            <a:gradFill rotWithShape="1">
              <a:gsLst>
                <a:gs pos="0">
                  <a:srgbClr val="FFFFCC"/>
                </a:gs>
                <a:gs pos="100000">
                  <a:srgbClr val="76765E"/>
                </a:gs>
              </a:gsLst>
              <a:lin ang="2700000" scaled="1"/>
            </a:gradFill>
            <a:ln w="12700">
              <a:solidFill>
                <a:schemeClr val="bg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4603" name="AutoShape 189"/>
            <p:cNvSpPr>
              <a:spLocks noChangeArrowheads="1"/>
            </p:cNvSpPr>
            <p:nvPr/>
          </p:nvSpPr>
          <p:spPr bwMode="auto">
            <a:xfrm rot="5400000">
              <a:off x="5229" y="2292"/>
              <a:ext cx="39" cy="27"/>
            </a:xfrm>
            <a:prstGeom prst="triangle">
              <a:avLst>
                <a:gd name="adj" fmla="val 50000"/>
              </a:avLst>
            </a:prstGeom>
            <a:noFill/>
            <a:ln w="12700">
              <a:solidFill>
                <a:schemeClr val="bg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</p:grpSp>
      <p:sp>
        <p:nvSpPr>
          <p:cNvPr id="14510" name="Line 190"/>
          <p:cNvSpPr>
            <a:spLocks noChangeShapeType="1"/>
          </p:cNvSpPr>
          <p:nvPr/>
        </p:nvSpPr>
        <p:spPr bwMode="auto">
          <a:xfrm flipH="1">
            <a:off x="5073650" y="4484688"/>
            <a:ext cx="1762125" cy="0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4511" name="Line 191"/>
          <p:cNvSpPr>
            <a:spLocks noChangeShapeType="1"/>
          </p:cNvSpPr>
          <p:nvPr/>
        </p:nvSpPr>
        <p:spPr bwMode="auto">
          <a:xfrm flipV="1">
            <a:off x="6842125" y="1935163"/>
            <a:ext cx="0" cy="433387"/>
          </a:xfrm>
          <a:prstGeom prst="line">
            <a:avLst/>
          </a:prstGeom>
          <a:noFill/>
          <a:ln w="12700" cap="rnd">
            <a:solidFill>
              <a:schemeClr val="bg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4512" name="Line 192"/>
          <p:cNvSpPr>
            <a:spLocks noChangeShapeType="1"/>
          </p:cNvSpPr>
          <p:nvPr/>
        </p:nvSpPr>
        <p:spPr bwMode="auto">
          <a:xfrm rot="16200000" flipV="1">
            <a:off x="6877844" y="1893094"/>
            <a:ext cx="0" cy="77788"/>
          </a:xfrm>
          <a:prstGeom prst="line">
            <a:avLst/>
          </a:prstGeom>
          <a:noFill/>
          <a:ln w="12700" cap="rnd">
            <a:solidFill>
              <a:schemeClr val="bg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4513" name="Line 193"/>
          <p:cNvSpPr>
            <a:spLocks noChangeShapeType="1"/>
          </p:cNvSpPr>
          <p:nvPr/>
        </p:nvSpPr>
        <p:spPr bwMode="auto">
          <a:xfrm flipV="1">
            <a:off x="6838950" y="4057650"/>
            <a:ext cx="0" cy="433388"/>
          </a:xfrm>
          <a:prstGeom prst="line">
            <a:avLst/>
          </a:prstGeom>
          <a:noFill/>
          <a:ln w="12700" cap="rnd">
            <a:solidFill>
              <a:schemeClr val="bg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4514" name="Line 194"/>
          <p:cNvSpPr>
            <a:spLocks noChangeShapeType="1"/>
          </p:cNvSpPr>
          <p:nvPr/>
        </p:nvSpPr>
        <p:spPr bwMode="auto">
          <a:xfrm rot="16200000" flipV="1">
            <a:off x="6873082" y="4015581"/>
            <a:ext cx="0" cy="77787"/>
          </a:xfrm>
          <a:prstGeom prst="line">
            <a:avLst/>
          </a:prstGeom>
          <a:noFill/>
          <a:ln w="12700" cap="rnd">
            <a:solidFill>
              <a:schemeClr val="bg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4515" name="AutoShape 195"/>
          <p:cNvSpPr>
            <a:spLocks noChangeArrowheads="1"/>
          </p:cNvSpPr>
          <p:nvPr/>
        </p:nvSpPr>
        <p:spPr bwMode="auto">
          <a:xfrm rot="5400000" flipV="1">
            <a:off x="6854031" y="3999707"/>
            <a:ext cx="149225" cy="52388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5050 w 21600"/>
              <a:gd name="T13" fmla="*/ 5050 h 21600"/>
              <a:gd name="T14" fmla="*/ 16550 w 21600"/>
              <a:gd name="T15" fmla="*/ 1655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6499" y="21600"/>
                </a:lnTo>
                <a:lnTo>
                  <a:pt x="15101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accent1"/>
          </a:solidFill>
          <a:ln w="12700" cap="rnd">
            <a:solidFill>
              <a:schemeClr val="bg1"/>
            </a:solidFill>
            <a:prstDash val="sysDot"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4517" name="Line 197"/>
          <p:cNvSpPr>
            <a:spLocks noChangeShapeType="1"/>
          </p:cNvSpPr>
          <p:nvPr/>
        </p:nvSpPr>
        <p:spPr bwMode="auto">
          <a:xfrm>
            <a:off x="6727825" y="4256088"/>
            <a:ext cx="790575" cy="0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4518" name="Line 198"/>
          <p:cNvSpPr>
            <a:spLocks noChangeShapeType="1"/>
          </p:cNvSpPr>
          <p:nvPr/>
        </p:nvSpPr>
        <p:spPr bwMode="auto">
          <a:xfrm flipH="1" flipV="1">
            <a:off x="6608763" y="4316413"/>
            <a:ext cx="4762" cy="885825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4519" name="Line 199"/>
          <p:cNvSpPr>
            <a:spLocks noChangeShapeType="1"/>
          </p:cNvSpPr>
          <p:nvPr/>
        </p:nvSpPr>
        <p:spPr bwMode="auto">
          <a:xfrm rot="16200000" flipV="1">
            <a:off x="6639719" y="4287044"/>
            <a:ext cx="0" cy="65088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4520" name="Line 200"/>
          <p:cNvSpPr>
            <a:spLocks noChangeShapeType="1"/>
          </p:cNvSpPr>
          <p:nvPr/>
        </p:nvSpPr>
        <p:spPr bwMode="auto">
          <a:xfrm rot="16200000" flipV="1">
            <a:off x="6639719" y="4156869"/>
            <a:ext cx="0" cy="65088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4521" name="Line 201"/>
          <p:cNvSpPr>
            <a:spLocks noChangeShapeType="1"/>
          </p:cNvSpPr>
          <p:nvPr/>
        </p:nvSpPr>
        <p:spPr bwMode="auto">
          <a:xfrm flipV="1">
            <a:off x="6608763" y="3055938"/>
            <a:ext cx="0" cy="1133475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4522" name="Line 202"/>
          <p:cNvSpPr>
            <a:spLocks noChangeShapeType="1"/>
          </p:cNvSpPr>
          <p:nvPr/>
        </p:nvSpPr>
        <p:spPr bwMode="auto">
          <a:xfrm flipV="1">
            <a:off x="6704013" y="4343400"/>
            <a:ext cx="0" cy="139700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grpSp>
        <p:nvGrpSpPr>
          <p:cNvPr id="14523" name="Group 203"/>
          <p:cNvGrpSpPr>
            <a:grpSpLocks/>
          </p:cNvGrpSpPr>
          <p:nvPr>
            <p:custDataLst>
              <p:tags r:id="rId10"/>
            </p:custDataLst>
          </p:nvPr>
        </p:nvGrpSpPr>
        <p:grpSpPr bwMode="auto">
          <a:xfrm>
            <a:off x="5059363" y="2338388"/>
            <a:ext cx="1287462" cy="735012"/>
            <a:chOff x="3788" y="1868"/>
            <a:chExt cx="974" cy="556"/>
          </a:xfrm>
        </p:grpSpPr>
        <p:sp>
          <p:nvSpPr>
            <p:cNvPr id="14585" name="AutoShape 204"/>
            <p:cNvSpPr>
              <a:spLocks noChangeArrowheads="1"/>
            </p:cNvSpPr>
            <p:nvPr/>
          </p:nvSpPr>
          <p:spPr bwMode="auto">
            <a:xfrm rot="5400000">
              <a:off x="3792" y="1864"/>
              <a:ext cx="46" cy="54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1270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4586" name="Line 205"/>
            <p:cNvSpPr>
              <a:spLocks noChangeShapeType="1"/>
            </p:cNvSpPr>
            <p:nvPr/>
          </p:nvSpPr>
          <p:spPr bwMode="auto">
            <a:xfrm>
              <a:off x="3834" y="2004"/>
              <a:ext cx="273" cy="0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4587" name="Line 206"/>
            <p:cNvSpPr>
              <a:spLocks noChangeShapeType="1"/>
            </p:cNvSpPr>
            <p:nvPr/>
          </p:nvSpPr>
          <p:spPr bwMode="auto">
            <a:xfrm>
              <a:off x="3834" y="2050"/>
              <a:ext cx="273" cy="0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4588" name="Line 207"/>
            <p:cNvSpPr>
              <a:spLocks noChangeShapeType="1"/>
            </p:cNvSpPr>
            <p:nvPr/>
          </p:nvSpPr>
          <p:spPr bwMode="auto">
            <a:xfrm>
              <a:off x="3834" y="2094"/>
              <a:ext cx="273" cy="0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4589" name="Line 208"/>
            <p:cNvSpPr>
              <a:spLocks noChangeShapeType="1"/>
            </p:cNvSpPr>
            <p:nvPr/>
          </p:nvSpPr>
          <p:spPr bwMode="auto">
            <a:xfrm>
              <a:off x="3834" y="2140"/>
              <a:ext cx="273" cy="0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4590" name="Line 209"/>
            <p:cNvSpPr>
              <a:spLocks noChangeShapeType="1"/>
            </p:cNvSpPr>
            <p:nvPr/>
          </p:nvSpPr>
          <p:spPr bwMode="auto">
            <a:xfrm>
              <a:off x="3834" y="2186"/>
              <a:ext cx="273" cy="0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4591" name="Line 210"/>
            <p:cNvSpPr>
              <a:spLocks noChangeShapeType="1"/>
            </p:cNvSpPr>
            <p:nvPr/>
          </p:nvSpPr>
          <p:spPr bwMode="auto">
            <a:xfrm>
              <a:off x="3834" y="2232"/>
              <a:ext cx="273" cy="0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4592" name="AutoShape 211"/>
            <p:cNvSpPr>
              <a:spLocks noChangeArrowheads="1"/>
            </p:cNvSpPr>
            <p:nvPr/>
          </p:nvSpPr>
          <p:spPr bwMode="auto">
            <a:xfrm rot="5400000">
              <a:off x="3797" y="1977"/>
              <a:ext cx="46" cy="54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1270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4593" name="AutoShape 212"/>
            <p:cNvSpPr>
              <a:spLocks noChangeArrowheads="1"/>
            </p:cNvSpPr>
            <p:nvPr/>
          </p:nvSpPr>
          <p:spPr bwMode="auto">
            <a:xfrm rot="5400000">
              <a:off x="3798" y="2022"/>
              <a:ext cx="44" cy="54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1270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4594" name="AutoShape 213"/>
            <p:cNvSpPr>
              <a:spLocks noChangeArrowheads="1"/>
            </p:cNvSpPr>
            <p:nvPr/>
          </p:nvSpPr>
          <p:spPr bwMode="auto">
            <a:xfrm rot="5400000">
              <a:off x="3797" y="2067"/>
              <a:ext cx="46" cy="54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1270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4595" name="AutoShape 214"/>
            <p:cNvSpPr>
              <a:spLocks noChangeArrowheads="1"/>
            </p:cNvSpPr>
            <p:nvPr/>
          </p:nvSpPr>
          <p:spPr bwMode="auto">
            <a:xfrm rot="5400000">
              <a:off x="3797" y="2113"/>
              <a:ext cx="46" cy="54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1270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4596" name="AutoShape 215"/>
            <p:cNvSpPr>
              <a:spLocks noChangeArrowheads="1"/>
            </p:cNvSpPr>
            <p:nvPr/>
          </p:nvSpPr>
          <p:spPr bwMode="auto">
            <a:xfrm rot="5400000">
              <a:off x="3797" y="2159"/>
              <a:ext cx="46" cy="54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1270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4597" name="AutoShape 216"/>
            <p:cNvSpPr>
              <a:spLocks noChangeArrowheads="1"/>
            </p:cNvSpPr>
            <p:nvPr/>
          </p:nvSpPr>
          <p:spPr bwMode="auto">
            <a:xfrm rot="5400000">
              <a:off x="3798" y="2204"/>
              <a:ext cx="44" cy="54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1270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4598" name="Line 217"/>
            <p:cNvSpPr>
              <a:spLocks noChangeShapeType="1"/>
            </p:cNvSpPr>
            <p:nvPr/>
          </p:nvSpPr>
          <p:spPr bwMode="auto">
            <a:xfrm flipH="1">
              <a:off x="3841" y="2399"/>
              <a:ext cx="573" cy="0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4599" name="AutoShape 218"/>
            <p:cNvSpPr>
              <a:spLocks noChangeArrowheads="1"/>
            </p:cNvSpPr>
            <p:nvPr/>
          </p:nvSpPr>
          <p:spPr bwMode="auto">
            <a:xfrm rot="5400000">
              <a:off x="3792" y="2374"/>
              <a:ext cx="46" cy="54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12700">
              <a:solidFill>
                <a:schemeClr val="bg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4600" name="Line 219"/>
            <p:cNvSpPr>
              <a:spLocks noChangeShapeType="1"/>
            </p:cNvSpPr>
            <p:nvPr/>
          </p:nvSpPr>
          <p:spPr bwMode="auto">
            <a:xfrm flipV="1">
              <a:off x="4409" y="1892"/>
              <a:ext cx="0" cy="508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4601" name="Rectangle 220"/>
            <p:cNvSpPr>
              <a:spLocks noChangeArrowheads="1"/>
            </p:cNvSpPr>
            <p:nvPr/>
          </p:nvSpPr>
          <p:spPr bwMode="auto">
            <a:xfrm>
              <a:off x="4107" y="1958"/>
              <a:ext cx="655" cy="364"/>
            </a:xfrm>
            <a:prstGeom prst="rect">
              <a:avLst/>
            </a:prstGeom>
            <a:gradFill rotWithShape="1">
              <a:gsLst>
                <a:gs pos="0">
                  <a:srgbClr val="003366"/>
                </a:gs>
                <a:gs pos="100000">
                  <a:srgbClr val="FFFFFF"/>
                </a:gs>
              </a:gsLst>
              <a:lin ang="2700000" scaled="1"/>
            </a:gradFill>
            <a:ln w="12700">
              <a:solidFill>
                <a:schemeClr val="bg1"/>
              </a:solidFill>
              <a:miter lim="800000"/>
              <a:headEnd/>
              <a:tailEnd/>
            </a:ln>
          </p:spPr>
          <p:txBody>
            <a:bodyPr lIns="76197" tIns="38098" rIns="76197" bIns="38098" anchor="ctr"/>
            <a:lstStyle/>
            <a:p>
              <a:r>
                <a:rPr lang="en-US" sz="800"/>
                <a:t>LUT/RAM/SRL</a:t>
              </a:r>
            </a:p>
          </p:txBody>
        </p:sp>
      </p:grpSp>
      <p:grpSp>
        <p:nvGrpSpPr>
          <p:cNvPr id="14524" name="Group 221"/>
          <p:cNvGrpSpPr>
            <a:grpSpLocks/>
          </p:cNvGrpSpPr>
          <p:nvPr>
            <p:custDataLst>
              <p:tags r:id="rId11"/>
            </p:custDataLst>
          </p:nvPr>
        </p:nvGrpSpPr>
        <p:grpSpPr bwMode="auto">
          <a:xfrm>
            <a:off x="5059363" y="3275013"/>
            <a:ext cx="1287462" cy="735012"/>
            <a:chOff x="3788" y="1868"/>
            <a:chExt cx="974" cy="556"/>
          </a:xfrm>
        </p:grpSpPr>
        <p:sp>
          <p:nvSpPr>
            <p:cNvPr id="14568" name="AutoShape 222"/>
            <p:cNvSpPr>
              <a:spLocks noChangeArrowheads="1"/>
            </p:cNvSpPr>
            <p:nvPr/>
          </p:nvSpPr>
          <p:spPr bwMode="auto">
            <a:xfrm rot="5400000">
              <a:off x="3792" y="1864"/>
              <a:ext cx="46" cy="54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1270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4569" name="Line 223"/>
            <p:cNvSpPr>
              <a:spLocks noChangeShapeType="1"/>
            </p:cNvSpPr>
            <p:nvPr/>
          </p:nvSpPr>
          <p:spPr bwMode="auto">
            <a:xfrm>
              <a:off x="3834" y="2004"/>
              <a:ext cx="273" cy="0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4570" name="Line 224"/>
            <p:cNvSpPr>
              <a:spLocks noChangeShapeType="1"/>
            </p:cNvSpPr>
            <p:nvPr/>
          </p:nvSpPr>
          <p:spPr bwMode="auto">
            <a:xfrm>
              <a:off x="3834" y="2050"/>
              <a:ext cx="273" cy="0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4571" name="Line 225"/>
            <p:cNvSpPr>
              <a:spLocks noChangeShapeType="1"/>
            </p:cNvSpPr>
            <p:nvPr/>
          </p:nvSpPr>
          <p:spPr bwMode="auto">
            <a:xfrm>
              <a:off x="3834" y="2094"/>
              <a:ext cx="273" cy="0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4572" name="Line 226"/>
            <p:cNvSpPr>
              <a:spLocks noChangeShapeType="1"/>
            </p:cNvSpPr>
            <p:nvPr/>
          </p:nvSpPr>
          <p:spPr bwMode="auto">
            <a:xfrm>
              <a:off x="3834" y="2140"/>
              <a:ext cx="273" cy="0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4573" name="Line 227"/>
            <p:cNvSpPr>
              <a:spLocks noChangeShapeType="1"/>
            </p:cNvSpPr>
            <p:nvPr/>
          </p:nvSpPr>
          <p:spPr bwMode="auto">
            <a:xfrm>
              <a:off x="3834" y="2186"/>
              <a:ext cx="273" cy="0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4574" name="Line 228"/>
            <p:cNvSpPr>
              <a:spLocks noChangeShapeType="1"/>
            </p:cNvSpPr>
            <p:nvPr/>
          </p:nvSpPr>
          <p:spPr bwMode="auto">
            <a:xfrm>
              <a:off x="3834" y="2232"/>
              <a:ext cx="273" cy="0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4575" name="AutoShape 229"/>
            <p:cNvSpPr>
              <a:spLocks noChangeArrowheads="1"/>
            </p:cNvSpPr>
            <p:nvPr/>
          </p:nvSpPr>
          <p:spPr bwMode="auto">
            <a:xfrm rot="5400000">
              <a:off x="3797" y="1977"/>
              <a:ext cx="46" cy="54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1270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4576" name="AutoShape 230"/>
            <p:cNvSpPr>
              <a:spLocks noChangeArrowheads="1"/>
            </p:cNvSpPr>
            <p:nvPr/>
          </p:nvSpPr>
          <p:spPr bwMode="auto">
            <a:xfrm rot="5400000">
              <a:off x="3798" y="2022"/>
              <a:ext cx="44" cy="54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1270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4577" name="AutoShape 231"/>
            <p:cNvSpPr>
              <a:spLocks noChangeArrowheads="1"/>
            </p:cNvSpPr>
            <p:nvPr/>
          </p:nvSpPr>
          <p:spPr bwMode="auto">
            <a:xfrm rot="5400000">
              <a:off x="3797" y="2067"/>
              <a:ext cx="46" cy="54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1270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4578" name="AutoShape 232"/>
            <p:cNvSpPr>
              <a:spLocks noChangeArrowheads="1"/>
            </p:cNvSpPr>
            <p:nvPr/>
          </p:nvSpPr>
          <p:spPr bwMode="auto">
            <a:xfrm rot="5400000">
              <a:off x="3797" y="2113"/>
              <a:ext cx="46" cy="54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1270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4579" name="AutoShape 233"/>
            <p:cNvSpPr>
              <a:spLocks noChangeArrowheads="1"/>
            </p:cNvSpPr>
            <p:nvPr/>
          </p:nvSpPr>
          <p:spPr bwMode="auto">
            <a:xfrm rot="5400000">
              <a:off x="3797" y="2159"/>
              <a:ext cx="46" cy="54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1270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4580" name="AutoShape 234"/>
            <p:cNvSpPr>
              <a:spLocks noChangeArrowheads="1"/>
            </p:cNvSpPr>
            <p:nvPr/>
          </p:nvSpPr>
          <p:spPr bwMode="auto">
            <a:xfrm rot="5400000">
              <a:off x="3798" y="2204"/>
              <a:ext cx="44" cy="54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1270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4581" name="Line 235"/>
            <p:cNvSpPr>
              <a:spLocks noChangeShapeType="1"/>
            </p:cNvSpPr>
            <p:nvPr/>
          </p:nvSpPr>
          <p:spPr bwMode="auto">
            <a:xfrm flipH="1">
              <a:off x="3841" y="2399"/>
              <a:ext cx="573" cy="0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4582" name="AutoShape 236"/>
            <p:cNvSpPr>
              <a:spLocks noChangeArrowheads="1"/>
            </p:cNvSpPr>
            <p:nvPr/>
          </p:nvSpPr>
          <p:spPr bwMode="auto">
            <a:xfrm rot="5400000">
              <a:off x="3792" y="2374"/>
              <a:ext cx="46" cy="54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12700">
              <a:solidFill>
                <a:schemeClr val="bg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4583" name="Line 237"/>
            <p:cNvSpPr>
              <a:spLocks noChangeShapeType="1"/>
            </p:cNvSpPr>
            <p:nvPr/>
          </p:nvSpPr>
          <p:spPr bwMode="auto">
            <a:xfrm flipV="1">
              <a:off x="4409" y="1892"/>
              <a:ext cx="0" cy="508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4584" name="Rectangle 238"/>
            <p:cNvSpPr>
              <a:spLocks noChangeArrowheads="1"/>
            </p:cNvSpPr>
            <p:nvPr/>
          </p:nvSpPr>
          <p:spPr bwMode="auto">
            <a:xfrm>
              <a:off x="4107" y="1958"/>
              <a:ext cx="655" cy="364"/>
            </a:xfrm>
            <a:prstGeom prst="rect">
              <a:avLst/>
            </a:prstGeom>
            <a:gradFill rotWithShape="1">
              <a:gsLst>
                <a:gs pos="0">
                  <a:srgbClr val="003366"/>
                </a:gs>
                <a:gs pos="100000">
                  <a:srgbClr val="FFFFFF"/>
                </a:gs>
              </a:gsLst>
              <a:lin ang="2700000" scaled="1"/>
            </a:gradFill>
            <a:ln w="12700">
              <a:solidFill>
                <a:schemeClr val="bg1"/>
              </a:solidFill>
              <a:miter lim="800000"/>
              <a:headEnd/>
              <a:tailEnd/>
            </a:ln>
          </p:spPr>
          <p:txBody>
            <a:bodyPr lIns="76197" tIns="38098" rIns="76197" bIns="38098" anchor="ctr"/>
            <a:lstStyle/>
            <a:p>
              <a:r>
                <a:rPr lang="en-US" sz="800"/>
                <a:t>LUT/RAM/SRL</a:t>
              </a:r>
            </a:p>
          </p:txBody>
        </p:sp>
      </p:grpSp>
      <p:grpSp>
        <p:nvGrpSpPr>
          <p:cNvPr id="14525" name="Group 239"/>
          <p:cNvGrpSpPr>
            <a:grpSpLocks/>
          </p:cNvGrpSpPr>
          <p:nvPr>
            <p:custDataLst>
              <p:tags r:id="rId12"/>
            </p:custDataLst>
          </p:nvPr>
        </p:nvGrpSpPr>
        <p:grpSpPr bwMode="auto">
          <a:xfrm>
            <a:off x="5059363" y="4452938"/>
            <a:ext cx="1287462" cy="736600"/>
            <a:chOff x="3788" y="1868"/>
            <a:chExt cx="974" cy="556"/>
          </a:xfrm>
        </p:grpSpPr>
        <p:sp>
          <p:nvSpPr>
            <p:cNvPr id="14551" name="AutoShape 240"/>
            <p:cNvSpPr>
              <a:spLocks noChangeArrowheads="1"/>
            </p:cNvSpPr>
            <p:nvPr/>
          </p:nvSpPr>
          <p:spPr bwMode="auto">
            <a:xfrm rot="5400000">
              <a:off x="3792" y="1864"/>
              <a:ext cx="46" cy="54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1270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4552" name="Line 241"/>
            <p:cNvSpPr>
              <a:spLocks noChangeShapeType="1"/>
            </p:cNvSpPr>
            <p:nvPr/>
          </p:nvSpPr>
          <p:spPr bwMode="auto">
            <a:xfrm>
              <a:off x="3834" y="2004"/>
              <a:ext cx="273" cy="0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4553" name="Line 242"/>
            <p:cNvSpPr>
              <a:spLocks noChangeShapeType="1"/>
            </p:cNvSpPr>
            <p:nvPr/>
          </p:nvSpPr>
          <p:spPr bwMode="auto">
            <a:xfrm>
              <a:off x="3834" y="2050"/>
              <a:ext cx="273" cy="0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4554" name="Line 243"/>
            <p:cNvSpPr>
              <a:spLocks noChangeShapeType="1"/>
            </p:cNvSpPr>
            <p:nvPr/>
          </p:nvSpPr>
          <p:spPr bwMode="auto">
            <a:xfrm>
              <a:off x="3834" y="2094"/>
              <a:ext cx="273" cy="0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4555" name="Line 244"/>
            <p:cNvSpPr>
              <a:spLocks noChangeShapeType="1"/>
            </p:cNvSpPr>
            <p:nvPr/>
          </p:nvSpPr>
          <p:spPr bwMode="auto">
            <a:xfrm>
              <a:off x="3834" y="2140"/>
              <a:ext cx="273" cy="0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4556" name="Line 245"/>
            <p:cNvSpPr>
              <a:spLocks noChangeShapeType="1"/>
            </p:cNvSpPr>
            <p:nvPr/>
          </p:nvSpPr>
          <p:spPr bwMode="auto">
            <a:xfrm>
              <a:off x="3834" y="2186"/>
              <a:ext cx="273" cy="0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4557" name="Line 246"/>
            <p:cNvSpPr>
              <a:spLocks noChangeShapeType="1"/>
            </p:cNvSpPr>
            <p:nvPr/>
          </p:nvSpPr>
          <p:spPr bwMode="auto">
            <a:xfrm>
              <a:off x="3834" y="2232"/>
              <a:ext cx="273" cy="0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4558" name="AutoShape 247"/>
            <p:cNvSpPr>
              <a:spLocks noChangeArrowheads="1"/>
            </p:cNvSpPr>
            <p:nvPr/>
          </p:nvSpPr>
          <p:spPr bwMode="auto">
            <a:xfrm rot="5400000">
              <a:off x="3797" y="1977"/>
              <a:ext cx="46" cy="54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1270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4559" name="AutoShape 248"/>
            <p:cNvSpPr>
              <a:spLocks noChangeArrowheads="1"/>
            </p:cNvSpPr>
            <p:nvPr/>
          </p:nvSpPr>
          <p:spPr bwMode="auto">
            <a:xfrm rot="5400000">
              <a:off x="3798" y="2022"/>
              <a:ext cx="44" cy="54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1270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4560" name="AutoShape 249"/>
            <p:cNvSpPr>
              <a:spLocks noChangeArrowheads="1"/>
            </p:cNvSpPr>
            <p:nvPr/>
          </p:nvSpPr>
          <p:spPr bwMode="auto">
            <a:xfrm rot="5400000">
              <a:off x="3797" y="2067"/>
              <a:ext cx="46" cy="54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1270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4561" name="AutoShape 250"/>
            <p:cNvSpPr>
              <a:spLocks noChangeArrowheads="1"/>
            </p:cNvSpPr>
            <p:nvPr/>
          </p:nvSpPr>
          <p:spPr bwMode="auto">
            <a:xfrm rot="5400000">
              <a:off x="3797" y="2113"/>
              <a:ext cx="46" cy="54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1270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4562" name="AutoShape 251"/>
            <p:cNvSpPr>
              <a:spLocks noChangeArrowheads="1"/>
            </p:cNvSpPr>
            <p:nvPr/>
          </p:nvSpPr>
          <p:spPr bwMode="auto">
            <a:xfrm rot="5400000">
              <a:off x="3797" y="2159"/>
              <a:ext cx="46" cy="54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1270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4563" name="AutoShape 252"/>
            <p:cNvSpPr>
              <a:spLocks noChangeArrowheads="1"/>
            </p:cNvSpPr>
            <p:nvPr/>
          </p:nvSpPr>
          <p:spPr bwMode="auto">
            <a:xfrm rot="5400000">
              <a:off x="3798" y="2204"/>
              <a:ext cx="44" cy="54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1270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4564" name="Line 253"/>
            <p:cNvSpPr>
              <a:spLocks noChangeShapeType="1"/>
            </p:cNvSpPr>
            <p:nvPr/>
          </p:nvSpPr>
          <p:spPr bwMode="auto">
            <a:xfrm flipH="1">
              <a:off x="3841" y="2399"/>
              <a:ext cx="573" cy="0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4565" name="AutoShape 254"/>
            <p:cNvSpPr>
              <a:spLocks noChangeArrowheads="1"/>
            </p:cNvSpPr>
            <p:nvPr/>
          </p:nvSpPr>
          <p:spPr bwMode="auto">
            <a:xfrm rot="5400000">
              <a:off x="3792" y="2374"/>
              <a:ext cx="46" cy="54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12700">
              <a:solidFill>
                <a:schemeClr val="bg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4566" name="Line 255"/>
            <p:cNvSpPr>
              <a:spLocks noChangeShapeType="1"/>
            </p:cNvSpPr>
            <p:nvPr/>
          </p:nvSpPr>
          <p:spPr bwMode="auto">
            <a:xfrm flipV="1">
              <a:off x="4409" y="1892"/>
              <a:ext cx="0" cy="508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4567" name="Rectangle 256"/>
            <p:cNvSpPr>
              <a:spLocks noChangeArrowheads="1"/>
            </p:cNvSpPr>
            <p:nvPr/>
          </p:nvSpPr>
          <p:spPr bwMode="auto">
            <a:xfrm>
              <a:off x="4107" y="1958"/>
              <a:ext cx="655" cy="364"/>
            </a:xfrm>
            <a:prstGeom prst="rect">
              <a:avLst/>
            </a:prstGeom>
            <a:gradFill rotWithShape="1">
              <a:gsLst>
                <a:gs pos="0">
                  <a:srgbClr val="003366"/>
                </a:gs>
                <a:gs pos="100000">
                  <a:srgbClr val="FFFFFF"/>
                </a:gs>
              </a:gsLst>
              <a:lin ang="2700000" scaled="1"/>
            </a:gradFill>
            <a:ln w="12700">
              <a:solidFill>
                <a:schemeClr val="bg1"/>
              </a:solidFill>
              <a:miter lim="800000"/>
              <a:headEnd/>
              <a:tailEnd/>
            </a:ln>
          </p:spPr>
          <p:txBody>
            <a:bodyPr lIns="76197" tIns="38098" rIns="76197" bIns="38098" anchor="ctr"/>
            <a:lstStyle/>
            <a:p>
              <a:r>
                <a:rPr lang="en-US" sz="800"/>
                <a:t>LUT/RAM/SRL</a:t>
              </a:r>
            </a:p>
          </p:txBody>
        </p:sp>
      </p:grpSp>
      <p:grpSp>
        <p:nvGrpSpPr>
          <p:cNvPr id="14526" name="Group 257"/>
          <p:cNvGrpSpPr>
            <a:grpSpLocks/>
          </p:cNvGrpSpPr>
          <p:nvPr>
            <p:custDataLst>
              <p:tags r:id="rId13"/>
            </p:custDataLst>
          </p:nvPr>
        </p:nvGrpSpPr>
        <p:grpSpPr bwMode="auto">
          <a:xfrm>
            <a:off x="5059363" y="5418138"/>
            <a:ext cx="1287462" cy="735012"/>
            <a:chOff x="3788" y="1868"/>
            <a:chExt cx="974" cy="556"/>
          </a:xfrm>
        </p:grpSpPr>
        <p:sp>
          <p:nvSpPr>
            <p:cNvPr id="14534" name="AutoShape 258"/>
            <p:cNvSpPr>
              <a:spLocks noChangeArrowheads="1"/>
            </p:cNvSpPr>
            <p:nvPr/>
          </p:nvSpPr>
          <p:spPr bwMode="auto">
            <a:xfrm rot="5400000">
              <a:off x="3792" y="1864"/>
              <a:ext cx="46" cy="54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1270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4535" name="Line 259"/>
            <p:cNvSpPr>
              <a:spLocks noChangeShapeType="1"/>
            </p:cNvSpPr>
            <p:nvPr/>
          </p:nvSpPr>
          <p:spPr bwMode="auto">
            <a:xfrm>
              <a:off x="3834" y="2004"/>
              <a:ext cx="273" cy="0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4536" name="Line 260"/>
            <p:cNvSpPr>
              <a:spLocks noChangeShapeType="1"/>
            </p:cNvSpPr>
            <p:nvPr/>
          </p:nvSpPr>
          <p:spPr bwMode="auto">
            <a:xfrm>
              <a:off x="3834" y="2050"/>
              <a:ext cx="273" cy="0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4537" name="Line 261"/>
            <p:cNvSpPr>
              <a:spLocks noChangeShapeType="1"/>
            </p:cNvSpPr>
            <p:nvPr/>
          </p:nvSpPr>
          <p:spPr bwMode="auto">
            <a:xfrm>
              <a:off x="3834" y="2094"/>
              <a:ext cx="273" cy="0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4538" name="Line 262"/>
            <p:cNvSpPr>
              <a:spLocks noChangeShapeType="1"/>
            </p:cNvSpPr>
            <p:nvPr/>
          </p:nvSpPr>
          <p:spPr bwMode="auto">
            <a:xfrm>
              <a:off x="3834" y="2140"/>
              <a:ext cx="273" cy="0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4539" name="Line 263"/>
            <p:cNvSpPr>
              <a:spLocks noChangeShapeType="1"/>
            </p:cNvSpPr>
            <p:nvPr/>
          </p:nvSpPr>
          <p:spPr bwMode="auto">
            <a:xfrm>
              <a:off x="3834" y="2186"/>
              <a:ext cx="273" cy="0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4540" name="Line 264"/>
            <p:cNvSpPr>
              <a:spLocks noChangeShapeType="1"/>
            </p:cNvSpPr>
            <p:nvPr/>
          </p:nvSpPr>
          <p:spPr bwMode="auto">
            <a:xfrm>
              <a:off x="3834" y="2232"/>
              <a:ext cx="273" cy="0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4541" name="AutoShape 265"/>
            <p:cNvSpPr>
              <a:spLocks noChangeArrowheads="1"/>
            </p:cNvSpPr>
            <p:nvPr/>
          </p:nvSpPr>
          <p:spPr bwMode="auto">
            <a:xfrm rot="5400000">
              <a:off x="3797" y="1977"/>
              <a:ext cx="46" cy="54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1270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4542" name="AutoShape 266"/>
            <p:cNvSpPr>
              <a:spLocks noChangeArrowheads="1"/>
            </p:cNvSpPr>
            <p:nvPr/>
          </p:nvSpPr>
          <p:spPr bwMode="auto">
            <a:xfrm rot="5400000">
              <a:off x="3798" y="2022"/>
              <a:ext cx="44" cy="54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1270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4543" name="AutoShape 267"/>
            <p:cNvSpPr>
              <a:spLocks noChangeArrowheads="1"/>
            </p:cNvSpPr>
            <p:nvPr/>
          </p:nvSpPr>
          <p:spPr bwMode="auto">
            <a:xfrm rot="5400000">
              <a:off x="3797" y="2067"/>
              <a:ext cx="46" cy="54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1270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4544" name="AutoShape 268"/>
            <p:cNvSpPr>
              <a:spLocks noChangeArrowheads="1"/>
            </p:cNvSpPr>
            <p:nvPr/>
          </p:nvSpPr>
          <p:spPr bwMode="auto">
            <a:xfrm rot="5400000">
              <a:off x="3797" y="2113"/>
              <a:ext cx="46" cy="54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1270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4545" name="AutoShape 269"/>
            <p:cNvSpPr>
              <a:spLocks noChangeArrowheads="1"/>
            </p:cNvSpPr>
            <p:nvPr/>
          </p:nvSpPr>
          <p:spPr bwMode="auto">
            <a:xfrm rot="5400000">
              <a:off x="3797" y="2159"/>
              <a:ext cx="46" cy="54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1270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4546" name="AutoShape 270"/>
            <p:cNvSpPr>
              <a:spLocks noChangeArrowheads="1"/>
            </p:cNvSpPr>
            <p:nvPr/>
          </p:nvSpPr>
          <p:spPr bwMode="auto">
            <a:xfrm rot="5400000">
              <a:off x="3798" y="2204"/>
              <a:ext cx="44" cy="54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1270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4547" name="Line 271"/>
            <p:cNvSpPr>
              <a:spLocks noChangeShapeType="1"/>
            </p:cNvSpPr>
            <p:nvPr/>
          </p:nvSpPr>
          <p:spPr bwMode="auto">
            <a:xfrm flipH="1">
              <a:off x="3841" y="2399"/>
              <a:ext cx="573" cy="0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4548" name="AutoShape 272"/>
            <p:cNvSpPr>
              <a:spLocks noChangeArrowheads="1"/>
            </p:cNvSpPr>
            <p:nvPr/>
          </p:nvSpPr>
          <p:spPr bwMode="auto">
            <a:xfrm rot="5400000">
              <a:off x="3792" y="2374"/>
              <a:ext cx="46" cy="54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12700">
              <a:solidFill>
                <a:schemeClr val="bg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4549" name="Line 273"/>
            <p:cNvSpPr>
              <a:spLocks noChangeShapeType="1"/>
            </p:cNvSpPr>
            <p:nvPr/>
          </p:nvSpPr>
          <p:spPr bwMode="auto">
            <a:xfrm flipV="1">
              <a:off x="4409" y="1892"/>
              <a:ext cx="0" cy="508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4550" name="Rectangle 274"/>
            <p:cNvSpPr>
              <a:spLocks noChangeArrowheads="1"/>
            </p:cNvSpPr>
            <p:nvPr/>
          </p:nvSpPr>
          <p:spPr bwMode="auto">
            <a:xfrm>
              <a:off x="4107" y="1958"/>
              <a:ext cx="655" cy="364"/>
            </a:xfrm>
            <a:prstGeom prst="rect">
              <a:avLst/>
            </a:prstGeom>
            <a:gradFill rotWithShape="1">
              <a:gsLst>
                <a:gs pos="0">
                  <a:srgbClr val="003366"/>
                </a:gs>
                <a:gs pos="100000">
                  <a:srgbClr val="FFFFFF"/>
                </a:gs>
              </a:gsLst>
              <a:lin ang="2700000" scaled="1"/>
            </a:gradFill>
            <a:ln w="12700">
              <a:solidFill>
                <a:schemeClr val="bg1"/>
              </a:solidFill>
              <a:miter lim="800000"/>
              <a:headEnd/>
              <a:tailEnd/>
            </a:ln>
          </p:spPr>
          <p:txBody>
            <a:bodyPr lIns="76197" tIns="38098" rIns="76197" bIns="38098" anchor="ctr"/>
            <a:lstStyle/>
            <a:p>
              <a:r>
                <a:rPr lang="en-US" sz="800"/>
                <a:t>LUT/RAM/SRL</a:t>
              </a:r>
            </a:p>
          </p:txBody>
        </p:sp>
      </p:grpSp>
      <p:sp>
        <p:nvSpPr>
          <p:cNvPr id="14527" name="Line 275"/>
          <p:cNvSpPr>
            <a:spLocks noChangeShapeType="1"/>
          </p:cNvSpPr>
          <p:nvPr/>
        </p:nvSpPr>
        <p:spPr bwMode="auto">
          <a:xfrm>
            <a:off x="7053263" y="5483225"/>
            <a:ext cx="0" cy="450850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4528" name="Oval 276"/>
          <p:cNvSpPr>
            <a:spLocks noChangeArrowheads="1"/>
          </p:cNvSpPr>
          <p:nvPr/>
        </p:nvSpPr>
        <p:spPr bwMode="auto">
          <a:xfrm>
            <a:off x="6345238" y="2703513"/>
            <a:ext cx="444500" cy="2909887"/>
          </a:xfrm>
          <a:prstGeom prst="ellipse">
            <a:avLst/>
          </a:prstGeom>
          <a:noFill/>
          <a:ln w="25400" algn="ctr">
            <a:solidFill>
              <a:srgbClr val="00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4529" name="Group 277"/>
          <p:cNvGrpSpPr>
            <a:grpSpLocks/>
          </p:cNvGrpSpPr>
          <p:nvPr>
            <p:custDataLst>
              <p:tags r:id="rId14"/>
            </p:custDataLst>
          </p:nvPr>
        </p:nvGrpSpPr>
        <p:grpSpPr bwMode="auto">
          <a:xfrm>
            <a:off x="6908800" y="5932488"/>
            <a:ext cx="276225" cy="315912"/>
            <a:chOff x="5180" y="4585"/>
            <a:chExt cx="209" cy="239"/>
          </a:xfrm>
        </p:grpSpPr>
        <p:sp>
          <p:nvSpPr>
            <p:cNvPr id="14530" name="AutoShape 278"/>
            <p:cNvSpPr>
              <a:spLocks noChangeArrowheads="1"/>
            </p:cNvSpPr>
            <p:nvPr/>
          </p:nvSpPr>
          <p:spPr bwMode="auto">
            <a:xfrm flipV="1">
              <a:off x="5235" y="4585"/>
              <a:ext cx="120" cy="62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3240 w 21600"/>
                <a:gd name="T13" fmla="*/ 3135 h 21600"/>
                <a:gd name="T14" fmla="*/ 18360 w 21600"/>
                <a:gd name="T15" fmla="*/ 18465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2776" y="21600"/>
                  </a:lnTo>
                  <a:lnTo>
                    <a:pt x="18824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chemeClr val="accent1"/>
            </a:solidFill>
            <a:ln w="12700">
              <a:solidFill>
                <a:schemeClr val="bg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4531" name="Line 279"/>
            <p:cNvSpPr>
              <a:spLocks noChangeShapeType="1"/>
            </p:cNvSpPr>
            <p:nvPr/>
          </p:nvSpPr>
          <p:spPr bwMode="auto">
            <a:xfrm>
              <a:off x="5341" y="4648"/>
              <a:ext cx="0" cy="142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4532" name="AutoShape 280"/>
            <p:cNvSpPr>
              <a:spLocks noChangeArrowheads="1"/>
            </p:cNvSpPr>
            <p:nvPr/>
          </p:nvSpPr>
          <p:spPr bwMode="auto">
            <a:xfrm>
              <a:off x="5313" y="4778"/>
              <a:ext cx="55" cy="46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1270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4533" name="Text Box 281"/>
            <p:cNvSpPr txBox="1">
              <a:spLocks noChangeArrowheads="1"/>
            </p:cNvSpPr>
            <p:nvPr/>
          </p:nvSpPr>
          <p:spPr bwMode="auto">
            <a:xfrm>
              <a:off x="5180" y="4619"/>
              <a:ext cx="209" cy="1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6197" tIns="38098" rIns="76197" bIns="38098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700">
                  <a:solidFill>
                    <a:schemeClr val="bg1"/>
                  </a:solidFill>
                </a:rPr>
                <a:t>0 1</a:t>
              </a:r>
            </a:p>
          </p:txBody>
        </p:sp>
      </p:grpSp>
      <p:sp>
        <p:nvSpPr>
          <p:cNvPr id="14516" name="AutoShape 196"/>
          <p:cNvSpPr>
            <a:spLocks noChangeArrowheads="1"/>
          </p:cNvSpPr>
          <p:nvPr/>
        </p:nvSpPr>
        <p:spPr bwMode="auto">
          <a:xfrm rot="5400000" flipV="1">
            <a:off x="6550821" y="4217193"/>
            <a:ext cx="333374" cy="128588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188 w 21600"/>
              <a:gd name="T13" fmla="*/ 3188 h 21600"/>
              <a:gd name="T14" fmla="*/ 18412 w 21600"/>
              <a:gd name="T15" fmla="*/ 18412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776" y="21600"/>
                </a:lnTo>
                <a:lnTo>
                  <a:pt x="18824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FF0000"/>
          </a:solidFill>
          <a:ln w="12700">
            <a:solidFill>
              <a:schemeClr val="bg1"/>
            </a:solidFill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endParaRPr lang="en-US"/>
          </a:p>
        </p:txBody>
      </p:sp>
      <p:sp>
        <p:nvSpPr>
          <p:cNvPr id="282" name="AutoShape 196"/>
          <p:cNvSpPr>
            <a:spLocks noChangeArrowheads="1"/>
          </p:cNvSpPr>
          <p:nvPr/>
        </p:nvSpPr>
        <p:spPr bwMode="auto">
          <a:xfrm rot="5400000" flipV="1">
            <a:off x="6348414" y="5113337"/>
            <a:ext cx="333374" cy="128588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188 w 21600"/>
              <a:gd name="T13" fmla="*/ 3188 h 21600"/>
              <a:gd name="T14" fmla="*/ 18412 w 21600"/>
              <a:gd name="T15" fmla="*/ 18412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776" y="21600"/>
                </a:lnTo>
                <a:lnTo>
                  <a:pt x="18824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FF0000"/>
          </a:solidFill>
          <a:ln w="12700">
            <a:solidFill>
              <a:schemeClr val="bg1"/>
            </a:solidFill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endParaRPr lang="en-US"/>
          </a:p>
        </p:txBody>
      </p:sp>
      <p:sp>
        <p:nvSpPr>
          <p:cNvPr id="283" name="AutoShape 196"/>
          <p:cNvSpPr>
            <a:spLocks noChangeArrowheads="1"/>
          </p:cNvSpPr>
          <p:nvPr/>
        </p:nvSpPr>
        <p:spPr bwMode="auto">
          <a:xfrm rot="5400000" flipV="1">
            <a:off x="6374606" y="3005931"/>
            <a:ext cx="333374" cy="128588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188 w 21600"/>
              <a:gd name="T13" fmla="*/ 3188 h 21600"/>
              <a:gd name="T14" fmla="*/ 18412 w 21600"/>
              <a:gd name="T15" fmla="*/ 18412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776" y="21600"/>
                </a:lnTo>
                <a:lnTo>
                  <a:pt x="18824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FF0000"/>
          </a:solidFill>
          <a:ln w="12700">
            <a:solidFill>
              <a:schemeClr val="bg1"/>
            </a:solidFill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9428036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GUID" val="7bce6ba0-d9fe-4ba1-aade-c37581bc5e6e"/>
  <p:tag name="AUDIO_ID" val="273"/>
  <p:tag name="ELAPSEDTIME" val="18.0"/>
  <p:tag name="ARTICULATE_SLIDE_NAV" val="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UBLISH_MODE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UBLISH_MODE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UBLISH_MODE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UBLISH_MODE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UBLISH_MODE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UBLISH_MODE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UBLISH_MODE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ULLET_1" val="8226"/>
  <p:tag name="BULLET_2" val="8226"/>
  <p:tag name="BULLET_3" val="8226"/>
  <p:tag name="BULLET_4" val="8226"/>
  <p:tag name="BULLET_5" val="8226"/>
  <p:tag name="BULLET_6" val="8226"/>
  <p:tag name="BULLET_7" val="8226"/>
  <p:tag name="BULLET_8" val="8226"/>
  <p:tag name="MARGIN_1" val="0"/>
  <p:tag name="MARGIN_2" val="36"/>
  <p:tag name="MARGIN_3" val="72"/>
  <p:tag name="MARGIN_4" val="108"/>
  <p:tag name="MARGIN_5" val="144"/>
  <p:tag name="FONT_SIZE" val="1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GUID" val="a7364a81-b68f-4508-9f6d-91494da76c3b"/>
  <p:tag name="AUDIO_ID" val="382"/>
  <p:tag name="ELAPSEDTIME" val="46.4"/>
  <p:tag name="ARTICULATE_SLIDE_NAV" val="1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UBLISH_MODE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UBLISH_MODE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UBLISH_MODE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UBLISH_MODE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UBLISH_MODE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UBLISH_MODE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UBLISH_MODE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UBLISH_MODE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UBLISH_MODE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UBLISH_MODE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UBLISH_MODE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UBLISH_MODE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UBLISH_MODE" val="2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ULLET_1" val="8226"/>
  <p:tag name="MARGIN_1" val="0"/>
  <p:tag name="MARGIN_2" val="36"/>
  <p:tag name="MARGIN_3" val="72"/>
  <p:tag name="MARGIN_4" val="108"/>
  <p:tag name="MARGIN_5" val="144"/>
  <p:tag name="FONT_SIZE" val="10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ty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6633</TotalTime>
  <Words>1923</Words>
  <Application>Microsoft Office PowerPoint</Application>
  <PresentationFormat>On-screen Show (4:3)</PresentationFormat>
  <Paragraphs>583</Paragraphs>
  <Slides>46</Slides>
  <Notes>24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46</vt:i4>
      </vt:variant>
    </vt:vector>
  </HeadingPairs>
  <TitlesOfParts>
    <vt:vector size="60" baseType="lpstr">
      <vt:lpstr>Arial</vt:lpstr>
      <vt:lpstr>Arial Narrow</vt:lpstr>
      <vt:lpstr>Calibri</vt:lpstr>
      <vt:lpstr>Franklin Gothic Book</vt:lpstr>
      <vt:lpstr>Helvetica</vt:lpstr>
      <vt:lpstr>MathematicalPi 1</vt:lpstr>
      <vt:lpstr>Perpetua</vt:lpstr>
      <vt:lpstr>Times New Roman</vt:lpstr>
      <vt:lpstr>TimesTen</vt:lpstr>
      <vt:lpstr>Wingdings</vt:lpstr>
      <vt:lpstr>Wingdings 2</vt:lpstr>
      <vt:lpstr>Equity</vt:lpstr>
      <vt:lpstr>Visio</vt:lpstr>
      <vt:lpstr>Worksheet</vt:lpstr>
      <vt:lpstr>FPGA-  Introduction to LUTs</vt:lpstr>
      <vt:lpstr>PowerPoint Presentation</vt:lpstr>
      <vt:lpstr>FPGA</vt:lpstr>
      <vt:lpstr>Lookup table (LUT)</vt:lpstr>
      <vt:lpstr>LUT-Based FPGAs</vt:lpstr>
      <vt:lpstr>LUT vs PAL</vt:lpstr>
      <vt:lpstr>Simple FPGA block</vt:lpstr>
      <vt:lpstr>FPGA programming</vt:lpstr>
      <vt:lpstr>Example: Xilinx XC4000</vt:lpstr>
      <vt:lpstr>Xilinx XC4000 FPGAs- CLB</vt:lpstr>
      <vt:lpstr>Xilinx XC4000 FPGAs- CLB</vt:lpstr>
      <vt:lpstr>Xilinx XC4000 CLB configuration</vt:lpstr>
      <vt:lpstr>Xilinx C4000 CLB configuration</vt:lpstr>
      <vt:lpstr>PowerPoint Presentation</vt:lpstr>
      <vt:lpstr>(X+1)-Input functions by x-input LUTs</vt:lpstr>
      <vt:lpstr>Spartan-3 FPGAs</vt:lpstr>
      <vt:lpstr>Spartan-3 architecture</vt:lpstr>
      <vt:lpstr>Configurable Logic Blocks (CLB)</vt:lpstr>
      <vt:lpstr>CLB and slice</vt:lpstr>
      <vt:lpstr>CLB and slice- slice architecture</vt:lpstr>
      <vt:lpstr>SLICE structure</vt:lpstr>
      <vt:lpstr>SLICE structure</vt:lpstr>
      <vt:lpstr>Main logic paths</vt:lpstr>
      <vt:lpstr>Wide  multiplexers</vt:lpstr>
      <vt:lpstr>Making larger LUTs from Smaller LUTs</vt:lpstr>
      <vt:lpstr>Making larger LUTs</vt:lpstr>
      <vt:lpstr>Making larger LUTs in Spartan CLB</vt:lpstr>
      <vt:lpstr>PowerPoint Presentation</vt:lpstr>
      <vt:lpstr>Cascading LUTs</vt:lpstr>
      <vt:lpstr>Example</vt:lpstr>
      <vt:lpstr>Cascading LUTs</vt:lpstr>
      <vt:lpstr>PowerPoint Presentation</vt:lpstr>
      <vt:lpstr>LUT implementation</vt:lpstr>
      <vt:lpstr>Multiplexers as function generator</vt:lpstr>
      <vt:lpstr>Multiplexers as function generator</vt:lpstr>
      <vt:lpstr>Multiplexers as LUTs- extention</vt:lpstr>
      <vt:lpstr>LUT-Based FPGAs</vt:lpstr>
      <vt:lpstr>MUX-based Logic Block</vt:lpstr>
      <vt:lpstr>Actel ACT X Logic Module</vt:lpstr>
      <vt:lpstr>LUT size</vt:lpstr>
      <vt:lpstr>LUT Size</vt:lpstr>
      <vt:lpstr>LUT structure </vt:lpstr>
      <vt:lpstr>CLB in Artix-7</vt:lpstr>
      <vt:lpstr>Slice structure</vt:lpstr>
      <vt:lpstr>6-Input LUT with Dual Output</vt:lpstr>
      <vt:lpstr>Wide Multiplexers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Behavioral Statements in Verilog</dc:title>
  <dc:creator>mehdi</dc:creator>
  <cp:lastModifiedBy>user</cp:lastModifiedBy>
  <cp:revision>336</cp:revision>
  <cp:lastPrinted>2015-10-02T19:19:58Z</cp:lastPrinted>
  <dcterms:created xsi:type="dcterms:W3CDTF">2011-11-11T14:48:38Z</dcterms:created>
  <dcterms:modified xsi:type="dcterms:W3CDTF">2024-10-28T06:38:58Z</dcterms:modified>
</cp:coreProperties>
</file>