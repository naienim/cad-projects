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6"/>
  </p:notesMasterIdLst>
  <p:sldIdLst>
    <p:sldId id="267" r:id="rId2"/>
    <p:sldId id="358" r:id="rId3"/>
    <p:sldId id="359" r:id="rId4"/>
    <p:sldId id="360" r:id="rId5"/>
    <p:sldId id="362" r:id="rId6"/>
    <p:sldId id="363" r:id="rId7"/>
    <p:sldId id="364" r:id="rId8"/>
    <p:sldId id="365" r:id="rId9"/>
    <p:sldId id="366" r:id="rId10"/>
    <p:sldId id="367" r:id="rId11"/>
    <p:sldId id="368" r:id="rId12"/>
    <p:sldId id="385" r:id="rId13"/>
    <p:sldId id="386" r:id="rId14"/>
    <p:sldId id="388" r:id="rId15"/>
    <p:sldId id="387" r:id="rId16"/>
    <p:sldId id="389" r:id="rId17"/>
    <p:sldId id="373" r:id="rId18"/>
    <p:sldId id="398" r:id="rId19"/>
    <p:sldId id="402" r:id="rId20"/>
    <p:sldId id="399" r:id="rId21"/>
    <p:sldId id="400" r:id="rId22"/>
    <p:sldId id="401" r:id="rId23"/>
    <p:sldId id="382" r:id="rId24"/>
    <p:sldId id="397" r:id="rId25"/>
    <p:sldId id="374" r:id="rId26"/>
    <p:sldId id="383" r:id="rId27"/>
    <p:sldId id="403" r:id="rId28"/>
    <p:sldId id="391" r:id="rId29"/>
    <p:sldId id="392" r:id="rId30"/>
    <p:sldId id="393" r:id="rId31"/>
    <p:sldId id="390" r:id="rId32"/>
    <p:sldId id="377" r:id="rId33"/>
    <p:sldId id="395" r:id="rId34"/>
    <p:sldId id="396" r:id="rId35"/>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378" autoAdjust="0"/>
    <p:restoredTop sz="94667" autoAdjust="0"/>
  </p:normalViewPr>
  <p:slideViewPr>
    <p:cSldViewPr>
      <p:cViewPr varScale="1">
        <p:scale>
          <a:sx n="50" d="100"/>
          <a:sy n="50" d="100"/>
        </p:scale>
        <p:origin x="1358" y="34"/>
      </p:cViewPr>
      <p:guideLst>
        <p:guide orient="horz" pos="2160"/>
        <p:guide pos="2880"/>
      </p:guideLst>
    </p:cSldViewPr>
  </p:slideViewPr>
  <p:outlineViewPr>
    <p:cViewPr>
      <p:scale>
        <a:sx n="33" d="100"/>
        <a:sy n="33" d="100"/>
      </p:scale>
      <p:origin x="30" y="8178"/>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DEC18981-EEB1-4932-9AC6-85149CA2396C}" type="datetimeFigureOut">
              <a:rPr lang="en-US" smtClean="0"/>
              <a:pPr/>
              <a:t>1/12/2025</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EFDE67EC-7E65-4C49-9A16-F37A27B22E15}" type="slidenum">
              <a:rPr lang="en-US" smtClean="0"/>
              <a:pPr/>
              <a:t>‹#›</a:t>
            </a:fld>
            <a:endParaRPr lang="en-US"/>
          </a:p>
        </p:txBody>
      </p:sp>
    </p:spTree>
    <p:extLst>
      <p:ext uri="{BB962C8B-B14F-4D97-AF65-F5344CB8AC3E}">
        <p14:creationId xmlns:p14="http://schemas.microsoft.com/office/powerpoint/2010/main" val="27728056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4CA39B-6811-4A09-B2EF-CF371A139D97}"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FDE67EC-7E65-4C49-9A16-F37A27B22E15}"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607CCBA-7198-4563-9462-1F05BD0E5F81}"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2"/>
          <p:cNvSpPr>
            <a:spLocks noGrp="1" noRot="1" noChangeAspect="1" noChangeArrowheads="1" noTextEdit="1"/>
          </p:cNvSpPr>
          <p:nvPr>
            <p:ph type="sldImg"/>
          </p:nvPr>
        </p:nvSpPr>
        <p:spPr>
          <a:xfrm>
            <a:off x="1089025" y="501650"/>
            <a:ext cx="5138738" cy="3854450"/>
          </a:xfrm>
          <a:ln/>
        </p:spPr>
      </p:sp>
      <p:sp>
        <p:nvSpPr>
          <p:cNvPr id="14339" name="Rectangle 13"/>
          <p:cNvSpPr>
            <a:spLocks noGrp="1" noChangeArrowheads="1"/>
          </p:cNvSpPr>
          <p:nvPr>
            <p:ph type="body" idx="1"/>
          </p:nvPr>
        </p:nvSpPr>
        <p:spPr>
          <a:noFill/>
          <a:ln/>
        </p:spPr>
        <p:txBody>
          <a:bodyPr/>
          <a:lstStyle/>
          <a:p>
            <a:r>
              <a:rPr lang="en-US" dirty="0"/>
              <a:t>The class and the labs will provide you with the opportunity to create an embedded design.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FDE67EC-7E65-4C49-9A16-F37A27B22E15}"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FDE67EC-7E65-4C49-9A16-F37A27B22E15}" type="slidenum">
              <a:rPr lang="en-US" smtClean="0"/>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2"/>
          <p:cNvSpPr>
            <a:spLocks noGrp="1" noRot="1" noChangeAspect="1" noChangeArrowheads="1" noTextEdit="1"/>
          </p:cNvSpPr>
          <p:nvPr>
            <p:ph type="sldImg"/>
          </p:nvPr>
        </p:nvSpPr>
        <p:spPr>
          <a:xfrm>
            <a:off x="1089025" y="501650"/>
            <a:ext cx="5138738" cy="3854450"/>
          </a:xfrm>
          <a:ln/>
        </p:spPr>
      </p:sp>
      <p:sp>
        <p:nvSpPr>
          <p:cNvPr id="14339" name="Rectangle 13"/>
          <p:cNvSpPr>
            <a:spLocks noGrp="1" noChangeArrowheads="1"/>
          </p:cNvSpPr>
          <p:nvPr>
            <p:ph type="body" idx="1"/>
          </p:nvPr>
        </p:nvSpPr>
        <p:spPr>
          <a:noFill/>
          <a:ln/>
        </p:spPr>
        <p:txBody>
          <a:bodyPr/>
          <a:lstStyle/>
          <a:p>
            <a:r>
              <a:rPr lang="en-US" dirty="0"/>
              <a:t>The class and the labs will provide you with the opportunity to create an embedded design.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p:spPr>
        <p:txBody>
          <a:bodyPr/>
          <a:lstStyle/>
          <a:p>
            <a:fld id="{C520C4F8-21FA-4392-9F98-52C1029664EA}" type="slidenum">
              <a:rPr lang="en-US">
                <a:latin typeface="Arial" pitchFamily="34" charset="0"/>
              </a:rPr>
              <a:pPr/>
              <a:t>8</a:t>
            </a:fld>
            <a:endParaRPr lang="en-US">
              <a:latin typeface="Arial" pitchFamily="34" charset="0"/>
            </a:endParaRPr>
          </a:p>
        </p:txBody>
      </p:sp>
      <p:sp>
        <p:nvSpPr>
          <p:cNvPr id="147459" name="Rectangle 2"/>
          <p:cNvSpPr>
            <a:spLocks noGrp="1" noRot="1" noChangeAspect="1" noChangeArrowheads="1" noTextEdit="1"/>
          </p:cNvSpPr>
          <p:nvPr>
            <p:ph type="sldImg"/>
          </p:nvPr>
        </p:nvSpPr>
        <p:spPr>
          <a:xfrm>
            <a:off x="1258888" y="719138"/>
            <a:ext cx="4802187" cy="3600450"/>
          </a:xfrm>
          <a:ln/>
        </p:spPr>
      </p:sp>
      <p:sp>
        <p:nvSpPr>
          <p:cNvPr id="147460" name="Rectangle 3"/>
          <p:cNvSpPr>
            <a:spLocks noGrp="1" noChangeArrowheads="1"/>
          </p:cNvSpPr>
          <p:nvPr>
            <p:ph type="body" idx="1"/>
          </p:nvPr>
        </p:nvSpPr>
        <p:spPr>
          <a:noFill/>
          <a:ln/>
        </p:spPr>
        <p:txBody>
          <a:bodyPr/>
          <a:lstStyle/>
          <a:p>
            <a:pPr lvl="4">
              <a:buFontTx/>
              <a:buChar char="•"/>
            </a:pPr>
            <a:r>
              <a:rPr lang="en-US" sz="1900" dirty="0" err="1"/>
              <a:t>Nios</a:t>
            </a:r>
            <a:r>
              <a:rPr lang="en-US" sz="1900" dirty="0"/>
              <a:t> has been one of </a:t>
            </a:r>
            <a:r>
              <a:rPr lang="en-US" sz="1900" dirty="0" err="1"/>
              <a:t>Altera’s</a:t>
            </a:r>
            <a:r>
              <a:rPr lang="en-US" sz="1900" dirty="0"/>
              <a:t> most successful products</a:t>
            </a:r>
          </a:p>
          <a:p>
            <a:pPr lvl="4">
              <a:buFontTx/>
              <a:buChar char="•"/>
            </a:pPr>
            <a:r>
              <a:rPr lang="en-US" sz="1900" dirty="0"/>
              <a:t>Over 20,000 </a:t>
            </a:r>
            <a:r>
              <a:rPr lang="en-US" sz="1900" dirty="0" err="1"/>
              <a:t>Nios</a:t>
            </a:r>
            <a:r>
              <a:rPr lang="en-US" sz="1900" dirty="0"/>
              <a:t> Development Kits have been shipped</a:t>
            </a:r>
          </a:p>
          <a:p>
            <a:pPr lvl="4">
              <a:buFontTx/>
              <a:buChar char="•"/>
            </a:pPr>
            <a:endParaRPr lang="en-US" sz="190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FDE67EC-7E65-4C49-9A16-F37A27B22E15}" type="slidenum">
              <a:rPr lang="en-US" smtClean="0"/>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FDE67EC-7E65-4C49-9A16-F37A27B22E15}" type="slidenum">
              <a:rPr lang="en-US" smtClean="0"/>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1028"/>
          <p:cNvSpPr>
            <a:spLocks noGrp="1" noRot="1" noChangeAspect="1" noChangeArrowheads="1" noTextEdit="1"/>
          </p:cNvSpPr>
          <p:nvPr>
            <p:ph type="sldImg"/>
          </p:nvPr>
        </p:nvSpPr>
        <p:spPr>
          <a:xfrm>
            <a:off x="1089025" y="501650"/>
            <a:ext cx="5138738" cy="3854450"/>
          </a:xfrm>
          <a:ln/>
        </p:spPr>
      </p:sp>
      <p:sp>
        <p:nvSpPr>
          <p:cNvPr id="15363" name="Rectangle 1029"/>
          <p:cNvSpPr>
            <a:spLocks noGrp="1" noChangeArrowheads="1"/>
          </p:cNvSpPr>
          <p:nvPr>
            <p:ph type="body" idx="1"/>
          </p:nvPr>
        </p:nvSpPr>
        <p:spPr>
          <a:noFill/>
          <a:ln/>
        </p:spPr>
        <p:txBody>
          <a:bodyPr/>
          <a:lstStyle/>
          <a:p>
            <a:r>
              <a:rPr lang="en-US" sz="900" b="1" dirty="0"/>
              <a:t>Build DSOCM and ISOCM</a:t>
            </a:r>
            <a:r>
              <a:rPr lang="en-US" sz="900" dirty="0">
                <a:cs typeface="Times New Roman" pitchFamily="18" charset="0"/>
              </a:rPr>
              <a:t>—</a:t>
            </a:r>
            <a:r>
              <a:rPr lang="en-US" sz="900" dirty="0"/>
              <a:t>The PowerPC</a:t>
            </a:r>
            <a:r>
              <a:rPr lang="en-US" sz="900" dirty="0">
                <a:sym typeface="Symbol" pitchFamily="18" charset="2"/>
              </a:rPr>
              <a:t></a:t>
            </a:r>
            <a:r>
              <a:rPr lang="en-US" sz="900" dirty="0"/>
              <a:t> 405 core is provided with non-bused, non-cacheable, low-latency data and instruction memory interfaces, known as the 32-bit data-side On-Chip Memory and the 64-bit instruction-side On-Chip Memory. Typical uses of data-side OCM include scratch-pad memory and using the dual-port feature of block RAM to enable a bidirectional data transfer between the processor and the FPGA. The typical use for instruction-side OCM is storage of interrupt service routines. One of the primary advantages of OCM is that it guarantees a fixed latency of execution because there is no bus arbitration required for the OCM interface. Also, it reduces cache pollution and thrashing, because the cache remains available for caching code from other memory resources.</a:t>
            </a:r>
          </a:p>
          <a:p>
            <a:r>
              <a:rPr lang="en-US" sz="900" b="1" dirty="0"/>
              <a:t>Build PLB</a:t>
            </a:r>
            <a:r>
              <a:rPr lang="en-US" sz="900" dirty="0">
                <a:cs typeface="Times New Roman" pitchFamily="18" charset="0"/>
              </a:rPr>
              <a:t>—</a:t>
            </a:r>
            <a:r>
              <a:rPr lang="en-US" sz="900" dirty="0"/>
              <a:t>The processor local bus (PLB) interface provides a 32-bit address and three 64-bit data buses attached to the instruction-cache and data-cache units. Two of the 64-bit buses are attached to the data-cache unit, one supporting read operations and the other supporting write operations. The third 64-bit bus is attached to the instruction-cache unit to support instruction fetching.  The prime goal of the PLB is to provide a high-bandwidth, low-latency connection between bus agents that are the main producers and consumers of the bus transaction traffic. This is the bus to which you connect your higher speed peripherals (e.g., G-Ethernet Mac) and memory.</a:t>
            </a:r>
          </a:p>
          <a:p>
            <a:r>
              <a:rPr lang="en-US" sz="900" b="1" dirty="0"/>
              <a:t>Build OPB</a:t>
            </a:r>
            <a:r>
              <a:rPr lang="en-US" sz="900" dirty="0">
                <a:cs typeface="Times New Roman" pitchFamily="18" charset="0"/>
              </a:rPr>
              <a:t>—</a:t>
            </a:r>
            <a:r>
              <a:rPr lang="en-US" sz="900" dirty="0"/>
              <a:t>The On-chip Peripheral Bus (OPB) provides a fully synchronous 32-bit address and 32-bit data bus. The prime goal of the OPB is to provide a flexible connection path to peripherals and memory, while providing minimal performance impact to the PLB bus. Put your slower peripherals on this bus, such as UARTs, GPIO, 10/100 E-Net MAC, etc.</a:t>
            </a:r>
          </a:p>
          <a:p>
            <a:r>
              <a:rPr lang="en-US" sz="900" b="1" dirty="0"/>
              <a:t>Build DCR</a:t>
            </a:r>
            <a:r>
              <a:rPr lang="en-US" sz="900" dirty="0">
                <a:cs typeface="Times New Roman" pitchFamily="18" charset="0"/>
              </a:rPr>
              <a:t>—</a:t>
            </a:r>
            <a:r>
              <a:rPr lang="en-US" sz="900" dirty="0"/>
              <a:t>The DCR (Device Control Register) bus is a 32-bit bus for removing device configuration slave loads, memory address resource use, and configuration transaction traffic from the main system buses. Most traffic on the DCR bus occurs during the system initialization period; however, some elements, such as the DMA controller and the interrupt controller cores, use the DCR bus to access normal functional registers used during operation.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FDE67EC-7E65-4C49-9A16-F37A27B22E15}" type="slidenum">
              <a:rPr lang="en-US" smtClean="0"/>
              <a:pPr/>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FDE67EC-7E65-4C49-9A16-F37A27B22E15}" type="slidenum">
              <a:rPr lang="en-US" smtClean="0"/>
              <a:pPr/>
              <a:t>17</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FDE67EC-7E65-4C49-9A16-F37A27B22E15}" type="slidenum">
              <a:rPr lang="en-US" smtClean="0"/>
              <a:pPr/>
              <a:t>23</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FDE67EC-7E65-4C49-9A16-F37A27B22E15}" type="slidenum">
              <a:rPr lang="en-US" smtClean="0"/>
              <a:pPr/>
              <a:t>25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FDE67EC-7E65-4C49-9A16-F37A27B22E15}" type="slidenum">
              <a:rPr lang="en-US" smtClean="0"/>
              <a:pPr/>
              <a:t>26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FDE67EC-7E65-4C49-9A16-F37A27B22E15}" type="slidenum">
              <a:rPr lang="en-US" smtClean="0"/>
              <a:pPr/>
              <a:t>32</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FDE67EC-7E65-4C49-9A16-F37A27B22E15}" type="slidenum">
              <a:rPr lang="en-US" smtClean="0"/>
              <a:pPr/>
              <a:t>33</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FDE67EC-7E65-4C49-9A16-F37A27B22E15}" type="slidenum">
              <a:rPr lang="en-US" smtClean="0"/>
              <a:pPr/>
              <a:t>34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AE976FBE-58CA-438F-A6DB-3322263ECFD5}" type="datetime1">
              <a:rPr lang="en-US" smtClean="0"/>
              <a:pPr/>
              <a:t>1/12/2025</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B6F15528-21DE-4FAA-801E-634DDDAF4B2B}"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CA2562B3-D0CE-4577-91B6-4E6EE48DB6CD}" type="datetime1">
              <a:rPr lang="en-US" smtClean="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46304" y="6324600"/>
            <a:ext cx="310896" cy="342900"/>
          </a:xfrm>
        </p:spPr>
        <p:txBody>
          <a:body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F71388D0-B408-4B10-B37A-3F71A2746CB1}" type="datetime1">
              <a:rPr lang="en-US" smtClean="0"/>
              <a:pPr/>
              <a:t>1/12/2025</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62C4764F-BEC2-4E6D-9906-EC31044D4B52}" type="datetime1">
              <a:rPr lang="en-US" smtClean="0"/>
              <a:pPr/>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618DB97A-FC40-4EC6-8C5D-1DEE687F844F}" type="datetime1">
              <a:rPr lang="en-US" smtClean="0"/>
              <a:pPr/>
              <a:t>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C4C4D707-1E0D-41A5-A2A9-A1A72EF52D8D}" type="datetime1">
              <a:rPr lang="en-US" smtClean="0"/>
              <a:pPr/>
              <a:t>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117627-038C-47A6-830E-A3BE5E6D3C39}" type="datetime1">
              <a:rPr lang="en-US" smtClean="0"/>
              <a:pPr/>
              <a:t>1/12/2025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606D7382-7EFB-4D47-8682-F695F6A7A2DB}" type="datetime1">
              <a:rPr lang="en-US" smtClean="0"/>
              <a:pPr/>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D47785C6-1897-4ADC-AFE2-C9D663CD1808}" type="datetime1">
              <a:rPr lang="en-US" smtClean="0"/>
              <a:pPr/>
              <a:t>1/12/2025</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B6F15528-21DE-4FAA-801E-634DDDAF4B2B}"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5F939164-FDFC-4B13-8026-D184F725BB3D}" type="datetime1">
              <a:rPr lang="en-US" smtClean="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C86CE4E-93C5-4D78-ADA8-970C294EB2A2}" type="datetime1">
              <a:rPr lang="en-US" smtClean="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41763"/>
            <a:ext cx="40386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457200" y="6248400"/>
            <a:ext cx="2133600" cy="457200"/>
          </a:xfrm>
        </p:spPr>
        <p:txBody>
          <a:bodyPr/>
          <a:lstStyle>
            <a:lvl1pPr>
              <a:defRPr/>
            </a:lvl1pPr>
          </a:lstStyle>
          <a:p>
            <a:r>
              <a:rPr lang="en-US"/>
              <a:t>2005</a:t>
            </a:r>
          </a:p>
        </p:txBody>
      </p:sp>
      <p:sp>
        <p:nvSpPr>
          <p:cNvPr id="7" name="Footer Placeholder 6"/>
          <p:cNvSpPr>
            <a:spLocks noGrp="1"/>
          </p:cNvSpPr>
          <p:nvPr>
            <p:ph type="ftr" sz="quarter" idx="11"/>
          </p:nvPr>
        </p:nvSpPr>
        <p:spPr>
          <a:xfrm>
            <a:off x="3124200" y="6248400"/>
            <a:ext cx="2895600" cy="457200"/>
          </a:xfrm>
        </p:spPr>
        <p:txBody>
          <a:bodyPr/>
          <a:lstStyle>
            <a:lvl1pPr>
              <a:defRPr/>
            </a:lvl1pPr>
          </a:lstStyle>
          <a:p>
            <a:r>
              <a:rPr lang="en-US" dirty="0"/>
              <a:t>Verilog HDL</a:t>
            </a:r>
          </a:p>
        </p:txBody>
      </p:sp>
      <p:sp>
        <p:nvSpPr>
          <p:cNvPr id="8" name="Slide Number Placeholder 7"/>
          <p:cNvSpPr>
            <a:spLocks noGrp="1"/>
          </p:cNvSpPr>
          <p:nvPr>
            <p:ph type="sldNum" sz="quarter" idx="12"/>
          </p:nvPr>
        </p:nvSpPr>
        <p:spPr>
          <a:xfrm>
            <a:off x="6553200" y="6248400"/>
            <a:ext cx="2133600" cy="457200"/>
          </a:xfrm>
        </p:spPr>
        <p:txBody>
          <a:bodyPr/>
          <a:lstStyle>
            <a:lvl1pPr>
              <a:defRPr/>
            </a:lvl1pPr>
          </a:lstStyle>
          <a:p>
            <a:fld id="{41BF37CF-C1C8-485B-B3E9-995A83C6563D}" type="slidenum">
              <a:rPr lang="en-US"/>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clipArtAndTx">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ClipArt Placeholder 2"/>
          <p:cNvSpPr>
            <a:spLocks noGrp="1"/>
          </p:cNvSpPr>
          <p:nvPr>
            <p:ph type="clipArt" sz="half" idx="1"/>
          </p:nvPr>
        </p:nvSpPr>
        <p:spPr>
          <a:xfrm>
            <a:off x="685800" y="1981200"/>
            <a:ext cx="3810000" cy="4114800"/>
          </a:xfrm>
        </p:spPr>
        <p:txBody>
          <a:bodyPr/>
          <a:lstStyle/>
          <a:p>
            <a:endParaRPr lang="en-US"/>
          </a:p>
        </p:txBody>
      </p:sp>
      <p:sp>
        <p:nvSpPr>
          <p:cNvPr id="4" name="Text Placeholder 3"/>
          <p:cNvSpPr>
            <a:spLocks noGrp="1"/>
          </p:cNvSpPr>
          <p:nvPr>
            <p:ph type="body"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553200" y="6248400"/>
            <a:ext cx="1905000" cy="457200"/>
          </a:xfrm>
        </p:spPr>
        <p:txBody>
          <a:bodyPr/>
          <a:lstStyle>
            <a:lvl1pPr>
              <a:defRPr/>
            </a:lvl1pPr>
          </a:lstStyle>
          <a:p>
            <a:endParaRPr lang="en-US"/>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endParaRPr lang="en-US"/>
          </a:p>
        </p:txBody>
      </p:sp>
      <p:sp>
        <p:nvSpPr>
          <p:cNvPr id="7" name="Slide Number Placeholder 6"/>
          <p:cNvSpPr>
            <a:spLocks noGrp="1"/>
          </p:cNvSpPr>
          <p:nvPr>
            <p:ph type="sldNum" sz="quarter" idx="12"/>
          </p:nvPr>
        </p:nvSpPr>
        <p:spPr>
          <a:xfrm>
            <a:off x="685800" y="6248400"/>
            <a:ext cx="1905000" cy="457200"/>
          </a:xfrm>
        </p:spPr>
        <p:txBody>
          <a:bodyPr/>
          <a:lstStyle>
            <a:lvl1pPr>
              <a:defRPr/>
            </a:lvl1pPr>
          </a:lstStyle>
          <a:p>
            <a:fld id="{6559821E-8C22-4AD3-B962-D9AAC277F541}" type="slidenum">
              <a:rPr lang="ar-SA"/>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35B29CCD-B764-499B-ACDE-2C081D461DD3}" type="datetime1">
              <a:rPr lang="en-US" smtClean="0"/>
              <a:pPr/>
              <a:t>1/12/2025</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IP-cores and Design Reuse</a:t>
            </a:r>
          </a:p>
        </p:txBody>
      </p:sp>
      <p:sp>
        <p:nvSpPr>
          <p:cNvPr id="4" name="Subtitle 2"/>
          <p:cNvSpPr txBox="1">
            <a:spLocks/>
          </p:cNvSpPr>
          <p:nvPr/>
        </p:nvSpPr>
        <p:spPr>
          <a:xfrm>
            <a:off x="76200" y="990600"/>
            <a:ext cx="2819400" cy="381000"/>
          </a:xfrm>
          <a:prstGeom prst="rect">
            <a:avLst/>
          </a:prstGeom>
        </p:spPr>
        <p:txBody>
          <a:bodyPr>
            <a:normAutofit fontScale="92500" lnSpcReduction="10000"/>
          </a:bodyPr>
          <a:lstStyle/>
          <a:p>
            <a:pPr marL="0" marR="0" lvl="0" indent="0" algn="ctr" defTabSz="914400" rtl="0" eaLnBrk="1" fontAlgn="auto" latinLnBrk="0" hangingPunct="1">
              <a:lnSpc>
                <a:spcPct val="100000"/>
              </a:lnSpc>
              <a:spcBef>
                <a:spcPts val="580"/>
              </a:spcBef>
              <a:spcAft>
                <a:spcPts val="0"/>
              </a:spcAft>
              <a:buClr>
                <a:schemeClr val="accent1"/>
              </a:buClr>
              <a:buSzPct val="85000"/>
              <a:buFont typeface="Wingdings 2"/>
              <a:buNone/>
              <a:tabLst/>
              <a:defRPr/>
            </a:pPr>
            <a:r>
              <a:rPr kumimoji="0" lang="en-US" sz="2200" b="0" i="0" u="none" strike="noStrike" kern="1200" cap="none" spc="0" normalizeH="0" baseline="0" noProof="0" dirty="0">
                <a:ln>
                  <a:noFill/>
                </a:ln>
                <a:solidFill>
                  <a:schemeClr val="tx2"/>
                </a:solidFill>
                <a:effectLst/>
                <a:uLnTx/>
                <a:uFillTx/>
                <a:latin typeface="+mn-lt"/>
                <a:ea typeface="+mn-ea"/>
                <a:cs typeface="+mn-cs"/>
              </a:rPr>
              <a:t>CE233(CAD), </a:t>
            </a:r>
            <a:r>
              <a:rPr kumimoji="0" lang="en-US" sz="2200" b="0" i="0" u="none" strike="noStrike" kern="1200" cap="none" spc="0" normalizeH="0" baseline="0" noProof="0">
                <a:ln>
                  <a:noFill/>
                </a:ln>
                <a:solidFill>
                  <a:schemeClr val="tx2"/>
                </a:solidFill>
                <a:effectLst/>
                <a:uLnTx/>
                <a:uFillTx/>
                <a:latin typeface="+mn-lt"/>
                <a:ea typeface="+mn-ea"/>
                <a:cs typeface="+mn-cs"/>
              </a:rPr>
              <a:t>Lecture 12:</a:t>
            </a:r>
            <a:endParaRPr kumimoji="0" lang="en-US" sz="2200" b="0" i="0" u="none" strike="noStrike" kern="1200" cap="none" spc="0" normalizeH="0" baseline="0" noProof="0" dirty="0">
              <a:ln>
                <a:noFill/>
              </a:ln>
              <a:solidFill>
                <a:schemeClr val="tx2"/>
              </a:solidFill>
              <a:effectLst/>
              <a:uLnTx/>
              <a:uFillTx/>
              <a:latin typeface="+mn-lt"/>
              <a:ea typeface="+mn-ea"/>
              <a:cs typeface="+mn-cs"/>
            </a:endParaRPr>
          </a:p>
          <a:p>
            <a:pPr marL="0" marR="0" lvl="0" indent="0" algn="ctr" defTabSz="914400" rtl="0" eaLnBrk="1" fontAlgn="auto" latinLnBrk="0" hangingPunct="1">
              <a:lnSpc>
                <a:spcPct val="100000"/>
              </a:lnSpc>
              <a:spcBef>
                <a:spcPts val="580"/>
              </a:spcBef>
              <a:spcAft>
                <a:spcPts val="0"/>
              </a:spcAft>
              <a:buClr>
                <a:schemeClr val="accent1"/>
              </a:buClr>
              <a:buSzPct val="85000"/>
              <a:buFont typeface="Wingdings 2"/>
              <a:buNone/>
              <a:tabLst/>
              <a:defRPr/>
            </a:pPr>
            <a:endParaRPr kumimoji="0" lang="en-US" sz="2600" b="0" i="0" u="none" strike="noStrike" kern="1200" cap="none" spc="0" normalizeH="0" baseline="0" noProof="0" dirty="0">
              <a:ln>
                <a:noFill/>
              </a:ln>
              <a:solidFill>
                <a:schemeClr val="tx2"/>
              </a:solidFill>
              <a:effectLst/>
              <a:uLnTx/>
              <a:uFillTx/>
              <a:latin typeface="+mn-lt"/>
              <a:ea typeface="+mn-ea"/>
              <a:cs typeface="+mn-cs"/>
            </a:endParaRPr>
          </a:p>
        </p:txBody>
      </p:sp>
      <p:sp>
        <p:nvSpPr>
          <p:cNvPr id="6" name="Subtitle 2"/>
          <p:cNvSpPr txBox="1">
            <a:spLocks/>
          </p:cNvSpPr>
          <p:nvPr/>
        </p:nvSpPr>
        <p:spPr>
          <a:xfrm>
            <a:off x="914400" y="3810000"/>
            <a:ext cx="7162800" cy="1600200"/>
          </a:xfrm>
          <a:prstGeom prst="rect">
            <a:avLst/>
          </a:prstGeom>
        </p:spPr>
        <p:txBody>
          <a:bodyPr>
            <a:normAutofit/>
          </a:bodyPr>
          <a:lstStyle/>
          <a:p>
            <a:pPr marL="0" marR="0" lvl="0" indent="0" algn="ctr" defTabSz="914400" rtl="0" eaLnBrk="1" fontAlgn="auto" latinLnBrk="0" hangingPunct="1">
              <a:lnSpc>
                <a:spcPct val="100000"/>
              </a:lnSpc>
              <a:spcBef>
                <a:spcPts val="580"/>
              </a:spcBef>
              <a:spcAft>
                <a:spcPts val="0"/>
              </a:spcAft>
              <a:buClr>
                <a:schemeClr val="accent1"/>
              </a:buClr>
              <a:buSzPct val="85000"/>
              <a:buFont typeface="Wingdings 2"/>
              <a:buNone/>
              <a:tabLst/>
              <a:defRPr/>
            </a:pPr>
            <a:r>
              <a:rPr kumimoji="0" lang="en-US" sz="2400" b="0" i="0" u="none" strike="noStrike" kern="1200" cap="none" spc="0" normalizeH="0" baseline="0" noProof="0" dirty="0" err="1">
                <a:ln>
                  <a:noFill/>
                </a:ln>
                <a:solidFill>
                  <a:schemeClr val="tx2"/>
                </a:solidFill>
                <a:effectLst/>
                <a:uLnTx/>
                <a:uFillTx/>
                <a:latin typeface="Times New Roman" pitchFamily="18" charset="0"/>
                <a:ea typeface="+mn-ea"/>
                <a:cs typeface="Times New Roman" pitchFamily="18" charset="0"/>
              </a:rPr>
              <a:t>Mehdi</a:t>
            </a:r>
            <a:r>
              <a:rPr kumimoji="0" lang="en-US" sz="2400" b="0" i="0" u="none" strike="noStrike" kern="1200" cap="none" spc="0" normalizeH="0" baseline="0" noProof="0" dirty="0">
                <a:ln>
                  <a:noFill/>
                </a:ln>
                <a:solidFill>
                  <a:schemeClr val="tx2"/>
                </a:solidFill>
                <a:effectLst/>
                <a:uLnTx/>
                <a:uFillTx/>
                <a:latin typeface="Times New Roman" pitchFamily="18" charset="0"/>
                <a:ea typeface="+mn-ea"/>
                <a:cs typeface="Times New Roman" pitchFamily="18" charset="0"/>
              </a:rPr>
              <a:t> </a:t>
            </a:r>
            <a:r>
              <a:rPr kumimoji="0" lang="en-US" sz="2400" b="0" i="0" u="none" strike="noStrike" kern="1200" cap="none" spc="0" normalizeH="0" baseline="0" noProof="0" dirty="0" err="1">
                <a:ln>
                  <a:noFill/>
                </a:ln>
                <a:solidFill>
                  <a:schemeClr val="tx2"/>
                </a:solidFill>
                <a:effectLst/>
                <a:uLnTx/>
                <a:uFillTx/>
                <a:latin typeface="Times New Roman" pitchFamily="18" charset="0"/>
                <a:ea typeface="+mn-ea"/>
                <a:cs typeface="Times New Roman" pitchFamily="18" charset="0"/>
              </a:rPr>
              <a:t>Modarressi</a:t>
            </a:r>
            <a:endParaRPr kumimoji="0" lang="en-US" sz="2400" b="0" i="0" u="none" strike="noStrike" kern="1200" cap="none" spc="0" normalizeH="0" baseline="0" noProof="0" dirty="0">
              <a:ln>
                <a:noFill/>
              </a:ln>
              <a:solidFill>
                <a:schemeClr val="tx2"/>
              </a:solidFill>
              <a:effectLst/>
              <a:uLnTx/>
              <a:uFillTx/>
              <a:latin typeface="Times New Roman" pitchFamily="18" charset="0"/>
              <a:ea typeface="+mn-ea"/>
              <a:cs typeface="Times New Roman" pitchFamily="18" charset="0"/>
            </a:endParaRPr>
          </a:p>
          <a:p>
            <a:pPr marL="0" marR="0" lvl="0" indent="0" algn="ctr" defTabSz="914400" rtl="0" eaLnBrk="1" fontAlgn="auto" latinLnBrk="0" hangingPunct="1">
              <a:lnSpc>
                <a:spcPct val="100000"/>
              </a:lnSpc>
              <a:spcBef>
                <a:spcPts val="580"/>
              </a:spcBef>
              <a:spcAft>
                <a:spcPts val="0"/>
              </a:spcAft>
              <a:buClr>
                <a:schemeClr val="accent1"/>
              </a:buClr>
              <a:buSzPct val="85000"/>
              <a:buFont typeface="Wingdings 2"/>
              <a:buNone/>
              <a:tabLst/>
              <a:defRPr/>
            </a:pPr>
            <a:r>
              <a:rPr kumimoji="0" lang="en-US" sz="2200" b="0" i="0" u="none" strike="noStrike" kern="1200" cap="none" spc="0" normalizeH="0" baseline="0" noProof="0" dirty="0">
                <a:ln>
                  <a:noFill/>
                </a:ln>
                <a:solidFill>
                  <a:schemeClr val="tx2"/>
                </a:solidFill>
                <a:effectLst/>
                <a:uLnTx/>
                <a:uFillTx/>
                <a:latin typeface="Times New Roman" pitchFamily="18" charset="0"/>
                <a:ea typeface="+mn-ea"/>
                <a:cs typeface="Times New Roman" pitchFamily="18" charset="0"/>
              </a:rPr>
              <a:t>Department of Electrical and Computer Engineering, </a:t>
            </a:r>
          </a:p>
          <a:p>
            <a:pPr marL="0" marR="0" lvl="0" indent="0" algn="ctr" defTabSz="914400" rtl="0" eaLnBrk="1" fontAlgn="auto" latinLnBrk="0" hangingPunct="1">
              <a:lnSpc>
                <a:spcPct val="100000"/>
              </a:lnSpc>
              <a:spcBef>
                <a:spcPts val="580"/>
              </a:spcBef>
              <a:spcAft>
                <a:spcPts val="0"/>
              </a:spcAft>
              <a:buClr>
                <a:schemeClr val="accent1"/>
              </a:buClr>
              <a:buSzPct val="85000"/>
              <a:buFont typeface="Wingdings 2"/>
              <a:buNone/>
              <a:tabLst/>
              <a:defRPr/>
            </a:pPr>
            <a:r>
              <a:rPr kumimoji="0" lang="en-US" sz="2200" b="0" i="0" u="none" strike="noStrike" kern="1200" cap="none" spc="0" normalizeH="0" baseline="0" noProof="0" dirty="0">
                <a:ln>
                  <a:noFill/>
                </a:ln>
                <a:solidFill>
                  <a:schemeClr val="tx2"/>
                </a:solidFill>
                <a:effectLst/>
                <a:uLnTx/>
                <a:uFillTx/>
                <a:latin typeface="Times New Roman" pitchFamily="18" charset="0"/>
                <a:ea typeface="+mn-ea"/>
                <a:cs typeface="Times New Roman" pitchFamily="18" charset="0"/>
              </a:rPr>
              <a:t>University of  Tehran</a:t>
            </a:r>
          </a:p>
          <a:p>
            <a:pPr marL="0" marR="0" lvl="0" indent="0" algn="ctr" defTabSz="914400" rtl="0" eaLnBrk="1" fontAlgn="auto" latinLnBrk="0" hangingPunct="1">
              <a:lnSpc>
                <a:spcPct val="100000"/>
              </a:lnSpc>
              <a:spcBef>
                <a:spcPts val="580"/>
              </a:spcBef>
              <a:spcAft>
                <a:spcPts val="0"/>
              </a:spcAft>
              <a:buClr>
                <a:schemeClr val="accent1"/>
              </a:buClr>
              <a:buSzPct val="85000"/>
              <a:buFont typeface="Wingdings 2"/>
              <a:buNone/>
              <a:tabLst/>
              <a:defRPr/>
            </a:pPr>
            <a:endParaRPr kumimoji="0" lang="en-US" sz="2600" b="0" i="0" u="none" strike="noStrike" kern="1200" cap="none" spc="0" normalizeH="0" baseline="0" noProof="0" dirty="0">
              <a:ln>
                <a:noFill/>
              </a:ln>
              <a:solidFill>
                <a:schemeClr val="tx2"/>
              </a:solidFill>
              <a:effectLst/>
              <a:uLnTx/>
              <a:uFillTx/>
              <a:latin typeface="+mn-l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Introduction </a:t>
            </a:r>
          </a:p>
        </p:txBody>
      </p:sp>
      <p:sp>
        <p:nvSpPr>
          <p:cNvPr id="3" name="Slide Number Placeholder 2"/>
          <p:cNvSpPr>
            <a:spLocks noGrp="1"/>
          </p:cNvSpPr>
          <p:nvPr>
            <p:ph type="sldNum" sz="quarter" idx="12"/>
          </p:nvPr>
        </p:nvSpPr>
        <p:spPr/>
        <p:txBody>
          <a:bodyPr/>
          <a:lstStyle/>
          <a:p>
            <a:fld id="{B6F15528-21DE-4FAA-801E-634DDDAF4B2B}" type="slidenum">
              <a:rPr lang="en-US" smtClean="0"/>
              <a:pPr/>
              <a:t>2</a:t>
            </a:fld>
            <a:endParaRPr lang="en-US"/>
          </a:p>
        </p:txBody>
      </p:sp>
      <p:sp>
        <p:nvSpPr>
          <p:cNvPr id="4" name="Content Placeholder 3"/>
          <p:cNvSpPr>
            <a:spLocks noGrp="1"/>
          </p:cNvSpPr>
          <p:nvPr>
            <p:ph sz="quarter" idx="1"/>
          </p:nvPr>
        </p:nvSpPr>
        <p:spPr>
          <a:xfrm>
            <a:off x="914400" y="1447800"/>
            <a:ext cx="4953000" cy="4572000"/>
          </a:xfrm>
        </p:spPr>
        <p:txBody>
          <a:bodyPr/>
          <a:lstStyle/>
          <a:p>
            <a:r>
              <a:rPr lang="en-US" dirty="0"/>
              <a:t>Introduction to SoCs</a:t>
            </a:r>
          </a:p>
          <a:p>
            <a:r>
              <a:rPr lang="en-US" dirty="0"/>
              <a:t>Design reuse and IP-cores</a:t>
            </a:r>
          </a:p>
        </p:txBody>
      </p:sp>
      <p:pic>
        <p:nvPicPr>
          <p:cNvPr id="25604" name="Picture 4" descr="http://www.cypress.com/ui/4_0/images/Updated_PSoCwithARM.JPG"/>
          <p:cNvPicPr>
            <a:picLocks noChangeAspect="1" noChangeArrowheads="1"/>
          </p:cNvPicPr>
          <p:nvPr/>
        </p:nvPicPr>
        <p:blipFill>
          <a:blip r:embed="rId3"/>
          <a:srcRect/>
          <a:stretch>
            <a:fillRect/>
          </a:stretch>
        </p:blipFill>
        <p:spPr bwMode="auto">
          <a:xfrm>
            <a:off x="4267200" y="2514600"/>
            <a:ext cx="4648200" cy="3497078"/>
          </a:xfrm>
          <a:prstGeom prst="rect">
            <a:avLst/>
          </a:prstGeom>
          <a:noFill/>
        </p:spPr>
      </p:pic>
      <p:sp>
        <p:nvSpPr>
          <p:cNvPr id="7" name="Rectangle 6"/>
          <p:cNvSpPr/>
          <p:nvPr/>
        </p:nvSpPr>
        <p:spPr>
          <a:xfrm>
            <a:off x="609600" y="6324600"/>
            <a:ext cx="3275897" cy="338554"/>
          </a:xfrm>
          <a:prstGeom prst="rect">
            <a:avLst/>
          </a:prstGeom>
        </p:spPr>
        <p:txBody>
          <a:bodyPr wrap="none">
            <a:spAutoFit/>
          </a:bodyPr>
          <a:lstStyle/>
          <a:p>
            <a:r>
              <a:rPr lang="en-US" sz="1600" dirty="0"/>
              <a:t>Picture source: http://www.cypress.com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685800" y="609600"/>
            <a:ext cx="7772400" cy="762000"/>
          </a:xfrm>
        </p:spPr>
        <p:txBody>
          <a:bodyPr/>
          <a:lstStyle/>
          <a:p>
            <a:r>
              <a:rPr lang="en-US"/>
              <a:t>Introduction</a:t>
            </a:r>
          </a:p>
        </p:txBody>
      </p:sp>
      <p:sp>
        <p:nvSpPr>
          <p:cNvPr id="6148" name="Rectangle 4"/>
          <p:cNvSpPr>
            <a:spLocks noGrp="1" noChangeArrowheads="1"/>
          </p:cNvSpPr>
          <p:nvPr>
            <p:ph type="body" sz="half" idx="2"/>
          </p:nvPr>
        </p:nvSpPr>
        <p:spPr>
          <a:xfrm>
            <a:off x="762000" y="1371600"/>
            <a:ext cx="7696200" cy="2667000"/>
          </a:xfrm>
        </p:spPr>
        <p:txBody>
          <a:bodyPr>
            <a:normAutofit/>
          </a:bodyPr>
          <a:lstStyle/>
          <a:p>
            <a:pPr algn="l" rtl="0">
              <a:lnSpc>
                <a:spcPct val="90000"/>
              </a:lnSpc>
            </a:pPr>
            <a:r>
              <a:rPr lang="en-US" sz="2800" dirty="0"/>
              <a:t>Advances in semiconductor technology</a:t>
            </a:r>
          </a:p>
          <a:p>
            <a:pPr lvl="1" algn="l" rtl="0">
              <a:lnSpc>
                <a:spcPct val="90000"/>
              </a:lnSpc>
            </a:pPr>
            <a:r>
              <a:rPr lang="en-US" sz="2800" dirty="0"/>
              <a:t>Today’s chip can contains 50 billion transistors</a:t>
            </a:r>
          </a:p>
          <a:p>
            <a:pPr algn="l" rtl="0">
              <a:lnSpc>
                <a:spcPct val="90000"/>
              </a:lnSpc>
            </a:pPr>
            <a:r>
              <a:rPr lang="en-US" sz="2800" dirty="0"/>
              <a:t>The consequences</a:t>
            </a:r>
          </a:p>
          <a:p>
            <a:pPr lvl="1" algn="l" rtl="0">
              <a:lnSpc>
                <a:spcPct val="90000"/>
              </a:lnSpc>
            </a:pPr>
            <a:r>
              <a:rPr lang="en-US" sz="2800" dirty="0"/>
              <a:t>Components connected on a printed circuit board can now be integrated onto single chip </a:t>
            </a:r>
          </a:p>
          <a:p>
            <a:pPr lvl="1" algn="l" rtl="0">
              <a:lnSpc>
                <a:spcPct val="90000"/>
              </a:lnSpc>
            </a:pPr>
            <a:r>
              <a:rPr lang="en-US" sz="2800" dirty="0"/>
              <a:t>Emergence of </a:t>
            </a:r>
            <a:r>
              <a:rPr lang="en-US" sz="2800" dirty="0">
                <a:solidFill>
                  <a:srgbClr val="FF0000"/>
                </a:solidFill>
              </a:rPr>
              <a:t>systems-on-chip</a:t>
            </a:r>
            <a:endParaRPr lang="en-US" sz="2800" dirty="0"/>
          </a:p>
          <a:p>
            <a:pPr algn="l" rtl="0">
              <a:lnSpc>
                <a:spcPct val="90000"/>
              </a:lnSpc>
            </a:pPr>
            <a:endParaRPr lang="en-US" sz="2800" dirty="0"/>
          </a:p>
        </p:txBody>
      </p:sp>
      <p:sp>
        <p:nvSpPr>
          <p:cNvPr id="5" name="Slide Number Placeholder 2"/>
          <p:cNvSpPr>
            <a:spLocks noGrp="1"/>
          </p:cNvSpPr>
          <p:nvPr>
            <p:ph type="sldNum" sz="quarter" idx="12"/>
          </p:nvPr>
        </p:nvSpPr>
        <p:spPr>
          <a:xfrm>
            <a:off x="146304" y="6324600"/>
            <a:ext cx="310896" cy="342900"/>
          </a:xfrm>
        </p:spPr>
        <p:txBody>
          <a:bodyPr/>
          <a:lstStyle/>
          <a:p>
            <a:fld id="{B6F15528-21DE-4FAA-801E-634DDDAF4B2B}" type="slidenum">
              <a:rPr lang="en-US" smtClean="0"/>
              <a:pPr/>
              <a:t>3</a:t>
            </a:fld>
            <a:endParaRPr lang="en-US"/>
          </a:p>
        </p:txBody>
      </p:sp>
      <p:pic>
        <p:nvPicPr>
          <p:cNvPr id="1027" name="Picture 3"/>
          <p:cNvPicPr>
            <a:picLocks noChangeAspect="1" noChangeArrowheads="1"/>
          </p:cNvPicPr>
          <p:nvPr/>
        </p:nvPicPr>
        <p:blipFill>
          <a:blip r:embed="rId3"/>
          <a:srcRect/>
          <a:stretch>
            <a:fillRect/>
          </a:stretch>
        </p:blipFill>
        <p:spPr bwMode="auto">
          <a:xfrm>
            <a:off x="533400" y="4038600"/>
            <a:ext cx="7772400" cy="2285130"/>
          </a:xfrm>
          <a:prstGeom prst="rect">
            <a:avLst/>
          </a:prstGeom>
          <a:noFill/>
          <a:ln w="9525">
            <a:noFill/>
            <a:miter lim="800000"/>
            <a:headEnd/>
            <a:tailEnd/>
          </a:ln>
          <a:effectLst/>
        </p:spPr>
      </p:pic>
      <p:sp>
        <p:nvSpPr>
          <p:cNvPr id="8" name="Rectangle 7"/>
          <p:cNvSpPr/>
          <p:nvPr/>
        </p:nvSpPr>
        <p:spPr>
          <a:xfrm>
            <a:off x="990600" y="6324600"/>
            <a:ext cx="2739404" cy="338554"/>
          </a:xfrm>
          <a:prstGeom prst="rect">
            <a:avLst/>
          </a:prstGeom>
        </p:spPr>
        <p:txBody>
          <a:bodyPr wrap="none">
            <a:spAutoFit/>
          </a:bodyPr>
          <a:lstStyle/>
          <a:p>
            <a:r>
              <a:rPr lang="en-US" sz="1600" dirty="0"/>
              <a:t>Picture source: www.xbitlabs.com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8"/>
          <p:cNvSpPr>
            <a:spLocks noGrp="1" noChangeArrowheads="1"/>
          </p:cNvSpPr>
          <p:nvPr>
            <p:ph type="title"/>
          </p:nvPr>
        </p:nvSpPr>
        <p:spPr/>
        <p:txBody>
          <a:bodyPr>
            <a:normAutofit/>
          </a:bodyPr>
          <a:lstStyle/>
          <a:p>
            <a:r>
              <a:rPr lang="en-US" dirty="0"/>
              <a:t>SoC</a:t>
            </a:r>
          </a:p>
        </p:txBody>
      </p:sp>
      <p:sp>
        <p:nvSpPr>
          <p:cNvPr id="6147" name="Rectangle 9"/>
          <p:cNvSpPr>
            <a:spLocks noGrp="1" noChangeArrowheads="1"/>
          </p:cNvSpPr>
          <p:nvPr>
            <p:ph type="body" idx="1"/>
          </p:nvPr>
        </p:nvSpPr>
        <p:spPr>
          <a:xfrm>
            <a:off x="457200" y="1447800"/>
            <a:ext cx="4114800" cy="5029200"/>
          </a:xfrm>
        </p:spPr>
        <p:txBody>
          <a:bodyPr>
            <a:normAutofit lnSpcReduction="10000"/>
          </a:bodyPr>
          <a:lstStyle/>
          <a:p>
            <a:r>
              <a:rPr lang="en-US" dirty="0"/>
              <a:t>An SoC may contain</a:t>
            </a:r>
          </a:p>
          <a:p>
            <a:pPr lvl="1"/>
            <a:r>
              <a:rPr lang="en-US" dirty="0"/>
              <a:t>Custom hardware blocks</a:t>
            </a:r>
          </a:p>
          <a:p>
            <a:pPr lvl="2"/>
            <a:r>
              <a:rPr lang="en-US" dirty="0"/>
              <a:t>A.K.A. Hardware accelerator</a:t>
            </a:r>
          </a:p>
          <a:p>
            <a:pPr lvl="1"/>
            <a:r>
              <a:rPr lang="en-US" dirty="0"/>
              <a:t>DSP blocks</a:t>
            </a:r>
          </a:p>
          <a:p>
            <a:pPr lvl="1"/>
            <a:r>
              <a:rPr lang="en-US" dirty="0"/>
              <a:t>Embedded CPU</a:t>
            </a:r>
          </a:p>
          <a:p>
            <a:pPr lvl="1"/>
            <a:r>
              <a:rPr lang="en-US" dirty="0"/>
              <a:t>Embedded Memory</a:t>
            </a:r>
          </a:p>
          <a:p>
            <a:pPr lvl="1"/>
            <a:r>
              <a:rPr lang="en-US" dirty="0"/>
              <a:t> Real World Interfaces (USB, PCI, Ethernet)</a:t>
            </a:r>
          </a:p>
          <a:p>
            <a:pPr lvl="1"/>
            <a:r>
              <a:rPr lang="en-US" dirty="0"/>
              <a:t>Software (both OS and Applications)</a:t>
            </a:r>
          </a:p>
          <a:p>
            <a:pPr lvl="1"/>
            <a:r>
              <a:rPr lang="en-US" dirty="0"/>
              <a:t>Mixed-signal Blocks</a:t>
            </a:r>
          </a:p>
          <a:p>
            <a:pPr lvl="2"/>
            <a:r>
              <a:rPr lang="en-US" dirty="0"/>
              <a:t>DAC, ADC</a:t>
            </a:r>
          </a:p>
          <a:p>
            <a:pPr lvl="1"/>
            <a:r>
              <a:rPr lang="en-US" dirty="0"/>
              <a:t>FPGAs</a:t>
            </a:r>
          </a:p>
        </p:txBody>
      </p:sp>
      <p:pic>
        <p:nvPicPr>
          <p:cNvPr id="24578" name="Picture 2"/>
          <p:cNvPicPr>
            <a:picLocks noChangeAspect="1" noChangeArrowheads="1"/>
          </p:cNvPicPr>
          <p:nvPr/>
        </p:nvPicPr>
        <p:blipFill>
          <a:blip r:embed="rId3" cstate="print"/>
          <a:srcRect/>
          <a:stretch>
            <a:fillRect/>
          </a:stretch>
        </p:blipFill>
        <p:spPr bwMode="auto">
          <a:xfrm>
            <a:off x="4495800" y="2057400"/>
            <a:ext cx="4340412" cy="3429000"/>
          </a:xfrm>
          <a:prstGeom prst="rect">
            <a:avLst/>
          </a:prstGeom>
          <a:noFill/>
          <a:ln w="9525">
            <a:noFill/>
            <a:miter lim="800000"/>
            <a:headEnd/>
            <a:tailEnd/>
          </a:ln>
        </p:spPr>
      </p:pic>
      <p:sp>
        <p:nvSpPr>
          <p:cNvPr id="5" name="Slide Number Placeholder 2"/>
          <p:cNvSpPr>
            <a:spLocks noGrp="1"/>
          </p:cNvSpPr>
          <p:nvPr>
            <p:ph type="sldNum" sz="quarter" idx="12"/>
          </p:nvPr>
        </p:nvSpPr>
        <p:spPr>
          <a:xfrm>
            <a:off x="146304" y="6324600"/>
            <a:ext cx="310896" cy="342900"/>
          </a:xfrm>
        </p:spPr>
        <p:txBody>
          <a:bodyPr/>
          <a:lstStyle/>
          <a:p>
            <a:fld id="{B6F15528-21DE-4FAA-801E-634DDDAF4B2B}" type="slidenum">
              <a:rPr lang="en-US" smtClean="0"/>
              <a:pPr/>
              <a:t>4</a:t>
            </a:fld>
            <a:endParaRPr lang="en-US"/>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SoC benefits</a:t>
            </a:r>
          </a:p>
        </p:txBody>
      </p:sp>
      <p:sp>
        <p:nvSpPr>
          <p:cNvPr id="3" name="Slide Number Placeholder 2"/>
          <p:cNvSpPr>
            <a:spLocks noGrp="1"/>
          </p:cNvSpPr>
          <p:nvPr>
            <p:ph type="sldNum" sz="quarter" idx="12"/>
          </p:nvPr>
        </p:nvSpPr>
        <p:spPr/>
        <p:txBody>
          <a:bodyPr/>
          <a:lstStyle/>
          <a:p>
            <a:fld id="{B6F15528-21DE-4FAA-801E-634DDDAF4B2B}" type="slidenum">
              <a:rPr lang="en-US" smtClean="0"/>
              <a:pPr/>
              <a:t>5</a:t>
            </a:fld>
            <a:endParaRPr lang="en-US"/>
          </a:p>
        </p:txBody>
      </p:sp>
      <p:sp>
        <p:nvSpPr>
          <p:cNvPr id="4" name="Content Placeholder 3"/>
          <p:cNvSpPr>
            <a:spLocks noGrp="1"/>
          </p:cNvSpPr>
          <p:nvPr>
            <p:ph sz="quarter" idx="1"/>
          </p:nvPr>
        </p:nvSpPr>
        <p:spPr/>
        <p:txBody>
          <a:bodyPr/>
          <a:lstStyle/>
          <a:p>
            <a:r>
              <a:rPr lang="en-US" dirty="0"/>
              <a:t>Reduce size</a:t>
            </a:r>
          </a:p>
          <a:p>
            <a:r>
              <a:rPr lang="en-US" dirty="0"/>
              <a:t>Low cost</a:t>
            </a:r>
          </a:p>
          <a:p>
            <a:r>
              <a:rPr lang="en-US" dirty="0"/>
              <a:t>Reuse</a:t>
            </a:r>
          </a:p>
          <a:p>
            <a:r>
              <a:rPr lang="en-US" dirty="0"/>
              <a:t>Low power</a:t>
            </a:r>
          </a:p>
          <a:p>
            <a:r>
              <a:rPr lang="en-US" dirty="0"/>
              <a:t>High performance</a:t>
            </a:r>
          </a:p>
          <a:p>
            <a:r>
              <a:rPr lang="en-US" dirty="0"/>
              <a:t>High reliability</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SoPC</a:t>
            </a:r>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6</a:t>
            </a:fld>
            <a:endParaRPr lang="en-US"/>
          </a:p>
        </p:txBody>
      </p:sp>
      <p:sp>
        <p:nvSpPr>
          <p:cNvPr id="4" name="Content Placeholder 3"/>
          <p:cNvSpPr>
            <a:spLocks noGrp="1"/>
          </p:cNvSpPr>
          <p:nvPr>
            <p:ph sz="quarter" idx="1"/>
          </p:nvPr>
        </p:nvSpPr>
        <p:spPr/>
        <p:txBody>
          <a:bodyPr>
            <a:normAutofit lnSpcReduction="10000"/>
          </a:bodyPr>
          <a:lstStyle/>
          <a:p>
            <a:r>
              <a:rPr lang="en-US" dirty="0"/>
              <a:t>System-on-Programmable Chip (</a:t>
            </a:r>
            <a:r>
              <a:rPr lang="en-US" dirty="0" err="1"/>
              <a:t>SoPC</a:t>
            </a:r>
            <a:r>
              <a:rPr lang="en-US" dirty="0"/>
              <a:t>): FPGA vendors provide an SoC on an FPGA chip</a:t>
            </a:r>
          </a:p>
          <a:p>
            <a:r>
              <a:rPr lang="en-US" dirty="0"/>
              <a:t>In addition to configurable part there are also:</a:t>
            </a:r>
          </a:p>
          <a:p>
            <a:pPr lvl="1"/>
            <a:r>
              <a:rPr lang="en-US" dirty="0"/>
              <a:t>Processor cores</a:t>
            </a:r>
          </a:p>
          <a:p>
            <a:pPr lvl="1"/>
            <a:r>
              <a:rPr lang="en-US" dirty="0"/>
              <a:t>Peripherals</a:t>
            </a:r>
          </a:p>
          <a:p>
            <a:pPr lvl="1"/>
            <a:r>
              <a:rPr lang="en-US" dirty="0"/>
              <a:t>On-chip buses</a:t>
            </a:r>
          </a:p>
          <a:p>
            <a:pPr lvl="1"/>
            <a:r>
              <a:rPr lang="en-US" dirty="0"/>
              <a:t>DSP blocks</a:t>
            </a:r>
          </a:p>
          <a:p>
            <a:pPr lvl="1"/>
            <a:r>
              <a:rPr lang="en-US" dirty="0"/>
              <a:t>A rich range of soft IP cores as a library can be implemented on the configurable part</a:t>
            </a:r>
          </a:p>
          <a:p>
            <a:pPr lvl="1"/>
            <a:r>
              <a:rPr lang="en-US" dirty="0"/>
              <a:t>Operating systems and software drivers</a:t>
            </a:r>
          </a:p>
          <a:p>
            <a:pPr lvl="1"/>
            <a:r>
              <a:rPr lang="en-US" dirty="0"/>
              <a:t>… </a:t>
            </a:r>
          </a:p>
          <a:p>
            <a:pPr lvl="1">
              <a:buNone/>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8"/>
          <p:cNvSpPr>
            <a:spLocks noGrp="1" noChangeArrowheads="1"/>
          </p:cNvSpPr>
          <p:nvPr>
            <p:ph type="title"/>
          </p:nvPr>
        </p:nvSpPr>
        <p:spPr/>
        <p:txBody>
          <a:bodyPr>
            <a:normAutofit/>
          </a:bodyPr>
          <a:lstStyle/>
          <a:p>
            <a:r>
              <a:rPr lang="en-US" dirty="0" err="1"/>
              <a:t>SoPC</a:t>
            </a:r>
            <a:endParaRPr lang="en-US" dirty="0"/>
          </a:p>
        </p:txBody>
      </p:sp>
      <p:sp>
        <p:nvSpPr>
          <p:cNvPr id="6147" name="Rectangle 9"/>
          <p:cNvSpPr>
            <a:spLocks noGrp="1" noChangeArrowheads="1"/>
          </p:cNvSpPr>
          <p:nvPr>
            <p:ph type="body" idx="1"/>
          </p:nvPr>
        </p:nvSpPr>
        <p:spPr/>
        <p:txBody>
          <a:bodyPr/>
          <a:lstStyle/>
          <a:p>
            <a:r>
              <a:rPr lang="en-US" dirty="0"/>
              <a:t>Xilinx </a:t>
            </a:r>
            <a:r>
              <a:rPr lang="en-US" dirty="0" err="1"/>
              <a:t>SoPCs</a:t>
            </a:r>
            <a:r>
              <a:rPr lang="en-US" dirty="0"/>
              <a:t>:</a:t>
            </a:r>
          </a:p>
          <a:p>
            <a:pPr lvl="1"/>
            <a:r>
              <a:rPr lang="en-US" dirty="0"/>
              <a:t>2 or 4 PowerPC 405 and 440 cores and many peripherals</a:t>
            </a:r>
          </a:p>
          <a:p>
            <a:pPr lvl="1"/>
            <a:r>
              <a:rPr lang="en-US" dirty="0"/>
              <a:t>Xilinx EDK for development</a:t>
            </a:r>
          </a:p>
          <a:p>
            <a:r>
              <a:rPr lang="en-US" dirty="0" err="1"/>
              <a:t>Altera</a:t>
            </a:r>
            <a:r>
              <a:rPr lang="en-US" dirty="0"/>
              <a:t> </a:t>
            </a:r>
            <a:r>
              <a:rPr lang="en-US" dirty="0" err="1"/>
              <a:t>SoPCs</a:t>
            </a:r>
            <a:r>
              <a:rPr lang="en-US" dirty="0"/>
              <a:t>:</a:t>
            </a:r>
          </a:p>
          <a:p>
            <a:pPr lvl="1"/>
            <a:r>
              <a:rPr lang="en-US" dirty="0"/>
              <a:t>NIOS II or ARM Cortex cores and many peripherals</a:t>
            </a:r>
          </a:p>
          <a:p>
            <a:pPr lvl="2"/>
            <a:r>
              <a:rPr lang="en-US" dirty="0"/>
              <a:t>ARM Cortex is a dual core processor</a:t>
            </a:r>
          </a:p>
          <a:p>
            <a:pPr lvl="1"/>
            <a:r>
              <a:rPr lang="en-US" dirty="0" err="1"/>
              <a:t>Altera</a:t>
            </a:r>
            <a:r>
              <a:rPr lang="en-US" dirty="0"/>
              <a:t> </a:t>
            </a:r>
            <a:r>
              <a:rPr lang="en-US" dirty="0" err="1"/>
              <a:t>SoPC</a:t>
            </a:r>
            <a:r>
              <a:rPr lang="en-US" dirty="0"/>
              <a:t> Builder for development</a:t>
            </a:r>
          </a:p>
        </p:txBody>
      </p:sp>
      <p:sp>
        <p:nvSpPr>
          <p:cNvPr id="4" name="Slide Number Placeholder 2"/>
          <p:cNvSpPr>
            <a:spLocks noGrp="1"/>
          </p:cNvSpPr>
          <p:nvPr>
            <p:ph type="sldNum" sz="quarter" idx="12"/>
          </p:nvPr>
        </p:nvSpPr>
        <p:spPr>
          <a:xfrm>
            <a:off x="146304" y="6324600"/>
            <a:ext cx="310896" cy="342900"/>
          </a:xfrm>
        </p:spPr>
        <p:txBody>
          <a:bodyPr/>
          <a:lstStyle/>
          <a:p>
            <a:fld id="{B6F15528-21DE-4FAA-801E-634DDDAF4B2B}" type="slidenum">
              <a:rPr lang="en-US" smtClean="0"/>
              <a:pPr/>
              <a:t>7</a:t>
            </a:fld>
            <a:endParaRPr lang="en-US"/>
          </a:p>
        </p:txBody>
      </p:sp>
      <p:pic>
        <p:nvPicPr>
          <p:cNvPr id="5" name="Picture 3" descr="Nios II Puzzle Pieces"/>
          <p:cNvPicPr>
            <a:picLocks noChangeAspect="1" noChangeArrowheads="1"/>
          </p:cNvPicPr>
          <p:nvPr/>
        </p:nvPicPr>
        <p:blipFill>
          <a:blip r:embed="rId3" cstate="print"/>
          <a:srcRect/>
          <a:stretch>
            <a:fillRect/>
          </a:stretch>
        </p:blipFill>
        <p:spPr bwMode="auto">
          <a:xfrm>
            <a:off x="5562600" y="4395788"/>
            <a:ext cx="3138054" cy="2157412"/>
          </a:xfrm>
          <a:prstGeom prst="rect">
            <a:avLst/>
          </a:prstGeom>
          <a:noFill/>
          <a:effectLst>
            <a:outerShdw dist="35921" dir="2700000" algn="ctr" rotWithShape="0">
              <a:srgbClr val="808080"/>
            </a:outerShdw>
          </a:effectLst>
        </p:spPr>
      </p:pic>
      <p:sp>
        <p:nvSpPr>
          <p:cNvPr id="7" name="Rectangle 6"/>
          <p:cNvSpPr/>
          <p:nvPr/>
        </p:nvSpPr>
        <p:spPr>
          <a:xfrm>
            <a:off x="609600" y="6324600"/>
            <a:ext cx="3152273" cy="338554"/>
          </a:xfrm>
          <a:prstGeom prst="rect">
            <a:avLst/>
          </a:prstGeom>
        </p:spPr>
        <p:txBody>
          <a:bodyPr wrap="none">
            <a:spAutoFit/>
          </a:bodyPr>
          <a:lstStyle/>
          <a:p>
            <a:r>
              <a:rPr lang="en-US" sz="1600" dirty="0"/>
              <a:t>Picture source: http://www.altera.com</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2" name="Rectangle 3"/>
          <p:cNvSpPr>
            <a:spLocks noGrp="1" noChangeArrowheads="1"/>
          </p:cNvSpPr>
          <p:nvPr>
            <p:ph type="body" idx="1"/>
          </p:nvPr>
        </p:nvSpPr>
        <p:spPr>
          <a:xfrm>
            <a:off x="366713" y="1898649"/>
            <a:ext cx="4216400" cy="1835151"/>
          </a:xfrm>
        </p:spPr>
        <p:txBody>
          <a:bodyPr/>
          <a:lstStyle/>
          <a:p>
            <a:pPr marL="228600" indent="-228600">
              <a:lnSpc>
                <a:spcPct val="115000"/>
              </a:lnSpc>
              <a:spcBef>
                <a:spcPct val="0"/>
              </a:spcBef>
              <a:spcAft>
                <a:spcPct val="40000"/>
              </a:spcAft>
            </a:pPr>
            <a:r>
              <a:rPr lang="en-US" altLang="ja-JP" sz="2400" dirty="0">
                <a:ea typeface="MS PGothic" pitchFamily="34" charset="-128"/>
              </a:rPr>
              <a:t>32-bit embedded NIOS-II processor</a:t>
            </a:r>
          </a:p>
        </p:txBody>
      </p:sp>
      <p:sp>
        <p:nvSpPr>
          <p:cNvPr id="53253" name="AutoShape 4"/>
          <p:cNvSpPr>
            <a:spLocks noChangeArrowheads="1"/>
          </p:cNvSpPr>
          <p:nvPr/>
        </p:nvSpPr>
        <p:spPr bwMode="auto">
          <a:xfrm rot="10800000" flipV="1">
            <a:off x="4359275" y="4821237"/>
            <a:ext cx="1814513" cy="1731962"/>
          </a:xfrm>
          <a:prstGeom prst="bevel">
            <a:avLst>
              <a:gd name="adj" fmla="val 3287"/>
            </a:avLst>
          </a:prstGeom>
          <a:gradFill rotWithShape="1">
            <a:gsLst>
              <a:gs pos="0">
                <a:srgbClr val="969696"/>
              </a:gs>
              <a:gs pos="50000">
                <a:srgbClr val="DDDDDD"/>
              </a:gs>
              <a:gs pos="100000">
                <a:srgbClr val="969696"/>
              </a:gs>
            </a:gsLst>
            <a:lin ang="2700000" scaled="1"/>
          </a:gradFill>
          <a:ln w="9525">
            <a:noFill/>
            <a:miter lim="800000"/>
            <a:headEnd/>
            <a:tailEnd/>
          </a:ln>
        </p:spPr>
        <p:txBody>
          <a:bodyPr wrap="none" lIns="91432" tIns="45716" rIns="91432" bIns="45716" anchor="ctr"/>
          <a:lstStyle/>
          <a:p>
            <a:pPr algn="ctr" eaLnBrk="1" hangingPunct="1"/>
            <a:endParaRPr lang="en-GB" sz="1600" b="1">
              <a:solidFill>
                <a:schemeClr val="bg1"/>
              </a:solidFill>
              <a:cs typeface="Arial" pitchFamily="34" charset="0"/>
            </a:endParaRPr>
          </a:p>
        </p:txBody>
      </p:sp>
      <p:sp>
        <p:nvSpPr>
          <p:cNvPr id="53254" name="Text Box 5"/>
          <p:cNvSpPr txBox="1">
            <a:spLocks noChangeArrowheads="1"/>
          </p:cNvSpPr>
          <p:nvPr/>
        </p:nvSpPr>
        <p:spPr bwMode="auto">
          <a:xfrm>
            <a:off x="4876800" y="6054724"/>
            <a:ext cx="803275" cy="336550"/>
          </a:xfrm>
          <a:prstGeom prst="rect">
            <a:avLst/>
          </a:prstGeom>
          <a:noFill/>
          <a:ln w="9525">
            <a:noFill/>
            <a:miter lim="800000"/>
            <a:headEnd/>
            <a:tailEnd/>
          </a:ln>
        </p:spPr>
        <p:txBody>
          <a:bodyPr lIns="91432" tIns="45716" rIns="91432" bIns="45716">
            <a:spAutoFit/>
          </a:bodyPr>
          <a:lstStyle/>
          <a:p>
            <a:pPr algn="ctr" eaLnBrk="1" hangingPunct="1">
              <a:spcBef>
                <a:spcPct val="50000"/>
              </a:spcBef>
            </a:pPr>
            <a:r>
              <a:rPr lang="en-GB" sz="1600" b="1"/>
              <a:t>FPGA</a:t>
            </a:r>
          </a:p>
        </p:txBody>
      </p:sp>
      <p:sp>
        <p:nvSpPr>
          <p:cNvPr id="53255" name="Text Box 6"/>
          <p:cNvSpPr txBox="1">
            <a:spLocks noChangeArrowheads="1"/>
          </p:cNvSpPr>
          <p:nvPr/>
        </p:nvSpPr>
        <p:spPr bwMode="auto">
          <a:xfrm>
            <a:off x="6702425" y="5951537"/>
            <a:ext cx="2632075" cy="300037"/>
          </a:xfrm>
          <a:prstGeom prst="rect">
            <a:avLst/>
          </a:prstGeom>
          <a:noFill/>
          <a:ln w="12700">
            <a:noFill/>
            <a:miter lim="800000"/>
            <a:headEnd/>
            <a:tailEnd/>
          </a:ln>
        </p:spPr>
        <p:txBody>
          <a:bodyPr lIns="91432" tIns="45716" rIns="91432" bIns="45716" anchor="ctr">
            <a:spAutoFit/>
          </a:bodyPr>
          <a:lstStyle/>
          <a:p>
            <a:pPr>
              <a:lnSpc>
                <a:spcPct val="85000"/>
              </a:lnSpc>
            </a:pPr>
            <a:r>
              <a:rPr lang="en-US" altLang="ja-JP" sz="1600" b="1">
                <a:ea typeface="MS PGothic" pitchFamily="34" charset="-128"/>
                <a:cs typeface="Arial" pitchFamily="34" charset="0"/>
              </a:rPr>
              <a:t>Your design here</a:t>
            </a:r>
          </a:p>
        </p:txBody>
      </p:sp>
      <p:sp>
        <p:nvSpPr>
          <p:cNvPr id="53256" name="Line 7"/>
          <p:cNvSpPr>
            <a:spLocks noChangeShapeType="1"/>
          </p:cNvSpPr>
          <p:nvPr/>
        </p:nvSpPr>
        <p:spPr bwMode="auto">
          <a:xfrm>
            <a:off x="5718175" y="5832474"/>
            <a:ext cx="982663" cy="265113"/>
          </a:xfrm>
          <a:prstGeom prst="line">
            <a:avLst/>
          </a:prstGeom>
          <a:noFill/>
          <a:ln w="38100">
            <a:solidFill>
              <a:srgbClr val="000000"/>
            </a:solidFill>
            <a:round/>
            <a:headEnd type="triangle" w="med" len="med"/>
            <a:tailEnd/>
          </a:ln>
        </p:spPr>
        <p:txBody>
          <a:bodyPr anchor="ctr">
            <a:spAutoFit/>
          </a:bodyPr>
          <a:lstStyle/>
          <a:p>
            <a:endParaRPr lang="en-US"/>
          </a:p>
        </p:txBody>
      </p:sp>
      <p:sp>
        <p:nvSpPr>
          <p:cNvPr id="53257" name="Rectangle 8"/>
          <p:cNvSpPr>
            <a:spLocks noChangeArrowheads="1"/>
          </p:cNvSpPr>
          <p:nvPr/>
        </p:nvSpPr>
        <p:spPr bwMode="auto">
          <a:xfrm>
            <a:off x="4449763" y="4916487"/>
            <a:ext cx="990600" cy="844550"/>
          </a:xfrm>
          <a:prstGeom prst="rect">
            <a:avLst/>
          </a:prstGeom>
          <a:solidFill>
            <a:srgbClr val="99CCFF"/>
          </a:solidFill>
          <a:ln w="19050">
            <a:solidFill>
              <a:schemeClr val="hlink"/>
            </a:solidFill>
            <a:miter lim="800000"/>
            <a:headEnd/>
            <a:tailEnd/>
          </a:ln>
        </p:spPr>
        <p:txBody>
          <a:bodyPr wrap="none" anchor="ctr"/>
          <a:lstStyle/>
          <a:p>
            <a:endParaRPr lang="en-US"/>
          </a:p>
        </p:txBody>
      </p:sp>
      <p:pic>
        <p:nvPicPr>
          <p:cNvPr id="53258" name="Picture 9" descr="nios"/>
          <p:cNvPicPr>
            <a:picLocks noChangeAspect="1" noChangeArrowheads="1"/>
          </p:cNvPicPr>
          <p:nvPr/>
        </p:nvPicPr>
        <p:blipFill>
          <a:blip r:embed="rId3" cstate="print"/>
          <a:srcRect/>
          <a:stretch>
            <a:fillRect/>
          </a:stretch>
        </p:blipFill>
        <p:spPr bwMode="auto">
          <a:xfrm>
            <a:off x="4437063" y="5143499"/>
            <a:ext cx="1004887" cy="355600"/>
          </a:xfrm>
          <a:prstGeom prst="rect">
            <a:avLst/>
          </a:prstGeom>
          <a:noFill/>
          <a:ln w="9525">
            <a:noFill/>
            <a:miter lim="800000"/>
            <a:headEnd/>
            <a:tailEnd/>
          </a:ln>
        </p:spPr>
      </p:pic>
      <p:sp>
        <p:nvSpPr>
          <p:cNvPr id="1285130" name="Rectangle 10"/>
          <p:cNvSpPr>
            <a:spLocks noGrp="1" noChangeArrowheads="1"/>
          </p:cNvSpPr>
          <p:nvPr>
            <p:ph type="title"/>
          </p:nvPr>
        </p:nvSpPr>
        <p:spPr/>
        <p:txBody>
          <a:bodyPr/>
          <a:lstStyle/>
          <a:p>
            <a:pPr marL="228600" indent="-228600">
              <a:lnSpc>
                <a:spcPct val="115000"/>
              </a:lnSpc>
              <a:spcAft>
                <a:spcPct val="40000"/>
              </a:spcAft>
            </a:pPr>
            <a:r>
              <a:rPr lang="en-US" dirty="0" err="1">
                <a:cs typeface="Arial" pitchFamily="34" charset="0"/>
              </a:rPr>
              <a:t>Altera</a:t>
            </a:r>
            <a:r>
              <a:rPr lang="en-US" dirty="0">
                <a:cs typeface="Arial" pitchFamily="34" charset="0"/>
              </a:rPr>
              <a:t> </a:t>
            </a:r>
            <a:r>
              <a:rPr lang="en-US" dirty="0" err="1">
                <a:cs typeface="Arial" pitchFamily="34" charset="0"/>
              </a:rPr>
              <a:t>Startix</a:t>
            </a:r>
            <a:endParaRPr lang="en-US" dirty="0">
              <a:cs typeface="Arial" pitchFamily="34" charset="0"/>
            </a:endParaRPr>
          </a:p>
        </p:txBody>
      </p:sp>
      <p:grpSp>
        <p:nvGrpSpPr>
          <p:cNvPr id="2" name="Group 11"/>
          <p:cNvGrpSpPr>
            <a:grpSpLocks/>
          </p:cNvGrpSpPr>
          <p:nvPr/>
        </p:nvGrpSpPr>
        <p:grpSpPr bwMode="auto">
          <a:xfrm>
            <a:off x="4962525" y="1458912"/>
            <a:ext cx="3765550" cy="3200400"/>
            <a:chOff x="288" y="864"/>
            <a:chExt cx="2372" cy="2016"/>
          </a:xfrm>
        </p:grpSpPr>
        <p:sp useBgFill="1">
          <p:nvSpPr>
            <p:cNvPr id="53261" name="Rectangle 12"/>
            <p:cNvSpPr>
              <a:spLocks noChangeArrowheads="1"/>
            </p:cNvSpPr>
            <p:nvPr/>
          </p:nvSpPr>
          <p:spPr bwMode="auto">
            <a:xfrm>
              <a:off x="562" y="1117"/>
              <a:ext cx="1845" cy="1702"/>
            </a:xfrm>
            <a:prstGeom prst="rect">
              <a:avLst/>
            </a:prstGeom>
            <a:ln w="9525">
              <a:solidFill>
                <a:srgbClr val="99CCFF"/>
              </a:solidFill>
              <a:miter lim="800000"/>
              <a:headEnd/>
              <a:tailEnd/>
            </a:ln>
          </p:spPr>
          <p:txBody>
            <a:bodyPr wrap="none" anchor="ctr"/>
            <a:lstStyle/>
            <a:p>
              <a:endParaRPr lang="en-US"/>
            </a:p>
          </p:txBody>
        </p:sp>
        <p:grpSp>
          <p:nvGrpSpPr>
            <p:cNvPr id="3" name="Group 13"/>
            <p:cNvGrpSpPr>
              <a:grpSpLocks/>
            </p:cNvGrpSpPr>
            <p:nvPr/>
          </p:nvGrpSpPr>
          <p:grpSpPr bwMode="auto">
            <a:xfrm>
              <a:off x="2407" y="1178"/>
              <a:ext cx="61" cy="1580"/>
              <a:chOff x="2160" y="1200"/>
              <a:chExt cx="48" cy="1248"/>
            </a:xfrm>
          </p:grpSpPr>
          <p:sp>
            <p:nvSpPr>
              <p:cNvPr id="53321" name="Rectangle 14"/>
              <p:cNvSpPr>
                <a:spLocks noChangeArrowheads="1"/>
              </p:cNvSpPr>
              <p:nvPr/>
            </p:nvSpPr>
            <p:spPr bwMode="auto">
              <a:xfrm>
                <a:off x="2160" y="1200"/>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22" name="Rectangle 15"/>
              <p:cNvSpPr>
                <a:spLocks noChangeArrowheads="1"/>
              </p:cNvSpPr>
              <p:nvPr/>
            </p:nvSpPr>
            <p:spPr bwMode="auto">
              <a:xfrm>
                <a:off x="2160" y="1344"/>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23" name="Rectangle 16"/>
              <p:cNvSpPr>
                <a:spLocks noChangeArrowheads="1"/>
              </p:cNvSpPr>
              <p:nvPr/>
            </p:nvSpPr>
            <p:spPr bwMode="auto">
              <a:xfrm>
                <a:off x="2160" y="1488"/>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24" name="Rectangle 17"/>
              <p:cNvSpPr>
                <a:spLocks noChangeArrowheads="1"/>
              </p:cNvSpPr>
              <p:nvPr/>
            </p:nvSpPr>
            <p:spPr bwMode="auto">
              <a:xfrm>
                <a:off x="2160" y="1632"/>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25" name="Rectangle 18"/>
              <p:cNvSpPr>
                <a:spLocks noChangeArrowheads="1"/>
              </p:cNvSpPr>
              <p:nvPr/>
            </p:nvSpPr>
            <p:spPr bwMode="auto">
              <a:xfrm>
                <a:off x="2160" y="1776"/>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26" name="Rectangle 19"/>
              <p:cNvSpPr>
                <a:spLocks noChangeArrowheads="1"/>
              </p:cNvSpPr>
              <p:nvPr/>
            </p:nvSpPr>
            <p:spPr bwMode="auto">
              <a:xfrm>
                <a:off x="2160" y="1920"/>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27" name="Rectangle 20"/>
              <p:cNvSpPr>
                <a:spLocks noChangeArrowheads="1"/>
              </p:cNvSpPr>
              <p:nvPr/>
            </p:nvSpPr>
            <p:spPr bwMode="auto">
              <a:xfrm>
                <a:off x="2160" y="2064"/>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28" name="Rectangle 21"/>
              <p:cNvSpPr>
                <a:spLocks noChangeArrowheads="1"/>
              </p:cNvSpPr>
              <p:nvPr/>
            </p:nvSpPr>
            <p:spPr bwMode="auto">
              <a:xfrm>
                <a:off x="2160" y="2208"/>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29" name="Rectangle 22"/>
              <p:cNvSpPr>
                <a:spLocks noChangeArrowheads="1"/>
              </p:cNvSpPr>
              <p:nvPr/>
            </p:nvSpPr>
            <p:spPr bwMode="auto">
              <a:xfrm>
                <a:off x="2160" y="2352"/>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grpSp>
        <p:grpSp>
          <p:nvGrpSpPr>
            <p:cNvPr id="4" name="Group 23"/>
            <p:cNvGrpSpPr>
              <a:grpSpLocks/>
            </p:cNvGrpSpPr>
            <p:nvPr/>
          </p:nvGrpSpPr>
          <p:grpSpPr bwMode="auto">
            <a:xfrm>
              <a:off x="500" y="1178"/>
              <a:ext cx="62" cy="1580"/>
              <a:chOff x="672" y="1200"/>
              <a:chExt cx="48" cy="1248"/>
            </a:xfrm>
          </p:grpSpPr>
          <p:sp>
            <p:nvSpPr>
              <p:cNvPr id="53312" name="Rectangle 24"/>
              <p:cNvSpPr>
                <a:spLocks noChangeArrowheads="1"/>
              </p:cNvSpPr>
              <p:nvPr/>
            </p:nvSpPr>
            <p:spPr bwMode="auto">
              <a:xfrm>
                <a:off x="672" y="1200"/>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13" name="Rectangle 25"/>
              <p:cNvSpPr>
                <a:spLocks noChangeArrowheads="1"/>
              </p:cNvSpPr>
              <p:nvPr/>
            </p:nvSpPr>
            <p:spPr bwMode="auto">
              <a:xfrm>
                <a:off x="672" y="1344"/>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14" name="Rectangle 26"/>
              <p:cNvSpPr>
                <a:spLocks noChangeArrowheads="1"/>
              </p:cNvSpPr>
              <p:nvPr/>
            </p:nvSpPr>
            <p:spPr bwMode="auto">
              <a:xfrm>
                <a:off x="672" y="1488"/>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15" name="Rectangle 27"/>
              <p:cNvSpPr>
                <a:spLocks noChangeArrowheads="1"/>
              </p:cNvSpPr>
              <p:nvPr/>
            </p:nvSpPr>
            <p:spPr bwMode="auto">
              <a:xfrm>
                <a:off x="672" y="1632"/>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16" name="Rectangle 28"/>
              <p:cNvSpPr>
                <a:spLocks noChangeArrowheads="1"/>
              </p:cNvSpPr>
              <p:nvPr/>
            </p:nvSpPr>
            <p:spPr bwMode="auto">
              <a:xfrm>
                <a:off x="672" y="1776"/>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17" name="Rectangle 29"/>
              <p:cNvSpPr>
                <a:spLocks noChangeArrowheads="1"/>
              </p:cNvSpPr>
              <p:nvPr/>
            </p:nvSpPr>
            <p:spPr bwMode="auto">
              <a:xfrm>
                <a:off x="672" y="1920"/>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18" name="Rectangle 30"/>
              <p:cNvSpPr>
                <a:spLocks noChangeArrowheads="1"/>
              </p:cNvSpPr>
              <p:nvPr/>
            </p:nvSpPr>
            <p:spPr bwMode="auto">
              <a:xfrm>
                <a:off x="672" y="2064"/>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19" name="Rectangle 31"/>
              <p:cNvSpPr>
                <a:spLocks noChangeArrowheads="1"/>
              </p:cNvSpPr>
              <p:nvPr/>
            </p:nvSpPr>
            <p:spPr bwMode="auto">
              <a:xfrm>
                <a:off x="672" y="2208"/>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20" name="Rectangle 32"/>
              <p:cNvSpPr>
                <a:spLocks noChangeArrowheads="1"/>
              </p:cNvSpPr>
              <p:nvPr/>
            </p:nvSpPr>
            <p:spPr bwMode="auto">
              <a:xfrm>
                <a:off x="672" y="2352"/>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grpSp>
        <p:grpSp>
          <p:nvGrpSpPr>
            <p:cNvPr id="5" name="Group 33"/>
            <p:cNvGrpSpPr>
              <a:grpSpLocks/>
            </p:cNvGrpSpPr>
            <p:nvPr/>
          </p:nvGrpSpPr>
          <p:grpSpPr bwMode="auto">
            <a:xfrm rot="-5400000">
              <a:off x="1454" y="287"/>
              <a:ext cx="61" cy="1599"/>
              <a:chOff x="672" y="1200"/>
              <a:chExt cx="48" cy="1248"/>
            </a:xfrm>
          </p:grpSpPr>
          <p:sp>
            <p:nvSpPr>
              <p:cNvPr id="53303" name="Rectangle 34"/>
              <p:cNvSpPr>
                <a:spLocks noChangeArrowheads="1"/>
              </p:cNvSpPr>
              <p:nvPr/>
            </p:nvSpPr>
            <p:spPr bwMode="auto">
              <a:xfrm>
                <a:off x="672" y="1200"/>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04" name="Rectangle 35"/>
              <p:cNvSpPr>
                <a:spLocks noChangeArrowheads="1"/>
              </p:cNvSpPr>
              <p:nvPr/>
            </p:nvSpPr>
            <p:spPr bwMode="auto">
              <a:xfrm>
                <a:off x="672" y="1344"/>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05" name="Rectangle 36"/>
              <p:cNvSpPr>
                <a:spLocks noChangeArrowheads="1"/>
              </p:cNvSpPr>
              <p:nvPr/>
            </p:nvSpPr>
            <p:spPr bwMode="auto">
              <a:xfrm>
                <a:off x="672" y="1488"/>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06" name="Rectangle 37"/>
              <p:cNvSpPr>
                <a:spLocks noChangeArrowheads="1"/>
              </p:cNvSpPr>
              <p:nvPr/>
            </p:nvSpPr>
            <p:spPr bwMode="auto">
              <a:xfrm>
                <a:off x="672" y="1632"/>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07" name="Rectangle 38"/>
              <p:cNvSpPr>
                <a:spLocks noChangeArrowheads="1"/>
              </p:cNvSpPr>
              <p:nvPr/>
            </p:nvSpPr>
            <p:spPr bwMode="auto">
              <a:xfrm>
                <a:off x="672" y="1776"/>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08" name="Rectangle 39"/>
              <p:cNvSpPr>
                <a:spLocks noChangeArrowheads="1"/>
              </p:cNvSpPr>
              <p:nvPr/>
            </p:nvSpPr>
            <p:spPr bwMode="auto">
              <a:xfrm>
                <a:off x="672" y="1920"/>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09" name="Rectangle 40"/>
              <p:cNvSpPr>
                <a:spLocks noChangeArrowheads="1"/>
              </p:cNvSpPr>
              <p:nvPr/>
            </p:nvSpPr>
            <p:spPr bwMode="auto">
              <a:xfrm>
                <a:off x="672" y="2064"/>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10" name="Rectangle 41"/>
              <p:cNvSpPr>
                <a:spLocks noChangeArrowheads="1"/>
              </p:cNvSpPr>
              <p:nvPr/>
            </p:nvSpPr>
            <p:spPr bwMode="auto">
              <a:xfrm>
                <a:off x="672" y="2208"/>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11" name="Rectangle 42"/>
              <p:cNvSpPr>
                <a:spLocks noChangeArrowheads="1"/>
              </p:cNvSpPr>
              <p:nvPr/>
            </p:nvSpPr>
            <p:spPr bwMode="auto">
              <a:xfrm>
                <a:off x="672" y="2352"/>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grpSp>
        <p:grpSp>
          <p:nvGrpSpPr>
            <p:cNvPr id="6" name="Group 43"/>
            <p:cNvGrpSpPr>
              <a:grpSpLocks/>
            </p:cNvGrpSpPr>
            <p:nvPr/>
          </p:nvGrpSpPr>
          <p:grpSpPr bwMode="auto">
            <a:xfrm rot="-5400000">
              <a:off x="1454" y="2050"/>
              <a:ext cx="61" cy="1599"/>
              <a:chOff x="672" y="1200"/>
              <a:chExt cx="48" cy="1248"/>
            </a:xfrm>
          </p:grpSpPr>
          <p:sp>
            <p:nvSpPr>
              <p:cNvPr id="53294" name="Rectangle 44"/>
              <p:cNvSpPr>
                <a:spLocks noChangeArrowheads="1"/>
              </p:cNvSpPr>
              <p:nvPr/>
            </p:nvSpPr>
            <p:spPr bwMode="auto">
              <a:xfrm>
                <a:off x="672" y="1200"/>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295" name="Rectangle 45"/>
              <p:cNvSpPr>
                <a:spLocks noChangeArrowheads="1"/>
              </p:cNvSpPr>
              <p:nvPr/>
            </p:nvSpPr>
            <p:spPr bwMode="auto">
              <a:xfrm>
                <a:off x="672" y="1344"/>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296" name="Rectangle 46"/>
              <p:cNvSpPr>
                <a:spLocks noChangeArrowheads="1"/>
              </p:cNvSpPr>
              <p:nvPr/>
            </p:nvSpPr>
            <p:spPr bwMode="auto">
              <a:xfrm>
                <a:off x="672" y="1488"/>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297" name="Rectangle 47"/>
              <p:cNvSpPr>
                <a:spLocks noChangeArrowheads="1"/>
              </p:cNvSpPr>
              <p:nvPr/>
            </p:nvSpPr>
            <p:spPr bwMode="auto">
              <a:xfrm>
                <a:off x="672" y="1632"/>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298" name="Rectangle 48"/>
              <p:cNvSpPr>
                <a:spLocks noChangeArrowheads="1"/>
              </p:cNvSpPr>
              <p:nvPr/>
            </p:nvSpPr>
            <p:spPr bwMode="auto">
              <a:xfrm>
                <a:off x="672" y="1776"/>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299" name="Rectangle 49"/>
              <p:cNvSpPr>
                <a:spLocks noChangeArrowheads="1"/>
              </p:cNvSpPr>
              <p:nvPr/>
            </p:nvSpPr>
            <p:spPr bwMode="auto">
              <a:xfrm>
                <a:off x="672" y="1920"/>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00" name="Rectangle 50"/>
              <p:cNvSpPr>
                <a:spLocks noChangeArrowheads="1"/>
              </p:cNvSpPr>
              <p:nvPr/>
            </p:nvSpPr>
            <p:spPr bwMode="auto">
              <a:xfrm>
                <a:off x="672" y="2064"/>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01" name="Rectangle 51"/>
              <p:cNvSpPr>
                <a:spLocks noChangeArrowheads="1"/>
              </p:cNvSpPr>
              <p:nvPr/>
            </p:nvSpPr>
            <p:spPr bwMode="auto">
              <a:xfrm>
                <a:off x="672" y="2208"/>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02" name="Rectangle 52"/>
              <p:cNvSpPr>
                <a:spLocks noChangeArrowheads="1"/>
              </p:cNvSpPr>
              <p:nvPr/>
            </p:nvSpPr>
            <p:spPr bwMode="auto">
              <a:xfrm>
                <a:off x="672" y="2352"/>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grpSp>
        <p:sp>
          <p:nvSpPr>
            <p:cNvPr id="53266" name="Rectangle 53"/>
            <p:cNvSpPr>
              <a:spLocks noChangeArrowheads="1"/>
            </p:cNvSpPr>
            <p:nvPr/>
          </p:nvSpPr>
          <p:spPr bwMode="auto">
            <a:xfrm>
              <a:off x="1192" y="1498"/>
              <a:ext cx="556" cy="432"/>
            </a:xfrm>
            <a:prstGeom prst="rect">
              <a:avLst/>
            </a:prstGeom>
            <a:solidFill>
              <a:srgbClr val="3366FF"/>
            </a:solidFill>
            <a:ln w="9525">
              <a:noFill/>
              <a:miter lim="800000"/>
              <a:headEnd/>
              <a:tailEnd/>
            </a:ln>
          </p:spPr>
          <p:txBody>
            <a:bodyPr wrap="none" anchor="ctr"/>
            <a:lstStyle/>
            <a:p>
              <a:endParaRPr lang="en-US"/>
            </a:p>
          </p:txBody>
        </p:sp>
        <p:sp>
          <p:nvSpPr>
            <p:cNvPr id="53267" name="Rectangle 54"/>
            <p:cNvSpPr>
              <a:spLocks noChangeArrowheads="1"/>
            </p:cNvSpPr>
            <p:nvPr/>
          </p:nvSpPr>
          <p:spPr bwMode="auto">
            <a:xfrm>
              <a:off x="1940" y="1248"/>
              <a:ext cx="288" cy="336"/>
            </a:xfrm>
            <a:prstGeom prst="rect">
              <a:avLst/>
            </a:prstGeom>
            <a:solidFill>
              <a:srgbClr val="3366FF"/>
            </a:solidFill>
            <a:ln w="9525">
              <a:noFill/>
              <a:miter lim="800000"/>
              <a:headEnd/>
              <a:tailEnd/>
            </a:ln>
          </p:spPr>
          <p:txBody>
            <a:bodyPr wrap="none" anchor="ctr"/>
            <a:lstStyle/>
            <a:p>
              <a:pPr algn="ctr"/>
              <a:r>
                <a:rPr lang="en-US" sz="1000" b="1">
                  <a:solidFill>
                    <a:schemeClr val="bg1"/>
                  </a:solidFill>
                </a:rPr>
                <a:t>TCM</a:t>
              </a:r>
            </a:p>
            <a:p>
              <a:pPr algn="ctr"/>
              <a:r>
                <a:rPr lang="en-US" sz="1000" b="1">
                  <a:solidFill>
                    <a:schemeClr val="bg1"/>
                  </a:solidFill>
                </a:rPr>
                <a:t>D-MEM</a:t>
              </a:r>
            </a:p>
          </p:txBody>
        </p:sp>
        <p:sp>
          <p:nvSpPr>
            <p:cNvPr id="53268" name="Rectangle 55"/>
            <p:cNvSpPr>
              <a:spLocks noChangeArrowheads="1"/>
            </p:cNvSpPr>
            <p:nvPr/>
          </p:nvSpPr>
          <p:spPr bwMode="auto">
            <a:xfrm>
              <a:off x="720" y="1268"/>
              <a:ext cx="288" cy="336"/>
            </a:xfrm>
            <a:prstGeom prst="rect">
              <a:avLst/>
            </a:prstGeom>
            <a:solidFill>
              <a:srgbClr val="3366FF"/>
            </a:solidFill>
            <a:ln w="9525">
              <a:noFill/>
              <a:miter lim="800000"/>
              <a:headEnd/>
              <a:tailEnd/>
            </a:ln>
          </p:spPr>
          <p:txBody>
            <a:bodyPr wrap="none" anchor="ctr"/>
            <a:lstStyle/>
            <a:p>
              <a:pPr algn="ctr"/>
              <a:r>
                <a:rPr lang="en-US" sz="1000" b="1">
                  <a:solidFill>
                    <a:schemeClr val="bg1"/>
                  </a:solidFill>
                </a:rPr>
                <a:t>TCM</a:t>
              </a:r>
            </a:p>
            <a:p>
              <a:pPr algn="ctr"/>
              <a:r>
                <a:rPr lang="en-US" sz="1000" b="1">
                  <a:solidFill>
                    <a:schemeClr val="bg1"/>
                  </a:solidFill>
                </a:rPr>
                <a:t>I-MEM</a:t>
              </a:r>
            </a:p>
          </p:txBody>
        </p:sp>
        <p:sp>
          <p:nvSpPr>
            <p:cNvPr id="53269" name="Rectangle 56"/>
            <p:cNvSpPr>
              <a:spLocks noChangeArrowheads="1"/>
            </p:cNvSpPr>
            <p:nvPr/>
          </p:nvSpPr>
          <p:spPr bwMode="auto">
            <a:xfrm rot="5400000">
              <a:off x="1364" y="1076"/>
              <a:ext cx="216" cy="552"/>
            </a:xfrm>
            <a:prstGeom prst="rect">
              <a:avLst/>
            </a:prstGeom>
            <a:solidFill>
              <a:srgbClr val="339966"/>
            </a:solidFill>
            <a:ln w="9525">
              <a:noFill/>
              <a:miter lim="800000"/>
              <a:headEnd/>
              <a:tailEnd/>
            </a:ln>
          </p:spPr>
          <p:txBody>
            <a:bodyPr rot="10800000" vert="eaVert" wrap="none" anchor="ctr"/>
            <a:lstStyle/>
            <a:p>
              <a:pPr algn="ctr"/>
              <a:r>
                <a:rPr lang="en-US" sz="1000" b="1">
                  <a:solidFill>
                    <a:schemeClr val="bg1"/>
                  </a:solidFill>
                </a:rPr>
                <a:t>CUSTOM</a:t>
              </a:r>
            </a:p>
            <a:p>
              <a:pPr algn="ctr"/>
              <a:r>
                <a:rPr lang="en-US" sz="1000" b="1">
                  <a:solidFill>
                    <a:schemeClr val="bg1"/>
                  </a:solidFill>
                </a:rPr>
                <a:t>INSTR IF</a:t>
              </a:r>
            </a:p>
          </p:txBody>
        </p:sp>
        <p:sp>
          <p:nvSpPr>
            <p:cNvPr id="53270" name="Rectangle 57"/>
            <p:cNvSpPr>
              <a:spLocks noChangeArrowheads="1"/>
            </p:cNvSpPr>
            <p:nvPr/>
          </p:nvSpPr>
          <p:spPr bwMode="auto">
            <a:xfrm>
              <a:off x="710" y="1632"/>
              <a:ext cx="288" cy="336"/>
            </a:xfrm>
            <a:prstGeom prst="rect">
              <a:avLst/>
            </a:prstGeom>
            <a:solidFill>
              <a:srgbClr val="3366FF"/>
            </a:solidFill>
            <a:ln w="9525">
              <a:noFill/>
              <a:miter lim="800000"/>
              <a:headEnd/>
              <a:tailEnd/>
            </a:ln>
          </p:spPr>
          <p:txBody>
            <a:bodyPr wrap="none" anchor="ctr"/>
            <a:lstStyle/>
            <a:p>
              <a:pPr algn="ctr"/>
              <a:r>
                <a:rPr lang="en-US" sz="1200" b="1">
                  <a:solidFill>
                    <a:schemeClr val="bg1"/>
                  </a:solidFill>
                </a:rPr>
                <a:t>I$</a:t>
              </a:r>
            </a:p>
          </p:txBody>
        </p:sp>
        <p:sp>
          <p:nvSpPr>
            <p:cNvPr id="53271" name="Rectangle 58"/>
            <p:cNvSpPr>
              <a:spLocks noChangeArrowheads="1"/>
            </p:cNvSpPr>
            <p:nvPr/>
          </p:nvSpPr>
          <p:spPr bwMode="auto">
            <a:xfrm>
              <a:off x="1940" y="1632"/>
              <a:ext cx="288" cy="336"/>
            </a:xfrm>
            <a:prstGeom prst="rect">
              <a:avLst/>
            </a:prstGeom>
            <a:solidFill>
              <a:srgbClr val="3366FF"/>
            </a:solidFill>
            <a:ln w="9525">
              <a:noFill/>
              <a:miter lim="800000"/>
              <a:headEnd/>
              <a:tailEnd/>
            </a:ln>
          </p:spPr>
          <p:txBody>
            <a:bodyPr wrap="none" anchor="ctr"/>
            <a:lstStyle/>
            <a:p>
              <a:pPr algn="ctr"/>
              <a:r>
                <a:rPr lang="en-US" sz="1200" b="1">
                  <a:solidFill>
                    <a:schemeClr val="bg1"/>
                  </a:solidFill>
                </a:rPr>
                <a:t>D$</a:t>
              </a:r>
            </a:p>
          </p:txBody>
        </p:sp>
        <p:sp>
          <p:nvSpPr>
            <p:cNvPr id="53272" name="Rectangle 59"/>
            <p:cNvSpPr>
              <a:spLocks noChangeArrowheads="1"/>
            </p:cNvSpPr>
            <p:nvPr/>
          </p:nvSpPr>
          <p:spPr bwMode="auto">
            <a:xfrm>
              <a:off x="692" y="2304"/>
              <a:ext cx="1584" cy="432"/>
            </a:xfrm>
            <a:prstGeom prst="rect">
              <a:avLst/>
            </a:prstGeom>
            <a:solidFill>
              <a:srgbClr val="EAEAEA"/>
            </a:solidFill>
            <a:ln w="6350" cap="rnd">
              <a:solidFill>
                <a:schemeClr val="hlink"/>
              </a:solidFill>
              <a:prstDash val="sysDot"/>
              <a:miter lim="800000"/>
              <a:headEnd/>
              <a:tailEnd/>
            </a:ln>
          </p:spPr>
          <p:txBody>
            <a:bodyPr wrap="none" anchor="ctr"/>
            <a:lstStyle/>
            <a:p>
              <a:endParaRPr lang="en-US"/>
            </a:p>
          </p:txBody>
        </p:sp>
        <p:sp>
          <p:nvSpPr>
            <p:cNvPr id="53273" name="Rectangle 60"/>
            <p:cNvSpPr>
              <a:spLocks noChangeArrowheads="1"/>
            </p:cNvSpPr>
            <p:nvPr/>
          </p:nvSpPr>
          <p:spPr bwMode="auto">
            <a:xfrm>
              <a:off x="740" y="2016"/>
              <a:ext cx="336" cy="240"/>
            </a:xfrm>
            <a:prstGeom prst="rect">
              <a:avLst/>
            </a:prstGeom>
            <a:solidFill>
              <a:srgbClr val="FFCC00"/>
            </a:solidFill>
            <a:ln w="9525" algn="ctr">
              <a:noFill/>
              <a:miter lim="800000"/>
              <a:headEnd/>
              <a:tailEnd/>
            </a:ln>
          </p:spPr>
          <p:txBody>
            <a:bodyPr wrap="none" anchor="ctr"/>
            <a:lstStyle/>
            <a:p>
              <a:pPr algn="ctr"/>
              <a:r>
                <a:rPr lang="en-US" sz="1000" b="1"/>
                <a:t>INT</a:t>
              </a:r>
            </a:p>
            <a:p>
              <a:pPr algn="ctr"/>
              <a:r>
                <a:rPr lang="en-US" sz="1000" b="1"/>
                <a:t>CNTRL</a:t>
              </a:r>
            </a:p>
          </p:txBody>
        </p:sp>
        <p:sp>
          <p:nvSpPr>
            <p:cNvPr id="53274" name="Rectangle 61"/>
            <p:cNvSpPr>
              <a:spLocks noChangeArrowheads="1"/>
            </p:cNvSpPr>
            <p:nvPr/>
          </p:nvSpPr>
          <p:spPr bwMode="auto">
            <a:xfrm>
              <a:off x="766" y="2448"/>
              <a:ext cx="336" cy="240"/>
            </a:xfrm>
            <a:prstGeom prst="rect">
              <a:avLst/>
            </a:prstGeom>
            <a:solidFill>
              <a:schemeClr val="accent2"/>
            </a:solidFill>
            <a:ln w="9525" algn="ctr">
              <a:solidFill>
                <a:schemeClr val="accent1"/>
              </a:solidFill>
              <a:miter lim="800000"/>
              <a:headEnd/>
              <a:tailEnd/>
            </a:ln>
          </p:spPr>
          <p:txBody>
            <a:bodyPr wrap="none" anchor="ctr"/>
            <a:lstStyle/>
            <a:p>
              <a:pPr algn="ctr"/>
              <a:r>
                <a:rPr lang="en-US" sz="1000" b="1"/>
                <a:t>JTAG</a:t>
              </a:r>
            </a:p>
            <a:p>
              <a:pPr algn="ctr"/>
              <a:r>
                <a:rPr lang="en-US" sz="1000" b="1"/>
                <a:t>DEBUG</a:t>
              </a:r>
            </a:p>
          </p:txBody>
        </p:sp>
        <p:sp>
          <p:nvSpPr>
            <p:cNvPr id="53275" name="Rectangle 62"/>
            <p:cNvSpPr>
              <a:spLocks noChangeArrowheads="1"/>
            </p:cNvSpPr>
            <p:nvPr/>
          </p:nvSpPr>
          <p:spPr bwMode="auto">
            <a:xfrm>
              <a:off x="1198" y="2448"/>
              <a:ext cx="288" cy="240"/>
            </a:xfrm>
            <a:prstGeom prst="rect">
              <a:avLst/>
            </a:prstGeom>
            <a:solidFill>
              <a:schemeClr val="accent2"/>
            </a:solidFill>
            <a:ln w="9525" algn="ctr">
              <a:solidFill>
                <a:schemeClr val="accent1"/>
              </a:solidFill>
              <a:miter lim="800000"/>
              <a:headEnd/>
              <a:tailEnd/>
            </a:ln>
          </p:spPr>
          <p:txBody>
            <a:bodyPr wrap="none" anchor="ctr"/>
            <a:lstStyle/>
            <a:p>
              <a:pPr algn="ctr"/>
              <a:r>
                <a:rPr lang="en-US" sz="1000" b="1"/>
                <a:t>HW</a:t>
              </a:r>
            </a:p>
            <a:p>
              <a:pPr algn="ctr"/>
              <a:r>
                <a:rPr lang="en-US" sz="1000" b="1"/>
                <a:t>BP</a:t>
              </a:r>
            </a:p>
          </p:txBody>
        </p:sp>
        <p:sp>
          <p:nvSpPr>
            <p:cNvPr id="53276" name="Rectangle 63"/>
            <p:cNvSpPr>
              <a:spLocks noChangeArrowheads="1"/>
            </p:cNvSpPr>
            <p:nvPr/>
          </p:nvSpPr>
          <p:spPr bwMode="auto">
            <a:xfrm>
              <a:off x="1564" y="2448"/>
              <a:ext cx="288" cy="240"/>
            </a:xfrm>
            <a:prstGeom prst="rect">
              <a:avLst/>
            </a:prstGeom>
            <a:solidFill>
              <a:schemeClr val="accent2"/>
            </a:solidFill>
            <a:ln w="9525" algn="ctr">
              <a:solidFill>
                <a:schemeClr val="accent1"/>
              </a:solidFill>
              <a:miter lim="800000"/>
              <a:headEnd/>
              <a:tailEnd/>
            </a:ln>
          </p:spPr>
          <p:txBody>
            <a:bodyPr wrap="none" anchor="ctr"/>
            <a:lstStyle/>
            <a:p>
              <a:pPr algn="ctr"/>
              <a:r>
                <a:rPr lang="en-US" sz="1000" b="1"/>
                <a:t>I &amp; D</a:t>
              </a:r>
            </a:p>
            <a:p>
              <a:pPr algn="ctr"/>
              <a:r>
                <a:rPr lang="en-US" sz="1000" b="1"/>
                <a:t>TRCE</a:t>
              </a:r>
            </a:p>
          </p:txBody>
        </p:sp>
        <p:sp>
          <p:nvSpPr>
            <p:cNvPr id="53277" name="Rectangle 64"/>
            <p:cNvSpPr>
              <a:spLocks noChangeArrowheads="1"/>
            </p:cNvSpPr>
            <p:nvPr/>
          </p:nvSpPr>
          <p:spPr bwMode="auto">
            <a:xfrm>
              <a:off x="1940" y="2448"/>
              <a:ext cx="288" cy="240"/>
            </a:xfrm>
            <a:prstGeom prst="rect">
              <a:avLst/>
            </a:prstGeom>
            <a:solidFill>
              <a:schemeClr val="accent2"/>
            </a:solidFill>
            <a:ln w="9525" algn="ctr">
              <a:solidFill>
                <a:schemeClr val="accent1"/>
              </a:solidFill>
              <a:miter lim="800000"/>
              <a:headEnd/>
              <a:tailEnd/>
            </a:ln>
          </p:spPr>
          <p:txBody>
            <a:bodyPr wrap="none" anchor="ctr"/>
            <a:lstStyle/>
            <a:p>
              <a:pPr algn="ctr"/>
              <a:r>
                <a:rPr lang="en-US" sz="1000" b="1"/>
                <a:t>TRCE</a:t>
              </a:r>
            </a:p>
            <a:p>
              <a:pPr algn="ctr"/>
              <a:r>
                <a:rPr lang="en-US" sz="1000" b="1"/>
                <a:t>PORT</a:t>
              </a:r>
            </a:p>
          </p:txBody>
        </p:sp>
        <p:sp>
          <p:nvSpPr>
            <p:cNvPr id="53278" name="Text Box 65"/>
            <p:cNvSpPr txBox="1">
              <a:spLocks noChangeArrowheads="1"/>
            </p:cNvSpPr>
            <p:nvPr/>
          </p:nvSpPr>
          <p:spPr bwMode="auto">
            <a:xfrm>
              <a:off x="1172" y="2274"/>
              <a:ext cx="672" cy="154"/>
            </a:xfrm>
            <a:prstGeom prst="rect">
              <a:avLst/>
            </a:prstGeom>
            <a:noFill/>
            <a:ln w="9525">
              <a:noFill/>
              <a:miter lim="800000"/>
              <a:headEnd/>
              <a:tailEnd/>
            </a:ln>
          </p:spPr>
          <p:txBody>
            <a:bodyPr>
              <a:spAutoFit/>
            </a:bodyPr>
            <a:lstStyle/>
            <a:p>
              <a:pPr algn="ctr">
                <a:spcBef>
                  <a:spcPct val="50000"/>
                </a:spcBef>
              </a:pPr>
              <a:r>
                <a:rPr lang="en-US" sz="1000" b="1"/>
                <a:t>Debug</a:t>
              </a:r>
            </a:p>
          </p:txBody>
        </p:sp>
        <p:sp>
          <p:nvSpPr>
            <p:cNvPr id="53279" name="Rectangle 66"/>
            <p:cNvSpPr>
              <a:spLocks noChangeArrowheads="1"/>
            </p:cNvSpPr>
            <p:nvPr/>
          </p:nvSpPr>
          <p:spPr bwMode="auto">
            <a:xfrm>
              <a:off x="1940" y="2016"/>
              <a:ext cx="336" cy="240"/>
            </a:xfrm>
            <a:prstGeom prst="rect">
              <a:avLst/>
            </a:prstGeom>
            <a:solidFill>
              <a:srgbClr val="FFCC00"/>
            </a:solidFill>
            <a:ln w="9525" algn="ctr">
              <a:noFill/>
              <a:miter lim="800000"/>
              <a:headEnd/>
              <a:tailEnd/>
            </a:ln>
          </p:spPr>
          <p:txBody>
            <a:bodyPr wrap="none" anchor="ctr"/>
            <a:lstStyle/>
            <a:p>
              <a:pPr algn="ctr"/>
              <a:r>
                <a:rPr lang="en-US" sz="1000" b="1"/>
                <a:t>EXP</a:t>
              </a:r>
            </a:p>
            <a:p>
              <a:pPr algn="ctr"/>
              <a:r>
                <a:rPr lang="en-US" sz="1000" b="1"/>
                <a:t>CNTRL</a:t>
              </a:r>
            </a:p>
          </p:txBody>
        </p:sp>
        <p:sp>
          <p:nvSpPr>
            <p:cNvPr id="53280" name="Rectangle 67"/>
            <p:cNvSpPr>
              <a:spLocks noChangeArrowheads="1"/>
            </p:cNvSpPr>
            <p:nvPr/>
          </p:nvSpPr>
          <p:spPr bwMode="auto">
            <a:xfrm>
              <a:off x="1124" y="2016"/>
              <a:ext cx="336" cy="240"/>
            </a:xfrm>
            <a:prstGeom prst="rect">
              <a:avLst/>
            </a:prstGeom>
            <a:solidFill>
              <a:schemeClr val="folHlink"/>
            </a:solidFill>
            <a:ln w="9525" algn="ctr">
              <a:noFill/>
              <a:miter lim="800000"/>
              <a:headEnd/>
              <a:tailEnd/>
            </a:ln>
          </p:spPr>
          <p:txBody>
            <a:bodyPr wrap="none" anchor="ctr"/>
            <a:lstStyle/>
            <a:p>
              <a:pPr algn="ctr"/>
              <a:r>
                <a:rPr lang="en-US" sz="1000" b="1">
                  <a:solidFill>
                    <a:schemeClr val="bg1"/>
                  </a:solidFill>
                </a:rPr>
                <a:t>MMU</a:t>
              </a:r>
            </a:p>
          </p:txBody>
        </p:sp>
        <p:sp>
          <p:nvSpPr>
            <p:cNvPr id="53281" name="Rectangle 68"/>
            <p:cNvSpPr>
              <a:spLocks noChangeArrowheads="1"/>
            </p:cNvSpPr>
            <p:nvPr/>
          </p:nvSpPr>
          <p:spPr bwMode="auto">
            <a:xfrm>
              <a:off x="1508" y="2016"/>
              <a:ext cx="336" cy="240"/>
            </a:xfrm>
            <a:prstGeom prst="rect">
              <a:avLst/>
            </a:prstGeom>
            <a:solidFill>
              <a:schemeClr val="folHlink"/>
            </a:solidFill>
            <a:ln w="9525" algn="ctr">
              <a:noFill/>
              <a:miter lim="800000"/>
              <a:headEnd/>
              <a:tailEnd/>
            </a:ln>
          </p:spPr>
          <p:txBody>
            <a:bodyPr wrap="none" anchor="ctr"/>
            <a:lstStyle/>
            <a:p>
              <a:pPr algn="ctr"/>
              <a:r>
                <a:rPr lang="en-US" sz="1000" b="1">
                  <a:solidFill>
                    <a:schemeClr val="bg1"/>
                  </a:solidFill>
                </a:rPr>
                <a:t>MPU</a:t>
              </a:r>
            </a:p>
          </p:txBody>
        </p:sp>
        <p:sp>
          <p:nvSpPr>
            <p:cNvPr id="53282" name="AutoShape 69"/>
            <p:cNvSpPr>
              <a:spLocks noChangeArrowheads="1"/>
            </p:cNvSpPr>
            <p:nvPr/>
          </p:nvSpPr>
          <p:spPr bwMode="auto">
            <a:xfrm>
              <a:off x="288" y="1412"/>
              <a:ext cx="432" cy="96"/>
            </a:xfrm>
            <a:prstGeom prst="leftRightArrow">
              <a:avLst>
                <a:gd name="adj1" fmla="val 50000"/>
                <a:gd name="adj2" fmla="val 90000"/>
              </a:avLst>
            </a:prstGeom>
            <a:solidFill>
              <a:srgbClr val="99CCFF"/>
            </a:solidFill>
            <a:ln w="9525">
              <a:noFill/>
              <a:miter lim="800000"/>
              <a:headEnd/>
              <a:tailEnd/>
            </a:ln>
          </p:spPr>
          <p:txBody>
            <a:bodyPr wrap="none" anchor="ctr"/>
            <a:lstStyle/>
            <a:p>
              <a:endParaRPr lang="en-US"/>
            </a:p>
          </p:txBody>
        </p:sp>
        <p:sp>
          <p:nvSpPr>
            <p:cNvPr id="53283" name="AutoShape 70"/>
            <p:cNvSpPr>
              <a:spLocks noChangeArrowheads="1"/>
            </p:cNvSpPr>
            <p:nvPr/>
          </p:nvSpPr>
          <p:spPr bwMode="auto">
            <a:xfrm>
              <a:off x="2228" y="1392"/>
              <a:ext cx="432" cy="96"/>
            </a:xfrm>
            <a:prstGeom prst="leftRightArrow">
              <a:avLst>
                <a:gd name="adj1" fmla="val 50000"/>
                <a:gd name="adj2" fmla="val 90000"/>
              </a:avLst>
            </a:prstGeom>
            <a:solidFill>
              <a:srgbClr val="99CCFF"/>
            </a:solidFill>
            <a:ln w="9525">
              <a:noFill/>
              <a:miter lim="800000"/>
              <a:headEnd/>
              <a:tailEnd/>
            </a:ln>
          </p:spPr>
          <p:txBody>
            <a:bodyPr wrap="none" anchor="ctr"/>
            <a:lstStyle/>
            <a:p>
              <a:endParaRPr lang="en-US"/>
            </a:p>
          </p:txBody>
        </p:sp>
        <p:sp>
          <p:nvSpPr>
            <p:cNvPr id="53284" name="AutoShape 71"/>
            <p:cNvSpPr>
              <a:spLocks noChangeArrowheads="1"/>
            </p:cNvSpPr>
            <p:nvPr/>
          </p:nvSpPr>
          <p:spPr bwMode="auto">
            <a:xfrm>
              <a:off x="288" y="1748"/>
              <a:ext cx="432" cy="96"/>
            </a:xfrm>
            <a:prstGeom prst="leftRightArrow">
              <a:avLst>
                <a:gd name="adj1" fmla="val 50000"/>
                <a:gd name="adj2" fmla="val 90000"/>
              </a:avLst>
            </a:prstGeom>
            <a:solidFill>
              <a:srgbClr val="99CCFF"/>
            </a:solidFill>
            <a:ln w="9525">
              <a:noFill/>
              <a:miter lim="800000"/>
              <a:headEnd/>
              <a:tailEnd/>
            </a:ln>
          </p:spPr>
          <p:txBody>
            <a:bodyPr wrap="none" anchor="ctr"/>
            <a:lstStyle/>
            <a:p>
              <a:endParaRPr lang="en-US"/>
            </a:p>
          </p:txBody>
        </p:sp>
        <p:sp>
          <p:nvSpPr>
            <p:cNvPr id="53285" name="AutoShape 72"/>
            <p:cNvSpPr>
              <a:spLocks noChangeArrowheads="1"/>
            </p:cNvSpPr>
            <p:nvPr/>
          </p:nvSpPr>
          <p:spPr bwMode="auto">
            <a:xfrm>
              <a:off x="2228" y="1728"/>
              <a:ext cx="432" cy="96"/>
            </a:xfrm>
            <a:prstGeom prst="leftRightArrow">
              <a:avLst>
                <a:gd name="adj1" fmla="val 50000"/>
                <a:gd name="adj2" fmla="val 90000"/>
              </a:avLst>
            </a:prstGeom>
            <a:solidFill>
              <a:srgbClr val="99CCFF"/>
            </a:solidFill>
            <a:ln w="9525">
              <a:noFill/>
              <a:miter lim="800000"/>
              <a:headEnd/>
              <a:tailEnd/>
            </a:ln>
          </p:spPr>
          <p:txBody>
            <a:bodyPr wrap="none" anchor="ctr"/>
            <a:lstStyle/>
            <a:p>
              <a:endParaRPr lang="en-US"/>
            </a:p>
          </p:txBody>
        </p:sp>
        <p:sp>
          <p:nvSpPr>
            <p:cNvPr id="53286" name="AutoShape 73"/>
            <p:cNvSpPr>
              <a:spLocks noChangeArrowheads="1"/>
            </p:cNvSpPr>
            <p:nvPr/>
          </p:nvSpPr>
          <p:spPr bwMode="auto">
            <a:xfrm rot="5400000">
              <a:off x="1268" y="1008"/>
              <a:ext cx="384" cy="96"/>
            </a:xfrm>
            <a:prstGeom prst="leftRightArrow">
              <a:avLst>
                <a:gd name="adj1" fmla="val 50000"/>
                <a:gd name="adj2" fmla="val 80000"/>
              </a:avLst>
            </a:prstGeom>
            <a:solidFill>
              <a:srgbClr val="99CCFF"/>
            </a:solidFill>
            <a:ln w="9525">
              <a:noFill/>
              <a:miter lim="800000"/>
              <a:headEnd/>
              <a:tailEnd/>
            </a:ln>
          </p:spPr>
          <p:txBody>
            <a:bodyPr wrap="none" anchor="ctr"/>
            <a:lstStyle/>
            <a:p>
              <a:endParaRPr lang="en-US"/>
            </a:p>
          </p:txBody>
        </p:sp>
        <p:sp>
          <p:nvSpPr>
            <p:cNvPr id="53287" name="AutoShape 74"/>
            <p:cNvSpPr>
              <a:spLocks noChangeArrowheads="1"/>
            </p:cNvSpPr>
            <p:nvPr/>
          </p:nvSpPr>
          <p:spPr bwMode="auto">
            <a:xfrm>
              <a:off x="356" y="2544"/>
              <a:ext cx="432" cy="96"/>
            </a:xfrm>
            <a:prstGeom prst="leftRightArrow">
              <a:avLst>
                <a:gd name="adj1" fmla="val 50000"/>
                <a:gd name="adj2" fmla="val 90000"/>
              </a:avLst>
            </a:prstGeom>
            <a:solidFill>
              <a:srgbClr val="99CCFF"/>
            </a:solidFill>
            <a:ln w="9525">
              <a:noFill/>
              <a:miter lim="800000"/>
              <a:headEnd/>
              <a:tailEnd/>
            </a:ln>
          </p:spPr>
          <p:txBody>
            <a:bodyPr wrap="none" anchor="ctr"/>
            <a:lstStyle/>
            <a:p>
              <a:endParaRPr lang="en-US"/>
            </a:p>
          </p:txBody>
        </p:sp>
        <p:sp>
          <p:nvSpPr>
            <p:cNvPr id="53288" name="AutoShape 75"/>
            <p:cNvSpPr>
              <a:spLocks noChangeArrowheads="1"/>
            </p:cNvSpPr>
            <p:nvPr/>
          </p:nvSpPr>
          <p:spPr bwMode="auto">
            <a:xfrm>
              <a:off x="2228" y="2544"/>
              <a:ext cx="432" cy="96"/>
            </a:xfrm>
            <a:prstGeom prst="leftRightArrow">
              <a:avLst>
                <a:gd name="adj1" fmla="val 50000"/>
                <a:gd name="adj2" fmla="val 90000"/>
              </a:avLst>
            </a:prstGeom>
            <a:solidFill>
              <a:srgbClr val="99CCFF"/>
            </a:solidFill>
            <a:ln w="9525">
              <a:noFill/>
              <a:miter lim="800000"/>
              <a:headEnd/>
              <a:tailEnd/>
            </a:ln>
          </p:spPr>
          <p:txBody>
            <a:bodyPr wrap="none" anchor="ctr"/>
            <a:lstStyle/>
            <a:p>
              <a:endParaRPr lang="en-US"/>
            </a:p>
          </p:txBody>
        </p:sp>
        <p:sp>
          <p:nvSpPr>
            <p:cNvPr id="53289" name="AutoShape 76"/>
            <p:cNvSpPr>
              <a:spLocks noChangeArrowheads="1"/>
            </p:cNvSpPr>
            <p:nvPr/>
          </p:nvSpPr>
          <p:spPr bwMode="auto">
            <a:xfrm>
              <a:off x="1748" y="1748"/>
              <a:ext cx="192" cy="96"/>
            </a:xfrm>
            <a:prstGeom prst="leftRightArrow">
              <a:avLst>
                <a:gd name="adj1" fmla="val 50000"/>
                <a:gd name="adj2" fmla="val 40000"/>
              </a:avLst>
            </a:prstGeom>
            <a:solidFill>
              <a:srgbClr val="99CCFF"/>
            </a:solidFill>
            <a:ln w="9525">
              <a:noFill/>
              <a:miter lim="800000"/>
              <a:headEnd/>
              <a:tailEnd/>
            </a:ln>
          </p:spPr>
          <p:txBody>
            <a:bodyPr wrap="none" anchor="ctr"/>
            <a:lstStyle/>
            <a:p>
              <a:endParaRPr lang="en-US"/>
            </a:p>
          </p:txBody>
        </p:sp>
        <p:sp>
          <p:nvSpPr>
            <p:cNvPr id="53290" name="AutoShape 77"/>
            <p:cNvSpPr>
              <a:spLocks noChangeArrowheads="1"/>
            </p:cNvSpPr>
            <p:nvPr/>
          </p:nvSpPr>
          <p:spPr bwMode="auto">
            <a:xfrm>
              <a:off x="1748" y="1488"/>
              <a:ext cx="192" cy="96"/>
            </a:xfrm>
            <a:prstGeom prst="leftRightArrow">
              <a:avLst>
                <a:gd name="adj1" fmla="val 50000"/>
                <a:gd name="adj2" fmla="val 40000"/>
              </a:avLst>
            </a:prstGeom>
            <a:solidFill>
              <a:srgbClr val="99CCFF"/>
            </a:solidFill>
            <a:ln w="9525">
              <a:noFill/>
              <a:miter lim="800000"/>
              <a:headEnd/>
              <a:tailEnd/>
            </a:ln>
          </p:spPr>
          <p:txBody>
            <a:bodyPr wrap="none" anchor="ctr"/>
            <a:lstStyle/>
            <a:p>
              <a:endParaRPr lang="en-US"/>
            </a:p>
          </p:txBody>
        </p:sp>
        <p:sp>
          <p:nvSpPr>
            <p:cNvPr id="53291" name="AutoShape 78"/>
            <p:cNvSpPr>
              <a:spLocks noChangeArrowheads="1"/>
            </p:cNvSpPr>
            <p:nvPr/>
          </p:nvSpPr>
          <p:spPr bwMode="auto">
            <a:xfrm>
              <a:off x="1008" y="1508"/>
              <a:ext cx="192" cy="96"/>
            </a:xfrm>
            <a:prstGeom prst="leftRightArrow">
              <a:avLst>
                <a:gd name="adj1" fmla="val 50000"/>
                <a:gd name="adj2" fmla="val 40000"/>
              </a:avLst>
            </a:prstGeom>
            <a:solidFill>
              <a:srgbClr val="99CCFF"/>
            </a:solidFill>
            <a:ln w="9525">
              <a:noFill/>
              <a:miter lim="800000"/>
              <a:headEnd/>
              <a:tailEnd/>
            </a:ln>
          </p:spPr>
          <p:txBody>
            <a:bodyPr wrap="none" anchor="ctr"/>
            <a:lstStyle/>
            <a:p>
              <a:endParaRPr lang="en-US"/>
            </a:p>
          </p:txBody>
        </p:sp>
        <p:sp>
          <p:nvSpPr>
            <p:cNvPr id="53292" name="AutoShape 79"/>
            <p:cNvSpPr>
              <a:spLocks noChangeArrowheads="1"/>
            </p:cNvSpPr>
            <p:nvPr/>
          </p:nvSpPr>
          <p:spPr bwMode="auto">
            <a:xfrm>
              <a:off x="998" y="1748"/>
              <a:ext cx="192" cy="96"/>
            </a:xfrm>
            <a:prstGeom prst="leftRightArrow">
              <a:avLst>
                <a:gd name="adj1" fmla="val 50000"/>
                <a:gd name="adj2" fmla="val 40000"/>
              </a:avLst>
            </a:prstGeom>
            <a:solidFill>
              <a:srgbClr val="99CCFF"/>
            </a:solidFill>
            <a:ln w="9525">
              <a:noFill/>
              <a:miter lim="800000"/>
              <a:headEnd/>
              <a:tailEnd/>
            </a:ln>
          </p:spPr>
          <p:txBody>
            <a:bodyPr wrap="none" anchor="ctr"/>
            <a:lstStyle/>
            <a:p>
              <a:endParaRPr lang="en-US"/>
            </a:p>
          </p:txBody>
        </p:sp>
        <p:pic>
          <p:nvPicPr>
            <p:cNvPr id="53293" name="Picture 80" descr="nios2-logo-260x78"/>
            <p:cNvPicPr>
              <a:picLocks noChangeAspect="1" noChangeArrowheads="1"/>
            </p:cNvPicPr>
            <p:nvPr/>
          </p:nvPicPr>
          <p:blipFill>
            <a:blip r:embed="rId4" cstate="print"/>
            <a:srcRect/>
            <a:stretch>
              <a:fillRect/>
            </a:stretch>
          </p:blipFill>
          <p:spPr bwMode="auto">
            <a:xfrm>
              <a:off x="1240" y="1652"/>
              <a:ext cx="446" cy="134"/>
            </a:xfrm>
            <a:prstGeom prst="rect">
              <a:avLst/>
            </a:prstGeom>
            <a:noFill/>
            <a:ln w="9525">
              <a:noFill/>
              <a:miter lim="800000"/>
              <a:headEnd/>
              <a:tailEnd/>
            </a:ln>
          </p:spPr>
        </p:pic>
      </p:grpSp>
      <p:cxnSp>
        <p:nvCxnSpPr>
          <p:cNvPr id="83" name="Straight Connector 82"/>
          <p:cNvCxnSpPr/>
          <p:nvPr/>
        </p:nvCxnSpPr>
        <p:spPr>
          <a:xfrm flipV="1">
            <a:off x="4495800" y="2590800"/>
            <a:ext cx="304800" cy="2286000"/>
          </a:xfrm>
          <a:prstGeom prst="line">
            <a:avLst/>
          </a:prstGeom>
        </p:spPr>
        <p:style>
          <a:lnRef idx="2">
            <a:schemeClr val="accent2"/>
          </a:lnRef>
          <a:fillRef idx="0">
            <a:schemeClr val="accent2"/>
          </a:fillRef>
          <a:effectRef idx="1">
            <a:schemeClr val="accent2"/>
          </a:effectRef>
          <a:fontRef idx="minor">
            <a:schemeClr val="tx1"/>
          </a:fontRef>
        </p:style>
      </p:cxnSp>
      <p:cxnSp>
        <p:nvCxnSpPr>
          <p:cNvPr id="85" name="Straight Connector 84"/>
          <p:cNvCxnSpPr/>
          <p:nvPr/>
        </p:nvCxnSpPr>
        <p:spPr>
          <a:xfrm flipV="1">
            <a:off x="5410200" y="4800600"/>
            <a:ext cx="2743200" cy="914400"/>
          </a:xfrm>
          <a:prstGeom prst="line">
            <a:avLst/>
          </a:prstGeom>
        </p:spPr>
        <p:style>
          <a:lnRef idx="2">
            <a:schemeClr val="accent2"/>
          </a:lnRef>
          <a:fillRef idx="0">
            <a:schemeClr val="accent2"/>
          </a:fillRef>
          <a:effectRef idx="1">
            <a:schemeClr val="accent2"/>
          </a:effectRef>
          <a:fontRef idx="minor">
            <a:schemeClr val="tx1"/>
          </a:fontRef>
        </p:style>
      </p:cxnSp>
      <p:sp>
        <p:nvSpPr>
          <p:cNvPr id="82" name="Slide Number Placeholder 2"/>
          <p:cNvSpPr>
            <a:spLocks noGrp="1"/>
          </p:cNvSpPr>
          <p:nvPr>
            <p:ph type="sldNum" sz="quarter" idx="12"/>
          </p:nvPr>
        </p:nvSpPr>
        <p:spPr>
          <a:xfrm>
            <a:off x="146304" y="6324600"/>
            <a:ext cx="310896" cy="342900"/>
          </a:xfrm>
        </p:spPr>
        <p:txBody>
          <a:bodyPr/>
          <a:lstStyle/>
          <a:p>
            <a:fld id="{B6F15528-21DE-4FAA-801E-634DDDAF4B2B}" type="slidenum">
              <a:rPr lang="en-US" smtClean="0"/>
              <a:pPr/>
              <a:t>8</a:t>
            </a:fld>
            <a:endParaRPr lang="en-US"/>
          </a:p>
        </p:txBody>
      </p:sp>
      <p:sp>
        <p:nvSpPr>
          <p:cNvPr id="84" name="Rectangle 83"/>
          <p:cNvSpPr/>
          <p:nvPr/>
        </p:nvSpPr>
        <p:spPr>
          <a:xfrm>
            <a:off x="609600" y="6324600"/>
            <a:ext cx="3152273" cy="338554"/>
          </a:xfrm>
          <a:prstGeom prst="rect">
            <a:avLst/>
          </a:prstGeom>
        </p:spPr>
        <p:txBody>
          <a:bodyPr wrap="none">
            <a:spAutoFit/>
          </a:bodyPr>
          <a:lstStyle/>
          <a:p>
            <a:r>
              <a:rPr lang="en-US" sz="1600" dirty="0"/>
              <a:t>Picture source: http://www.altera.com</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Altera</a:t>
            </a:r>
            <a:r>
              <a:rPr lang="en-US" dirty="0"/>
              <a:t> Cyclone V</a:t>
            </a:r>
          </a:p>
        </p:txBody>
      </p:sp>
      <p:sp>
        <p:nvSpPr>
          <p:cNvPr id="3" name="Slide Number Placeholder 2"/>
          <p:cNvSpPr>
            <a:spLocks noGrp="1"/>
          </p:cNvSpPr>
          <p:nvPr>
            <p:ph type="sldNum" sz="quarter" idx="12"/>
          </p:nvPr>
        </p:nvSpPr>
        <p:spPr/>
        <p:txBody>
          <a:bodyPr/>
          <a:lstStyle/>
          <a:p>
            <a:fld id="{B6F15528-21DE-4FAA-801E-634DDDAF4B2B}" type="slidenum">
              <a:rPr lang="en-US" smtClean="0"/>
              <a:pPr/>
              <a:t>9</a:t>
            </a:fld>
            <a:endParaRPr lang="en-US"/>
          </a:p>
        </p:txBody>
      </p:sp>
      <p:sp>
        <p:nvSpPr>
          <p:cNvPr id="4" name="Content Placeholder 3"/>
          <p:cNvSpPr>
            <a:spLocks noGrp="1"/>
          </p:cNvSpPr>
          <p:nvPr>
            <p:ph sz="quarter" idx="1"/>
          </p:nvPr>
        </p:nvSpPr>
        <p:spPr>
          <a:xfrm>
            <a:off x="457200" y="1447800"/>
            <a:ext cx="8229600" cy="914400"/>
          </a:xfrm>
        </p:spPr>
        <p:txBody>
          <a:bodyPr>
            <a:normAutofit fontScale="92500"/>
          </a:bodyPr>
          <a:lstStyle/>
          <a:p>
            <a:pPr marL="349250" indent="-349250"/>
            <a:r>
              <a:rPr lang="en-US" dirty="0"/>
              <a:t>Integrate an ARM-based hard processor system (HPS) consisting of processor, peripherals, and memory interfaces with the FPGA fabric</a:t>
            </a:r>
          </a:p>
        </p:txBody>
      </p:sp>
      <p:pic>
        <p:nvPicPr>
          <p:cNvPr id="28674" name="Picture 2"/>
          <p:cNvPicPr>
            <a:picLocks noChangeAspect="1" noChangeArrowheads="1"/>
          </p:cNvPicPr>
          <p:nvPr/>
        </p:nvPicPr>
        <p:blipFill>
          <a:blip r:embed="rId3" cstate="print"/>
          <a:srcRect/>
          <a:stretch>
            <a:fillRect/>
          </a:stretch>
        </p:blipFill>
        <p:spPr bwMode="auto">
          <a:xfrm>
            <a:off x="914400" y="2438400"/>
            <a:ext cx="7002804" cy="3810000"/>
          </a:xfrm>
          <a:prstGeom prst="rect">
            <a:avLst/>
          </a:prstGeom>
          <a:noFill/>
          <a:ln w="9525">
            <a:noFill/>
            <a:miter lim="800000"/>
            <a:headEnd/>
            <a:tailEnd/>
          </a:ln>
        </p:spPr>
      </p:pic>
      <p:sp>
        <p:nvSpPr>
          <p:cNvPr id="6" name="Rectangle 5"/>
          <p:cNvSpPr/>
          <p:nvPr/>
        </p:nvSpPr>
        <p:spPr>
          <a:xfrm>
            <a:off x="2514600" y="6324600"/>
            <a:ext cx="3152273" cy="338554"/>
          </a:xfrm>
          <a:prstGeom prst="rect">
            <a:avLst/>
          </a:prstGeom>
        </p:spPr>
        <p:txBody>
          <a:bodyPr wrap="none">
            <a:spAutoFit/>
          </a:bodyPr>
          <a:lstStyle/>
          <a:p>
            <a:r>
              <a:rPr lang="en-US" sz="1600" dirty="0"/>
              <a:t>Picture source: http://www.altera.com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Xilinx </a:t>
            </a:r>
            <a:r>
              <a:rPr lang="en-US" dirty="0" err="1"/>
              <a:t>SoPCs</a:t>
            </a:r>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10</a:t>
            </a:fld>
            <a:endParaRPr lang="en-US"/>
          </a:p>
        </p:txBody>
      </p:sp>
      <p:sp>
        <p:nvSpPr>
          <p:cNvPr id="4" name="Content Placeholder 3"/>
          <p:cNvSpPr>
            <a:spLocks noGrp="1"/>
          </p:cNvSpPr>
          <p:nvPr>
            <p:ph sz="quarter" idx="1"/>
          </p:nvPr>
        </p:nvSpPr>
        <p:spPr/>
        <p:txBody>
          <a:bodyPr/>
          <a:lstStyle/>
          <a:p>
            <a:r>
              <a:rPr lang="en-US" dirty="0"/>
              <a:t>Some Xilinx FPGA families have a processor core and a large selection of components</a:t>
            </a:r>
          </a:p>
          <a:p>
            <a:r>
              <a:rPr lang="en-US" dirty="0"/>
              <a:t>Example: </a:t>
            </a:r>
            <a:r>
              <a:rPr lang="en-US" dirty="0" err="1"/>
              <a:t>Virtex</a:t>
            </a:r>
            <a:r>
              <a:rPr lang="en-US" dirty="0"/>
              <a:t>-II family of Xilinx FPGAs has one PPC-405 core</a:t>
            </a:r>
          </a:p>
          <a:p>
            <a:pPr lvl="1"/>
            <a:r>
              <a:rPr lang="en-US" dirty="0"/>
              <a:t>A large variety of peripherals</a:t>
            </a:r>
          </a:p>
          <a:p>
            <a:pPr lvl="1"/>
            <a:r>
              <a:rPr lang="en-US" dirty="0"/>
              <a:t>Uses IBM </a:t>
            </a:r>
            <a:r>
              <a:rPr lang="en-US" dirty="0" err="1"/>
              <a:t>CoreConnect</a:t>
            </a:r>
            <a:r>
              <a:rPr lang="en-US" dirty="0"/>
              <a:t> bus</a:t>
            </a:r>
          </a:p>
          <a:p>
            <a:pPr lvl="2"/>
            <a:r>
              <a:rPr lang="en-US" dirty="0"/>
              <a:t>Fast PLB : Processor Local Bus</a:t>
            </a:r>
          </a:p>
          <a:p>
            <a:pPr lvl="2"/>
            <a:r>
              <a:rPr lang="en-US" dirty="0"/>
              <a:t>Slower OPB : On-chip Peripheral Bus</a:t>
            </a:r>
          </a:p>
          <a:p>
            <a:r>
              <a:rPr lang="en-US" dirty="0"/>
              <a:t>Xilinx EDK tool to program these </a:t>
            </a:r>
            <a:r>
              <a:rPr lang="en-US" dirty="0" err="1"/>
              <a:t>SoPCs</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161"/>
          <p:cNvGrpSpPr>
            <a:grpSpLocks/>
          </p:cNvGrpSpPr>
          <p:nvPr/>
        </p:nvGrpSpPr>
        <p:grpSpPr bwMode="auto">
          <a:xfrm>
            <a:off x="381000" y="1117600"/>
            <a:ext cx="8305800" cy="4178300"/>
            <a:chOff x="240" y="632"/>
            <a:chExt cx="5232" cy="2632"/>
          </a:xfrm>
        </p:grpSpPr>
        <p:grpSp>
          <p:nvGrpSpPr>
            <p:cNvPr id="3" name="Group 1159"/>
            <p:cNvGrpSpPr>
              <a:grpSpLocks/>
            </p:cNvGrpSpPr>
            <p:nvPr/>
          </p:nvGrpSpPr>
          <p:grpSpPr bwMode="auto">
            <a:xfrm>
              <a:off x="240" y="672"/>
              <a:ext cx="5232" cy="2592"/>
              <a:chOff x="240" y="672"/>
              <a:chExt cx="5232" cy="2592"/>
            </a:xfrm>
          </p:grpSpPr>
          <p:grpSp>
            <p:nvGrpSpPr>
              <p:cNvPr id="4" name="Group 1158"/>
              <p:cNvGrpSpPr>
                <a:grpSpLocks/>
              </p:cNvGrpSpPr>
              <p:nvPr/>
            </p:nvGrpSpPr>
            <p:grpSpPr bwMode="auto">
              <a:xfrm>
                <a:off x="240" y="672"/>
                <a:ext cx="5232" cy="2592"/>
                <a:chOff x="240" y="672"/>
                <a:chExt cx="5232" cy="2592"/>
              </a:xfrm>
            </p:grpSpPr>
            <p:sp>
              <p:nvSpPr>
                <p:cNvPr id="614405" name="Rectangle 1029"/>
                <p:cNvSpPr>
                  <a:spLocks noChangeArrowheads="1"/>
                </p:cNvSpPr>
                <p:nvPr/>
              </p:nvSpPr>
              <p:spPr bwMode="ltGray">
                <a:xfrm>
                  <a:off x="240" y="672"/>
                  <a:ext cx="5232" cy="2592"/>
                </a:xfrm>
                <a:prstGeom prst="rect">
                  <a:avLst/>
                </a:prstGeom>
                <a:gradFill rotWithShape="0">
                  <a:gsLst>
                    <a:gs pos="0">
                      <a:srgbClr val="666666"/>
                    </a:gs>
                    <a:gs pos="100000">
                      <a:srgbClr val="C0C0C0"/>
                    </a:gs>
                  </a:gsLst>
                  <a:lin ang="2700000" scaled="1"/>
                </a:gradFill>
                <a:ln w="9525">
                  <a:solidFill>
                    <a:schemeClr val="tx1"/>
                  </a:solidFill>
                  <a:miter lim="800000"/>
                  <a:headEnd type="none" w="sm" len="sm"/>
                  <a:tailEnd type="none" w="sm" len="sm"/>
                </a:ln>
                <a:effectLst>
                  <a:outerShdw dist="35921" dir="2700000" algn="ctr" rotWithShape="0">
                    <a:schemeClr val="bg2"/>
                  </a:outerShdw>
                </a:effectLst>
              </p:spPr>
              <p:txBody>
                <a:bodyPr anchor="ctr">
                  <a:spAutoFit/>
                </a:bodyPr>
                <a:lstStyle/>
                <a:p>
                  <a:pPr>
                    <a:defRPr/>
                  </a:pPr>
                  <a:endParaRPr lang="en-US"/>
                </a:p>
              </p:txBody>
            </p:sp>
            <p:grpSp>
              <p:nvGrpSpPr>
                <p:cNvPr id="5" name="Group 1157"/>
                <p:cNvGrpSpPr>
                  <a:grpSpLocks/>
                </p:cNvGrpSpPr>
                <p:nvPr/>
              </p:nvGrpSpPr>
              <p:grpSpPr bwMode="auto">
                <a:xfrm>
                  <a:off x="1553" y="768"/>
                  <a:ext cx="1292" cy="912"/>
                  <a:chOff x="1553" y="768"/>
                  <a:chExt cx="1292" cy="912"/>
                </a:xfrm>
              </p:grpSpPr>
              <p:sp>
                <p:nvSpPr>
                  <p:cNvPr id="7258" name="Rectangle 1031"/>
                  <p:cNvSpPr>
                    <a:spLocks noChangeArrowheads="1"/>
                  </p:cNvSpPr>
                  <p:nvPr/>
                </p:nvSpPr>
                <p:spPr bwMode="ltGray">
                  <a:xfrm>
                    <a:off x="1584" y="768"/>
                    <a:ext cx="1248" cy="912"/>
                  </a:xfrm>
                  <a:prstGeom prst="rect">
                    <a:avLst/>
                  </a:prstGeom>
                  <a:noFill/>
                  <a:ln w="28575">
                    <a:solidFill>
                      <a:srgbClr val="FF9999"/>
                    </a:solidFill>
                    <a:prstDash val="dash"/>
                    <a:miter lim="800000"/>
                    <a:headEnd/>
                    <a:tailEnd/>
                  </a:ln>
                </p:spPr>
                <p:txBody>
                  <a:bodyPr anchor="ctr">
                    <a:spAutoFit/>
                  </a:bodyPr>
                  <a:lstStyle/>
                  <a:p>
                    <a:endParaRPr lang="en-US"/>
                  </a:p>
                </p:txBody>
              </p:sp>
              <p:grpSp>
                <p:nvGrpSpPr>
                  <p:cNvPr id="6" name="Group 1156"/>
                  <p:cNvGrpSpPr>
                    <a:grpSpLocks/>
                  </p:cNvGrpSpPr>
                  <p:nvPr/>
                </p:nvGrpSpPr>
                <p:grpSpPr bwMode="auto">
                  <a:xfrm>
                    <a:off x="1553" y="768"/>
                    <a:ext cx="1292" cy="672"/>
                    <a:chOff x="1553" y="768"/>
                    <a:chExt cx="1292" cy="672"/>
                  </a:xfrm>
                </p:grpSpPr>
                <p:sp>
                  <p:nvSpPr>
                    <p:cNvPr id="614409" name="Rectangle 1033"/>
                    <p:cNvSpPr>
                      <a:spLocks noChangeArrowheads="1"/>
                    </p:cNvSpPr>
                    <p:nvPr/>
                  </p:nvSpPr>
                  <p:spPr bwMode="ltGray">
                    <a:xfrm>
                      <a:off x="1680" y="960"/>
                      <a:ext cx="1008" cy="480"/>
                    </a:xfrm>
                    <a:prstGeom prst="rect">
                      <a:avLst/>
                    </a:prstGeom>
                    <a:gradFill rotWithShape="0">
                      <a:gsLst>
                        <a:gs pos="0">
                          <a:srgbClr val="A50021">
                            <a:gamma/>
                            <a:shade val="46275"/>
                            <a:invGamma/>
                          </a:srgbClr>
                        </a:gs>
                        <a:gs pos="100000">
                          <a:srgbClr val="A50021"/>
                        </a:gs>
                      </a:gsLst>
                      <a:lin ang="5400000" scaled="1"/>
                    </a:gradFill>
                    <a:ln w="9525">
                      <a:solidFill>
                        <a:schemeClr val="tx1"/>
                      </a:solidFill>
                      <a:miter lim="800000"/>
                      <a:headEnd/>
                      <a:tailEnd/>
                    </a:ln>
                    <a:effectLst>
                      <a:outerShdw dist="35921" dir="2700000" algn="ctr" rotWithShape="0">
                        <a:schemeClr val="bg2"/>
                      </a:outerShdw>
                    </a:effectLst>
                  </p:spPr>
                  <p:txBody>
                    <a:bodyPr anchor="ctr">
                      <a:spAutoFit/>
                    </a:bodyPr>
                    <a:lstStyle/>
                    <a:p>
                      <a:pPr>
                        <a:defRPr/>
                      </a:pPr>
                      <a:endParaRPr lang="en-US"/>
                    </a:p>
                  </p:txBody>
                </p:sp>
                <p:sp>
                  <p:nvSpPr>
                    <p:cNvPr id="7261" name="Text Box 1034"/>
                    <p:cNvSpPr txBox="1">
                      <a:spLocks noChangeArrowheads="1"/>
                    </p:cNvSpPr>
                    <p:nvPr/>
                  </p:nvSpPr>
                  <p:spPr bwMode="ltGray">
                    <a:xfrm>
                      <a:off x="1776" y="998"/>
                      <a:ext cx="793" cy="442"/>
                    </a:xfrm>
                    <a:prstGeom prst="rect">
                      <a:avLst/>
                    </a:prstGeom>
                    <a:noFill/>
                    <a:ln w="9525">
                      <a:noFill/>
                      <a:miter lim="800000"/>
                      <a:headEnd/>
                      <a:tailEnd/>
                    </a:ln>
                  </p:spPr>
                  <p:txBody>
                    <a:bodyPr wrap="none" anchor="ctr">
                      <a:spAutoFit/>
                    </a:bodyPr>
                    <a:lstStyle/>
                    <a:p>
                      <a:r>
                        <a:rPr lang="en-US" sz="2000">
                          <a:solidFill>
                            <a:schemeClr val="bg1"/>
                          </a:solidFill>
                          <a:latin typeface="Arial" charset="0"/>
                          <a:cs typeface="Times New Roman" pitchFamily="18" charset="0"/>
                        </a:rPr>
                        <a:t>PowerPC</a:t>
                      </a:r>
                    </a:p>
                    <a:p>
                      <a:r>
                        <a:rPr lang="en-US" sz="2000">
                          <a:solidFill>
                            <a:schemeClr val="bg1"/>
                          </a:solidFill>
                          <a:latin typeface="Arial" charset="0"/>
                          <a:cs typeface="Times New Roman" pitchFamily="18" charset="0"/>
                        </a:rPr>
                        <a:t>405 Core</a:t>
                      </a:r>
                    </a:p>
                  </p:txBody>
                </p:sp>
                <p:sp>
                  <p:nvSpPr>
                    <p:cNvPr id="7262" name="Text Box 1035"/>
                    <p:cNvSpPr txBox="1">
                      <a:spLocks noChangeArrowheads="1"/>
                    </p:cNvSpPr>
                    <p:nvPr/>
                  </p:nvSpPr>
                  <p:spPr bwMode="ltGray">
                    <a:xfrm>
                      <a:off x="1553" y="768"/>
                      <a:ext cx="1292" cy="231"/>
                    </a:xfrm>
                    <a:prstGeom prst="rect">
                      <a:avLst/>
                    </a:prstGeom>
                    <a:noFill/>
                    <a:ln w="38100">
                      <a:noFill/>
                      <a:miter lim="800000"/>
                      <a:headEnd/>
                      <a:tailEnd/>
                    </a:ln>
                  </p:spPr>
                  <p:txBody>
                    <a:bodyPr wrap="none" anchor="ctr">
                      <a:spAutoFit/>
                    </a:bodyPr>
                    <a:lstStyle/>
                    <a:p>
                      <a:r>
                        <a:rPr lang="en-US" sz="1800">
                          <a:solidFill>
                            <a:srgbClr val="FFFF66"/>
                          </a:solidFill>
                          <a:latin typeface="Arial" charset="0"/>
                          <a:cs typeface="Times New Roman" pitchFamily="18" charset="0"/>
                        </a:rPr>
                        <a:t>Dedicated Hard IP</a:t>
                      </a:r>
                    </a:p>
                  </p:txBody>
                </p:sp>
              </p:grpSp>
            </p:grpSp>
            <p:sp>
              <p:nvSpPr>
                <p:cNvPr id="7257" name="Freeform 1036"/>
                <p:cNvSpPr>
                  <a:spLocks/>
                </p:cNvSpPr>
                <p:nvPr/>
              </p:nvSpPr>
              <p:spPr bwMode="auto">
                <a:xfrm>
                  <a:off x="336" y="768"/>
                  <a:ext cx="5040" cy="2400"/>
                </a:xfrm>
                <a:custGeom>
                  <a:avLst/>
                  <a:gdLst>
                    <a:gd name="T0" fmla="*/ 720 w 5040"/>
                    <a:gd name="T1" fmla="*/ 0 h 2400"/>
                    <a:gd name="T2" fmla="*/ 0 w 5040"/>
                    <a:gd name="T3" fmla="*/ 0 h 2400"/>
                    <a:gd name="T4" fmla="*/ 0 w 5040"/>
                    <a:gd name="T5" fmla="*/ 2400 h 2400"/>
                    <a:gd name="T6" fmla="*/ 5040 w 5040"/>
                    <a:gd name="T7" fmla="*/ 2400 h 2400"/>
                    <a:gd name="T8" fmla="*/ 5040 w 5040"/>
                    <a:gd name="T9" fmla="*/ 0 h 2400"/>
                    <a:gd name="T10" fmla="*/ 2496 w 5040"/>
                    <a:gd name="T11" fmla="*/ 0 h 2400"/>
                    <a:gd name="T12" fmla="*/ 2496 w 5040"/>
                    <a:gd name="T13" fmla="*/ 912 h 2400"/>
                    <a:gd name="T14" fmla="*/ 1248 w 5040"/>
                    <a:gd name="T15" fmla="*/ 912 h 2400"/>
                    <a:gd name="T16" fmla="*/ 1248 w 5040"/>
                    <a:gd name="T17" fmla="*/ 0 h 2400"/>
                    <a:gd name="T18" fmla="*/ 720 w 5040"/>
                    <a:gd name="T19" fmla="*/ 0 h 24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040"/>
                    <a:gd name="T31" fmla="*/ 0 h 2400"/>
                    <a:gd name="T32" fmla="*/ 5040 w 5040"/>
                    <a:gd name="T33" fmla="*/ 2400 h 24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040" h="2400">
                      <a:moveTo>
                        <a:pt x="720" y="0"/>
                      </a:moveTo>
                      <a:lnTo>
                        <a:pt x="0" y="0"/>
                      </a:lnTo>
                      <a:lnTo>
                        <a:pt x="0" y="2400"/>
                      </a:lnTo>
                      <a:lnTo>
                        <a:pt x="5040" y="2400"/>
                      </a:lnTo>
                      <a:lnTo>
                        <a:pt x="5040" y="0"/>
                      </a:lnTo>
                      <a:lnTo>
                        <a:pt x="2496" y="0"/>
                      </a:lnTo>
                      <a:lnTo>
                        <a:pt x="2496" y="912"/>
                      </a:lnTo>
                      <a:lnTo>
                        <a:pt x="1248" y="912"/>
                      </a:lnTo>
                      <a:lnTo>
                        <a:pt x="1248" y="0"/>
                      </a:lnTo>
                      <a:lnTo>
                        <a:pt x="720" y="0"/>
                      </a:lnTo>
                      <a:close/>
                    </a:path>
                  </a:pathLst>
                </a:custGeom>
                <a:noFill/>
                <a:ln w="28575">
                  <a:solidFill>
                    <a:srgbClr val="CCCCFF"/>
                  </a:solidFill>
                  <a:prstDash val="dash"/>
                  <a:round/>
                  <a:headEnd/>
                  <a:tailEnd/>
                </a:ln>
              </p:spPr>
              <p:txBody>
                <a:bodyPr wrap="none" anchor="ctr">
                  <a:spAutoFit/>
                </a:bodyPr>
                <a:lstStyle/>
                <a:p>
                  <a:endParaRPr lang="en-US"/>
                </a:p>
              </p:txBody>
            </p:sp>
          </p:grpSp>
          <p:sp>
            <p:nvSpPr>
              <p:cNvPr id="7254" name="Text Box 1037"/>
              <p:cNvSpPr txBox="1">
                <a:spLocks noChangeArrowheads="1"/>
              </p:cNvSpPr>
              <p:nvPr/>
            </p:nvSpPr>
            <p:spPr bwMode="ltGray">
              <a:xfrm>
                <a:off x="4000" y="960"/>
                <a:ext cx="1148" cy="231"/>
              </a:xfrm>
              <a:prstGeom prst="rect">
                <a:avLst/>
              </a:prstGeom>
              <a:noFill/>
              <a:ln w="38100">
                <a:noFill/>
                <a:miter lim="800000"/>
                <a:headEnd/>
                <a:tailEnd/>
              </a:ln>
            </p:spPr>
            <p:txBody>
              <a:bodyPr wrap="none" anchor="ctr">
                <a:spAutoFit/>
              </a:bodyPr>
              <a:lstStyle/>
              <a:p>
                <a:r>
                  <a:rPr lang="en-US" sz="1800" b="1">
                    <a:latin typeface="Arial" charset="0"/>
                    <a:cs typeface="Times New Roman" pitchFamily="18" charset="0"/>
                  </a:rPr>
                  <a:t>Flexible Soft IP</a:t>
                </a:r>
              </a:p>
            </p:txBody>
          </p:sp>
        </p:grpSp>
        <p:grpSp>
          <p:nvGrpSpPr>
            <p:cNvPr id="7" name="Group 1160"/>
            <p:cNvGrpSpPr>
              <a:grpSpLocks/>
            </p:cNvGrpSpPr>
            <p:nvPr/>
          </p:nvGrpSpPr>
          <p:grpSpPr bwMode="auto">
            <a:xfrm>
              <a:off x="1904" y="632"/>
              <a:ext cx="527" cy="166"/>
              <a:chOff x="1904" y="632"/>
              <a:chExt cx="527" cy="166"/>
            </a:xfrm>
          </p:grpSpPr>
          <p:sp>
            <p:nvSpPr>
              <p:cNvPr id="614415" name="Rectangle 1039"/>
              <p:cNvSpPr>
                <a:spLocks noChangeArrowheads="1"/>
              </p:cNvSpPr>
              <p:nvPr/>
            </p:nvSpPr>
            <p:spPr bwMode="auto">
              <a:xfrm>
                <a:off x="1904" y="632"/>
                <a:ext cx="527" cy="163"/>
              </a:xfrm>
              <a:prstGeom prst="rect">
                <a:avLst/>
              </a:prstGeom>
              <a:solidFill>
                <a:srgbClr val="FF5050"/>
              </a:solidFill>
              <a:ln w="12700">
                <a:solidFill>
                  <a:schemeClr val="tx1"/>
                </a:solidFill>
                <a:miter lim="800000"/>
                <a:headEnd/>
                <a:tailEnd/>
              </a:ln>
              <a:effectLst>
                <a:outerShdw dist="35921" dir="2700000" algn="ctr" rotWithShape="0">
                  <a:schemeClr val="bg2"/>
                </a:outerShdw>
              </a:effectLst>
            </p:spPr>
            <p:txBody>
              <a:bodyPr wrap="none" anchor="ctr"/>
              <a:lstStyle/>
              <a:p>
                <a:pPr>
                  <a:defRPr/>
                </a:pPr>
                <a:endParaRPr lang="en-US"/>
              </a:p>
            </p:txBody>
          </p:sp>
          <p:sp>
            <p:nvSpPr>
              <p:cNvPr id="7252" name="Text Box 1040"/>
              <p:cNvSpPr txBox="1">
                <a:spLocks noChangeArrowheads="1"/>
              </p:cNvSpPr>
              <p:nvPr/>
            </p:nvSpPr>
            <p:spPr bwMode="auto">
              <a:xfrm>
                <a:off x="1959" y="644"/>
                <a:ext cx="460" cy="154"/>
              </a:xfrm>
              <a:prstGeom prst="rect">
                <a:avLst/>
              </a:prstGeom>
              <a:noFill/>
              <a:ln w="12700">
                <a:noFill/>
                <a:miter lim="800000"/>
                <a:headEnd/>
                <a:tailEnd/>
              </a:ln>
            </p:spPr>
            <p:txBody>
              <a:bodyPr wrap="none" lIns="0" tIns="0" rIns="0" bIns="0">
                <a:spAutoFit/>
              </a:bodyPr>
              <a:lstStyle/>
              <a:p>
                <a:r>
                  <a:rPr lang="en-US" sz="1600" b="1">
                    <a:solidFill>
                      <a:schemeClr val="bg1"/>
                    </a:solidFill>
                    <a:latin typeface="Arial Narrow" pitchFamily="34" charset="0"/>
                  </a:rPr>
                  <a:t>RocketIO</a:t>
                </a:r>
              </a:p>
            </p:txBody>
          </p:sp>
        </p:grpSp>
      </p:grpSp>
      <p:sp>
        <p:nvSpPr>
          <p:cNvPr id="7171" name="Rectangle 1041"/>
          <p:cNvSpPr>
            <a:spLocks noGrp="1" noChangeArrowheads="1"/>
          </p:cNvSpPr>
          <p:nvPr>
            <p:ph type="title"/>
          </p:nvPr>
        </p:nvSpPr>
        <p:spPr>
          <a:xfrm>
            <a:off x="609600" y="142875"/>
            <a:ext cx="8077200" cy="944563"/>
          </a:xfrm>
        </p:spPr>
        <p:txBody>
          <a:bodyPr/>
          <a:lstStyle/>
          <a:p>
            <a:r>
              <a:rPr lang="en-US" sz="3600" dirty="0"/>
              <a:t>PowerPC-based </a:t>
            </a:r>
            <a:r>
              <a:rPr lang="en-US" sz="3600" dirty="0" err="1"/>
              <a:t>Virtex</a:t>
            </a:r>
            <a:r>
              <a:rPr lang="en-US" sz="3600" dirty="0"/>
              <a:t>-II</a:t>
            </a:r>
            <a:endParaRPr lang="en-US" sz="4000" dirty="0"/>
          </a:p>
        </p:txBody>
      </p:sp>
      <p:sp>
        <p:nvSpPr>
          <p:cNvPr id="614418" name="Rectangle 1042"/>
          <p:cNvSpPr>
            <a:spLocks noChangeArrowheads="1"/>
          </p:cNvSpPr>
          <p:nvPr/>
        </p:nvSpPr>
        <p:spPr bwMode="auto">
          <a:xfrm>
            <a:off x="5738813" y="5375275"/>
            <a:ext cx="2940050" cy="808038"/>
          </a:xfrm>
          <a:prstGeom prst="rect">
            <a:avLst/>
          </a:prstGeom>
          <a:noFill/>
          <a:ln w="9525">
            <a:noFill/>
            <a:miter lim="800000"/>
            <a:headEnd/>
            <a:tailEnd/>
          </a:ln>
        </p:spPr>
        <p:txBody>
          <a:bodyPr/>
          <a:lstStyle/>
          <a:p>
            <a:pPr algn="l">
              <a:lnSpc>
                <a:spcPct val="85000"/>
              </a:lnSpc>
            </a:pPr>
            <a:r>
              <a:rPr lang="en-US" sz="1600" b="1">
                <a:latin typeface="Arial Narrow" pitchFamily="34" charset="0"/>
                <a:cs typeface="Times New Roman" pitchFamily="18" charset="0"/>
              </a:rPr>
              <a:t>Full system customization to meet </a:t>
            </a:r>
            <a:br>
              <a:rPr lang="en-US" sz="1600" b="1">
                <a:latin typeface="Arial Narrow" pitchFamily="34" charset="0"/>
                <a:cs typeface="Times New Roman" pitchFamily="18" charset="0"/>
              </a:rPr>
            </a:br>
            <a:r>
              <a:rPr lang="en-US" sz="1600" b="1">
                <a:latin typeface="Arial Narrow" pitchFamily="34" charset="0"/>
                <a:cs typeface="Times New Roman" pitchFamily="18" charset="0"/>
              </a:rPr>
              <a:t>performance, functionality, and </a:t>
            </a:r>
            <a:br>
              <a:rPr lang="en-US" sz="1600" b="1">
                <a:latin typeface="Arial Narrow" pitchFamily="34" charset="0"/>
                <a:cs typeface="Times New Roman" pitchFamily="18" charset="0"/>
              </a:rPr>
            </a:br>
            <a:r>
              <a:rPr lang="en-US" sz="1600" b="1">
                <a:latin typeface="Arial Narrow" pitchFamily="34" charset="0"/>
                <a:cs typeface="Times New Roman" pitchFamily="18" charset="0"/>
              </a:rPr>
              <a:t>cost goals</a:t>
            </a:r>
          </a:p>
        </p:txBody>
      </p:sp>
      <p:grpSp>
        <p:nvGrpSpPr>
          <p:cNvPr id="8" name="Group 1043"/>
          <p:cNvGrpSpPr>
            <a:grpSpLocks/>
          </p:cNvGrpSpPr>
          <p:nvPr/>
        </p:nvGrpSpPr>
        <p:grpSpPr bwMode="auto">
          <a:xfrm>
            <a:off x="1581150" y="2295525"/>
            <a:ext cx="6648450" cy="871538"/>
            <a:chOff x="996" y="1373"/>
            <a:chExt cx="4188" cy="549"/>
          </a:xfrm>
        </p:grpSpPr>
        <p:sp>
          <p:nvSpPr>
            <p:cNvPr id="7246" name="Freeform 1044"/>
            <p:cNvSpPr>
              <a:spLocks/>
            </p:cNvSpPr>
            <p:nvPr/>
          </p:nvSpPr>
          <p:spPr bwMode="ltGray">
            <a:xfrm>
              <a:off x="2688" y="1373"/>
              <a:ext cx="2496" cy="542"/>
            </a:xfrm>
            <a:custGeom>
              <a:avLst/>
              <a:gdLst>
                <a:gd name="T0" fmla="*/ 0 w 2496"/>
                <a:gd name="T1" fmla="*/ 0 h 1920"/>
                <a:gd name="T2" fmla="*/ 2448 w 2496"/>
                <a:gd name="T3" fmla="*/ 0 h 1920"/>
                <a:gd name="T4" fmla="*/ 2496 w 2496"/>
                <a:gd name="T5" fmla="*/ 0 h 1920"/>
                <a:gd name="T6" fmla="*/ 2496 w 2496"/>
                <a:gd name="T7" fmla="*/ 1920 h 1920"/>
                <a:gd name="T8" fmla="*/ 2304 w 2496"/>
                <a:gd name="T9" fmla="*/ 1920 h 1920"/>
                <a:gd name="T10" fmla="*/ 0 60000 65536"/>
                <a:gd name="T11" fmla="*/ 0 60000 65536"/>
                <a:gd name="T12" fmla="*/ 0 60000 65536"/>
                <a:gd name="T13" fmla="*/ 0 60000 65536"/>
                <a:gd name="T14" fmla="*/ 0 60000 65536"/>
                <a:gd name="T15" fmla="*/ 0 w 2496"/>
                <a:gd name="T16" fmla="*/ 0 h 1920"/>
                <a:gd name="T17" fmla="*/ 2496 w 2496"/>
                <a:gd name="T18" fmla="*/ 1920 h 1920"/>
              </a:gdLst>
              <a:ahLst/>
              <a:cxnLst>
                <a:cxn ang="T10">
                  <a:pos x="T0" y="T1"/>
                </a:cxn>
                <a:cxn ang="T11">
                  <a:pos x="T2" y="T3"/>
                </a:cxn>
                <a:cxn ang="T12">
                  <a:pos x="T4" y="T5"/>
                </a:cxn>
                <a:cxn ang="T13">
                  <a:pos x="T6" y="T7"/>
                </a:cxn>
                <a:cxn ang="T14">
                  <a:pos x="T8" y="T9"/>
                </a:cxn>
              </a:cxnLst>
              <a:rect l="T15" t="T16" r="T17" b="T18"/>
              <a:pathLst>
                <a:path w="2496" h="1920">
                  <a:moveTo>
                    <a:pt x="0" y="0"/>
                  </a:moveTo>
                  <a:lnTo>
                    <a:pt x="2448" y="0"/>
                  </a:lnTo>
                  <a:lnTo>
                    <a:pt x="2496" y="0"/>
                  </a:lnTo>
                  <a:lnTo>
                    <a:pt x="2496" y="1920"/>
                  </a:lnTo>
                  <a:lnTo>
                    <a:pt x="2304" y="1920"/>
                  </a:lnTo>
                </a:path>
              </a:pathLst>
            </a:custGeom>
            <a:noFill/>
            <a:ln w="38100">
              <a:solidFill>
                <a:srgbClr val="339966"/>
              </a:solidFill>
              <a:round/>
              <a:headEnd/>
              <a:tailEnd/>
            </a:ln>
          </p:spPr>
          <p:txBody>
            <a:bodyPr anchor="ctr">
              <a:spAutoFit/>
            </a:bodyPr>
            <a:lstStyle/>
            <a:p>
              <a:endParaRPr lang="en-US"/>
            </a:p>
          </p:txBody>
        </p:sp>
        <p:sp>
          <p:nvSpPr>
            <p:cNvPr id="7247" name="Line 1045"/>
            <p:cNvSpPr>
              <a:spLocks noChangeShapeType="1"/>
            </p:cNvSpPr>
            <p:nvPr/>
          </p:nvSpPr>
          <p:spPr bwMode="ltGray">
            <a:xfrm flipV="1">
              <a:off x="996" y="1915"/>
              <a:ext cx="4010" cy="7"/>
            </a:xfrm>
            <a:prstGeom prst="line">
              <a:avLst/>
            </a:prstGeom>
            <a:noFill/>
            <a:ln w="38100">
              <a:solidFill>
                <a:srgbClr val="339966"/>
              </a:solidFill>
              <a:round/>
              <a:headEnd/>
              <a:tailEnd/>
            </a:ln>
          </p:spPr>
          <p:txBody>
            <a:bodyPr anchor="ctr">
              <a:spAutoFit/>
            </a:bodyPr>
            <a:lstStyle/>
            <a:p>
              <a:endParaRPr lang="en-US"/>
            </a:p>
          </p:txBody>
        </p:sp>
        <p:sp>
          <p:nvSpPr>
            <p:cNvPr id="7248" name="Text Box 1046"/>
            <p:cNvSpPr txBox="1">
              <a:spLocks noChangeArrowheads="1"/>
            </p:cNvSpPr>
            <p:nvPr/>
          </p:nvSpPr>
          <p:spPr bwMode="ltGray">
            <a:xfrm>
              <a:off x="3299" y="1377"/>
              <a:ext cx="784" cy="250"/>
            </a:xfrm>
            <a:prstGeom prst="rect">
              <a:avLst/>
            </a:prstGeom>
            <a:noFill/>
            <a:ln w="9525">
              <a:noFill/>
              <a:miter lim="800000"/>
              <a:headEnd/>
              <a:tailEnd/>
            </a:ln>
          </p:spPr>
          <p:txBody>
            <a:bodyPr wrap="none" anchor="ctr">
              <a:spAutoFit/>
            </a:bodyPr>
            <a:lstStyle/>
            <a:p>
              <a:r>
                <a:rPr lang="en-US" sz="2000">
                  <a:solidFill>
                    <a:schemeClr val="bg1"/>
                  </a:solidFill>
                  <a:latin typeface="Arial" charset="0"/>
                  <a:cs typeface="Times New Roman" pitchFamily="18" charset="0"/>
                </a:rPr>
                <a:t>DCR Bus</a:t>
              </a:r>
            </a:p>
          </p:txBody>
        </p:sp>
      </p:grpSp>
      <p:grpSp>
        <p:nvGrpSpPr>
          <p:cNvPr id="9" name="Group 1148"/>
          <p:cNvGrpSpPr>
            <a:grpSpLocks/>
          </p:cNvGrpSpPr>
          <p:nvPr/>
        </p:nvGrpSpPr>
        <p:grpSpPr bwMode="auto">
          <a:xfrm>
            <a:off x="4724400" y="3619500"/>
            <a:ext cx="3276600" cy="1371600"/>
            <a:chOff x="2976" y="2208"/>
            <a:chExt cx="2064" cy="864"/>
          </a:xfrm>
        </p:grpSpPr>
        <p:sp>
          <p:nvSpPr>
            <p:cNvPr id="7234" name="Line 1048"/>
            <p:cNvSpPr>
              <a:spLocks noChangeShapeType="1"/>
            </p:cNvSpPr>
            <p:nvPr/>
          </p:nvSpPr>
          <p:spPr bwMode="ltGray">
            <a:xfrm flipV="1">
              <a:off x="3360" y="2208"/>
              <a:ext cx="0" cy="480"/>
            </a:xfrm>
            <a:prstGeom prst="line">
              <a:avLst/>
            </a:prstGeom>
            <a:noFill/>
            <a:ln w="38100">
              <a:solidFill>
                <a:srgbClr val="66FF66"/>
              </a:solidFill>
              <a:round/>
              <a:headEnd type="triangle" w="med" len="med"/>
              <a:tailEnd type="triangle" w="med" len="med"/>
            </a:ln>
          </p:spPr>
          <p:txBody>
            <a:bodyPr anchor="ctr">
              <a:spAutoFit/>
            </a:bodyPr>
            <a:lstStyle/>
            <a:p>
              <a:endParaRPr lang="en-US"/>
            </a:p>
          </p:txBody>
        </p:sp>
        <p:sp>
          <p:nvSpPr>
            <p:cNvPr id="7235" name="Line 1049"/>
            <p:cNvSpPr>
              <a:spLocks noChangeShapeType="1"/>
            </p:cNvSpPr>
            <p:nvPr/>
          </p:nvSpPr>
          <p:spPr bwMode="ltGray">
            <a:xfrm flipV="1">
              <a:off x="3936" y="2208"/>
              <a:ext cx="0" cy="480"/>
            </a:xfrm>
            <a:prstGeom prst="line">
              <a:avLst/>
            </a:prstGeom>
            <a:noFill/>
            <a:ln w="38100">
              <a:solidFill>
                <a:srgbClr val="66FF66"/>
              </a:solidFill>
              <a:round/>
              <a:headEnd type="triangle" w="med" len="med"/>
              <a:tailEnd type="triangle" w="med" len="med"/>
            </a:ln>
          </p:spPr>
          <p:txBody>
            <a:bodyPr anchor="ctr">
              <a:spAutoFit/>
            </a:bodyPr>
            <a:lstStyle/>
            <a:p>
              <a:endParaRPr lang="en-US"/>
            </a:p>
          </p:txBody>
        </p:sp>
        <p:sp>
          <p:nvSpPr>
            <p:cNvPr id="7236" name="Line 1050"/>
            <p:cNvSpPr>
              <a:spLocks noChangeShapeType="1"/>
            </p:cNvSpPr>
            <p:nvPr/>
          </p:nvSpPr>
          <p:spPr bwMode="ltGray">
            <a:xfrm flipV="1">
              <a:off x="4512" y="2208"/>
              <a:ext cx="0" cy="480"/>
            </a:xfrm>
            <a:prstGeom prst="line">
              <a:avLst/>
            </a:prstGeom>
            <a:noFill/>
            <a:ln w="38100">
              <a:solidFill>
                <a:srgbClr val="66FF66"/>
              </a:solidFill>
              <a:round/>
              <a:headEnd type="triangle" w="med" len="med"/>
              <a:tailEnd type="triangle" w="med" len="med"/>
            </a:ln>
          </p:spPr>
          <p:txBody>
            <a:bodyPr anchor="ctr">
              <a:spAutoFit/>
            </a:bodyPr>
            <a:lstStyle/>
            <a:p>
              <a:endParaRPr lang="en-US"/>
            </a:p>
          </p:txBody>
        </p:sp>
        <p:grpSp>
          <p:nvGrpSpPr>
            <p:cNvPr id="10" name="Group 1147"/>
            <p:cNvGrpSpPr>
              <a:grpSpLocks/>
            </p:cNvGrpSpPr>
            <p:nvPr/>
          </p:nvGrpSpPr>
          <p:grpSpPr bwMode="auto">
            <a:xfrm>
              <a:off x="2976" y="2688"/>
              <a:ext cx="576" cy="384"/>
              <a:chOff x="2976" y="2688"/>
              <a:chExt cx="576" cy="384"/>
            </a:xfrm>
          </p:grpSpPr>
          <p:sp>
            <p:nvSpPr>
              <p:cNvPr id="614428" name="Rectangle 1052"/>
              <p:cNvSpPr>
                <a:spLocks noChangeArrowheads="1"/>
              </p:cNvSpPr>
              <p:nvPr/>
            </p:nvSpPr>
            <p:spPr bwMode="ltGray">
              <a:xfrm>
                <a:off x="2976" y="2688"/>
                <a:ext cx="576" cy="384"/>
              </a:xfrm>
              <a:prstGeom prst="rect">
                <a:avLst/>
              </a:prstGeom>
              <a:gradFill rotWithShape="0">
                <a:gsLst>
                  <a:gs pos="0">
                    <a:srgbClr val="006666">
                      <a:gamma/>
                      <a:tint val="73725"/>
                      <a:invGamma/>
                    </a:srgbClr>
                  </a:gs>
                  <a:gs pos="100000">
                    <a:srgbClr val="006666"/>
                  </a:gs>
                </a:gsLst>
                <a:lin ang="5400000" scaled="1"/>
              </a:gradFill>
              <a:ln w="9525">
                <a:solidFill>
                  <a:schemeClr val="tx1"/>
                </a:solidFill>
                <a:miter lim="800000"/>
                <a:headEnd/>
                <a:tailEnd/>
              </a:ln>
              <a:effectLst>
                <a:outerShdw dist="35921" dir="2700000" algn="ctr" rotWithShape="0">
                  <a:schemeClr val="bg2"/>
                </a:outerShdw>
              </a:effectLst>
            </p:spPr>
            <p:txBody>
              <a:bodyPr anchor="ctr">
                <a:spAutoFit/>
              </a:bodyPr>
              <a:lstStyle/>
              <a:p>
                <a:pPr>
                  <a:defRPr/>
                </a:pPr>
                <a:endParaRPr lang="en-US"/>
              </a:p>
            </p:txBody>
          </p:sp>
          <p:sp>
            <p:nvSpPr>
              <p:cNvPr id="7245" name="Text Box 1053"/>
              <p:cNvSpPr txBox="1">
                <a:spLocks noChangeArrowheads="1"/>
              </p:cNvSpPr>
              <p:nvPr/>
            </p:nvSpPr>
            <p:spPr bwMode="ltGray">
              <a:xfrm>
                <a:off x="3047" y="2803"/>
                <a:ext cx="427" cy="192"/>
              </a:xfrm>
              <a:prstGeom prst="rect">
                <a:avLst/>
              </a:prstGeom>
              <a:noFill/>
              <a:ln w="38100">
                <a:noFill/>
                <a:miter lim="800000"/>
                <a:headEnd/>
                <a:tailEnd/>
              </a:ln>
            </p:spPr>
            <p:txBody>
              <a:bodyPr wrap="none" anchor="ctr">
                <a:spAutoFit/>
              </a:bodyPr>
              <a:lstStyle/>
              <a:p>
                <a:r>
                  <a:rPr lang="en-US" sz="1400" b="1">
                    <a:solidFill>
                      <a:schemeClr val="bg1"/>
                    </a:solidFill>
                    <a:latin typeface="Arial" charset="0"/>
                    <a:cs typeface="Times New Roman" pitchFamily="18" charset="0"/>
                  </a:rPr>
                  <a:t>UART</a:t>
                </a:r>
              </a:p>
            </p:txBody>
          </p:sp>
        </p:grpSp>
        <p:grpSp>
          <p:nvGrpSpPr>
            <p:cNvPr id="11" name="Group 1145"/>
            <p:cNvGrpSpPr>
              <a:grpSpLocks/>
            </p:cNvGrpSpPr>
            <p:nvPr/>
          </p:nvGrpSpPr>
          <p:grpSpPr bwMode="auto">
            <a:xfrm>
              <a:off x="3696" y="2688"/>
              <a:ext cx="576" cy="384"/>
              <a:chOff x="3696" y="2688"/>
              <a:chExt cx="576" cy="384"/>
            </a:xfrm>
          </p:grpSpPr>
          <p:sp>
            <p:nvSpPr>
              <p:cNvPr id="614431" name="Rectangle 1055"/>
              <p:cNvSpPr>
                <a:spLocks noChangeArrowheads="1"/>
              </p:cNvSpPr>
              <p:nvPr/>
            </p:nvSpPr>
            <p:spPr bwMode="ltGray">
              <a:xfrm>
                <a:off x="3696" y="2688"/>
                <a:ext cx="576" cy="384"/>
              </a:xfrm>
              <a:prstGeom prst="rect">
                <a:avLst/>
              </a:prstGeom>
              <a:gradFill rotWithShape="0">
                <a:gsLst>
                  <a:gs pos="0">
                    <a:srgbClr val="006666">
                      <a:gamma/>
                      <a:tint val="73725"/>
                      <a:invGamma/>
                    </a:srgbClr>
                  </a:gs>
                  <a:gs pos="100000">
                    <a:srgbClr val="006666"/>
                  </a:gs>
                </a:gsLst>
                <a:lin ang="5400000" scaled="1"/>
              </a:gradFill>
              <a:ln w="9525">
                <a:solidFill>
                  <a:schemeClr val="tx1"/>
                </a:solidFill>
                <a:miter lim="800000"/>
                <a:headEnd/>
                <a:tailEnd/>
              </a:ln>
              <a:effectLst>
                <a:outerShdw dist="35921" dir="2700000" algn="ctr" rotWithShape="0">
                  <a:schemeClr val="bg2"/>
                </a:outerShdw>
              </a:effectLst>
            </p:spPr>
            <p:txBody>
              <a:bodyPr anchor="ctr">
                <a:spAutoFit/>
              </a:bodyPr>
              <a:lstStyle/>
              <a:p>
                <a:pPr>
                  <a:defRPr/>
                </a:pPr>
                <a:endParaRPr lang="en-US"/>
              </a:p>
            </p:txBody>
          </p:sp>
          <p:sp>
            <p:nvSpPr>
              <p:cNvPr id="7243" name="Text Box 1056"/>
              <p:cNvSpPr txBox="1">
                <a:spLocks noChangeArrowheads="1"/>
              </p:cNvSpPr>
              <p:nvPr/>
            </p:nvSpPr>
            <p:spPr bwMode="ltGray">
              <a:xfrm>
                <a:off x="3783" y="2813"/>
                <a:ext cx="396" cy="192"/>
              </a:xfrm>
              <a:prstGeom prst="rect">
                <a:avLst/>
              </a:prstGeom>
              <a:noFill/>
              <a:ln w="38100">
                <a:noFill/>
                <a:miter lim="800000"/>
                <a:headEnd/>
                <a:tailEnd/>
              </a:ln>
            </p:spPr>
            <p:txBody>
              <a:bodyPr wrap="none" anchor="ctr">
                <a:spAutoFit/>
              </a:bodyPr>
              <a:lstStyle/>
              <a:p>
                <a:r>
                  <a:rPr lang="en-US" sz="1400" b="1">
                    <a:solidFill>
                      <a:schemeClr val="bg1"/>
                    </a:solidFill>
                    <a:latin typeface="Arial" charset="0"/>
                    <a:cs typeface="Times New Roman" pitchFamily="18" charset="0"/>
                  </a:rPr>
                  <a:t>GPIO</a:t>
                </a:r>
              </a:p>
            </p:txBody>
          </p:sp>
        </p:grpSp>
        <p:grpSp>
          <p:nvGrpSpPr>
            <p:cNvPr id="12" name="Group 1146"/>
            <p:cNvGrpSpPr>
              <a:grpSpLocks/>
            </p:cNvGrpSpPr>
            <p:nvPr/>
          </p:nvGrpSpPr>
          <p:grpSpPr bwMode="auto">
            <a:xfrm>
              <a:off x="4377" y="2688"/>
              <a:ext cx="663" cy="384"/>
              <a:chOff x="4377" y="2688"/>
              <a:chExt cx="663" cy="384"/>
            </a:xfrm>
          </p:grpSpPr>
          <p:sp>
            <p:nvSpPr>
              <p:cNvPr id="614434" name="Rectangle 1058"/>
              <p:cNvSpPr>
                <a:spLocks noChangeArrowheads="1"/>
              </p:cNvSpPr>
              <p:nvPr/>
            </p:nvSpPr>
            <p:spPr bwMode="ltGray">
              <a:xfrm>
                <a:off x="4416" y="2688"/>
                <a:ext cx="576" cy="384"/>
              </a:xfrm>
              <a:prstGeom prst="rect">
                <a:avLst/>
              </a:prstGeom>
              <a:gradFill rotWithShape="0">
                <a:gsLst>
                  <a:gs pos="0">
                    <a:srgbClr val="006666">
                      <a:gamma/>
                      <a:tint val="73725"/>
                      <a:invGamma/>
                    </a:srgbClr>
                  </a:gs>
                  <a:gs pos="100000">
                    <a:srgbClr val="006666"/>
                  </a:gs>
                </a:gsLst>
                <a:lin ang="5400000" scaled="1"/>
              </a:gradFill>
              <a:ln w="9525">
                <a:solidFill>
                  <a:schemeClr val="tx1"/>
                </a:solidFill>
                <a:miter lim="800000"/>
                <a:headEnd/>
                <a:tailEnd/>
              </a:ln>
              <a:effectLst>
                <a:outerShdw dist="35921" dir="2700000" algn="ctr" rotWithShape="0">
                  <a:schemeClr val="bg2"/>
                </a:outerShdw>
              </a:effectLst>
            </p:spPr>
            <p:txBody>
              <a:bodyPr anchor="ctr">
                <a:spAutoFit/>
              </a:bodyPr>
              <a:lstStyle/>
              <a:p>
                <a:pPr>
                  <a:defRPr/>
                </a:pPr>
                <a:endParaRPr lang="en-US"/>
              </a:p>
            </p:txBody>
          </p:sp>
          <p:sp>
            <p:nvSpPr>
              <p:cNvPr id="7241" name="Text Box 1059"/>
              <p:cNvSpPr txBox="1">
                <a:spLocks noChangeArrowheads="1"/>
              </p:cNvSpPr>
              <p:nvPr/>
            </p:nvSpPr>
            <p:spPr bwMode="ltGray">
              <a:xfrm>
                <a:off x="4377" y="2736"/>
                <a:ext cx="663" cy="326"/>
              </a:xfrm>
              <a:prstGeom prst="rect">
                <a:avLst/>
              </a:prstGeom>
              <a:noFill/>
              <a:ln w="38100">
                <a:noFill/>
                <a:miter lim="800000"/>
                <a:headEnd/>
                <a:tailEnd/>
              </a:ln>
            </p:spPr>
            <p:txBody>
              <a:bodyPr wrap="none" anchor="ctr">
                <a:spAutoFit/>
              </a:bodyPr>
              <a:lstStyle/>
              <a:p>
                <a:r>
                  <a:rPr lang="en-US" sz="1400" b="1">
                    <a:solidFill>
                      <a:schemeClr val="bg1"/>
                    </a:solidFill>
                    <a:latin typeface="Arial" charset="0"/>
                    <a:cs typeface="Times New Roman" pitchFamily="18" charset="0"/>
                  </a:rPr>
                  <a:t>On-Chip</a:t>
                </a:r>
              </a:p>
              <a:p>
                <a:r>
                  <a:rPr lang="en-US" sz="1400" b="1">
                    <a:solidFill>
                      <a:schemeClr val="bg1"/>
                    </a:solidFill>
                    <a:latin typeface="Arial" charset="0"/>
                    <a:cs typeface="Times New Roman" pitchFamily="18" charset="0"/>
                  </a:rPr>
                  <a:t>Peripheral</a:t>
                </a:r>
              </a:p>
            </p:txBody>
          </p:sp>
        </p:grpSp>
      </p:grpSp>
      <p:grpSp>
        <p:nvGrpSpPr>
          <p:cNvPr id="13" name="Group 1144"/>
          <p:cNvGrpSpPr>
            <a:grpSpLocks/>
          </p:cNvGrpSpPr>
          <p:nvPr/>
        </p:nvGrpSpPr>
        <p:grpSpPr bwMode="auto">
          <a:xfrm>
            <a:off x="1004888" y="3619500"/>
            <a:ext cx="3324225" cy="1416050"/>
            <a:chOff x="633" y="2208"/>
            <a:chExt cx="2094" cy="892"/>
          </a:xfrm>
        </p:grpSpPr>
        <p:sp>
          <p:nvSpPr>
            <p:cNvPr id="7222" name="Line 1061"/>
            <p:cNvSpPr>
              <a:spLocks noChangeShapeType="1"/>
            </p:cNvSpPr>
            <p:nvPr/>
          </p:nvSpPr>
          <p:spPr bwMode="ltGray">
            <a:xfrm flipV="1">
              <a:off x="1152" y="2208"/>
              <a:ext cx="0" cy="480"/>
            </a:xfrm>
            <a:prstGeom prst="line">
              <a:avLst/>
            </a:prstGeom>
            <a:noFill/>
            <a:ln w="38100">
              <a:solidFill>
                <a:srgbClr val="66FF66"/>
              </a:solidFill>
              <a:round/>
              <a:headEnd type="triangle" w="med" len="med"/>
              <a:tailEnd type="triangle" w="med" len="med"/>
            </a:ln>
          </p:spPr>
          <p:txBody>
            <a:bodyPr anchor="ctr">
              <a:spAutoFit/>
            </a:bodyPr>
            <a:lstStyle/>
            <a:p>
              <a:endParaRPr lang="en-US"/>
            </a:p>
          </p:txBody>
        </p:sp>
        <p:sp>
          <p:nvSpPr>
            <p:cNvPr id="7223" name="Line 1062"/>
            <p:cNvSpPr>
              <a:spLocks noChangeShapeType="1"/>
            </p:cNvSpPr>
            <p:nvPr/>
          </p:nvSpPr>
          <p:spPr bwMode="ltGray">
            <a:xfrm flipV="1">
              <a:off x="1728" y="2208"/>
              <a:ext cx="0" cy="480"/>
            </a:xfrm>
            <a:prstGeom prst="line">
              <a:avLst/>
            </a:prstGeom>
            <a:noFill/>
            <a:ln w="38100">
              <a:solidFill>
                <a:srgbClr val="66FF66"/>
              </a:solidFill>
              <a:round/>
              <a:headEnd type="triangle" w="med" len="med"/>
              <a:tailEnd type="triangle" w="med" len="med"/>
            </a:ln>
          </p:spPr>
          <p:txBody>
            <a:bodyPr anchor="ctr">
              <a:spAutoFit/>
            </a:bodyPr>
            <a:lstStyle/>
            <a:p>
              <a:endParaRPr lang="en-US"/>
            </a:p>
          </p:txBody>
        </p:sp>
        <p:sp>
          <p:nvSpPr>
            <p:cNvPr id="7224" name="Line 1063"/>
            <p:cNvSpPr>
              <a:spLocks noChangeShapeType="1"/>
            </p:cNvSpPr>
            <p:nvPr/>
          </p:nvSpPr>
          <p:spPr bwMode="ltGray">
            <a:xfrm flipV="1">
              <a:off x="2304" y="2208"/>
              <a:ext cx="0" cy="480"/>
            </a:xfrm>
            <a:prstGeom prst="line">
              <a:avLst/>
            </a:prstGeom>
            <a:noFill/>
            <a:ln w="38100">
              <a:solidFill>
                <a:srgbClr val="66FF66"/>
              </a:solidFill>
              <a:round/>
              <a:headEnd type="triangle" w="med" len="med"/>
              <a:tailEnd type="triangle" w="med" len="med"/>
            </a:ln>
          </p:spPr>
          <p:txBody>
            <a:bodyPr anchor="ctr">
              <a:spAutoFit/>
            </a:bodyPr>
            <a:lstStyle/>
            <a:p>
              <a:endParaRPr lang="en-US"/>
            </a:p>
          </p:txBody>
        </p:sp>
        <p:grpSp>
          <p:nvGrpSpPr>
            <p:cNvPr id="14" name="Group 1141"/>
            <p:cNvGrpSpPr>
              <a:grpSpLocks/>
            </p:cNvGrpSpPr>
            <p:nvPr/>
          </p:nvGrpSpPr>
          <p:grpSpPr bwMode="auto">
            <a:xfrm>
              <a:off x="633" y="2688"/>
              <a:ext cx="663" cy="384"/>
              <a:chOff x="633" y="2688"/>
              <a:chExt cx="663" cy="384"/>
            </a:xfrm>
          </p:grpSpPr>
          <p:sp>
            <p:nvSpPr>
              <p:cNvPr id="614441" name="Rectangle 1065"/>
              <p:cNvSpPr>
                <a:spLocks noChangeArrowheads="1"/>
              </p:cNvSpPr>
              <p:nvPr/>
            </p:nvSpPr>
            <p:spPr bwMode="ltGray">
              <a:xfrm>
                <a:off x="672" y="2688"/>
                <a:ext cx="576" cy="384"/>
              </a:xfrm>
              <a:prstGeom prst="rect">
                <a:avLst/>
              </a:prstGeom>
              <a:gradFill rotWithShape="0">
                <a:gsLst>
                  <a:gs pos="0">
                    <a:srgbClr val="800080">
                      <a:gamma/>
                      <a:tint val="73725"/>
                      <a:invGamma/>
                    </a:srgbClr>
                  </a:gs>
                  <a:gs pos="100000">
                    <a:srgbClr val="800080"/>
                  </a:gs>
                </a:gsLst>
                <a:lin ang="5400000" scaled="1"/>
              </a:gradFill>
              <a:ln w="9525">
                <a:solidFill>
                  <a:schemeClr val="tx1"/>
                </a:solidFill>
                <a:miter lim="800000"/>
                <a:headEnd/>
                <a:tailEnd/>
              </a:ln>
              <a:effectLst>
                <a:outerShdw dist="35921" dir="2700000" algn="ctr" rotWithShape="0">
                  <a:schemeClr val="bg2"/>
                </a:outerShdw>
              </a:effectLst>
            </p:spPr>
            <p:txBody>
              <a:bodyPr anchor="ctr">
                <a:spAutoFit/>
              </a:bodyPr>
              <a:lstStyle/>
              <a:p>
                <a:pPr>
                  <a:defRPr/>
                </a:pPr>
                <a:endParaRPr lang="en-US"/>
              </a:p>
            </p:txBody>
          </p:sp>
          <p:sp>
            <p:nvSpPr>
              <p:cNvPr id="7233" name="Text Box 1066"/>
              <p:cNvSpPr txBox="1">
                <a:spLocks noChangeArrowheads="1"/>
              </p:cNvSpPr>
              <p:nvPr/>
            </p:nvSpPr>
            <p:spPr bwMode="ltGray">
              <a:xfrm>
                <a:off x="633" y="2736"/>
                <a:ext cx="663" cy="326"/>
              </a:xfrm>
              <a:prstGeom prst="rect">
                <a:avLst/>
              </a:prstGeom>
              <a:noFill/>
              <a:ln w="38100">
                <a:noFill/>
                <a:miter lim="800000"/>
                <a:headEnd/>
                <a:tailEnd/>
              </a:ln>
            </p:spPr>
            <p:txBody>
              <a:bodyPr wrap="none" anchor="ctr">
                <a:spAutoFit/>
              </a:bodyPr>
              <a:lstStyle/>
              <a:p>
                <a:r>
                  <a:rPr lang="en-US" sz="1400" b="1">
                    <a:solidFill>
                      <a:schemeClr val="bg1"/>
                    </a:solidFill>
                    <a:latin typeface="Arial" charset="0"/>
                    <a:cs typeface="Times New Roman" pitchFamily="18" charset="0"/>
                  </a:rPr>
                  <a:t>Hi-Speed</a:t>
                </a:r>
              </a:p>
              <a:p>
                <a:r>
                  <a:rPr lang="en-US" sz="1400" b="1">
                    <a:solidFill>
                      <a:schemeClr val="bg1"/>
                    </a:solidFill>
                    <a:latin typeface="Arial" charset="0"/>
                    <a:cs typeface="Times New Roman" pitchFamily="18" charset="0"/>
                  </a:rPr>
                  <a:t>Peripheral</a:t>
                </a:r>
              </a:p>
            </p:txBody>
          </p:sp>
        </p:grpSp>
        <p:grpSp>
          <p:nvGrpSpPr>
            <p:cNvPr id="15" name="Group 1143"/>
            <p:cNvGrpSpPr>
              <a:grpSpLocks/>
            </p:cNvGrpSpPr>
            <p:nvPr/>
          </p:nvGrpSpPr>
          <p:grpSpPr bwMode="auto">
            <a:xfrm>
              <a:off x="2064" y="2688"/>
              <a:ext cx="663" cy="384"/>
              <a:chOff x="2064" y="2688"/>
              <a:chExt cx="663" cy="384"/>
            </a:xfrm>
          </p:grpSpPr>
          <p:sp>
            <p:nvSpPr>
              <p:cNvPr id="614444" name="Rectangle 1068"/>
              <p:cNvSpPr>
                <a:spLocks noChangeArrowheads="1"/>
              </p:cNvSpPr>
              <p:nvPr/>
            </p:nvSpPr>
            <p:spPr bwMode="ltGray">
              <a:xfrm>
                <a:off x="2112" y="2688"/>
                <a:ext cx="576" cy="384"/>
              </a:xfrm>
              <a:prstGeom prst="rect">
                <a:avLst/>
              </a:prstGeom>
              <a:gradFill rotWithShape="0">
                <a:gsLst>
                  <a:gs pos="0">
                    <a:srgbClr val="800080">
                      <a:gamma/>
                      <a:tint val="73725"/>
                      <a:invGamma/>
                    </a:srgbClr>
                  </a:gs>
                  <a:gs pos="100000">
                    <a:srgbClr val="800080"/>
                  </a:gs>
                </a:gsLst>
                <a:lin ang="5400000" scaled="1"/>
              </a:gradFill>
              <a:ln w="9525">
                <a:solidFill>
                  <a:schemeClr val="tx1"/>
                </a:solidFill>
                <a:miter lim="800000"/>
                <a:headEnd/>
                <a:tailEnd/>
              </a:ln>
              <a:effectLst>
                <a:outerShdw dist="35921" dir="2700000" algn="ctr" rotWithShape="0">
                  <a:schemeClr val="bg2"/>
                </a:outerShdw>
              </a:effectLst>
            </p:spPr>
            <p:txBody>
              <a:bodyPr anchor="ctr">
                <a:spAutoFit/>
              </a:bodyPr>
              <a:lstStyle/>
              <a:p>
                <a:pPr>
                  <a:defRPr/>
                </a:pPr>
                <a:endParaRPr lang="en-US"/>
              </a:p>
            </p:txBody>
          </p:sp>
          <p:sp>
            <p:nvSpPr>
              <p:cNvPr id="7231" name="Text Box 1069"/>
              <p:cNvSpPr txBox="1">
                <a:spLocks noChangeArrowheads="1"/>
              </p:cNvSpPr>
              <p:nvPr/>
            </p:nvSpPr>
            <p:spPr bwMode="ltGray">
              <a:xfrm>
                <a:off x="2064" y="2736"/>
                <a:ext cx="663" cy="326"/>
              </a:xfrm>
              <a:prstGeom prst="rect">
                <a:avLst/>
              </a:prstGeom>
              <a:noFill/>
              <a:ln w="38100">
                <a:noFill/>
                <a:miter lim="800000"/>
                <a:headEnd/>
                <a:tailEnd/>
              </a:ln>
            </p:spPr>
            <p:txBody>
              <a:bodyPr anchor="ctr">
                <a:spAutoFit/>
              </a:bodyPr>
              <a:lstStyle/>
              <a:p>
                <a:r>
                  <a:rPr lang="en-US" sz="1400" b="1">
                    <a:solidFill>
                      <a:schemeClr val="bg1"/>
                    </a:solidFill>
                    <a:latin typeface="Arial" charset="0"/>
                    <a:cs typeface="Times New Roman" pitchFamily="18" charset="0"/>
                  </a:rPr>
                  <a:t>GB </a:t>
                </a:r>
              </a:p>
              <a:p>
                <a:r>
                  <a:rPr lang="en-US" sz="1400" b="1">
                    <a:solidFill>
                      <a:schemeClr val="bg1"/>
                    </a:solidFill>
                    <a:latin typeface="Arial" charset="0"/>
                    <a:cs typeface="Times New Roman" pitchFamily="18" charset="0"/>
                  </a:rPr>
                  <a:t>E-Net</a:t>
                </a:r>
              </a:p>
            </p:txBody>
          </p:sp>
        </p:grpSp>
        <p:grpSp>
          <p:nvGrpSpPr>
            <p:cNvPr id="16" name="Group 1142"/>
            <p:cNvGrpSpPr>
              <a:grpSpLocks/>
            </p:cNvGrpSpPr>
            <p:nvPr/>
          </p:nvGrpSpPr>
          <p:grpSpPr bwMode="auto">
            <a:xfrm>
              <a:off x="1366" y="2640"/>
              <a:ext cx="650" cy="460"/>
              <a:chOff x="1366" y="2640"/>
              <a:chExt cx="650" cy="460"/>
            </a:xfrm>
          </p:grpSpPr>
          <p:sp>
            <p:nvSpPr>
              <p:cNvPr id="614447" name="Rectangle 1071"/>
              <p:cNvSpPr>
                <a:spLocks noChangeArrowheads="1"/>
              </p:cNvSpPr>
              <p:nvPr/>
            </p:nvSpPr>
            <p:spPr bwMode="ltGray">
              <a:xfrm>
                <a:off x="1392" y="2688"/>
                <a:ext cx="576" cy="384"/>
              </a:xfrm>
              <a:prstGeom prst="rect">
                <a:avLst/>
              </a:prstGeom>
              <a:gradFill rotWithShape="0">
                <a:gsLst>
                  <a:gs pos="0">
                    <a:srgbClr val="800080">
                      <a:gamma/>
                      <a:tint val="73725"/>
                      <a:invGamma/>
                    </a:srgbClr>
                  </a:gs>
                  <a:gs pos="100000">
                    <a:srgbClr val="800080"/>
                  </a:gs>
                </a:gsLst>
                <a:lin ang="5400000" scaled="1"/>
              </a:gradFill>
              <a:ln w="9525">
                <a:solidFill>
                  <a:schemeClr val="tx1"/>
                </a:solidFill>
                <a:miter lim="800000"/>
                <a:headEnd/>
                <a:tailEnd/>
              </a:ln>
              <a:effectLst>
                <a:outerShdw dist="35921" dir="2700000" algn="ctr" rotWithShape="0">
                  <a:schemeClr val="bg2"/>
                </a:outerShdw>
              </a:effectLst>
            </p:spPr>
            <p:txBody>
              <a:bodyPr anchor="ctr">
                <a:spAutoFit/>
              </a:bodyPr>
              <a:lstStyle/>
              <a:p>
                <a:pPr>
                  <a:defRPr/>
                </a:pPr>
                <a:endParaRPr lang="en-US"/>
              </a:p>
            </p:txBody>
          </p:sp>
          <p:sp>
            <p:nvSpPr>
              <p:cNvPr id="7229" name="Text Box 1072"/>
              <p:cNvSpPr txBox="1">
                <a:spLocks noChangeArrowheads="1"/>
              </p:cNvSpPr>
              <p:nvPr/>
            </p:nvSpPr>
            <p:spPr bwMode="ltGray">
              <a:xfrm>
                <a:off x="1366" y="2640"/>
                <a:ext cx="650" cy="460"/>
              </a:xfrm>
              <a:prstGeom prst="rect">
                <a:avLst/>
              </a:prstGeom>
              <a:noFill/>
              <a:ln w="38100">
                <a:noFill/>
                <a:miter lim="800000"/>
                <a:headEnd/>
                <a:tailEnd/>
              </a:ln>
            </p:spPr>
            <p:txBody>
              <a:bodyPr wrap="none" anchor="ctr">
                <a:spAutoFit/>
              </a:bodyPr>
              <a:lstStyle/>
              <a:p>
                <a:r>
                  <a:rPr lang="en-US" sz="1400" b="1">
                    <a:solidFill>
                      <a:schemeClr val="bg1"/>
                    </a:solidFill>
                    <a:latin typeface="Arial" charset="0"/>
                    <a:cs typeface="Times New Roman" pitchFamily="18" charset="0"/>
                  </a:rPr>
                  <a:t>e.g.</a:t>
                </a:r>
              </a:p>
              <a:p>
                <a:r>
                  <a:rPr lang="en-US" sz="1400" b="1">
                    <a:solidFill>
                      <a:schemeClr val="bg1"/>
                    </a:solidFill>
                    <a:latin typeface="Arial" charset="0"/>
                    <a:cs typeface="Times New Roman" pitchFamily="18" charset="0"/>
                  </a:rPr>
                  <a:t>Memory</a:t>
                </a:r>
              </a:p>
              <a:p>
                <a:r>
                  <a:rPr lang="en-US" sz="1400" b="1">
                    <a:solidFill>
                      <a:schemeClr val="bg1"/>
                    </a:solidFill>
                    <a:latin typeface="Arial" charset="0"/>
                    <a:cs typeface="Times New Roman" pitchFamily="18" charset="0"/>
                  </a:rPr>
                  <a:t>Controller</a:t>
                </a:r>
              </a:p>
            </p:txBody>
          </p:sp>
        </p:grpSp>
      </p:grpSp>
      <p:grpSp>
        <p:nvGrpSpPr>
          <p:cNvPr id="17" name="Group 1073"/>
          <p:cNvGrpSpPr>
            <a:grpSpLocks/>
          </p:cNvGrpSpPr>
          <p:nvPr/>
        </p:nvGrpSpPr>
        <p:grpSpPr bwMode="auto">
          <a:xfrm>
            <a:off x="4876800" y="2933700"/>
            <a:ext cx="2895600" cy="963613"/>
            <a:chOff x="3072" y="1776"/>
            <a:chExt cx="1824" cy="607"/>
          </a:xfrm>
        </p:grpSpPr>
        <p:sp>
          <p:nvSpPr>
            <p:cNvPr id="7217" name="Rectangle 1074"/>
            <p:cNvSpPr>
              <a:spLocks noChangeArrowheads="1"/>
            </p:cNvSpPr>
            <p:nvPr/>
          </p:nvSpPr>
          <p:spPr bwMode="ltGray">
            <a:xfrm>
              <a:off x="4656" y="1796"/>
              <a:ext cx="192" cy="576"/>
            </a:xfrm>
            <a:prstGeom prst="rect">
              <a:avLst/>
            </a:prstGeom>
            <a:gradFill rotWithShape="0">
              <a:gsLst>
                <a:gs pos="0">
                  <a:srgbClr val="000047"/>
                </a:gs>
                <a:gs pos="100000">
                  <a:srgbClr val="000099"/>
                </a:gs>
              </a:gsLst>
              <a:lin ang="5400000" scaled="1"/>
            </a:gradFill>
            <a:ln w="9525">
              <a:solidFill>
                <a:schemeClr val="tx1"/>
              </a:solidFill>
              <a:miter lim="800000"/>
              <a:headEnd/>
              <a:tailEnd/>
            </a:ln>
          </p:spPr>
          <p:txBody>
            <a:bodyPr wrap="none" anchor="ctr">
              <a:spAutoFit/>
            </a:bodyPr>
            <a:lstStyle/>
            <a:p>
              <a:endParaRPr lang="en-US"/>
            </a:p>
          </p:txBody>
        </p:sp>
        <p:sp>
          <p:nvSpPr>
            <p:cNvPr id="7218" name="Text Box 1075"/>
            <p:cNvSpPr txBox="1">
              <a:spLocks noChangeArrowheads="1"/>
            </p:cNvSpPr>
            <p:nvPr/>
          </p:nvSpPr>
          <p:spPr bwMode="ltGray">
            <a:xfrm rot="5400000">
              <a:off x="4477" y="1965"/>
              <a:ext cx="587" cy="250"/>
            </a:xfrm>
            <a:prstGeom prst="rect">
              <a:avLst/>
            </a:prstGeom>
            <a:noFill/>
            <a:ln w="9525">
              <a:noFill/>
              <a:miter lim="800000"/>
              <a:headEnd/>
              <a:tailEnd/>
            </a:ln>
          </p:spPr>
          <p:txBody>
            <a:bodyPr wrap="none" anchor="ctr">
              <a:spAutoFit/>
            </a:bodyPr>
            <a:lstStyle/>
            <a:p>
              <a:r>
                <a:rPr lang="en-US" sz="2000">
                  <a:solidFill>
                    <a:schemeClr val="bg1"/>
                  </a:solidFill>
                  <a:latin typeface="Arial" charset="0"/>
                  <a:cs typeface="Times New Roman" pitchFamily="18" charset="0"/>
                </a:rPr>
                <a:t>Arbiter</a:t>
              </a:r>
            </a:p>
          </p:txBody>
        </p:sp>
        <p:sp>
          <p:nvSpPr>
            <p:cNvPr id="7219" name="Rectangle 1076"/>
            <p:cNvSpPr>
              <a:spLocks noChangeArrowheads="1"/>
            </p:cNvSpPr>
            <p:nvPr/>
          </p:nvSpPr>
          <p:spPr bwMode="ltGray">
            <a:xfrm>
              <a:off x="3072" y="2036"/>
              <a:ext cx="1584" cy="172"/>
            </a:xfrm>
            <a:prstGeom prst="rect">
              <a:avLst/>
            </a:prstGeom>
            <a:gradFill rotWithShape="0">
              <a:gsLst>
                <a:gs pos="0">
                  <a:srgbClr val="5E4700"/>
                </a:gs>
                <a:gs pos="100000">
                  <a:srgbClr val="CC9900"/>
                </a:gs>
              </a:gsLst>
              <a:lin ang="5400000" scaled="1"/>
            </a:gradFill>
            <a:ln w="9525">
              <a:solidFill>
                <a:schemeClr val="tx1"/>
              </a:solidFill>
              <a:miter lim="800000"/>
              <a:headEnd/>
              <a:tailEnd/>
            </a:ln>
          </p:spPr>
          <p:txBody>
            <a:bodyPr anchor="ctr">
              <a:spAutoFit/>
            </a:bodyPr>
            <a:lstStyle/>
            <a:p>
              <a:endParaRPr lang="en-US"/>
            </a:p>
          </p:txBody>
        </p:sp>
        <p:sp>
          <p:nvSpPr>
            <p:cNvPr id="7220" name="Text Box 1077"/>
            <p:cNvSpPr txBox="1">
              <a:spLocks noChangeArrowheads="1"/>
            </p:cNvSpPr>
            <p:nvPr/>
          </p:nvSpPr>
          <p:spPr bwMode="ltGray">
            <a:xfrm>
              <a:off x="3072" y="2016"/>
              <a:ext cx="1560" cy="212"/>
            </a:xfrm>
            <a:prstGeom prst="rect">
              <a:avLst/>
            </a:prstGeom>
            <a:noFill/>
            <a:ln w="9525">
              <a:noFill/>
              <a:miter lim="800000"/>
              <a:headEnd/>
              <a:tailEnd/>
            </a:ln>
          </p:spPr>
          <p:txBody>
            <a:bodyPr wrap="none" anchor="ctr">
              <a:spAutoFit/>
            </a:bodyPr>
            <a:lstStyle/>
            <a:p>
              <a:r>
                <a:rPr lang="en-US" sz="1600" b="1">
                  <a:solidFill>
                    <a:schemeClr val="bg1"/>
                  </a:solidFill>
                  <a:latin typeface="Arial" charset="0"/>
                  <a:cs typeface="Times New Roman" pitchFamily="18" charset="0"/>
                </a:rPr>
                <a:t>On-Chip Peripheral Bus</a:t>
              </a:r>
            </a:p>
          </p:txBody>
        </p:sp>
        <p:sp>
          <p:nvSpPr>
            <p:cNvPr id="7221" name="Text Box 1078"/>
            <p:cNvSpPr txBox="1">
              <a:spLocks noChangeArrowheads="1"/>
            </p:cNvSpPr>
            <p:nvPr/>
          </p:nvSpPr>
          <p:spPr bwMode="ltGray">
            <a:xfrm>
              <a:off x="3617" y="1776"/>
              <a:ext cx="463" cy="250"/>
            </a:xfrm>
            <a:prstGeom prst="rect">
              <a:avLst/>
            </a:prstGeom>
            <a:noFill/>
            <a:ln w="9525">
              <a:noFill/>
              <a:miter lim="800000"/>
              <a:headEnd/>
              <a:tailEnd/>
            </a:ln>
          </p:spPr>
          <p:txBody>
            <a:bodyPr wrap="none" anchor="ctr">
              <a:spAutoFit/>
            </a:bodyPr>
            <a:lstStyle/>
            <a:p>
              <a:r>
                <a:rPr lang="en-US" sz="2000" b="1">
                  <a:solidFill>
                    <a:schemeClr val="bg1"/>
                  </a:solidFill>
                  <a:latin typeface="Arial" charset="0"/>
                  <a:cs typeface="Times New Roman" pitchFamily="18" charset="0"/>
                </a:rPr>
                <a:t>OPB</a:t>
              </a:r>
            </a:p>
          </p:txBody>
        </p:sp>
      </p:grpSp>
      <p:sp>
        <p:nvSpPr>
          <p:cNvPr id="7177" name="Rectangle 1080"/>
          <p:cNvSpPr>
            <a:spLocks noChangeArrowheads="1"/>
          </p:cNvSpPr>
          <p:nvPr/>
        </p:nvSpPr>
        <p:spPr bwMode="ltGray">
          <a:xfrm>
            <a:off x="1600200" y="3346450"/>
            <a:ext cx="2457450" cy="273050"/>
          </a:xfrm>
          <a:prstGeom prst="rect">
            <a:avLst/>
          </a:prstGeom>
          <a:gradFill rotWithShape="0">
            <a:gsLst>
              <a:gs pos="0">
                <a:srgbClr val="002F00"/>
              </a:gs>
              <a:gs pos="100000">
                <a:srgbClr val="006600"/>
              </a:gs>
            </a:gsLst>
            <a:lin ang="5400000" scaled="1"/>
          </a:gradFill>
          <a:ln w="9525">
            <a:solidFill>
              <a:schemeClr val="tx1"/>
            </a:solidFill>
            <a:miter lim="800000"/>
            <a:headEnd/>
            <a:tailEnd/>
          </a:ln>
        </p:spPr>
        <p:txBody>
          <a:bodyPr anchor="ctr">
            <a:spAutoFit/>
          </a:bodyPr>
          <a:lstStyle/>
          <a:p>
            <a:endParaRPr lang="en-US"/>
          </a:p>
        </p:txBody>
      </p:sp>
      <p:sp>
        <p:nvSpPr>
          <p:cNvPr id="7178" name="Rectangle 1082"/>
          <p:cNvSpPr>
            <a:spLocks noChangeArrowheads="1"/>
          </p:cNvSpPr>
          <p:nvPr/>
        </p:nvSpPr>
        <p:spPr bwMode="ltGray">
          <a:xfrm>
            <a:off x="1295400" y="2965450"/>
            <a:ext cx="304800" cy="914400"/>
          </a:xfrm>
          <a:prstGeom prst="rect">
            <a:avLst/>
          </a:prstGeom>
          <a:gradFill rotWithShape="0">
            <a:gsLst>
              <a:gs pos="0">
                <a:srgbClr val="000047"/>
              </a:gs>
              <a:gs pos="100000">
                <a:srgbClr val="000099"/>
              </a:gs>
            </a:gsLst>
            <a:lin ang="5400000" scaled="1"/>
          </a:gradFill>
          <a:ln w="9525">
            <a:solidFill>
              <a:schemeClr val="tx1"/>
            </a:solidFill>
            <a:miter lim="800000"/>
            <a:headEnd/>
            <a:tailEnd/>
          </a:ln>
        </p:spPr>
        <p:txBody>
          <a:bodyPr wrap="none" anchor="ctr">
            <a:spAutoFit/>
          </a:bodyPr>
          <a:lstStyle/>
          <a:p>
            <a:endParaRPr lang="en-US"/>
          </a:p>
        </p:txBody>
      </p:sp>
      <p:sp>
        <p:nvSpPr>
          <p:cNvPr id="7179" name="Text Box 1084"/>
          <p:cNvSpPr txBox="1">
            <a:spLocks noChangeArrowheads="1"/>
          </p:cNvSpPr>
          <p:nvPr/>
        </p:nvSpPr>
        <p:spPr bwMode="ltGray">
          <a:xfrm rot="-5400000">
            <a:off x="1012031" y="3232944"/>
            <a:ext cx="931863" cy="396875"/>
          </a:xfrm>
          <a:prstGeom prst="rect">
            <a:avLst/>
          </a:prstGeom>
          <a:noFill/>
          <a:ln w="9525">
            <a:noFill/>
            <a:miter lim="800000"/>
            <a:headEnd/>
            <a:tailEnd/>
          </a:ln>
        </p:spPr>
        <p:txBody>
          <a:bodyPr wrap="none" anchor="ctr">
            <a:spAutoFit/>
          </a:bodyPr>
          <a:lstStyle/>
          <a:p>
            <a:r>
              <a:rPr lang="en-US" sz="2000">
                <a:solidFill>
                  <a:schemeClr val="bg1"/>
                </a:solidFill>
                <a:latin typeface="Arial" charset="0"/>
                <a:cs typeface="Times New Roman" pitchFamily="18" charset="0"/>
              </a:rPr>
              <a:t>Arbiter</a:t>
            </a:r>
          </a:p>
        </p:txBody>
      </p:sp>
      <p:sp>
        <p:nvSpPr>
          <p:cNvPr id="7180" name="Text Box 1085"/>
          <p:cNvSpPr txBox="1">
            <a:spLocks noChangeArrowheads="1"/>
          </p:cNvSpPr>
          <p:nvPr/>
        </p:nvSpPr>
        <p:spPr bwMode="ltGray">
          <a:xfrm>
            <a:off x="1741488" y="3305175"/>
            <a:ext cx="2203450" cy="336550"/>
          </a:xfrm>
          <a:prstGeom prst="rect">
            <a:avLst/>
          </a:prstGeom>
          <a:noFill/>
          <a:ln w="9525">
            <a:noFill/>
            <a:miter lim="800000"/>
            <a:headEnd/>
            <a:tailEnd/>
          </a:ln>
        </p:spPr>
        <p:txBody>
          <a:bodyPr wrap="none" anchor="ctr">
            <a:spAutoFit/>
          </a:bodyPr>
          <a:lstStyle/>
          <a:p>
            <a:r>
              <a:rPr lang="en-US" sz="1600" b="1">
                <a:solidFill>
                  <a:schemeClr val="bg1"/>
                </a:solidFill>
                <a:latin typeface="Arial" charset="0"/>
                <a:cs typeface="Times New Roman" pitchFamily="18" charset="0"/>
              </a:rPr>
              <a:t>Processor Local Bus</a:t>
            </a:r>
          </a:p>
        </p:txBody>
      </p:sp>
      <p:sp>
        <p:nvSpPr>
          <p:cNvPr id="7181" name="Line 1086"/>
          <p:cNvSpPr>
            <a:spLocks noChangeShapeType="1"/>
          </p:cNvSpPr>
          <p:nvPr/>
        </p:nvSpPr>
        <p:spPr bwMode="ltGray">
          <a:xfrm flipH="1" flipV="1">
            <a:off x="3048000" y="2765425"/>
            <a:ext cx="0" cy="581025"/>
          </a:xfrm>
          <a:prstGeom prst="line">
            <a:avLst/>
          </a:prstGeom>
          <a:noFill/>
          <a:ln w="73025">
            <a:solidFill>
              <a:srgbClr val="FFFF00"/>
            </a:solidFill>
            <a:round/>
            <a:headEnd/>
            <a:tailEnd type="triangle" w="med" len="med"/>
          </a:ln>
        </p:spPr>
        <p:txBody>
          <a:bodyPr anchor="ctr">
            <a:spAutoFit/>
          </a:bodyPr>
          <a:lstStyle/>
          <a:p>
            <a:endParaRPr lang="en-US"/>
          </a:p>
        </p:txBody>
      </p:sp>
      <p:sp>
        <p:nvSpPr>
          <p:cNvPr id="7182" name="Text Box 1090"/>
          <p:cNvSpPr txBox="1">
            <a:spLocks noChangeArrowheads="1"/>
          </p:cNvSpPr>
          <p:nvPr/>
        </p:nvSpPr>
        <p:spPr bwMode="ltGray">
          <a:xfrm>
            <a:off x="2154238" y="2933700"/>
            <a:ext cx="693737" cy="396875"/>
          </a:xfrm>
          <a:prstGeom prst="rect">
            <a:avLst/>
          </a:prstGeom>
          <a:noFill/>
          <a:ln w="9525">
            <a:noFill/>
            <a:miter lim="800000"/>
            <a:headEnd/>
            <a:tailEnd/>
          </a:ln>
        </p:spPr>
        <p:txBody>
          <a:bodyPr wrap="none" anchor="ctr">
            <a:spAutoFit/>
          </a:bodyPr>
          <a:lstStyle/>
          <a:p>
            <a:r>
              <a:rPr lang="en-US" sz="2000" b="1">
                <a:solidFill>
                  <a:schemeClr val="bg1"/>
                </a:solidFill>
                <a:latin typeface="Arial" charset="0"/>
                <a:cs typeface="Times New Roman" pitchFamily="18" charset="0"/>
              </a:rPr>
              <a:t>PLB</a:t>
            </a:r>
          </a:p>
        </p:txBody>
      </p:sp>
      <p:grpSp>
        <p:nvGrpSpPr>
          <p:cNvPr id="18" name="Group 1174"/>
          <p:cNvGrpSpPr>
            <a:grpSpLocks/>
          </p:cNvGrpSpPr>
          <p:nvPr/>
        </p:nvGrpSpPr>
        <p:grpSpPr bwMode="auto">
          <a:xfrm>
            <a:off x="1439863" y="1409700"/>
            <a:ext cx="4046537" cy="762000"/>
            <a:chOff x="907" y="834"/>
            <a:chExt cx="2549" cy="480"/>
          </a:xfrm>
        </p:grpSpPr>
        <p:grpSp>
          <p:nvGrpSpPr>
            <p:cNvPr id="19" name="Group 1171"/>
            <p:cNvGrpSpPr>
              <a:grpSpLocks/>
            </p:cNvGrpSpPr>
            <p:nvPr/>
          </p:nvGrpSpPr>
          <p:grpSpPr bwMode="auto">
            <a:xfrm>
              <a:off x="907" y="834"/>
              <a:ext cx="773" cy="480"/>
              <a:chOff x="907" y="834"/>
              <a:chExt cx="773" cy="480"/>
            </a:xfrm>
          </p:grpSpPr>
          <p:grpSp>
            <p:nvGrpSpPr>
              <p:cNvPr id="20" name="Group 1170"/>
              <p:cNvGrpSpPr>
                <a:grpSpLocks/>
              </p:cNvGrpSpPr>
              <p:nvPr/>
            </p:nvGrpSpPr>
            <p:grpSpPr bwMode="auto">
              <a:xfrm>
                <a:off x="907" y="834"/>
                <a:ext cx="457" cy="480"/>
                <a:chOff x="907" y="834"/>
                <a:chExt cx="457" cy="480"/>
              </a:xfrm>
            </p:grpSpPr>
            <p:sp>
              <p:nvSpPr>
                <p:cNvPr id="614470" name="Rectangle 1094"/>
                <p:cNvSpPr>
                  <a:spLocks noChangeArrowheads="1"/>
                </p:cNvSpPr>
                <p:nvPr/>
              </p:nvSpPr>
              <p:spPr bwMode="auto">
                <a:xfrm>
                  <a:off x="912" y="834"/>
                  <a:ext cx="432" cy="480"/>
                </a:xfrm>
                <a:prstGeom prst="rect">
                  <a:avLst/>
                </a:prstGeom>
                <a:solidFill>
                  <a:srgbClr val="FFFF00"/>
                </a:solidFill>
                <a:ln w="9525">
                  <a:solidFill>
                    <a:schemeClr val="tx1"/>
                  </a:solidFill>
                  <a:miter lim="800000"/>
                  <a:headEnd/>
                  <a:tailEnd/>
                </a:ln>
                <a:effectLst>
                  <a:outerShdw dist="53882" dir="2700000" algn="ctr" rotWithShape="0">
                    <a:schemeClr val="bg2"/>
                  </a:outerShdw>
                </a:effectLst>
              </p:spPr>
              <p:txBody>
                <a:bodyPr anchor="ctr">
                  <a:spAutoFit/>
                </a:bodyPr>
                <a:lstStyle/>
                <a:p>
                  <a:pPr>
                    <a:defRPr/>
                  </a:pPr>
                  <a:endParaRPr lang="en-US"/>
                </a:p>
              </p:txBody>
            </p:sp>
            <p:sp>
              <p:nvSpPr>
                <p:cNvPr id="7216" name="Text Box 1095"/>
                <p:cNvSpPr txBox="1">
                  <a:spLocks noChangeArrowheads="1"/>
                </p:cNvSpPr>
                <p:nvPr/>
              </p:nvSpPr>
              <p:spPr bwMode="ltGray">
                <a:xfrm>
                  <a:off x="907" y="835"/>
                  <a:ext cx="457" cy="460"/>
                </a:xfrm>
                <a:prstGeom prst="rect">
                  <a:avLst/>
                </a:prstGeom>
                <a:noFill/>
                <a:ln w="9525">
                  <a:noFill/>
                  <a:miter lim="800000"/>
                  <a:headEnd/>
                  <a:tailEnd/>
                </a:ln>
              </p:spPr>
              <p:txBody>
                <a:bodyPr wrap="none" anchor="ctr">
                  <a:spAutoFit/>
                </a:bodyPr>
                <a:lstStyle/>
                <a:p>
                  <a:r>
                    <a:rPr lang="en-US" sz="1400" b="1">
                      <a:latin typeface="Arial Narrow" pitchFamily="34" charset="0"/>
                      <a:cs typeface="Times New Roman" pitchFamily="18" charset="0"/>
                    </a:rPr>
                    <a:t>DSOCM</a:t>
                  </a:r>
                </a:p>
                <a:p>
                  <a:r>
                    <a:rPr lang="en-US" sz="1400" b="1">
                      <a:latin typeface="Arial Narrow" pitchFamily="34" charset="0"/>
                      <a:cs typeface="Times New Roman" pitchFamily="18" charset="0"/>
                    </a:rPr>
                    <a:t>BRAM</a:t>
                  </a:r>
                </a:p>
                <a:p>
                  <a:r>
                    <a:rPr lang="en-US" sz="1400" b="1">
                      <a:latin typeface="Arial Narrow" pitchFamily="34" charset="0"/>
                      <a:cs typeface="Times New Roman" pitchFamily="18" charset="0"/>
                    </a:rPr>
                    <a:t>(32 bit)</a:t>
                  </a:r>
                </a:p>
              </p:txBody>
            </p:sp>
          </p:grpSp>
          <p:sp>
            <p:nvSpPr>
              <p:cNvPr id="7214" name="Line 1096"/>
              <p:cNvSpPr>
                <a:spLocks noChangeShapeType="1"/>
              </p:cNvSpPr>
              <p:nvPr/>
            </p:nvSpPr>
            <p:spPr bwMode="ltGray">
              <a:xfrm rot="16200000" flipV="1">
                <a:off x="1512" y="954"/>
                <a:ext cx="0" cy="336"/>
              </a:xfrm>
              <a:prstGeom prst="line">
                <a:avLst/>
              </a:prstGeom>
              <a:noFill/>
              <a:ln w="38100">
                <a:solidFill>
                  <a:srgbClr val="66FF66"/>
                </a:solidFill>
                <a:round/>
                <a:headEnd type="triangle" w="med" len="med"/>
                <a:tailEnd type="triangle" w="med" len="med"/>
              </a:ln>
            </p:spPr>
            <p:txBody>
              <a:bodyPr anchor="ctr">
                <a:spAutoFit/>
              </a:bodyPr>
              <a:lstStyle/>
              <a:p>
                <a:endParaRPr lang="en-US"/>
              </a:p>
            </p:txBody>
          </p:sp>
        </p:grpSp>
        <p:grpSp>
          <p:nvGrpSpPr>
            <p:cNvPr id="21" name="Group 1173"/>
            <p:cNvGrpSpPr>
              <a:grpSpLocks/>
            </p:cNvGrpSpPr>
            <p:nvPr/>
          </p:nvGrpSpPr>
          <p:grpSpPr bwMode="auto">
            <a:xfrm>
              <a:off x="2688" y="834"/>
              <a:ext cx="768" cy="480"/>
              <a:chOff x="2688" y="834"/>
              <a:chExt cx="768" cy="480"/>
            </a:xfrm>
          </p:grpSpPr>
          <p:grpSp>
            <p:nvGrpSpPr>
              <p:cNvPr id="22" name="Group 1172"/>
              <p:cNvGrpSpPr>
                <a:grpSpLocks/>
              </p:cNvGrpSpPr>
              <p:nvPr/>
            </p:nvGrpSpPr>
            <p:grpSpPr bwMode="auto">
              <a:xfrm>
                <a:off x="3024" y="834"/>
                <a:ext cx="432" cy="480"/>
                <a:chOff x="3024" y="834"/>
                <a:chExt cx="432" cy="480"/>
              </a:xfrm>
            </p:grpSpPr>
            <p:sp>
              <p:nvSpPr>
                <p:cNvPr id="614475" name="Rectangle 1099"/>
                <p:cNvSpPr>
                  <a:spLocks noChangeArrowheads="1"/>
                </p:cNvSpPr>
                <p:nvPr/>
              </p:nvSpPr>
              <p:spPr bwMode="auto">
                <a:xfrm>
                  <a:off x="3024" y="834"/>
                  <a:ext cx="432" cy="480"/>
                </a:xfrm>
                <a:prstGeom prst="rect">
                  <a:avLst/>
                </a:prstGeom>
                <a:solidFill>
                  <a:srgbClr val="FFFF00"/>
                </a:solidFill>
                <a:ln w="9525">
                  <a:solidFill>
                    <a:schemeClr val="tx1"/>
                  </a:solidFill>
                  <a:miter lim="800000"/>
                  <a:headEnd/>
                  <a:tailEnd/>
                </a:ln>
                <a:effectLst>
                  <a:outerShdw dist="53882" dir="2700000" algn="ctr" rotWithShape="0">
                    <a:schemeClr val="bg2"/>
                  </a:outerShdw>
                </a:effectLst>
              </p:spPr>
              <p:txBody>
                <a:bodyPr anchor="ctr">
                  <a:spAutoFit/>
                </a:bodyPr>
                <a:lstStyle/>
                <a:p>
                  <a:pPr>
                    <a:defRPr/>
                  </a:pPr>
                  <a:endParaRPr lang="en-US"/>
                </a:p>
              </p:txBody>
            </p:sp>
            <p:sp>
              <p:nvSpPr>
                <p:cNvPr id="7212" name="Text Box 1100"/>
                <p:cNvSpPr txBox="1">
                  <a:spLocks noChangeArrowheads="1"/>
                </p:cNvSpPr>
                <p:nvPr/>
              </p:nvSpPr>
              <p:spPr bwMode="ltGray">
                <a:xfrm>
                  <a:off x="3039" y="835"/>
                  <a:ext cx="417" cy="460"/>
                </a:xfrm>
                <a:prstGeom prst="rect">
                  <a:avLst/>
                </a:prstGeom>
                <a:noFill/>
                <a:ln w="9525">
                  <a:noFill/>
                  <a:miter lim="800000"/>
                  <a:headEnd/>
                  <a:tailEnd/>
                </a:ln>
              </p:spPr>
              <p:txBody>
                <a:bodyPr wrap="none" anchor="ctr">
                  <a:spAutoFit/>
                </a:bodyPr>
                <a:lstStyle/>
                <a:p>
                  <a:r>
                    <a:rPr lang="en-US" sz="1400" b="1">
                      <a:latin typeface="Arial Narrow" pitchFamily="34" charset="0"/>
                      <a:cs typeface="Times New Roman" pitchFamily="18" charset="0"/>
                    </a:rPr>
                    <a:t>ISOCM</a:t>
                  </a:r>
                </a:p>
                <a:p>
                  <a:r>
                    <a:rPr lang="en-US" sz="1400" b="1">
                      <a:latin typeface="Arial Narrow" pitchFamily="34" charset="0"/>
                      <a:cs typeface="Times New Roman" pitchFamily="18" charset="0"/>
                    </a:rPr>
                    <a:t>BRAM</a:t>
                  </a:r>
                </a:p>
                <a:p>
                  <a:r>
                    <a:rPr lang="en-US" sz="1400" b="1">
                      <a:latin typeface="Arial Narrow" pitchFamily="34" charset="0"/>
                      <a:cs typeface="Times New Roman" pitchFamily="18" charset="0"/>
                    </a:rPr>
                    <a:t>(64 bit)</a:t>
                  </a:r>
                </a:p>
              </p:txBody>
            </p:sp>
          </p:grpSp>
          <p:sp>
            <p:nvSpPr>
              <p:cNvPr id="7210" name="Line 1101"/>
              <p:cNvSpPr>
                <a:spLocks noChangeShapeType="1"/>
              </p:cNvSpPr>
              <p:nvPr/>
            </p:nvSpPr>
            <p:spPr bwMode="ltGray">
              <a:xfrm rot="16200000" flipV="1">
                <a:off x="2856" y="954"/>
                <a:ext cx="0" cy="336"/>
              </a:xfrm>
              <a:prstGeom prst="line">
                <a:avLst/>
              </a:prstGeom>
              <a:noFill/>
              <a:ln w="38100">
                <a:solidFill>
                  <a:srgbClr val="66FF66"/>
                </a:solidFill>
                <a:round/>
                <a:headEnd type="triangle" w="med" len="med"/>
                <a:tailEnd type="triangle" w="med" len="med"/>
              </a:ln>
            </p:spPr>
            <p:txBody>
              <a:bodyPr anchor="ctr">
                <a:spAutoFit/>
              </a:bodyPr>
              <a:lstStyle/>
              <a:p>
                <a:endParaRPr lang="en-US"/>
              </a:p>
            </p:txBody>
          </p:sp>
        </p:grpSp>
      </p:grpSp>
      <p:grpSp>
        <p:nvGrpSpPr>
          <p:cNvPr id="23" name="Group 1184"/>
          <p:cNvGrpSpPr>
            <a:grpSpLocks/>
          </p:cNvGrpSpPr>
          <p:nvPr/>
        </p:nvGrpSpPr>
        <p:grpSpPr bwMode="auto">
          <a:xfrm>
            <a:off x="274638" y="4992688"/>
            <a:ext cx="5216525" cy="1030287"/>
            <a:chOff x="173" y="3145"/>
            <a:chExt cx="3286" cy="649"/>
          </a:xfrm>
        </p:grpSpPr>
        <p:sp>
          <p:nvSpPr>
            <p:cNvPr id="7195" name="Text Box 1103"/>
            <p:cNvSpPr txBox="1">
              <a:spLocks noChangeArrowheads="1"/>
            </p:cNvSpPr>
            <p:nvPr/>
          </p:nvSpPr>
          <p:spPr bwMode="auto">
            <a:xfrm>
              <a:off x="173" y="3344"/>
              <a:ext cx="629" cy="366"/>
            </a:xfrm>
            <a:prstGeom prst="rect">
              <a:avLst/>
            </a:prstGeom>
            <a:noFill/>
            <a:ln w="38100">
              <a:noFill/>
              <a:miter lim="800000"/>
              <a:headEnd/>
              <a:tailEnd/>
            </a:ln>
          </p:spPr>
          <p:txBody>
            <a:bodyPr wrap="none" anchor="ctr">
              <a:spAutoFit/>
            </a:bodyPr>
            <a:lstStyle/>
            <a:p>
              <a:r>
                <a:rPr lang="en-US" sz="1600" b="1">
                  <a:latin typeface="Arial" charset="0"/>
                  <a:cs typeface="Times New Roman" pitchFamily="18" charset="0"/>
                </a:rPr>
                <a:t>Off-Chip</a:t>
              </a:r>
            </a:p>
            <a:p>
              <a:r>
                <a:rPr lang="en-US" sz="1600" b="1">
                  <a:latin typeface="Arial" charset="0"/>
                  <a:cs typeface="Times New Roman" pitchFamily="18" charset="0"/>
                </a:rPr>
                <a:t>Memory</a:t>
              </a:r>
            </a:p>
          </p:txBody>
        </p:sp>
        <p:grpSp>
          <p:nvGrpSpPr>
            <p:cNvPr id="24" name="Group 1183"/>
            <p:cNvGrpSpPr>
              <a:grpSpLocks/>
            </p:cNvGrpSpPr>
            <p:nvPr/>
          </p:nvGrpSpPr>
          <p:grpSpPr bwMode="auto">
            <a:xfrm>
              <a:off x="903" y="3145"/>
              <a:ext cx="2556" cy="649"/>
              <a:chOff x="903" y="3145"/>
              <a:chExt cx="2556" cy="649"/>
            </a:xfrm>
          </p:grpSpPr>
          <p:grpSp>
            <p:nvGrpSpPr>
              <p:cNvPr id="25" name="Group 1182"/>
              <p:cNvGrpSpPr>
                <a:grpSpLocks/>
              </p:cNvGrpSpPr>
              <p:nvPr/>
            </p:nvGrpSpPr>
            <p:grpSpPr bwMode="auto">
              <a:xfrm>
                <a:off x="903" y="3387"/>
                <a:ext cx="2556" cy="407"/>
                <a:chOff x="903" y="3387"/>
                <a:chExt cx="2556" cy="407"/>
              </a:xfrm>
            </p:grpSpPr>
            <p:grpSp>
              <p:nvGrpSpPr>
                <p:cNvPr id="26" name="Group 1180"/>
                <p:cNvGrpSpPr>
                  <a:grpSpLocks/>
                </p:cNvGrpSpPr>
                <p:nvPr/>
              </p:nvGrpSpPr>
              <p:grpSpPr bwMode="auto">
                <a:xfrm>
                  <a:off x="903" y="3387"/>
                  <a:ext cx="853" cy="240"/>
                  <a:chOff x="903" y="3387"/>
                  <a:chExt cx="853" cy="240"/>
                </a:xfrm>
              </p:grpSpPr>
              <p:sp>
                <p:nvSpPr>
                  <p:cNvPr id="614483" name="Rectangle 1107"/>
                  <p:cNvSpPr>
                    <a:spLocks noChangeArrowheads="1"/>
                  </p:cNvSpPr>
                  <p:nvPr/>
                </p:nvSpPr>
                <p:spPr bwMode="auto">
                  <a:xfrm>
                    <a:off x="903" y="3387"/>
                    <a:ext cx="853" cy="240"/>
                  </a:xfrm>
                  <a:prstGeom prst="rect">
                    <a:avLst/>
                  </a:prstGeom>
                  <a:solidFill>
                    <a:srgbClr val="FFFF00"/>
                  </a:solidFill>
                  <a:ln w="9525">
                    <a:solidFill>
                      <a:schemeClr val="tx1"/>
                    </a:solidFill>
                    <a:miter lim="800000"/>
                    <a:headEnd/>
                    <a:tailEnd/>
                  </a:ln>
                  <a:effectLst>
                    <a:outerShdw dist="53882" dir="2700000" algn="ctr" rotWithShape="0">
                      <a:schemeClr val="bg2"/>
                    </a:outerShdw>
                  </a:effectLst>
                </p:spPr>
                <p:txBody>
                  <a:bodyPr anchor="ctr">
                    <a:spAutoFit/>
                  </a:bodyPr>
                  <a:lstStyle/>
                  <a:p>
                    <a:pPr>
                      <a:defRPr/>
                    </a:pPr>
                    <a:endParaRPr lang="en-US"/>
                  </a:p>
                </p:txBody>
              </p:sp>
              <p:sp>
                <p:nvSpPr>
                  <p:cNvPr id="7206" name="Text Box 1108"/>
                  <p:cNvSpPr txBox="1">
                    <a:spLocks noChangeArrowheads="1"/>
                  </p:cNvSpPr>
                  <p:nvPr/>
                </p:nvSpPr>
                <p:spPr bwMode="auto">
                  <a:xfrm>
                    <a:off x="993" y="3396"/>
                    <a:ext cx="658" cy="212"/>
                  </a:xfrm>
                  <a:prstGeom prst="rect">
                    <a:avLst/>
                  </a:prstGeom>
                  <a:noFill/>
                  <a:ln w="38100">
                    <a:noFill/>
                    <a:miter lim="800000"/>
                    <a:headEnd/>
                    <a:tailEnd/>
                  </a:ln>
                </p:spPr>
                <p:txBody>
                  <a:bodyPr wrap="none" anchor="ctr">
                    <a:spAutoFit/>
                  </a:bodyPr>
                  <a:lstStyle/>
                  <a:p>
                    <a:r>
                      <a:rPr lang="en-US" sz="1600" b="1">
                        <a:latin typeface="Arial Narrow" pitchFamily="34" charset="0"/>
                        <a:cs typeface="Times New Roman" pitchFamily="18" charset="0"/>
                      </a:rPr>
                      <a:t>ZBT SRAM</a:t>
                    </a:r>
                  </a:p>
                </p:txBody>
              </p:sp>
            </p:grpSp>
            <p:grpSp>
              <p:nvGrpSpPr>
                <p:cNvPr id="27" name="Group 1181"/>
                <p:cNvGrpSpPr>
                  <a:grpSpLocks/>
                </p:cNvGrpSpPr>
                <p:nvPr/>
              </p:nvGrpSpPr>
              <p:grpSpPr bwMode="auto">
                <a:xfrm>
                  <a:off x="1692" y="3480"/>
                  <a:ext cx="826" cy="240"/>
                  <a:chOff x="1692" y="3480"/>
                  <a:chExt cx="826" cy="240"/>
                </a:xfrm>
              </p:grpSpPr>
              <p:sp>
                <p:nvSpPr>
                  <p:cNvPr id="614486" name="Rectangle 1110"/>
                  <p:cNvSpPr>
                    <a:spLocks noChangeArrowheads="1"/>
                  </p:cNvSpPr>
                  <p:nvPr/>
                </p:nvSpPr>
                <p:spPr bwMode="auto">
                  <a:xfrm>
                    <a:off x="1692" y="3480"/>
                    <a:ext cx="826" cy="240"/>
                  </a:xfrm>
                  <a:prstGeom prst="rect">
                    <a:avLst/>
                  </a:prstGeom>
                  <a:solidFill>
                    <a:srgbClr val="FFFF00"/>
                  </a:solidFill>
                  <a:ln w="9525">
                    <a:solidFill>
                      <a:schemeClr val="tx1"/>
                    </a:solidFill>
                    <a:miter lim="800000"/>
                    <a:headEnd/>
                    <a:tailEnd/>
                  </a:ln>
                  <a:effectLst>
                    <a:outerShdw dist="53882" dir="2700000" algn="ctr" rotWithShape="0">
                      <a:schemeClr val="bg2"/>
                    </a:outerShdw>
                  </a:effectLst>
                </p:spPr>
                <p:txBody>
                  <a:bodyPr anchor="ctr">
                    <a:spAutoFit/>
                  </a:bodyPr>
                  <a:lstStyle/>
                  <a:p>
                    <a:pPr>
                      <a:defRPr/>
                    </a:pPr>
                    <a:endParaRPr lang="en-US"/>
                  </a:p>
                </p:txBody>
              </p:sp>
              <p:sp>
                <p:nvSpPr>
                  <p:cNvPr id="7204" name="Text Box 1111"/>
                  <p:cNvSpPr txBox="1">
                    <a:spLocks noChangeArrowheads="1"/>
                  </p:cNvSpPr>
                  <p:nvPr/>
                </p:nvSpPr>
                <p:spPr bwMode="auto">
                  <a:xfrm>
                    <a:off x="1724" y="3489"/>
                    <a:ext cx="758" cy="212"/>
                  </a:xfrm>
                  <a:prstGeom prst="rect">
                    <a:avLst/>
                  </a:prstGeom>
                  <a:noFill/>
                  <a:ln w="38100">
                    <a:noFill/>
                    <a:miter lim="800000"/>
                    <a:headEnd/>
                    <a:tailEnd/>
                  </a:ln>
                </p:spPr>
                <p:txBody>
                  <a:bodyPr wrap="none" anchor="ctr">
                    <a:spAutoFit/>
                  </a:bodyPr>
                  <a:lstStyle/>
                  <a:p>
                    <a:r>
                      <a:rPr lang="en-US" sz="1600" b="1">
                        <a:latin typeface="Arial Narrow" pitchFamily="34" charset="0"/>
                        <a:cs typeface="Times New Roman" pitchFamily="18" charset="0"/>
                      </a:rPr>
                      <a:t>DDR SDRAM</a:t>
                    </a:r>
                  </a:p>
                </p:txBody>
              </p:sp>
            </p:grpSp>
            <p:sp>
              <p:nvSpPr>
                <p:cNvPr id="614488" name="Rectangle 1112"/>
                <p:cNvSpPr>
                  <a:spLocks noChangeArrowheads="1"/>
                </p:cNvSpPr>
                <p:nvPr/>
              </p:nvSpPr>
              <p:spPr bwMode="auto">
                <a:xfrm>
                  <a:off x="2459" y="3573"/>
                  <a:ext cx="1000" cy="216"/>
                </a:xfrm>
                <a:prstGeom prst="rect">
                  <a:avLst/>
                </a:prstGeom>
                <a:solidFill>
                  <a:srgbClr val="FFFF00"/>
                </a:solidFill>
                <a:ln w="9525">
                  <a:solidFill>
                    <a:schemeClr val="tx1"/>
                  </a:solidFill>
                  <a:miter lim="800000"/>
                  <a:headEnd/>
                  <a:tailEnd/>
                </a:ln>
                <a:effectLst>
                  <a:outerShdw dist="53882" dir="2700000" algn="ctr" rotWithShape="0">
                    <a:schemeClr val="bg2"/>
                  </a:outerShdw>
                </a:effectLst>
              </p:spPr>
              <p:txBody>
                <a:bodyPr anchor="ctr">
                  <a:spAutoFit/>
                </a:bodyPr>
                <a:lstStyle/>
                <a:p>
                  <a:pPr>
                    <a:defRPr/>
                  </a:pPr>
                  <a:endParaRPr lang="en-US"/>
                </a:p>
              </p:txBody>
            </p:sp>
            <p:sp>
              <p:nvSpPr>
                <p:cNvPr id="7202" name="Text Box 1113"/>
                <p:cNvSpPr txBox="1">
                  <a:spLocks noChangeArrowheads="1"/>
                </p:cNvSpPr>
                <p:nvPr/>
              </p:nvSpPr>
              <p:spPr bwMode="auto">
                <a:xfrm>
                  <a:off x="2716" y="3582"/>
                  <a:ext cx="501" cy="212"/>
                </a:xfrm>
                <a:prstGeom prst="rect">
                  <a:avLst/>
                </a:prstGeom>
                <a:noFill/>
                <a:ln w="38100">
                  <a:noFill/>
                  <a:miter lim="800000"/>
                  <a:headEnd/>
                  <a:tailEnd/>
                </a:ln>
              </p:spPr>
              <p:txBody>
                <a:bodyPr wrap="none" anchor="ctr">
                  <a:spAutoFit/>
                </a:bodyPr>
                <a:lstStyle/>
                <a:p>
                  <a:r>
                    <a:rPr lang="en-US" sz="1600" b="1">
                      <a:latin typeface="Arial Narrow" pitchFamily="34" charset="0"/>
                      <a:cs typeface="Times New Roman" pitchFamily="18" charset="0"/>
                    </a:rPr>
                    <a:t>SDRAM</a:t>
                  </a:r>
                </a:p>
              </p:txBody>
            </p:sp>
          </p:grpSp>
          <p:sp>
            <p:nvSpPr>
              <p:cNvPr id="7198" name="AutoShape 1114"/>
              <p:cNvSpPr>
                <a:spLocks noChangeArrowheads="1"/>
              </p:cNvSpPr>
              <p:nvPr/>
            </p:nvSpPr>
            <p:spPr bwMode="ltGray">
              <a:xfrm>
                <a:off x="1545" y="3145"/>
                <a:ext cx="135" cy="270"/>
              </a:xfrm>
              <a:prstGeom prst="upDownArrow">
                <a:avLst>
                  <a:gd name="adj1" fmla="val 50000"/>
                  <a:gd name="adj2" fmla="val 40000"/>
                </a:avLst>
              </a:prstGeom>
              <a:solidFill>
                <a:srgbClr val="D50711">
                  <a:alpha val="50195"/>
                </a:srgbClr>
              </a:solidFill>
              <a:ln w="12700">
                <a:solidFill>
                  <a:srgbClr val="D50711"/>
                </a:solidFill>
                <a:miter lim="800000"/>
                <a:headEnd/>
                <a:tailEnd/>
              </a:ln>
            </p:spPr>
            <p:txBody>
              <a:bodyPr anchor="ctr">
                <a:spAutoFit/>
              </a:bodyPr>
              <a:lstStyle/>
              <a:p>
                <a:endParaRPr lang="en-US"/>
              </a:p>
            </p:txBody>
          </p:sp>
        </p:grpSp>
      </p:grpSp>
      <p:grpSp>
        <p:nvGrpSpPr>
          <p:cNvPr id="28" name="Group 1115"/>
          <p:cNvGrpSpPr>
            <a:grpSpLocks/>
          </p:cNvGrpSpPr>
          <p:nvPr/>
        </p:nvGrpSpPr>
        <p:grpSpPr bwMode="auto">
          <a:xfrm>
            <a:off x="4059238" y="3138488"/>
            <a:ext cx="838200" cy="685800"/>
            <a:chOff x="2544" y="1892"/>
            <a:chExt cx="528" cy="432"/>
          </a:xfrm>
        </p:grpSpPr>
        <p:sp>
          <p:nvSpPr>
            <p:cNvPr id="7193" name="Rectangle 1116"/>
            <p:cNvSpPr>
              <a:spLocks noChangeArrowheads="1"/>
            </p:cNvSpPr>
            <p:nvPr/>
          </p:nvSpPr>
          <p:spPr bwMode="ltGray">
            <a:xfrm>
              <a:off x="2544" y="1892"/>
              <a:ext cx="528" cy="432"/>
            </a:xfrm>
            <a:prstGeom prst="rect">
              <a:avLst/>
            </a:prstGeom>
            <a:gradFill rotWithShape="0">
              <a:gsLst>
                <a:gs pos="0">
                  <a:srgbClr val="760000"/>
                </a:gs>
                <a:gs pos="100000">
                  <a:srgbClr val="FF0000"/>
                </a:gs>
              </a:gsLst>
              <a:lin ang="5400000" scaled="1"/>
            </a:gradFill>
            <a:ln w="9525">
              <a:solidFill>
                <a:schemeClr val="tx1"/>
              </a:solidFill>
              <a:miter lim="800000"/>
              <a:headEnd/>
              <a:tailEnd/>
            </a:ln>
          </p:spPr>
          <p:txBody>
            <a:bodyPr lIns="0" tIns="0" rIns="0" bIns="0" anchor="ctr">
              <a:spAutoFit/>
            </a:bodyPr>
            <a:lstStyle/>
            <a:p>
              <a:endParaRPr lang="en-US"/>
            </a:p>
          </p:txBody>
        </p:sp>
        <p:sp>
          <p:nvSpPr>
            <p:cNvPr id="7194" name="Text Box 1117"/>
            <p:cNvSpPr txBox="1">
              <a:spLocks noChangeArrowheads="1"/>
            </p:cNvSpPr>
            <p:nvPr/>
          </p:nvSpPr>
          <p:spPr bwMode="ltGray">
            <a:xfrm>
              <a:off x="2592" y="1920"/>
              <a:ext cx="416" cy="346"/>
            </a:xfrm>
            <a:prstGeom prst="rect">
              <a:avLst/>
            </a:prstGeom>
            <a:noFill/>
            <a:ln w="9525">
              <a:noFill/>
              <a:miter lim="800000"/>
              <a:headEnd/>
              <a:tailEnd/>
            </a:ln>
          </p:spPr>
          <p:txBody>
            <a:bodyPr wrap="none" lIns="0" tIns="0" rIns="0" bIns="0" anchor="ctr">
              <a:spAutoFit/>
            </a:bodyPr>
            <a:lstStyle/>
            <a:p>
              <a:r>
                <a:rPr lang="en-US" sz="1800">
                  <a:solidFill>
                    <a:schemeClr val="bg1"/>
                  </a:solidFill>
                  <a:latin typeface="Arial" charset="0"/>
                  <a:cs typeface="Times New Roman" pitchFamily="18" charset="0"/>
                </a:rPr>
                <a:t>Bus</a:t>
              </a:r>
            </a:p>
            <a:p>
              <a:r>
                <a:rPr lang="en-US" sz="1800">
                  <a:solidFill>
                    <a:schemeClr val="bg1"/>
                  </a:solidFill>
                  <a:latin typeface="Arial" charset="0"/>
                  <a:cs typeface="Times New Roman" pitchFamily="18" charset="0"/>
                </a:rPr>
                <a:t>Bridge</a:t>
              </a:r>
            </a:p>
          </p:txBody>
        </p:sp>
      </p:grpSp>
      <p:grpSp>
        <p:nvGrpSpPr>
          <p:cNvPr id="29" name="Group 1118"/>
          <p:cNvGrpSpPr>
            <a:grpSpLocks/>
          </p:cNvGrpSpPr>
          <p:nvPr/>
        </p:nvGrpSpPr>
        <p:grpSpPr bwMode="auto">
          <a:xfrm>
            <a:off x="6950075" y="2005013"/>
            <a:ext cx="1979613" cy="860425"/>
            <a:chOff x="3875" y="435"/>
            <a:chExt cx="1247" cy="542"/>
          </a:xfrm>
        </p:grpSpPr>
        <p:sp>
          <p:nvSpPr>
            <p:cNvPr id="614495" name="AutoShape 1119"/>
            <p:cNvSpPr>
              <a:spLocks noChangeArrowheads="1"/>
            </p:cNvSpPr>
            <p:nvPr/>
          </p:nvSpPr>
          <p:spPr bwMode="auto">
            <a:xfrm>
              <a:off x="3875" y="435"/>
              <a:ext cx="1198" cy="536"/>
            </a:xfrm>
            <a:prstGeom prst="foldedCorner">
              <a:avLst>
                <a:gd name="adj" fmla="val 12500"/>
              </a:avLst>
            </a:prstGeom>
            <a:solidFill>
              <a:srgbClr val="FFFF99"/>
            </a:solidFill>
            <a:ln w="12700">
              <a:solidFill>
                <a:schemeClr val="tx1"/>
              </a:solidFill>
              <a:round/>
              <a:headEnd/>
              <a:tailEnd/>
            </a:ln>
            <a:effectLst>
              <a:outerShdw dist="107763" dir="13500000" algn="ctr" rotWithShape="0">
                <a:srgbClr val="C0C0C0"/>
              </a:outerShdw>
            </a:effectLst>
          </p:spPr>
          <p:txBody>
            <a:bodyPr anchor="ctr">
              <a:spAutoFit/>
            </a:bodyPr>
            <a:lstStyle/>
            <a:p>
              <a:pPr>
                <a:defRPr/>
              </a:pPr>
              <a:endParaRPr lang="en-US"/>
            </a:p>
          </p:txBody>
        </p:sp>
        <p:sp>
          <p:nvSpPr>
            <p:cNvPr id="7192" name="Text Box 1120"/>
            <p:cNvSpPr txBox="1">
              <a:spLocks noChangeArrowheads="1"/>
            </p:cNvSpPr>
            <p:nvPr/>
          </p:nvSpPr>
          <p:spPr bwMode="auto">
            <a:xfrm>
              <a:off x="3888" y="457"/>
              <a:ext cx="1234" cy="520"/>
            </a:xfrm>
            <a:prstGeom prst="rect">
              <a:avLst/>
            </a:prstGeom>
            <a:noFill/>
            <a:ln w="12700">
              <a:noFill/>
              <a:miter lim="800000"/>
              <a:headEnd/>
              <a:tailEnd/>
            </a:ln>
          </p:spPr>
          <p:txBody>
            <a:bodyPr>
              <a:spAutoFit/>
            </a:bodyPr>
            <a:lstStyle/>
            <a:p>
              <a:pPr algn="l"/>
              <a:r>
                <a:rPr lang="en-US" sz="1600" b="1">
                  <a:latin typeface="Arial Narrow" pitchFamily="34" charset="0"/>
                  <a:cs typeface="Times New Roman" pitchFamily="18" charset="0"/>
                </a:rPr>
                <a:t>IBM CoreConnect™</a:t>
              </a:r>
            </a:p>
            <a:p>
              <a:pPr algn="l"/>
              <a:r>
                <a:rPr lang="en-US" sz="1600" b="1">
                  <a:latin typeface="Arial Narrow" pitchFamily="34" charset="0"/>
                  <a:cs typeface="Times New Roman" pitchFamily="18" charset="0"/>
                </a:rPr>
                <a:t>on-chip bus standard</a:t>
              </a:r>
            </a:p>
            <a:p>
              <a:pPr algn="l"/>
              <a:r>
                <a:rPr lang="en-US" sz="1600" b="1">
                  <a:latin typeface="Arial Narrow" pitchFamily="34" charset="0"/>
                  <a:cs typeface="Times New Roman" pitchFamily="18" charset="0"/>
                </a:rPr>
                <a:t>PLB, OPB, and DCR</a:t>
              </a:r>
            </a:p>
          </p:txBody>
        </p:sp>
      </p:grpSp>
      <p:sp>
        <p:nvSpPr>
          <p:cNvPr id="7187" name="Rectangle 1186"/>
          <p:cNvSpPr>
            <a:spLocks noChangeArrowheads="1"/>
          </p:cNvSpPr>
          <p:nvPr/>
        </p:nvSpPr>
        <p:spPr bwMode="auto">
          <a:xfrm>
            <a:off x="2571750" y="2400300"/>
            <a:ext cx="857250" cy="361950"/>
          </a:xfrm>
          <a:prstGeom prst="rect">
            <a:avLst/>
          </a:prstGeom>
          <a:solidFill>
            <a:schemeClr val="accent1"/>
          </a:solidFill>
          <a:ln w="9525">
            <a:solidFill>
              <a:schemeClr val="tx1"/>
            </a:solidFill>
            <a:miter lim="800000"/>
            <a:headEnd/>
            <a:tailEnd/>
          </a:ln>
        </p:spPr>
        <p:txBody>
          <a:bodyPr wrap="none" anchor="ctr"/>
          <a:lstStyle/>
          <a:p>
            <a:r>
              <a:rPr lang="en-US" sz="1600" b="1">
                <a:solidFill>
                  <a:srgbClr val="FFFF00"/>
                </a:solidFill>
                <a:latin typeface="Arial" charset="0"/>
              </a:rPr>
              <a:t>I Cache</a:t>
            </a:r>
          </a:p>
        </p:txBody>
      </p:sp>
      <p:sp>
        <p:nvSpPr>
          <p:cNvPr id="7188" name="Rectangle 1187"/>
          <p:cNvSpPr>
            <a:spLocks noChangeArrowheads="1"/>
          </p:cNvSpPr>
          <p:nvPr/>
        </p:nvSpPr>
        <p:spPr bwMode="auto">
          <a:xfrm>
            <a:off x="3429000" y="2400300"/>
            <a:ext cx="923925" cy="361950"/>
          </a:xfrm>
          <a:prstGeom prst="rect">
            <a:avLst/>
          </a:prstGeom>
          <a:solidFill>
            <a:schemeClr val="accent1"/>
          </a:solidFill>
          <a:ln w="9525">
            <a:solidFill>
              <a:schemeClr val="tx1"/>
            </a:solidFill>
            <a:miter lim="800000"/>
            <a:headEnd/>
            <a:tailEnd/>
          </a:ln>
        </p:spPr>
        <p:txBody>
          <a:bodyPr wrap="none" anchor="ctr"/>
          <a:lstStyle/>
          <a:p>
            <a:r>
              <a:rPr lang="en-US" sz="1600" b="1">
                <a:solidFill>
                  <a:srgbClr val="FFFF00"/>
                </a:solidFill>
                <a:latin typeface="Arial" charset="0"/>
              </a:rPr>
              <a:t>D Cache</a:t>
            </a:r>
          </a:p>
        </p:txBody>
      </p:sp>
      <p:sp>
        <p:nvSpPr>
          <p:cNvPr id="7189" name="Line 1190"/>
          <p:cNvSpPr>
            <a:spLocks noChangeShapeType="1"/>
          </p:cNvSpPr>
          <p:nvPr/>
        </p:nvSpPr>
        <p:spPr bwMode="ltGray">
          <a:xfrm flipH="1" flipV="1">
            <a:off x="3857625" y="2755900"/>
            <a:ext cx="0" cy="590550"/>
          </a:xfrm>
          <a:prstGeom prst="line">
            <a:avLst/>
          </a:prstGeom>
          <a:noFill/>
          <a:ln w="73025">
            <a:solidFill>
              <a:srgbClr val="FFFF00"/>
            </a:solidFill>
            <a:round/>
            <a:headEnd/>
            <a:tailEnd type="triangle" w="med" len="med"/>
          </a:ln>
        </p:spPr>
        <p:txBody>
          <a:bodyPr anchor="ctr">
            <a:spAutoFit/>
          </a:bodyPr>
          <a:lstStyle/>
          <a:p>
            <a:endParaRPr lang="en-US"/>
          </a:p>
        </p:txBody>
      </p:sp>
      <p:sp>
        <p:nvSpPr>
          <p:cNvPr id="7190" name="Line 1191"/>
          <p:cNvSpPr>
            <a:spLocks noChangeShapeType="1"/>
          </p:cNvSpPr>
          <p:nvPr/>
        </p:nvSpPr>
        <p:spPr bwMode="ltGray">
          <a:xfrm rot="10800000" flipH="1" flipV="1">
            <a:off x="3600450" y="2774950"/>
            <a:ext cx="0" cy="561975"/>
          </a:xfrm>
          <a:prstGeom prst="line">
            <a:avLst/>
          </a:prstGeom>
          <a:noFill/>
          <a:ln w="73025">
            <a:solidFill>
              <a:srgbClr val="FFFF00"/>
            </a:solidFill>
            <a:round/>
            <a:headEnd/>
            <a:tailEnd type="triangle" w="med" len="med"/>
          </a:ln>
        </p:spPr>
        <p:txBody>
          <a:bodyPr anchor="ctr">
            <a:spAutoFit/>
          </a:bodyPr>
          <a:lstStyle/>
          <a:p>
            <a:endParaRPr lang="en-US"/>
          </a:p>
        </p:txBody>
      </p:sp>
      <p:sp>
        <p:nvSpPr>
          <p:cNvPr id="95" name="Slide Number Placeholder 2"/>
          <p:cNvSpPr>
            <a:spLocks noGrp="1"/>
          </p:cNvSpPr>
          <p:nvPr>
            <p:ph type="sldNum" sz="quarter" idx="12"/>
          </p:nvPr>
        </p:nvSpPr>
        <p:spPr>
          <a:xfrm>
            <a:off x="146304" y="6324600"/>
            <a:ext cx="310896" cy="342900"/>
          </a:xfrm>
        </p:spPr>
        <p:txBody>
          <a:bodyPr/>
          <a:lstStyle/>
          <a:p>
            <a:fld id="{B6F15528-21DE-4FAA-801E-634DDDAF4B2B}" type="slidenum">
              <a:rPr lang="en-US" smtClean="0"/>
              <a:pPr/>
              <a:t>11</a:t>
            </a:fld>
            <a:endParaRPr lang="en-US"/>
          </a:p>
        </p:txBody>
      </p:sp>
      <p:sp>
        <p:nvSpPr>
          <p:cNvPr id="96" name="Rectangle 95"/>
          <p:cNvSpPr/>
          <p:nvPr/>
        </p:nvSpPr>
        <p:spPr>
          <a:xfrm>
            <a:off x="609600" y="6324600"/>
            <a:ext cx="3165097" cy="338554"/>
          </a:xfrm>
          <a:prstGeom prst="rect">
            <a:avLst/>
          </a:prstGeom>
        </p:spPr>
        <p:txBody>
          <a:bodyPr wrap="none">
            <a:spAutoFit/>
          </a:bodyPr>
          <a:lstStyle/>
          <a:p>
            <a:r>
              <a:rPr lang="en-US" sz="1600" dirty="0"/>
              <a:t>Picture source: http://www.xilinx.com</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Xilinx </a:t>
            </a:r>
            <a:r>
              <a:rPr lang="en-US" dirty="0" err="1"/>
              <a:t>Zynq</a:t>
            </a:r>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12</a:t>
            </a:fld>
            <a:endParaRPr lang="en-US"/>
          </a:p>
        </p:txBody>
      </p:sp>
      <p:sp>
        <p:nvSpPr>
          <p:cNvPr id="4" name="Content Placeholder 3"/>
          <p:cNvSpPr>
            <a:spLocks noGrp="1"/>
          </p:cNvSpPr>
          <p:nvPr>
            <p:ph sz="quarter" idx="1"/>
          </p:nvPr>
        </p:nvSpPr>
        <p:spPr/>
        <p:txBody>
          <a:bodyPr>
            <a:normAutofit/>
          </a:bodyPr>
          <a:lstStyle/>
          <a:p>
            <a:r>
              <a:rPr lang="en-US" dirty="0"/>
              <a:t>A modern </a:t>
            </a:r>
            <a:r>
              <a:rPr lang="en-US" dirty="0" err="1"/>
              <a:t>SoPC</a:t>
            </a:r>
            <a:r>
              <a:rPr lang="en-US" dirty="0"/>
              <a:t> with many hardcore logic</a:t>
            </a:r>
          </a:p>
          <a:p>
            <a:endParaRPr 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2743200"/>
            <a:ext cx="3936430" cy="30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600" y="2586037"/>
            <a:ext cx="3686175" cy="336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473259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Xilinx </a:t>
            </a:r>
            <a:r>
              <a:rPr lang="en-GB" dirty="0" err="1"/>
              <a:t>Zynq</a:t>
            </a:r>
            <a:endParaRPr lang="en-GB"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13</a:t>
            </a:fld>
            <a:endParaRPr lang="en-US"/>
          </a:p>
        </p:txBody>
      </p:sp>
      <p:sp>
        <p:nvSpPr>
          <p:cNvPr id="4" name="Content Placeholder 3"/>
          <p:cNvSpPr>
            <a:spLocks noGrp="1"/>
          </p:cNvSpPr>
          <p:nvPr>
            <p:ph sz="quarter" idx="1"/>
          </p:nvPr>
        </p:nvSpPr>
        <p:spPr>
          <a:xfrm>
            <a:off x="914400" y="1447800"/>
            <a:ext cx="7772400" cy="2286000"/>
          </a:xfrm>
        </p:spPr>
        <p:txBody>
          <a:bodyPr>
            <a:normAutofit fontScale="92500" lnSpcReduction="10000"/>
          </a:bodyPr>
          <a:lstStyle/>
          <a:p>
            <a:r>
              <a:rPr lang="en-GB" dirty="0"/>
              <a:t>FPGA fabric with embedded ARM processor on single die</a:t>
            </a:r>
          </a:p>
          <a:p>
            <a:pPr lvl="1"/>
            <a:r>
              <a:rPr lang="en-GB" dirty="0"/>
              <a:t>Programmable logic (PL)</a:t>
            </a:r>
          </a:p>
          <a:p>
            <a:pPr lvl="1"/>
            <a:r>
              <a:rPr lang="en-GB" dirty="0"/>
              <a:t>Processing system (PS)</a:t>
            </a:r>
          </a:p>
          <a:p>
            <a:r>
              <a:rPr lang="en-GB" sz="2800" dirty="0"/>
              <a:t>PS based on dual-core ARM Cortex-A9</a:t>
            </a:r>
          </a:p>
          <a:p>
            <a:pPr lvl="1"/>
            <a:r>
              <a:rPr lang="en-GB" dirty="0"/>
              <a:t>A rich set of peripherals: USB, CAN, SPI, Flash memory interface, DAM controller, memory controller, …..</a:t>
            </a:r>
          </a:p>
        </p:txBody>
      </p:sp>
    </p:spTree>
    <p:extLst>
      <p:ext uri="{BB962C8B-B14F-4D97-AF65-F5344CB8AC3E}">
        <p14:creationId xmlns:p14="http://schemas.microsoft.com/office/powerpoint/2010/main" val="23985947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Zynq</a:t>
            </a:r>
            <a:r>
              <a:rPr lang="en-US" dirty="0"/>
              <a:t> FPGA block diagram</a:t>
            </a:r>
            <a:endParaRPr lang="en-GB"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14</a:t>
            </a:fld>
            <a:endParaRPr lang="en-US"/>
          </a:p>
        </p:txBody>
      </p:sp>
      <p:sp>
        <p:nvSpPr>
          <p:cNvPr id="4" name="Content Placeholder 3"/>
          <p:cNvSpPr>
            <a:spLocks noGrp="1"/>
          </p:cNvSpPr>
          <p:nvPr>
            <p:ph sz="quarter" idx="1"/>
          </p:nvPr>
        </p:nvSpPr>
        <p:spPr>
          <a:xfrm>
            <a:off x="228600" y="1447800"/>
            <a:ext cx="1676400" cy="4572000"/>
          </a:xfrm>
        </p:spPr>
        <p:txBody>
          <a:bodyPr/>
          <a:lstStyle/>
          <a:p>
            <a:r>
              <a:rPr lang="en-US" dirty="0"/>
              <a:t>FPGA (yellow part) and ARM processor on the same chip</a:t>
            </a:r>
            <a:endParaRPr lang="en-GB" dirty="0"/>
          </a:p>
        </p:txBody>
      </p:sp>
      <p:pic>
        <p:nvPicPr>
          <p:cNvPr id="2050" name="Picture 2" descr="Image result for zynq fpga 7020 block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1371600"/>
            <a:ext cx="6700168" cy="533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67156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Zynq</a:t>
            </a:r>
            <a:r>
              <a:rPr lang="en-US" dirty="0"/>
              <a:t> boards: Z-turn</a:t>
            </a:r>
            <a:endParaRPr lang="en-GB"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15</a:t>
            </a:fld>
            <a:endParaRPr lang="en-US"/>
          </a:p>
        </p:txBody>
      </p:sp>
      <p:sp>
        <p:nvSpPr>
          <p:cNvPr id="4" name="Content Placeholder 3"/>
          <p:cNvSpPr>
            <a:spLocks noGrp="1"/>
          </p:cNvSpPr>
          <p:nvPr>
            <p:ph sz="quarter" idx="1"/>
          </p:nvPr>
        </p:nvSpPr>
        <p:spPr>
          <a:xfrm>
            <a:off x="533400" y="1609725"/>
            <a:ext cx="7391400" cy="4572000"/>
          </a:xfrm>
        </p:spPr>
        <p:txBody>
          <a:bodyPr/>
          <a:lstStyle/>
          <a:p>
            <a:r>
              <a:rPr lang="en-US" dirty="0"/>
              <a:t>A compact powerful computer</a:t>
            </a:r>
          </a:p>
          <a:p>
            <a:endParaRPr lang="en-GB" dirty="0"/>
          </a:p>
        </p:txBody>
      </p:sp>
      <p:pic>
        <p:nvPicPr>
          <p:cNvPr id="1026" name="Picture 2" descr="Image result for zynq fpga 7020 block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420" y="3232875"/>
            <a:ext cx="2740025" cy="222104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zturn boar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2290762"/>
            <a:ext cx="6096000" cy="4105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53323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Zynq</a:t>
            </a:r>
            <a:r>
              <a:rPr lang="en-US" dirty="0"/>
              <a:t>-based hardware </a:t>
            </a:r>
            <a:endParaRPr lang="en-GB"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16</a:t>
            </a:fld>
            <a:endParaRPr lang="en-US"/>
          </a:p>
        </p:txBody>
      </p:sp>
      <p:sp>
        <p:nvSpPr>
          <p:cNvPr id="4" name="Content Placeholder 3"/>
          <p:cNvSpPr>
            <a:spLocks noGrp="1"/>
          </p:cNvSpPr>
          <p:nvPr>
            <p:ph sz="quarter" idx="1"/>
          </p:nvPr>
        </p:nvSpPr>
        <p:spPr>
          <a:xfrm>
            <a:off x="914400" y="1447800"/>
            <a:ext cx="7772400" cy="1447800"/>
          </a:xfrm>
        </p:spPr>
        <p:txBody>
          <a:bodyPr/>
          <a:lstStyle/>
          <a:p>
            <a:r>
              <a:rPr lang="en-US" dirty="0"/>
              <a:t>The design is tested on evaluation boards (like z-turn) and once works correctly, will be fabricated on a custom board</a:t>
            </a:r>
            <a:endParaRPr lang="en-GB"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2286000"/>
            <a:ext cx="6400800" cy="303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descr="Mars ZX3 Module Architectur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0197" y="4876800"/>
            <a:ext cx="3829334" cy="18082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74963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SoC Challenges</a:t>
            </a:r>
          </a:p>
        </p:txBody>
      </p:sp>
      <p:sp>
        <p:nvSpPr>
          <p:cNvPr id="3" name="Slide Number Placeholder 2"/>
          <p:cNvSpPr>
            <a:spLocks noGrp="1"/>
          </p:cNvSpPr>
          <p:nvPr>
            <p:ph type="sldNum" sz="quarter" idx="12"/>
          </p:nvPr>
        </p:nvSpPr>
        <p:spPr/>
        <p:txBody>
          <a:bodyPr/>
          <a:lstStyle/>
          <a:p>
            <a:fld id="{B6F15528-21DE-4FAA-801E-634DDDAF4B2B}" type="slidenum">
              <a:rPr lang="en-US" smtClean="0"/>
              <a:pPr/>
              <a:t>17</a:t>
            </a:fld>
            <a:endParaRPr lang="en-US"/>
          </a:p>
        </p:txBody>
      </p:sp>
      <p:sp>
        <p:nvSpPr>
          <p:cNvPr id="4" name="Content Placeholder 3"/>
          <p:cNvSpPr>
            <a:spLocks noGrp="1"/>
          </p:cNvSpPr>
          <p:nvPr>
            <p:ph sz="quarter" idx="1"/>
          </p:nvPr>
        </p:nvSpPr>
        <p:spPr/>
        <p:txBody>
          <a:bodyPr>
            <a:normAutofit/>
          </a:bodyPr>
          <a:lstStyle/>
          <a:p>
            <a:r>
              <a:rPr lang="en-US" dirty="0"/>
              <a:t>Productivity gap</a:t>
            </a:r>
          </a:p>
          <a:p>
            <a:r>
              <a:rPr lang="en-US" dirty="0"/>
              <a:t>Time-to-market pressure</a:t>
            </a:r>
          </a:p>
          <a:p>
            <a:r>
              <a:rPr lang="en-US" dirty="0"/>
              <a:t>Difficult verification due to increasing complexity</a:t>
            </a:r>
          </a:p>
          <a:p>
            <a:r>
              <a:rPr lang="en-US" dirty="0"/>
              <a:t>Difficult timing closure due to deep submicron</a:t>
            </a:r>
          </a:p>
          <a:p>
            <a:r>
              <a:rPr lang="en-US" dirty="0"/>
              <a:t>Difficult integration due to various levels and  areas of expertise</a:t>
            </a:r>
          </a:p>
          <a:p>
            <a:endParaRPr lang="en-US" dirty="0"/>
          </a:p>
        </p:txBody>
      </p:sp>
      <p:sp>
        <p:nvSpPr>
          <p:cNvPr id="6" name="Rectangle 5"/>
          <p:cNvSpPr/>
          <p:nvPr/>
        </p:nvSpPr>
        <p:spPr>
          <a:xfrm>
            <a:off x="1447800" y="4495800"/>
            <a:ext cx="5943600" cy="1508105"/>
          </a:xfrm>
          <a:prstGeom prst="rect">
            <a:avLst/>
          </a:prstGeom>
        </p:spPr>
        <p:txBody>
          <a:bodyPr wrap="square">
            <a:spAutoFit/>
          </a:bodyPr>
          <a:lstStyle/>
          <a:p>
            <a:pPr algn="ctr"/>
            <a:r>
              <a:rPr lang="en-US" sz="3600" dirty="0"/>
              <a:t>Solution</a:t>
            </a:r>
            <a:r>
              <a:rPr lang="en-US" sz="2800" dirty="0"/>
              <a:t>:</a:t>
            </a:r>
          </a:p>
          <a:p>
            <a:pPr algn="ctr"/>
            <a:r>
              <a:rPr lang="en-US" sz="2800" dirty="0"/>
              <a:t>System-level Design and Block-based design with reusable IPs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System-level design</a:t>
            </a:r>
            <a:endParaRPr lang="en-GB"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18</a:t>
            </a:fld>
            <a:endParaRPr lang="en-US"/>
          </a:p>
        </p:txBody>
      </p:sp>
      <p:sp>
        <p:nvSpPr>
          <p:cNvPr id="4" name="Content Placeholder 3"/>
          <p:cNvSpPr>
            <a:spLocks noGrp="1"/>
          </p:cNvSpPr>
          <p:nvPr>
            <p:ph sz="quarter" idx="1"/>
          </p:nvPr>
        </p:nvSpPr>
        <p:spPr/>
        <p:txBody>
          <a:bodyPr/>
          <a:lstStyle/>
          <a:p>
            <a:endParaRPr lang="en-GB"/>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828800"/>
            <a:ext cx="7543800" cy="43740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745485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System-level (high-level) design</a:t>
            </a:r>
            <a:endParaRPr lang="en-GB"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19</a:t>
            </a:fld>
            <a:endParaRPr lang="en-US"/>
          </a:p>
        </p:txBody>
      </p:sp>
      <p:sp>
        <p:nvSpPr>
          <p:cNvPr id="4" name="Content Placeholder 3"/>
          <p:cNvSpPr>
            <a:spLocks noGrp="1"/>
          </p:cNvSpPr>
          <p:nvPr>
            <p:ph sz="quarter" idx="1"/>
          </p:nvPr>
        </p:nvSpPr>
        <p:spPr/>
        <p:txBody>
          <a:bodyPr/>
          <a:lstStyle/>
          <a:p>
            <a:endParaRPr lang="en-GB"/>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447800"/>
            <a:ext cx="7391400" cy="5173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158286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Traditional approach to design</a:t>
            </a:r>
            <a:endParaRPr lang="en-GB"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20</a:t>
            </a:fld>
            <a:endParaRPr lang="en-US"/>
          </a:p>
        </p:txBody>
      </p:sp>
      <p:sp>
        <p:nvSpPr>
          <p:cNvPr id="4" name="Content Placeholder 3"/>
          <p:cNvSpPr>
            <a:spLocks noGrp="1"/>
          </p:cNvSpPr>
          <p:nvPr>
            <p:ph sz="quarter" idx="1"/>
          </p:nvPr>
        </p:nvSpPr>
        <p:spPr/>
        <p:txBody>
          <a:bodyPr/>
          <a:lstStyle/>
          <a:p>
            <a:r>
              <a:rPr lang="en-US" dirty="0"/>
              <a:t>Two different procedures for hardware and software</a:t>
            </a:r>
          </a:p>
          <a:p>
            <a:endParaRPr lang="en-GB"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2209800"/>
            <a:ext cx="5743575"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222275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New approach to design: system level</a:t>
            </a:r>
            <a:endParaRPr lang="en-GB"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21</a:t>
            </a:fld>
            <a:endParaRPr lang="en-US"/>
          </a:p>
        </p:txBody>
      </p:sp>
      <p:sp>
        <p:nvSpPr>
          <p:cNvPr id="4" name="Content Placeholder 3"/>
          <p:cNvSpPr>
            <a:spLocks noGrp="1"/>
          </p:cNvSpPr>
          <p:nvPr>
            <p:ph sz="quarter" idx="1"/>
          </p:nvPr>
        </p:nvSpPr>
        <p:spPr/>
        <p:txBody>
          <a:bodyPr/>
          <a:lstStyle/>
          <a:p>
            <a:r>
              <a:rPr lang="en-US" dirty="0"/>
              <a:t>Hardware/software </a:t>
            </a:r>
            <a:r>
              <a:rPr lang="en-US" dirty="0" err="1"/>
              <a:t>codesign</a:t>
            </a:r>
            <a:endParaRPr lang="en-GB"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2362200"/>
            <a:ext cx="5581650" cy="380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54173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System-level languages</a:t>
            </a:r>
            <a:endParaRPr lang="en-GB"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22</a:t>
            </a:fld>
            <a:endParaRPr lang="en-US"/>
          </a:p>
        </p:txBody>
      </p:sp>
      <p:sp>
        <p:nvSpPr>
          <p:cNvPr id="4" name="Content Placeholder 3"/>
          <p:cNvSpPr>
            <a:spLocks noGrp="1"/>
          </p:cNvSpPr>
          <p:nvPr>
            <p:ph sz="quarter" idx="1"/>
          </p:nvPr>
        </p:nvSpPr>
        <p:spPr/>
        <p:txBody>
          <a:bodyPr>
            <a:normAutofit/>
          </a:bodyPr>
          <a:lstStyle/>
          <a:p>
            <a:r>
              <a:rPr lang="en-GB" dirty="0"/>
              <a:t>C-Based System level languages</a:t>
            </a:r>
          </a:p>
          <a:p>
            <a:pPr lvl="1"/>
            <a:r>
              <a:rPr lang="en-GB" dirty="0" err="1"/>
              <a:t>SystemVerilog</a:t>
            </a:r>
            <a:endParaRPr lang="en-GB" dirty="0"/>
          </a:p>
          <a:p>
            <a:pPr lvl="1"/>
            <a:r>
              <a:rPr lang="en-GB" dirty="0"/>
              <a:t>Handel C -- </a:t>
            </a:r>
            <a:r>
              <a:rPr lang="en-GB" dirty="0" err="1"/>
              <a:t>Celoxica</a:t>
            </a:r>
            <a:r>
              <a:rPr lang="en-GB" dirty="0"/>
              <a:t> Ltd.</a:t>
            </a:r>
          </a:p>
          <a:p>
            <a:pPr lvl="1"/>
            <a:r>
              <a:rPr lang="en-GB" dirty="0" err="1"/>
              <a:t>SystemC</a:t>
            </a:r>
            <a:r>
              <a:rPr lang="en-GB" dirty="0"/>
              <a:t> -- The Open </a:t>
            </a:r>
            <a:r>
              <a:rPr lang="en-GB" dirty="0" err="1"/>
              <a:t>SystemC</a:t>
            </a:r>
            <a:r>
              <a:rPr lang="en-GB" dirty="0"/>
              <a:t> Initiative</a:t>
            </a:r>
          </a:p>
          <a:p>
            <a:r>
              <a:rPr lang="en-GB" dirty="0" err="1"/>
              <a:t>Matlab</a:t>
            </a:r>
            <a:r>
              <a:rPr lang="en-GB" dirty="0"/>
              <a:t>-based</a:t>
            </a:r>
          </a:p>
          <a:p>
            <a:pPr lvl="1"/>
            <a:r>
              <a:rPr lang="en-GB" dirty="0" err="1"/>
              <a:t>AccelChip</a:t>
            </a:r>
            <a:r>
              <a:rPr lang="en-GB" dirty="0"/>
              <a:t> DSP Synthesis -- </a:t>
            </a:r>
            <a:r>
              <a:rPr lang="en-GB" dirty="0" err="1"/>
              <a:t>AccelChip</a:t>
            </a:r>
            <a:endParaRPr lang="en-GB" dirty="0"/>
          </a:p>
          <a:p>
            <a:pPr lvl="1"/>
            <a:r>
              <a:rPr lang="en-GB" dirty="0"/>
              <a:t>System Generator for DSP -- Xilinx</a:t>
            </a:r>
          </a:p>
          <a:p>
            <a:r>
              <a:rPr lang="en-GB" dirty="0"/>
              <a:t>Java-based</a:t>
            </a:r>
          </a:p>
          <a:p>
            <a:pPr lvl="1"/>
            <a:r>
              <a:rPr lang="en-GB" dirty="0"/>
              <a:t>Forge -- Xilinx</a:t>
            </a:r>
          </a:p>
          <a:p>
            <a:endParaRPr lang="en-GB" dirty="0"/>
          </a:p>
        </p:txBody>
      </p:sp>
    </p:spTree>
    <p:extLst>
      <p:ext uri="{BB962C8B-B14F-4D97-AF65-F5344CB8AC3E}">
        <p14:creationId xmlns:p14="http://schemas.microsoft.com/office/powerpoint/2010/main" val="37720618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 reuse</a:t>
            </a:r>
          </a:p>
        </p:txBody>
      </p:sp>
      <p:sp>
        <p:nvSpPr>
          <p:cNvPr id="3" name="Slide Number Placeholder 2"/>
          <p:cNvSpPr>
            <a:spLocks noGrp="1"/>
          </p:cNvSpPr>
          <p:nvPr>
            <p:ph type="sldNum" sz="quarter" idx="12"/>
          </p:nvPr>
        </p:nvSpPr>
        <p:spPr/>
        <p:txBody>
          <a:bodyPr/>
          <a:lstStyle/>
          <a:p>
            <a:fld id="{B6F15528-21DE-4FAA-801E-634DDDAF4B2B}" type="slidenum">
              <a:rPr lang="en-US" smtClean="0"/>
              <a:pPr/>
              <a:t>23</a:t>
            </a:fld>
            <a:endParaRPr lang="en-US"/>
          </a:p>
        </p:txBody>
      </p:sp>
      <p:sp>
        <p:nvSpPr>
          <p:cNvPr id="4" name="Content Placeholder 3"/>
          <p:cNvSpPr>
            <a:spLocks noGrp="1"/>
          </p:cNvSpPr>
          <p:nvPr>
            <p:ph sz="quarter" idx="1"/>
          </p:nvPr>
        </p:nvSpPr>
        <p:spPr>
          <a:xfrm>
            <a:off x="914400" y="1447800"/>
            <a:ext cx="7772400" cy="4800600"/>
          </a:xfrm>
        </p:spPr>
        <p:txBody>
          <a:bodyPr>
            <a:normAutofit fontScale="92500" lnSpcReduction="10000"/>
          </a:bodyPr>
          <a:lstStyle/>
          <a:p>
            <a:r>
              <a:rPr lang="en-US" dirty="0"/>
              <a:t>Using IP-cores</a:t>
            </a:r>
          </a:p>
          <a:p>
            <a:pPr lvl="1"/>
            <a:r>
              <a:rPr lang="en-US" dirty="0"/>
              <a:t>“IP” means “intellectual property”</a:t>
            </a:r>
          </a:p>
          <a:p>
            <a:pPr lvl="1"/>
            <a:r>
              <a:rPr lang="en-US" dirty="0"/>
              <a:t>Circuit designs cleaned up and made available to other engineers</a:t>
            </a:r>
          </a:p>
          <a:p>
            <a:r>
              <a:rPr lang="en-US" dirty="0"/>
              <a:t>IP examples:</a:t>
            </a:r>
          </a:p>
          <a:p>
            <a:pPr lvl="1"/>
            <a:r>
              <a:rPr lang="en-US" dirty="0"/>
              <a:t>Microprocessor cores</a:t>
            </a:r>
          </a:p>
          <a:p>
            <a:pPr lvl="1"/>
            <a:r>
              <a:rPr lang="en-US" dirty="0"/>
              <a:t>DSP cores</a:t>
            </a:r>
          </a:p>
          <a:p>
            <a:pPr lvl="1"/>
            <a:r>
              <a:rPr lang="en-US" dirty="0"/>
              <a:t>Ethernet, USB, FireWire, 802.11 cores</a:t>
            </a:r>
          </a:p>
          <a:p>
            <a:pPr lvl="1"/>
            <a:r>
              <a:rPr lang="en-US" dirty="0"/>
              <a:t>Special-purpose cores</a:t>
            </a:r>
          </a:p>
          <a:p>
            <a:pPr lvl="2"/>
            <a:r>
              <a:rPr lang="en-US" dirty="0"/>
              <a:t>MPEG-2 compression, decompression, encryption cores, </a:t>
            </a:r>
            <a:r>
              <a:rPr lang="en-US" dirty="0" err="1"/>
              <a:t>filters,etc</a:t>
            </a:r>
            <a:r>
              <a:rPr lang="en-US" dirty="0"/>
              <a:t>…</a:t>
            </a:r>
          </a:p>
          <a:p>
            <a:endParaRPr lang="en-GB" dirty="0"/>
          </a:p>
          <a:p>
            <a:r>
              <a:rPr lang="en-GB" dirty="0"/>
              <a:t>The global semiconductor IP market was valued at $3,434 million in 2017, and is projected to reach $5,701 million by 2024</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Open IP cores on the internet</a:t>
            </a:r>
            <a:endParaRPr lang="en-GB"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24</a:t>
            </a:fld>
            <a:endParaRPr lang="en-US"/>
          </a:p>
        </p:txBody>
      </p:sp>
      <p:sp>
        <p:nvSpPr>
          <p:cNvPr id="4" name="Content Placeholder 3"/>
          <p:cNvSpPr>
            <a:spLocks noGrp="1"/>
          </p:cNvSpPr>
          <p:nvPr>
            <p:ph sz="quarter" idx="1"/>
          </p:nvPr>
        </p:nvSpPr>
        <p:spPr/>
        <p:txBody>
          <a:bodyPr/>
          <a:lstStyle/>
          <a:p>
            <a:endParaRPr lang="en-GB"/>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600200"/>
            <a:ext cx="8449417" cy="458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554425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Hard IP-cores</a:t>
            </a:r>
          </a:p>
        </p:txBody>
      </p:sp>
      <p:sp>
        <p:nvSpPr>
          <p:cNvPr id="3" name="Slide Number Placeholder 2"/>
          <p:cNvSpPr>
            <a:spLocks noGrp="1"/>
          </p:cNvSpPr>
          <p:nvPr>
            <p:ph type="sldNum" sz="quarter" idx="12"/>
          </p:nvPr>
        </p:nvSpPr>
        <p:spPr/>
        <p:txBody>
          <a:bodyPr/>
          <a:lstStyle/>
          <a:p>
            <a:fld id="{B6F15528-21DE-4FAA-801E-634DDDAF4B2B}" type="slidenum">
              <a:rPr lang="en-US" smtClean="0"/>
              <a:pPr/>
              <a:t>25</a:t>
            </a:fld>
            <a:endParaRPr lang="en-US"/>
          </a:p>
        </p:txBody>
      </p:sp>
      <p:sp>
        <p:nvSpPr>
          <p:cNvPr id="4" name="Content Placeholder 3"/>
          <p:cNvSpPr>
            <a:spLocks noGrp="1"/>
          </p:cNvSpPr>
          <p:nvPr>
            <p:ph sz="quarter" idx="1"/>
          </p:nvPr>
        </p:nvSpPr>
        <p:spPr/>
        <p:txBody>
          <a:bodyPr>
            <a:normAutofit/>
          </a:bodyPr>
          <a:lstStyle/>
          <a:p>
            <a:r>
              <a:rPr lang="en-US" dirty="0"/>
              <a:t>Delivered in physical form</a:t>
            </a:r>
          </a:p>
          <a:p>
            <a:r>
              <a:rPr lang="en-US" dirty="0"/>
              <a:t>Fully designed, placed and routed, and characterized for timing, power, etc. </a:t>
            </a:r>
          </a:p>
          <a:p>
            <a:r>
              <a:rPr lang="en-US" dirty="0"/>
              <a:t>Tied to a manufacturing process </a:t>
            </a:r>
          </a:p>
          <a:p>
            <a:r>
              <a:rPr lang="en-US" dirty="0"/>
              <a:t>Actual physical layout </a:t>
            </a:r>
          </a:p>
          <a:p>
            <a:pPr lvl="1"/>
            <a:r>
              <a:rPr lang="en-US" dirty="0"/>
              <a:t>Fixed shape </a:t>
            </a:r>
          </a:p>
          <a:p>
            <a:r>
              <a:rPr lang="en-US" dirty="0"/>
              <a:t>Technology specific layout</a:t>
            </a:r>
          </a:p>
          <a:p>
            <a:pPr lvl="1"/>
            <a:r>
              <a:rPr lang="en-US" dirty="0"/>
              <a:t>Size and speed determined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 IP-cores</a:t>
            </a:r>
          </a:p>
        </p:txBody>
      </p:sp>
      <p:sp>
        <p:nvSpPr>
          <p:cNvPr id="3" name="Slide Number Placeholder 2"/>
          <p:cNvSpPr>
            <a:spLocks noGrp="1"/>
          </p:cNvSpPr>
          <p:nvPr>
            <p:ph type="sldNum" sz="quarter" idx="12"/>
          </p:nvPr>
        </p:nvSpPr>
        <p:spPr/>
        <p:txBody>
          <a:bodyPr/>
          <a:lstStyle/>
          <a:p>
            <a:fld id="{B6F15528-21DE-4FAA-801E-634DDDAF4B2B}" type="slidenum">
              <a:rPr lang="en-US" smtClean="0"/>
              <a:pPr/>
              <a:t>26</a:t>
            </a:fld>
            <a:endParaRPr lang="en-US"/>
          </a:p>
        </p:txBody>
      </p:sp>
      <p:sp>
        <p:nvSpPr>
          <p:cNvPr id="4" name="Content Placeholder 3"/>
          <p:cNvSpPr>
            <a:spLocks noGrp="1"/>
          </p:cNvSpPr>
          <p:nvPr>
            <p:ph sz="quarter" idx="1"/>
          </p:nvPr>
        </p:nvSpPr>
        <p:spPr/>
        <p:txBody>
          <a:bodyPr>
            <a:normAutofit/>
          </a:bodyPr>
          <a:lstStyle/>
          <a:p>
            <a:r>
              <a:rPr lang="en-US" dirty="0"/>
              <a:t>Circuit design delivered in “source code” format instead of physical film or physical-layout information</a:t>
            </a:r>
          </a:p>
          <a:p>
            <a:pPr lvl="1"/>
            <a:r>
              <a:rPr lang="en-US" dirty="0"/>
              <a:t>In forms of RTL code or </a:t>
            </a:r>
            <a:r>
              <a:rPr lang="en-US" dirty="0" err="1"/>
              <a:t>netlist</a:t>
            </a:r>
            <a:endParaRPr lang="en-US" dirty="0"/>
          </a:p>
          <a:p>
            <a:pPr lvl="1"/>
            <a:r>
              <a:rPr lang="en-US" dirty="0"/>
              <a:t>technology dependent gate-level </a:t>
            </a:r>
            <a:r>
              <a:rPr lang="en-US" dirty="0" err="1"/>
              <a:t>netlists</a:t>
            </a:r>
            <a:r>
              <a:rPr lang="en-US" dirty="0"/>
              <a:t> are called firm-core</a:t>
            </a:r>
          </a:p>
          <a:p>
            <a:r>
              <a:rPr lang="en-US" dirty="0"/>
              <a:t>Functions are fixed, may be </a:t>
            </a:r>
            <a:r>
              <a:rPr lang="en-US" dirty="0" err="1"/>
              <a:t>parameterizable</a:t>
            </a:r>
            <a:endParaRPr lang="en-US" dirty="0"/>
          </a:p>
          <a:p>
            <a:pPr lvl="1"/>
            <a:r>
              <a:rPr lang="en-US" dirty="0"/>
              <a:t>Size and shape are determined when synthesizing</a:t>
            </a:r>
          </a:p>
          <a:p>
            <a:r>
              <a:rPr lang="en-US" dirty="0"/>
              <a:t>Equivalent to delivering C source code</a:t>
            </a:r>
          </a:p>
          <a:p>
            <a:pPr lvl="1"/>
            <a:r>
              <a:rPr lang="en-US" dirty="0"/>
              <a:t>The program doesn’t change at all, only the details of the executable binary you create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IP core generation</a:t>
            </a:r>
            <a:endParaRPr lang="en-GB"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27</a:t>
            </a:fld>
            <a:endParaRPr lang="en-US"/>
          </a:p>
        </p:txBody>
      </p:sp>
      <p:sp>
        <p:nvSpPr>
          <p:cNvPr id="4" name="Content Placeholder 3"/>
          <p:cNvSpPr>
            <a:spLocks noGrp="1"/>
          </p:cNvSpPr>
          <p:nvPr>
            <p:ph sz="quarter" idx="1"/>
          </p:nvPr>
        </p:nvSpPr>
        <p:spPr/>
        <p:txBody>
          <a:bodyPr/>
          <a:lstStyle/>
          <a:p>
            <a:r>
              <a:rPr lang="en-GB" dirty="0"/>
              <a:t> can be done in many commercial tools</a:t>
            </a:r>
          </a:p>
          <a:p>
            <a:pPr lvl="1"/>
            <a:r>
              <a:rPr lang="en-GB" dirty="0"/>
              <a:t>Xilinx CORE Generator System</a:t>
            </a:r>
          </a:p>
          <a:p>
            <a:pPr lvl="1"/>
            <a:r>
              <a:rPr lang="en-US" dirty="0" err="1"/>
              <a:t>Matlab</a:t>
            </a:r>
            <a:r>
              <a:rPr lang="en-US" dirty="0"/>
              <a:t> HDL Coder</a:t>
            </a:r>
          </a:p>
          <a:p>
            <a:r>
              <a:rPr lang="en-US" dirty="0"/>
              <a:t>We can use IP cores by some tools</a:t>
            </a:r>
          </a:p>
          <a:p>
            <a:pPr lvl="1"/>
            <a:r>
              <a:rPr lang="en-GB" dirty="0" err="1"/>
              <a:t>Vivado</a:t>
            </a:r>
            <a:r>
              <a:rPr lang="en-GB" dirty="0"/>
              <a:t>® IP Integrator from Xilinx</a:t>
            </a:r>
          </a:p>
          <a:p>
            <a:pPr lvl="1"/>
            <a:r>
              <a:rPr lang="en-US" dirty="0" err="1"/>
              <a:t>Qsys</a:t>
            </a:r>
            <a:r>
              <a:rPr lang="en-US" dirty="0"/>
              <a:t> </a:t>
            </a:r>
            <a:r>
              <a:rPr lang="en-US"/>
              <a:t>from Altera</a:t>
            </a:r>
            <a:endParaRPr lang="en-GB" dirty="0"/>
          </a:p>
          <a:p>
            <a:endParaRPr lang="en-GB" dirty="0"/>
          </a:p>
        </p:txBody>
      </p:sp>
    </p:spTree>
    <p:extLst>
      <p:ext uri="{BB962C8B-B14F-4D97-AF65-F5344CB8AC3E}">
        <p14:creationId xmlns:p14="http://schemas.microsoft.com/office/powerpoint/2010/main" val="31641355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modern Set Top Box</a:t>
            </a:r>
            <a:endParaRPr lang="en-GB"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28</a:t>
            </a:fld>
            <a:endParaRPr lang="en-US"/>
          </a:p>
        </p:txBody>
      </p:sp>
      <p:sp>
        <p:nvSpPr>
          <p:cNvPr id="4" name="Content Placeholder 3"/>
          <p:cNvSpPr>
            <a:spLocks noGrp="1"/>
          </p:cNvSpPr>
          <p:nvPr>
            <p:ph sz="quarter" idx="1"/>
          </p:nvPr>
        </p:nvSpPr>
        <p:spPr/>
        <p:txBody>
          <a:bodyPr>
            <a:normAutofit/>
          </a:bodyPr>
          <a:lstStyle/>
          <a:p>
            <a:r>
              <a:rPr lang="en-GB" dirty="0"/>
              <a:t>Cable Modem compliant</a:t>
            </a:r>
          </a:p>
          <a:p>
            <a:r>
              <a:rPr lang="en-GB" dirty="0"/>
              <a:t> Digital Video Broadcast compliant</a:t>
            </a:r>
          </a:p>
          <a:p>
            <a:r>
              <a:rPr lang="en-GB" dirty="0"/>
              <a:t>MPEG-2 Video and AC-3 Audio Decoding</a:t>
            </a:r>
          </a:p>
          <a:p>
            <a:r>
              <a:rPr lang="en-GB" dirty="0"/>
              <a:t> NTSC/PAL/SECAM TV Encoder</a:t>
            </a:r>
          </a:p>
          <a:p>
            <a:r>
              <a:rPr lang="en-GB" dirty="0"/>
              <a:t>RAM and Hard Disk Interfaces</a:t>
            </a:r>
          </a:p>
          <a:p>
            <a:r>
              <a:rPr lang="en-GB" dirty="0"/>
              <a:t>Graphics Accelerator for gaming, internet content, etc.</a:t>
            </a:r>
          </a:p>
          <a:p>
            <a:r>
              <a:rPr lang="en-GB" dirty="0"/>
              <a:t>High Speed Interfaces: USB 2.0 and 10/100 Ethernet</a:t>
            </a:r>
          </a:p>
          <a:p>
            <a:r>
              <a:rPr lang="en-GB" dirty="0"/>
              <a:t>UART, IR, V.90 Modem, </a:t>
            </a:r>
            <a:r>
              <a:rPr lang="en-GB" dirty="0" err="1"/>
              <a:t>SmartCard</a:t>
            </a:r>
            <a:r>
              <a:rPr lang="en-GB" dirty="0"/>
              <a:t> and GPIO</a:t>
            </a:r>
          </a:p>
          <a:p>
            <a:endParaRPr lang="en-GB" dirty="0"/>
          </a:p>
        </p:txBody>
      </p:sp>
    </p:spTree>
    <p:extLst>
      <p:ext uri="{BB962C8B-B14F-4D97-AF65-F5344CB8AC3E}">
        <p14:creationId xmlns:p14="http://schemas.microsoft.com/office/powerpoint/2010/main" val="7084463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modern Set Top Box</a:t>
            </a:r>
            <a:endParaRPr lang="en-GB"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29</a:t>
            </a:fld>
            <a:endParaRPr lang="en-US"/>
          </a:p>
        </p:txBody>
      </p:sp>
      <p:sp>
        <p:nvSpPr>
          <p:cNvPr id="4" name="Content Placeholder 3"/>
          <p:cNvSpPr>
            <a:spLocks noGrp="1"/>
          </p:cNvSpPr>
          <p:nvPr>
            <p:ph sz="quarter" idx="1"/>
          </p:nvPr>
        </p:nvSpPr>
        <p:spPr/>
        <p:txBody>
          <a:bodyPr>
            <a:normAutofit/>
          </a:bodyPr>
          <a:lstStyle/>
          <a:p>
            <a:r>
              <a:rPr lang="en-GB" dirty="0"/>
              <a:t>Cable Modem compliant</a:t>
            </a:r>
          </a:p>
          <a:p>
            <a:r>
              <a:rPr lang="en-GB" dirty="0"/>
              <a:t> Digital Video Broadcast compliant</a:t>
            </a:r>
          </a:p>
          <a:p>
            <a:r>
              <a:rPr lang="en-GB" dirty="0"/>
              <a:t>MPEG-2 Video and AC-3 Audio Decoding</a:t>
            </a:r>
          </a:p>
          <a:p>
            <a:r>
              <a:rPr lang="en-GB" dirty="0"/>
              <a:t> NTSC/PAL/SECAM TV Encoder</a:t>
            </a:r>
          </a:p>
          <a:p>
            <a:r>
              <a:rPr lang="en-GB" dirty="0"/>
              <a:t>RAM and Hard Disk Interfaces</a:t>
            </a:r>
          </a:p>
          <a:p>
            <a:r>
              <a:rPr lang="en-GB" dirty="0"/>
              <a:t>Graphics Accelerator for gaming, internet content, etc.</a:t>
            </a:r>
          </a:p>
          <a:p>
            <a:r>
              <a:rPr lang="en-GB" dirty="0"/>
              <a:t>High Speed Interfaces: USB 2.0 and 10/100 Ethernet</a:t>
            </a:r>
          </a:p>
          <a:p>
            <a:r>
              <a:rPr lang="en-GB" dirty="0"/>
              <a:t>UART, IR, V.90 Modem, </a:t>
            </a:r>
            <a:r>
              <a:rPr lang="en-GB" dirty="0" err="1"/>
              <a:t>SmartCard</a:t>
            </a:r>
            <a:r>
              <a:rPr lang="en-GB" dirty="0"/>
              <a:t> and GPIO</a:t>
            </a:r>
          </a:p>
          <a:p>
            <a:endParaRPr lang="en-GB" dirty="0"/>
          </a:p>
        </p:txBody>
      </p:sp>
    </p:spTree>
    <p:extLst>
      <p:ext uri="{BB962C8B-B14F-4D97-AF65-F5344CB8AC3E}">
        <p14:creationId xmlns:p14="http://schemas.microsoft.com/office/powerpoint/2010/main" val="11129439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modern Set Top Box</a:t>
            </a:r>
            <a:endParaRPr lang="en-GB" dirty="0"/>
          </a:p>
        </p:txBody>
      </p:sp>
      <p:sp>
        <p:nvSpPr>
          <p:cNvPr id="4" name="Content Placeholder 3"/>
          <p:cNvSpPr>
            <a:spLocks noGrp="1"/>
          </p:cNvSpPr>
          <p:nvPr>
            <p:ph sz="quarter" idx="1"/>
          </p:nvPr>
        </p:nvSpPr>
        <p:spPr/>
        <p:txBody>
          <a:bodyPr/>
          <a:lstStyle/>
          <a:p>
            <a:endParaRPr lang="en-GB"/>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219200"/>
            <a:ext cx="8753475" cy="540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Slide Number Placeholder 2"/>
          <p:cNvSpPr>
            <a:spLocks noGrp="1"/>
          </p:cNvSpPr>
          <p:nvPr>
            <p:ph type="sldNum" sz="quarter" idx="12"/>
          </p:nvPr>
        </p:nvSpPr>
        <p:spPr/>
        <p:txBody>
          <a:bodyPr/>
          <a:lstStyle/>
          <a:p>
            <a:fld id="{B6F15528-21DE-4FAA-801E-634DDDAF4B2B}" type="slidenum">
              <a:rPr lang="en-US" smtClean="0"/>
              <a:pPr/>
              <a:t>30</a:t>
            </a:fld>
            <a:endParaRPr lang="en-US"/>
          </a:p>
        </p:txBody>
      </p:sp>
    </p:spTree>
    <p:extLst>
      <p:ext uri="{BB962C8B-B14F-4D97-AF65-F5344CB8AC3E}">
        <p14:creationId xmlns:p14="http://schemas.microsoft.com/office/powerpoint/2010/main" val="11525702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Embedded Software (</a:t>
            </a:r>
            <a:r>
              <a:rPr lang="en-US" dirty="0" err="1"/>
              <a:t>eSW</a:t>
            </a:r>
            <a:r>
              <a:rPr lang="en-US" dirty="0"/>
              <a:t>)</a:t>
            </a:r>
            <a:endParaRPr lang="en-GB"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31</a:t>
            </a:fld>
            <a:endParaRPr lang="en-US"/>
          </a:p>
        </p:txBody>
      </p:sp>
      <p:sp>
        <p:nvSpPr>
          <p:cNvPr id="4" name="Content Placeholder 3"/>
          <p:cNvSpPr>
            <a:spLocks noGrp="1"/>
          </p:cNvSpPr>
          <p:nvPr>
            <p:ph sz="quarter" idx="1"/>
          </p:nvPr>
        </p:nvSpPr>
        <p:spPr/>
        <p:txBody>
          <a:bodyPr>
            <a:normAutofit/>
          </a:bodyPr>
          <a:lstStyle/>
          <a:p>
            <a:r>
              <a:rPr lang="en-GB" dirty="0"/>
              <a:t>Embedded SW content in </a:t>
            </a:r>
            <a:r>
              <a:rPr lang="en-GB" dirty="0" err="1"/>
              <a:t>SoC</a:t>
            </a:r>
            <a:r>
              <a:rPr lang="en-GB" dirty="0"/>
              <a:t> is increasing significantly</a:t>
            </a:r>
          </a:p>
          <a:p>
            <a:r>
              <a:rPr lang="en-GB" dirty="0" err="1"/>
              <a:t>eSW</a:t>
            </a:r>
            <a:r>
              <a:rPr lang="en-GB" dirty="0"/>
              <a:t>: Current application complexity</a:t>
            </a:r>
          </a:p>
          <a:p>
            <a:pPr marL="0" indent="0">
              <a:buNone/>
            </a:pPr>
            <a:r>
              <a:rPr lang="en-GB" dirty="0"/>
              <a:t>	– Set-top box: &gt;1 million lines of code</a:t>
            </a:r>
          </a:p>
          <a:p>
            <a:pPr marL="0" indent="0">
              <a:buNone/>
            </a:pPr>
            <a:r>
              <a:rPr lang="en-GB" dirty="0"/>
              <a:t>	– Digital audio processing: &gt;1 million lines of code</a:t>
            </a:r>
          </a:p>
          <a:p>
            <a:r>
              <a:rPr lang="en-GB" dirty="0"/>
              <a:t>In multimedia systems</a:t>
            </a:r>
          </a:p>
          <a:p>
            <a:pPr marL="0" indent="0">
              <a:buNone/>
            </a:pPr>
            <a:r>
              <a:rPr lang="en-GB" dirty="0"/>
              <a:t>	– SW cost (programs and licenses) 6X larger than 	H/W chip cost</a:t>
            </a:r>
          </a:p>
          <a:p>
            <a:r>
              <a:rPr lang="en-GB" dirty="0"/>
              <a:t>HW/SW co-design, co-verification issues are important</a:t>
            </a:r>
          </a:p>
          <a:p>
            <a:endParaRPr lang="en-GB" dirty="0"/>
          </a:p>
        </p:txBody>
      </p:sp>
    </p:spTree>
    <p:extLst>
      <p:ext uri="{BB962C8B-B14F-4D97-AF65-F5344CB8AC3E}">
        <p14:creationId xmlns:p14="http://schemas.microsoft.com/office/powerpoint/2010/main" val="34739334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Tutorial- reusing IP-cores</a:t>
            </a:r>
          </a:p>
        </p:txBody>
      </p:sp>
      <p:sp>
        <p:nvSpPr>
          <p:cNvPr id="3" name="Slide Number Placeholder 2"/>
          <p:cNvSpPr>
            <a:spLocks noGrp="1"/>
          </p:cNvSpPr>
          <p:nvPr>
            <p:ph type="sldNum" sz="quarter" idx="12"/>
          </p:nvPr>
        </p:nvSpPr>
        <p:spPr/>
        <p:txBody>
          <a:bodyPr/>
          <a:lstStyle/>
          <a:p>
            <a:fld id="{B6F15528-21DE-4FAA-801E-634DDDAF4B2B}" type="slidenum">
              <a:rPr lang="en-US" smtClean="0"/>
              <a:pPr/>
              <a:t>32</a:t>
            </a:fld>
            <a:endParaRPr lang="en-US"/>
          </a:p>
        </p:txBody>
      </p:sp>
      <p:sp>
        <p:nvSpPr>
          <p:cNvPr id="4" name="Content Placeholder 3"/>
          <p:cNvSpPr>
            <a:spLocks noGrp="1"/>
          </p:cNvSpPr>
          <p:nvPr>
            <p:ph sz="quarter" idx="1"/>
          </p:nvPr>
        </p:nvSpPr>
        <p:spPr/>
        <p:txBody>
          <a:bodyPr/>
          <a:lstStyle/>
          <a:p>
            <a:r>
              <a:rPr lang="en-US" dirty="0"/>
              <a:t>Keyboard and </a:t>
            </a:r>
            <a:r>
              <a:rPr lang="en-US"/>
              <a:t>LCD driver IP </a:t>
            </a:r>
            <a:r>
              <a:rPr lang="en-US" dirty="0"/>
              <a:t>cores</a:t>
            </a:r>
          </a:p>
          <a:p>
            <a:r>
              <a:rPr lang="en-US" dirty="0"/>
              <a:t>Some existing free IP-cores can be selected to be used to design and implement an embedded system </a:t>
            </a:r>
          </a:p>
          <a:p>
            <a:pPr lvl="1"/>
            <a:r>
              <a:rPr lang="en-US" dirty="0"/>
              <a:t>The cores can be either selected from the free cores included in Xilinx tools or be picked up from some free IP-core websites, such as </a:t>
            </a:r>
            <a:r>
              <a:rPr lang="en-US" i="1" dirty="0"/>
              <a:t>www.design-reuse.com </a:t>
            </a:r>
            <a:r>
              <a:rPr lang="en-US" dirty="0"/>
              <a:t>or</a:t>
            </a:r>
            <a:r>
              <a:rPr lang="en-US" i="1" dirty="0"/>
              <a:t> opencores.org</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Mouse data packet format</a:t>
            </a:r>
          </a:p>
        </p:txBody>
      </p:sp>
      <p:sp>
        <p:nvSpPr>
          <p:cNvPr id="3" name="Slide Number Placeholder 2"/>
          <p:cNvSpPr>
            <a:spLocks noGrp="1"/>
          </p:cNvSpPr>
          <p:nvPr>
            <p:ph type="sldNum" sz="quarter" idx="12"/>
          </p:nvPr>
        </p:nvSpPr>
        <p:spPr/>
        <p:txBody>
          <a:bodyPr/>
          <a:lstStyle/>
          <a:p>
            <a:fld id="{B6F15528-21DE-4FAA-801E-634DDDAF4B2B}" type="slidenum">
              <a:rPr lang="en-US" smtClean="0"/>
              <a:pPr/>
              <a:t>33</a:t>
            </a:fld>
            <a:endParaRPr lang="en-US"/>
          </a:p>
        </p:txBody>
      </p:sp>
      <p:pic>
        <p:nvPicPr>
          <p:cNvPr id="1026" name="Picture 2"/>
          <p:cNvPicPr>
            <a:picLocks noChangeAspect="1" noChangeArrowheads="1"/>
          </p:cNvPicPr>
          <p:nvPr/>
        </p:nvPicPr>
        <p:blipFill>
          <a:blip r:embed="rId3"/>
          <a:srcRect/>
          <a:stretch>
            <a:fillRect/>
          </a:stretch>
        </p:blipFill>
        <p:spPr bwMode="auto">
          <a:xfrm>
            <a:off x="1905000" y="1524000"/>
            <a:ext cx="5057775" cy="1162050"/>
          </a:xfrm>
          <a:prstGeom prst="rect">
            <a:avLst/>
          </a:prstGeom>
          <a:noFill/>
          <a:ln w="9525">
            <a:noFill/>
            <a:miter lim="800000"/>
            <a:headEnd/>
            <a:tailEnd/>
          </a:ln>
          <a:effectLst/>
        </p:spPr>
      </p:pic>
      <p:sp>
        <p:nvSpPr>
          <p:cNvPr id="6" name="Content Placeholder 5"/>
          <p:cNvSpPr>
            <a:spLocks noGrp="1"/>
          </p:cNvSpPr>
          <p:nvPr>
            <p:ph sz="quarter" idx="1"/>
          </p:nvPr>
        </p:nvSpPr>
        <p:spPr>
          <a:xfrm>
            <a:off x="914400" y="4724400"/>
            <a:ext cx="7772400" cy="1600200"/>
          </a:xfrm>
        </p:spPr>
        <p:txBody>
          <a:bodyPr>
            <a:normAutofit/>
          </a:bodyPr>
          <a:lstStyle/>
          <a:p>
            <a:r>
              <a:rPr lang="en-US" dirty="0"/>
              <a:t>9-bit signed integer to monitor mouse’s movement</a:t>
            </a:r>
          </a:p>
          <a:p>
            <a:pPr lvl="1"/>
            <a:r>
              <a:rPr lang="en-US" dirty="0"/>
              <a:t>A positive number indicates the right or up movement, and a negative number indicates the left or down movement</a:t>
            </a:r>
          </a:p>
        </p:txBody>
      </p:sp>
      <p:pic>
        <p:nvPicPr>
          <p:cNvPr id="1027" name="Picture 3"/>
          <p:cNvPicPr>
            <a:picLocks noChangeAspect="1" noChangeArrowheads="1"/>
          </p:cNvPicPr>
          <p:nvPr/>
        </p:nvPicPr>
        <p:blipFill>
          <a:blip r:embed="rId4"/>
          <a:srcRect/>
          <a:stretch>
            <a:fillRect/>
          </a:stretch>
        </p:blipFill>
        <p:spPr bwMode="auto">
          <a:xfrm>
            <a:off x="1219200" y="2667000"/>
            <a:ext cx="7477125" cy="1838325"/>
          </a:xfrm>
          <a:prstGeom prst="rect">
            <a:avLst/>
          </a:prstGeom>
          <a:noFill/>
          <a:ln w="9525">
            <a:noFill/>
            <a:miter lim="800000"/>
            <a:headEnd/>
            <a:tailEnd/>
          </a:ln>
          <a:effectLst/>
        </p:spPr>
      </p:pic>
      <p:sp>
        <p:nvSpPr>
          <p:cNvPr id="8" name="Rectangle 7"/>
          <p:cNvSpPr/>
          <p:nvPr/>
        </p:nvSpPr>
        <p:spPr>
          <a:xfrm>
            <a:off x="1447800" y="6248400"/>
            <a:ext cx="6477000" cy="400110"/>
          </a:xfrm>
          <a:prstGeom prst="rect">
            <a:avLst/>
          </a:prstGeom>
        </p:spPr>
        <p:txBody>
          <a:bodyPr wrap="square">
            <a:spAutoFit/>
          </a:bodyPr>
          <a:lstStyle/>
          <a:p>
            <a:pPr algn="ctr"/>
            <a:r>
              <a:rPr lang="en-US" sz="2000" b="1" dirty="0"/>
              <a:t>Byte 1 is sent first and Byte 3 is sent last</a:t>
            </a:r>
          </a:p>
        </p:txBody>
      </p:sp>
    </p:spTree>
    <p:extLst>
      <p:ext uri="{BB962C8B-B14F-4D97-AF65-F5344CB8AC3E}">
        <p14:creationId xmlns:p14="http://schemas.microsoft.com/office/powerpoint/2010/main" val="12873078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5-button Microsoft </a:t>
            </a:r>
            <a:r>
              <a:rPr lang="en-US" i="1" dirty="0" err="1"/>
              <a:t>Intellimouse</a:t>
            </a:r>
            <a:endParaRPr lang="en-US" i="1"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34</a:t>
            </a:fld>
            <a:endParaRPr lang="en-US"/>
          </a:p>
        </p:txBody>
      </p:sp>
      <p:sp>
        <p:nvSpPr>
          <p:cNvPr id="4" name="Content Placeholder 3"/>
          <p:cNvSpPr>
            <a:spLocks noGrp="1"/>
          </p:cNvSpPr>
          <p:nvPr>
            <p:ph sz="quarter" idx="1"/>
          </p:nvPr>
        </p:nvSpPr>
        <p:spPr/>
        <p:txBody>
          <a:bodyPr/>
          <a:lstStyle/>
          <a:p>
            <a:r>
              <a:rPr lang="en-US" dirty="0"/>
              <a:t>4-byte movement data packet when 5 buttons are used</a:t>
            </a:r>
          </a:p>
          <a:p>
            <a:r>
              <a:rPr lang="en-US" dirty="0"/>
              <a:t>The Z-movement is the scrolling wheel's movement</a:t>
            </a:r>
          </a:p>
        </p:txBody>
      </p:sp>
      <p:pic>
        <p:nvPicPr>
          <p:cNvPr id="6147" name="Picture 3"/>
          <p:cNvPicPr>
            <a:picLocks noChangeAspect="1" noChangeArrowheads="1"/>
          </p:cNvPicPr>
          <p:nvPr/>
        </p:nvPicPr>
        <p:blipFill>
          <a:blip r:embed="rId3"/>
          <a:srcRect/>
          <a:stretch>
            <a:fillRect/>
          </a:stretch>
        </p:blipFill>
        <p:spPr bwMode="auto">
          <a:xfrm>
            <a:off x="1143000" y="3048000"/>
            <a:ext cx="6524625" cy="1581150"/>
          </a:xfrm>
          <a:prstGeom prst="rect">
            <a:avLst/>
          </a:prstGeom>
          <a:noFill/>
          <a:ln w="9525">
            <a:noFill/>
            <a:miter lim="800000"/>
            <a:headEnd/>
            <a:tailEnd/>
          </a:ln>
          <a:effectLst/>
        </p:spPr>
      </p:pic>
    </p:spTree>
    <p:extLst>
      <p:ext uri="{BB962C8B-B14F-4D97-AF65-F5344CB8AC3E}">
        <p14:creationId xmlns:p14="http://schemas.microsoft.com/office/powerpoint/2010/main" val="205393759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1980</TotalTime>
  <Words>1738</Words>
  <Application>Microsoft Office PowerPoint</Application>
  <PresentationFormat>On-screen Show (4:3)</PresentationFormat>
  <Paragraphs>306</Paragraphs>
  <Slides>34</Slides>
  <Notes>19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34</vt:i4>
      </vt:variant>
    </vt:vector>
  </HeadingPairs>
  <TitlesOfParts>
    <vt:vector size="44" baseType="lpstr">
      <vt:lpstr>MS PGothic</vt:lpstr>
      <vt:lpstr>Arial</vt:lpstr>
      <vt:lpstr>Arial Narrow</vt:lpstr>
      <vt:lpstr>Calibri</vt:lpstr>
      <vt:lpstr>Franklin Gothic Book</vt:lpstr>
      <vt:lpstr>Perpetua</vt:lpstr>
      <vt:lpstr>Symbol</vt:lpstr>
      <vt:lpstr>Times New Roman</vt:lpstr>
      <vt:lpstr>Wingdings 2</vt:lpstr>
      <vt:lpstr>Equity</vt:lpstr>
      <vt:lpstr>IP-cores and Design Reuse</vt:lpstr>
      <vt:lpstr>Introduction </vt:lpstr>
      <vt:lpstr>Introduction</vt:lpstr>
      <vt:lpstr>SoC</vt:lpstr>
      <vt:lpstr>SoC benefits</vt:lpstr>
      <vt:lpstr>SoPC</vt:lpstr>
      <vt:lpstr>SoPC</vt:lpstr>
      <vt:lpstr>Altera Startix</vt:lpstr>
      <vt:lpstr>Altera Cyclone V</vt:lpstr>
      <vt:lpstr>Xilinx SoPCs</vt:lpstr>
      <vt:lpstr>PowerPC-based Virtex-II</vt:lpstr>
      <vt:lpstr>Xilinx Zynq</vt:lpstr>
      <vt:lpstr>Xilinx Zynq</vt:lpstr>
      <vt:lpstr>Zynq FPGA block diagram</vt:lpstr>
      <vt:lpstr>Zynq boards: Z-turn</vt:lpstr>
      <vt:lpstr>Zynq-based hardware </vt:lpstr>
      <vt:lpstr>SoC Challenges</vt:lpstr>
      <vt:lpstr>System-level design</vt:lpstr>
      <vt:lpstr>System-level (high-level) design</vt:lpstr>
      <vt:lpstr>Traditional approach to design</vt:lpstr>
      <vt:lpstr>New approach to design: system level</vt:lpstr>
      <vt:lpstr>System-level languages</vt:lpstr>
      <vt:lpstr>Design reuse</vt:lpstr>
      <vt:lpstr>Open IP cores on the internet</vt:lpstr>
      <vt:lpstr>Hard IP-cores</vt:lpstr>
      <vt:lpstr>Soft IP-cores</vt:lpstr>
      <vt:lpstr>IP core generation</vt:lpstr>
      <vt:lpstr>A modern Set Top Box</vt:lpstr>
      <vt:lpstr>A modern Set Top Box</vt:lpstr>
      <vt:lpstr>A modern Set Top Box</vt:lpstr>
      <vt:lpstr>Embedded Software (eSW)</vt:lpstr>
      <vt:lpstr>Tutorial- reusing IP-cores</vt:lpstr>
      <vt:lpstr>Mouse data packet format</vt:lpstr>
      <vt:lpstr>5-button Microsoft Intellimouse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Behavioral Statements in Verilog</dc:title>
  <dc:creator>mehdi</dc:creator>
  <cp:lastModifiedBy>user</cp:lastModifiedBy>
  <cp:revision>225</cp:revision>
  <dcterms:created xsi:type="dcterms:W3CDTF">2011-11-11T14:48:38Z</dcterms:created>
  <dcterms:modified xsi:type="dcterms:W3CDTF">2025-01-12T08:06:14Z</dcterms:modified>
</cp:coreProperties>
</file>